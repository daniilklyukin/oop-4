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0"/>
  </p:notesMasterIdLst>
  <p:sldIdLst>
    <p:sldId id="273" r:id="rId2"/>
    <p:sldId id="274" r:id="rId3"/>
    <p:sldId id="292" r:id="rId4"/>
    <p:sldId id="302" r:id="rId5"/>
    <p:sldId id="303" r:id="rId6"/>
    <p:sldId id="293" r:id="rId7"/>
    <p:sldId id="278" r:id="rId8"/>
    <p:sldId id="275" r:id="rId9"/>
    <p:sldId id="294" r:id="rId10"/>
    <p:sldId id="295" r:id="rId11"/>
    <p:sldId id="276" r:id="rId12"/>
    <p:sldId id="277" r:id="rId13"/>
    <p:sldId id="296" r:id="rId14"/>
    <p:sldId id="279" r:id="rId15"/>
    <p:sldId id="297" r:id="rId16"/>
    <p:sldId id="298" r:id="rId17"/>
    <p:sldId id="299" r:id="rId18"/>
    <p:sldId id="280" r:id="rId19"/>
    <p:sldId id="300" r:id="rId20"/>
    <p:sldId id="282" r:id="rId21"/>
    <p:sldId id="283" r:id="rId22"/>
    <p:sldId id="284" r:id="rId23"/>
    <p:sldId id="285" r:id="rId24"/>
    <p:sldId id="286" r:id="rId25"/>
    <p:sldId id="301" r:id="rId26"/>
    <p:sldId id="287" r:id="rId27"/>
    <p:sldId id="288" r:id="rId28"/>
    <p:sldId id="29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99" autoAdjust="0"/>
    <p:restoredTop sz="76475" autoAdjust="0"/>
  </p:normalViewPr>
  <p:slideViewPr>
    <p:cSldViewPr snapToGrid="0">
      <p:cViewPr varScale="1">
        <p:scale>
          <a:sx n="49" d="100"/>
          <a:sy n="49" d="100"/>
        </p:scale>
        <p:origin x="48" y="16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Преимущества: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Читаемость: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Код превращается в «предложение», которое легко понять.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Компактность: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Меньше временных переменных и циклов.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Универсальность: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Один и тот же код будет работать и для массива строк, и для таблицы в БД.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25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31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38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26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50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42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98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6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41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54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70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45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8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65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733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9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87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6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970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286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231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529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764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131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9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00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6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Bookman Old Style" panose="020506040505050202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62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ookman Old Style" panose="0205060405050502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80156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2" y="2490651"/>
            <a:ext cx="10670534" cy="2000203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4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7.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4490853"/>
            <a:ext cx="110413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LINQ</a:t>
            </a:r>
            <a:endParaRPr lang="ru-RU" sz="2800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Важные концепции </a:t>
            </a:r>
            <a:r>
              <a:rPr lang="en-US" sz="28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LINQ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654356"/>
            <a:ext cx="12192000" cy="230832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/>
              <a:t>LINQ (</a:t>
            </a:r>
            <a:r>
              <a:rPr lang="ru-RU" sz="2400" b="1" dirty="0" err="1"/>
              <a:t>Language-Integrated</a:t>
            </a:r>
            <a:r>
              <a:rPr lang="ru-RU" sz="2400" b="1" dirty="0"/>
              <a:t> </a:t>
            </a:r>
            <a:r>
              <a:rPr lang="ru-RU" sz="2400" b="1" dirty="0" err="1"/>
              <a:t>Query</a:t>
            </a:r>
            <a:r>
              <a:rPr lang="ru-RU" sz="2400" b="1" dirty="0"/>
              <a:t>)</a:t>
            </a:r>
            <a:r>
              <a:rPr lang="ru-RU" sz="2400" dirty="0"/>
              <a:t> — это единый синтаксис для работы с любыми данными: массивами, списками, базами данных или XML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algn="just">
              <a:lnSpc>
                <a:spcPct val="150000"/>
              </a:lnSpc>
            </a:pPr>
            <a:r>
              <a:rPr lang="en-US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(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любые данные, реализующие 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интерфейс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E</a:t>
            </a:r>
            <a:r>
              <a:rPr lang="ru-RU" sz="2400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numerable</a:t>
            </a:r>
            <a:r>
              <a:rPr lang="en-US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endParaRPr lang="ru-RU" sz="2400" dirty="0" smtClean="0"/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Сравнение подходов (задача: оставить числа &gt; 10 и отсортировать</a:t>
            </a:r>
            <a:r>
              <a:rPr lang="ru-RU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):</a:t>
            </a:r>
            <a:endParaRPr lang="ru-RU" sz="24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502703"/>
              </p:ext>
            </p:extLst>
          </p:nvPr>
        </p:nvGraphicFramePr>
        <p:xfrm>
          <a:off x="838200" y="3279185"/>
          <a:ext cx="10515600" cy="3246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2861403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93653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2400" b="1" dirty="0">
                          <a:effectLst/>
                          <a:latin typeface="+mn-lt"/>
                        </a:rPr>
                        <a:t>Императивный подход </a:t>
                      </a:r>
                      <a:endParaRPr lang="ru-RU" sz="2400" b="1" dirty="0" smtClean="0">
                        <a:effectLst/>
                        <a:latin typeface="+mn-lt"/>
                      </a:endParaRPr>
                    </a:p>
                    <a:p>
                      <a:r>
                        <a:rPr lang="ru-RU" sz="2400" b="1" dirty="0" smtClean="0">
                          <a:effectLst/>
                          <a:latin typeface="+mn-lt"/>
                        </a:rPr>
                        <a:t>(</a:t>
                      </a:r>
                      <a:r>
                        <a:rPr lang="ru-RU" sz="2400" b="1" dirty="0">
                          <a:effectLst/>
                          <a:latin typeface="+mn-lt"/>
                        </a:rPr>
                        <a:t>Как делать)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1" dirty="0">
                          <a:effectLst/>
                          <a:latin typeface="+mn-lt"/>
                        </a:rPr>
                        <a:t>Декларативный подход (LINQ) (Что получить)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6314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var result = new List&lt;int&gt;();</a:t>
                      </a:r>
                      <a:endParaRPr lang="en-US" sz="2400" b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var</a:t>
                      </a:r>
                      <a:r>
                        <a:rPr lang="en-US" sz="2400" b="0" dirty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 result = numbers</a:t>
                      </a:r>
                      <a:endParaRPr lang="en-US" sz="2400" b="0" dirty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5981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foreach (var n in numbers) {</a:t>
                      </a:r>
                      <a:endParaRPr lang="en-US" sz="2400" b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.Where(n =&gt; n &gt; 10)</a:t>
                      </a:r>
                      <a:endParaRPr lang="en-US" sz="2400" b="0" dirty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0216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if (n &gt; 10) </a:t>
                      </a:r>
                      <a:r>
                        <a:rPr lang="en-US" sz="2400" b="0" dirty="0" err="1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result.Add</a:t>
                      </a:r>
                      <a:r>
                        <a:rPr lang="en-US" sz="2400" b="0" dirty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(n);</a:t>
                      </a:r>
                      <a:endParaRPr lang="en-US" sz="2400" b="0" dirty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.OrderBy(n =&gt; n);</a:t>
                      </a:r>
                      <a:endParaRPr lang="en-US" sz="2400" b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7788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2400" b="0" dirty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}</a:t>
                      </a:r>
                      <a:endParaRPr lang="ru-RU" sz="2400" b="0" dirty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b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7319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 err="1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result.Sort</a:t>
                      </a:r>
                      <a:r>
                        <a:rPr lang="en-US" sz="2400" b="0" dirty="0">
                          <a:solidFill>
                            <a:srgbClr val="2B2D31"/>
                          </a:solidFill>
                          <a:effectLst/>
                          <a:latin typeface="+mn-lt"/>
                        </a:rPr>
                        <a:t>();</a:t>
                      </a:r>
                      <a:endParaRPr lang="en-US" sz="2400" b="0" dirty="0">
                        <a:effectLst/>
                        <a:latin typeface="+mn-lt"/>
                      </a:endParaRP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sz="2400" dirty="0">
                        <a:latin typeface="+mn-lt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3614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26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54356"/>
            <a:ext cx="12192000" cy="390889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Декларативность:</a:t>
            </a:r>
            <a:r>
              <a:rPr lang="ru-RU" sz="2400" dirty="0"/>
              <a:t> Мы описываем </a:t>
            </a:r>
            <a:r>
              <a:rPr lang="ru-RU" sz="2400" b="1" dirty="0"/>
              <a:t>результат</a:t>
            </a:r>
            <a:r>
              <a:rPr lang="ru-RU" sz="2400" dirty="0"/>
              <a:t>, а не пошаговый алгоритм его достижения. Это позволяет компилятору оптимизировать запрос «под капотом».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Отложенное выполнение (</a:t>
            </a:r>
            <a:r>
              <a:rPr lang="ru-RU" sz="2400" b="1" dirty="0" err="1"/>
              <a:t>Deferred</a:t>
            </a:r>
            <a:r>
              <a:rPr lang="ru-RU" sz="2400" b="1" dirty="0"/>
              <a:t> </a:t>
            </a:r>
            <a:r>
              <a:rPr lang="ru-RU" sz="2400" b="1" dirty="0" err="1"/>
              <a:t>Execution</a:t>
            </a:r>
            <a:r>
              <a:rPr lang="ru-RU" sz="2400" b="1" dirty="0"/>
              <a:t>):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Запрос </a:t>
            </a:r>
            <a:r>
              <a:rPr lang="ru-RU" sz="2400" b="1" dirty="0"/>
              <a:t>не выполняется</a:t>
            </a:r>
            <a:r>
              <a:rPr lang="ru-RU" sz="2400" dirty="0"/>
              <a:t>, пока вы не начнете обращаться к его результатам.</a:t>
            </a:r>
          </a:p>
          <a:p>
            <a:pPr lvl="1">
              <a:lnSpc>
                <a:spcPct val="150000"/>
              </a:lnSpc>
            </a:pPr>
            <a:r>
              <a:rPr lang="ru-RU" sz="2400" i="1" dirty="0"/>
              <a:t>Запрос — это «рецепт» или «чертеж», а не готовое блюдо.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6705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/>
              <a:t>Материализация</a:t>
            </a:r>
            <a:r>
              <a:rPr lang="ru-RU" sz="2400" dirty="0"/>
              <a:t> — это момент превращения LINQ-запроса в конкретные данные в памяти (</a:t>
            </a:r>
            <a:r>
              <a:rPr lang="ru-RU" sz="2400" dirty="0" err="1"/>
              <a:t>List</a:t>
            </a:r>
            <a:r>
              <a:rPr lang="ru-RU" sz="2400" dirty="0"/>
              <a:t>, </a:t>
            </a:r>
            <a:r>
              <a:rPr lang="ru-RU" sz="2400" dirty="0" err="1"/>
              <a:t>Array</a:t>
            </a:r>
            <a:r>
              <a:rPr lang="ru-RU" sz="2400" dirty="0"/>
              <a:t>).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/>
              <a:t>Зачем использовать .</a:t>
            </a:r>
            <a:r>
              <a:rPr lang="ru-RU" sz="2400" b="1" dirty="0" err="1"/>
              <a:t>ToList</a:t>
            </a:r>
            <a:r>
              <a:rPr lang="ru-RU" sz="2400" b="1" dirty="0"/>
              <a:t>() или .</a:t>
            </a:r>
            <a:r>
              <a:rPr lang="ru-RU" sz="2400" b="1" dirty="0" err="1"/>
              <a:t>ToArray</a:t>
            </a:r>
            <a:r>
              <a:rPr lang="ru-RU" sz="2400" b="1" dirty="0"/>
              <a:t>()?</a:t>
            </a:r>
            <a:endParaRPr lang="ru-RU" sz="2400" dirty="0"/>
          </a:p>
          <a:p>
            <a:pPr algn="just">
              <a:lnSpc>
                <a:spcPct val="150000"/>
              </a:lnSpc>
            </a:pPr>
            <a:r>
              <a:rPr lang="ru-RU" sz="2400" b="1" dirty="0"/>
              <a:t>Зафиксировать результат:</a:t>
            </a:r>
            <a:r>
              <a:rPr lang="ru-RU" sz="2400" dirty="0"/>
              <a:t> Если исходные данные изменятся, ваш сохраненный </a:t>
            </a:r>
            <a:r>
              <a:rPr lang="ru-RU" sz="2400" dirty="0" err="1"/>
              <a:t>List</a:t>
            </a:r>
            <a:r>
              <a:rPr lang="ru-RU" sz="2400" dirty="0"/>
              <a:t> останется прежним.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/>
              <a:t>Избежать многократного выполнения:</a:t>
            </a:r>
            <a:r>
              <a:rPr lang="ru-RU" sz="2400" dirty="0"/>
              <a:t> Без </a:t>
            </a:r>
            <a:r>
              <a:rPr lang="ru-RU" sz="2400" dirty="0" err="1"/>
              <a:t>ToList</a:t>
            </a:r>
            <a:r>
              <a:rPr lang="ru-RU" sz="2400" dirty="0"/>
              <a:t>() каждый цикл </a:t>
            </a:r>
            <a:r>
              <a:rPr lang="ru-RU" sz="2400" dirty="0" err="1"/>
              <a:t>foreach</a:t>
            </a:r>
            <a:r>
              <a:rPr lang="ru-RU" sz="2400" dirty="0"/>
              <a:t> будет заново прогонять всю логику фильтрации и сортировки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3626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smtClean="0"/>
              <a:t>Опасность </a:t>
            </a:r>
            <a:r>
              <a:rPr lang="ru-RU" sz="2400" b="1" dirty="0"/>
              <a:t>"</a:t>
            </a:r>
            <a:r>
              <a:rPr lang="ru-RU" sz="2400" b="1" dirty="0" err="1"/>
              <a:t>Multiple</a:t>
            </a:r>
            <a:r>
              <a:rPr lang="ru-RU" sz="2400" b="1" dirty="0"/>
              <a:t> </a:t>
            </a:r>
            <a:r>
              <a:rPr lang="ru-RU" sz="2400" b="1" dirty="0" err="1"/>
              <a:t>Enumeration</a:t>
            </a:r>
            <a:r>
              <a:rPr lang="ru-RU" sz="2400" b="1" dirty="0" smtClean="0"/>
              <a:t>":</a:t>
            </a:r>
          </a:p>
          <a:p>
            <a:pPr>
              <a:lnSpc>
                <a:spcPct val="150000"/>
              </a:lnSpc>
            </a:pPr>
            <a:endParaRPr lang="ru-RU" sz="2400" b="1" dirty="0" smtClean="0"/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query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people.Where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Это просто план (чертеж)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query.Count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Выполнили фильтрацию первый раз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query) { ... } 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Выполнили ту же самую фильтрацию второй раз!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ПРАВИЛЬНО: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list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people.Where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ToList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Выполнили ОДИН раз и сохранили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list.Count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/>
              <a:t>Итог:</a:t>
            </a:r>
            <a:r>
              <a:rPr lang="ru-RU" sz="2400" dirty="0"/>
              <a:t> Если вы собираетесь использовать результат запроса более одного раза — всегда ставьте .</a:t>
            </a:r>
            <a:r>
              <a:rPr lang="ru-RU" sz="2400" dirty="0" err="1"/>
              <a:t>ToList</a:t>
            </a:r>
            <a:r>
              <a:rPr lang="ru-RU" sz="2400" dirty="0"/>
              <a:t>() в конце</a:t>
            </a:r>
            <a:r>
              <a:rPr lang="ru-RU" sz="2400" dirty="0" smtClean="0"/>
              <a:t>.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00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b="1" dirty="0"/>
              <a:t>Пример «ловушки</a:t>
            </a:r>
            <a:r>
              <a:rPr lang="ru-RU" sz="2400" b="1" dirty="0" smtClean="0"/>
              <a:t>»:</a:t>
            </a:r>
            <a:endParaRPr lang="en-US" sz="2400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numbers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List&lt;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&gt; {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query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numbers.Where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(n =&gt; n &gt;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Здесь фильтрация еще НЕ идет!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numbers.Add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Добавили число ПОСЛЕ создания запроса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n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query)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(n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Выведет 3 и 4, так как запрос выполнился только </a:t>
            </a:r>
            <a:r>
              <a:rPr lang="ru-RU" sz="2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сейчас</a:t>
            </a:r>
            <a:endParaRPr lang="en-US" sz="2400" dirty="0" smtClean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/>
              <a:t>Когда запрос выполняется немедленно (</a:t>
            </a:r>
            <a:r>
              <a:rPr lang="en-US" sz="2400" b="1" dirty="0"/>
              <a:t>Materialization):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ru-RU" sz="2400" dirty="0"/>
              <a:t>Когда вызываются методы, требующие конкретных данных: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Преобразование: .</a:t>
            </a:r>
            <a:r>
              <a:rPr lang="en-US" sz="2400" dirty="0" err="1"/>
              <a:t>ToList</a:t>
            </a:r>
            <a:r>
              <a:rPr lang="en-US" sz="2400" dirty="0"/>
              <a:t>(), .</a:t>
            </a:r>
            <a:r>
              <a:rPr lang="en-US" sz="2400" dirty="0" err="1"/>
              <a:t>ToArray</a:t>
            </a:r>
            <a:r>
              <a:rPr lang="en-US" sz="2400" dirty="0"/>
              <a:t>(), .</a:t>
            </a:r>
            <a:r>
              <a:rPr lang="en-US" sz="2400" dirty="0" err="1"/>
              <a:t>ToDictionary</a:t>
            </a:r>
            <a:r>
              <a:rPr lang="en-US" sz="2400" dirty="0"/>
              <a:t>()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Агрегация: .</a:t>
            </a:r>
            <a:r>
              <a:rPr lang="en-US" sz="2400" dirty="0"/>
              <a:t>Count(), .Sum(), .Average()</a:t>
            </a:r>
          </a:p>
          <a:p>
            <a:pPr>
              <a:lnSpc>
                <a:spcPct val="150000"/>
              </a:lnSpc>
            </a:pPr>
            <a:r>
              <a:rPr lang="ru-RU" sz="2400" dirty="0"/>
              <a:t>Выбор элемента: .</a:t>
            </a:r>
            <a:r>
              <a:rPr lang="en-US" sz="2400" dirty="0"/>
              <a:t>First(), .Last(), .</a:t>
            </a:r>
            <a:r>
              <a:rPr lang="en-US" sz="2400" dirty="0" err="1"/>
              <a:t>ElementAt</a:t>
            </a:r>
            <a:r>
              <a:rPr lang="en-US" sz="2400" dirty="0" smtClean="0"/>
              <a:t>()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471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654356"/>
            <a:ext cx="12191999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Where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определяет фильтр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выборки</a:t>
            </a:r>
            <a:endParaRPr lang="en-US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OrderBy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упорядочивает элементы по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возрастанию</a:t>
            </a:r>
            <a:endParaRPr lang="en-US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OrderByDescending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упорядочивает элементы по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убыванию</a:t>
            </a:r>
            <a:endParaRPr lang="en-US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ThenBy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задает дополнительные критерии для упорядочивания элементов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возрастанию</a:t>
            </a:r>
            <a:endParaRPr lang="en-US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ThenByDescending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задает дополнительные критерии для упорядочивания элементов по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убыванию</a:t>
            </a:r>
            <a:endParaRPr lang="en-US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Select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определяет проекцию выбранных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значений</a:t>
            </a:r>
            <a:endParaRPr lang="ru-RU" sz="2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LINQ</a:t>
            </a:r>
            <a:endParaRPr lang="ru-RU" sz="2800" b="1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72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691338"/>
            <a:ext cx="121920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[] people =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 </a:t>
            </a:r>
          </a:p>
          <a:p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	"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"Tim"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"Tomas"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Bill“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};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 Люди с первой буквой </a:t>
            </a:r>
            <a:r>
              <a:rPr lang="en-US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T,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упорядоченные по имени</a:t>
            </a:r>
            <a:endParaRPr lang="ru-RU" sz="2400" dirty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people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.Where(p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p.ToUpper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StartsWith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OrderBy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p);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(person);</a:t>
            </a:r>
          </a:p>
          <a:p>
            <a:pPr algn="just"/>
            <a:endParaRPr lang="en-US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321" y="3902674"/>
            <a:ext cx="1576146" cy="168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40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1999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/>
              <a:t>В C# существует два равноправных синтаксиса. Компилятор превращает </a:t>
            </a:r>
            <a:r>
              <a:rPr lang="ru-RU" sz="2400" dirty="0" err="1" smtClean="0"/>
              <a:t>Query</a:t>
            </a:r>
            <a:r>
              <a:rPr lang="ru-RU" sz="2400" dirty="0" smtClean="0"/>
              <a:t> </a:t>
            </a:r>
            <a:r>
              <a:rPr lang="ru-RU" sz="2400" dirty="0" err="1" smtClean="0"/>
              <a:t>Syntax</a:t>
            </a:r>
            <a:r>
              <a:rPr lang="ru-RU" sz="2400" dirty="0" smtClean="0"/>
              <a:t> в </a:t>
            </a:r>
            <a:r>
              <a:rPr lang="ru-RU" sz="2400" dirty="0" err="1" smtClean="0"/>
              <a:t>Method</a:t>
            </a:r>
            <a:r>
              <a:rPr lang="ru-RU" sz="2400" dirty="0" smtClean="0"/>
              <a:t> </a:t>
            </a:r>
            <a:r>
              <a:rPr lang="ru-RU" sz="2400" dirty="0" err="1" smtClean="0"/>
              <a:t>Syntax</a:t>
            </a:r>
            <a:r>
              <a:rPr lang="ru-RU" sz="2400" dirty="0" smtClean="0"/>
              <a:t> «под капотом».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ru-RU" sz="2400" b="1" dirty="0" err="1" smtClean="0"/>
              <a:t>Query</a:t>
            </a:r>
            <a:r>
              <a:rPr lang="ru-RU" sz="2400" b="1" dirty="0" smtClean="0"/>
              <a:t> </a:t>
            </a:r>
            <a:r>
              <a:rPr lang="ru-RU" sz="2400" b="1" dirty="0" err="1"/>
              <a:t>Syntax</a:t>
            </a:r>
            <a:r>
              <a:rPr lang="ru-RU" sz="2400" b="1" dirty="0"/>
              <a:t> (похож на SQL</a:t>
            </a:r>
            <a:r>
              <a:rPr lang="ru-RU" sz="2400" b="1" dirty="0" smtClean="0"/>
              <a:t>): </a:t>
            </a:r>
            <a:r>
              <a:rPr lang="ru-RU" sz="2400" dirty="0" smtClean="0"/>
              <a:t>Более </a:t>
            </a:r>
            <a:r>
              <a:rPr lang="ru-RU" sz="2400" dirty="0"/>
              <a:t>нагляден для сложных запросов с объединением (</a:t>
            </a:r>
            <a:r>
              <a:rPr lang="ru-RU" sz="2400" dirty="0" err="1"/>
              <a:t>Join</a:t>
            </a:r>
            <a:r>
              <a:rPr lang="ru-RU" sz="2400" dirty="0"/>
              <a:t>) и группировкой</a:t>
            </a:r>
            <a:r>
              <a:rPr lang="ru-RU" sz="2400" dirty="0" smtClean="0"/>
              <a:t>.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endParaRPr lang="ru-RU" sz="2400" dirty="0" smtClean="0"/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selected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people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orderby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p.Name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p;</a:t>
            </a:r>
          </a:p>
          <a:p>
            <a:pPr algn="just">
              <a:lnSpc>
                <a:spcPct val="150000"/>
              </a:lnSpc>
            </a:pPr>
            <a:endParaRPr lang="ru-RU" sz="2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1999" cy="470898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/>
              <a:t>2. </a:t>
            </a:r>
            <a:r>
              <a:rPr lang="ru-RU" sz="2400" b="1" dirty="0" err="1"/>
              <a:t>Method</a:t>
            </a:r>
            <a:r>
              <a:rPr lang="ru-RU" sz="2400" b="1" dirty="0"/>
              <a:t> </a:t>
            </a:r>
            <a:r>
              <a:rPr lang="ru-RU" sz="2400" b="1" dirty="0" err="1"/>
              <a:t>Syntax</a:t>
            </a:r>
            <a:r>
              <a:rPr lang="ru-RU" sz="2400" b="1" dirty="0"/>
              <a:t> (</a:t>
            </a:r>
            <a:r>
              <a:rPr lang="ru-RU" sz="2400" b="1" dirty="0" err="1"/>
              <a:t>Fluent</a:t>
            </a:r>
            <a:r>
              <a:rPr lang="ru-RU" sz="2400" b="1" dirty="0"/>
              <a:t> API</a:t>
            </a:r>
            <a:r>
              <a:rPr lang="ru-RU" sz="2400" b="1" dirty="0" smtClean="0"/>
              <a:t>): </a:t>
            </a:r>
            <a:r>
              <a:rPr lang="ru-RU" sz="2400" dirty="0" smtClean="0"/>
              <a:t>Использует </a:t>
            </a:r>
            <a:r>
              <a:rPr lang="ru-RU" sz="2400" dirty="0"/>
              <a:t>методы расширения и лямбда-выражения. Самый популярный в реальной разработке</a:t>
            </a:r>
            <a:r>
              <a:rPr lang="ru-RU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selected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people.Where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.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OrderBy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p.Name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ru-RU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/>
              <a:t>Что выбрать?</a:t>
            </a:r>
            <a:r>
              <a:rPr lang="ru-RU" sz="2400" dirty="0"/>
              <a:t> Большинство разработчиков используют </a:t>
            </a:r>
            <a:r>
              <a:rPr lang="ru-RU" sz="2400" dirty="0" err="1"/>
              <a:t>Method</a:t>
            </a:r>
            <a:r>
              <a:rPr lang="ru-RU" sz="2400" dirty="0"/>
              <a:t> </a:t>
            </a:r>
            <a:r>
              <a:rPr lang="ru-RU" sz="2400" dirty="0" err="1"/>
              <a:t>Syntax</a:t>
            </a:r>
            <a:r>
              <a:rPr lang="ru-RU" sz="2400" dirty="0"/>
              <a:t>, но </a:t>
            </a:r>
            <a:r>
              <a:rPr lang="ru-RU" sz="2400" dirty="0" err="1"/>
              <a:t>Query</a:t>
            </a:r>
            <a:r>
              <a:rPr lang="ru-RU" sz="2400" dirty="0"/>
              <a:t> </a:t>
            </a:r>
            <a:r>
              <a:rPr lang="ru-RU" sz="2400" dirty="0" err="1"/>
              <a:t>Syntax</a:t>
            </a:r>
            <a:r>
              <a:rPr lang="ru-RU" sz="2400" dirty="0"/>
              <a:t> незаменим, когда логика запроса становится очень громоздкой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22351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Пример для коллекции объектов типа</a:t>
            </a:r>
            <a:r>
              <a:rPr lang="en-US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Person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  <a:r>
              <a:rPr lang="ru-RU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Создадим класс человека с 2 свойствами</a:t>
            </a:r>
            <a:r>
              <a:rPr lang="en-US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Имя и Возраст.</a:t>
            </a:r>
          </a:p>
          <a:p>
            <a:pPr algn="just"/>
            <a:endParaRPr lang="ru-RU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Age {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2B91AF"/>
                </a:solidFill>
                <a:latin typeface="Cascadia Mono" panose="020B0609020000020004" pitchFamily="49" charset="0"/>
              </a:rPr>
              <a:t>Person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age)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Name = name;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    Age = age;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algn="just"/>
            <a:endParaRPr lang="en-US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606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Создадим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коллекцию людей:</a:t>
            </a:r>
          </a:p>
          <a:p>
            <a:endParaRPr lang="ru-RU" sz="2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people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Person[]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 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25),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32),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54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"Tim"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15),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"Tomas"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19),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"Bill"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75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// Люди с первой буквой </a:t>
            </a:r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T, 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упорядоченные по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возрасту</a:t>
            </a:r>
            <a:endParaRPr lang="ru-RU" sz="2400" dirty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// В отличие от прошлого примеры мы работаем с объектами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people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.Where(p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p.Name.ToUpper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StartsWith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OrderBy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person.Name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algn="just"/>
            <a:endParaRPr lang="en-US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579" y="4572000"/>
            <a:ext cx="1973340" cy="127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1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12192000" cy="470898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Важный нюанс:</a:t>
            </a:r>
            <a:r>
              <a:rPr lang="ru-RU" sz="2400" dirty="0"/>
              <a:t> Если вызвать </a:t>
            </a:r>
            <a:r>
              <a:rPr lang="ru-RU" sz="2400" dirty="0" err="1"/>
              <a:t>OrderBy</a:t>
            </a:r>
            <a:r>
              <a:rPr lang="ru-RU" sz="2400" dirty="0"/>
              <a:t> дважды, вторая сортировка полностью «перезапишет» первую. Для уточнения сортировки используйте </a:t>
            </a:r>
            <a:r>
              <a:rPr lang="ru-RU" sz="2400" dirty="0" err="1"/>
              <a:t>ThenBy</a:t>
            </a:r>
            <a:r>
              <a:rPr lang="ru-RU" sz="2400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dirty="0" smtClean="0"/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sorted = people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.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OrderBy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Сначала сортируем по именам (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Tom, Tom, Bob -&gt; Bob, Tom, Tom)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.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ThenBy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      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Тезки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Tom (20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лет) и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Tom (25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лет) встанут в правильном порядке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n-US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779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8169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/>
            <a:endParaRPr lang="en-US" sz="2400" b="1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Пример </a:t>
            </a:r>
            <a:r>
              <a:rPr lang="ru-RU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проекции </a:t>
            </a:r>
            <a:r>
              <a:rPr lang="en-US" sz="2400" b="1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Select</a:t>
            </a:r>
            <a:r>
              <a:rPr lang="en-US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people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.Where(p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p.Name.ToUpper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StartsWith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OrderBy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.Select(p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p.Name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 smtClean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Метод </a:t>
            </a:r>
            <a:r>
              <a:rPr lang="en-US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Where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фильтрует людей в результате остаются только люди с первой буквой Т.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Метод </a:t>
            </a:r>
            <a:r>
              <a:rPr lang="en-US" sz="2400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OrderBy</a:t>
            </a:r>
            <a:r>
              <a:rPr lang="en-US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упорядочивает людей по возрасту.</a:t>
            </a:r>
          </a:p>
          <a:p>
            <a:pPr algn="just">
              <a:lnSpc>
                <a:spcPct val="150000"/>
              </a:lnSpc>
            </a:pP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Метод </a:t>
            </a:r>
            <a:r>
              <a:rPr lang="en-US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Select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преобразует людей в имена, т.е. преобразует тип </a:t>
            </a:r>
            <a:r>
              <a:rPr lang="en-US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Person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в </a:t>
            </a:r>
            <a:r>
              <a:rPr lang="en-US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string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4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/>
              <a:t>Проекция в анонимный тип (Создание объекта «на лету»):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Полезно, когда нам не нужен весь объект </a:t>
            </a:r>
            <a:r>
              <a:rPr lang="ru-RU" sz="2400" dirty="0" err="1"/>
              <a:t>Person</a:t>
            </a:r>
            <a:r>
              <a:rPr lang="ru-RU" sz="2400" dirty="0"/>
              <a:t>, а нужна только краткая сводка. Нам не нужно заранее создавать для этого специальный класс</a:t>
            </a:r>
            <a:r>
              <a:rPr lang="ru-RU" sz="24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shortInfo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people.Select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FullName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IsAdult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info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shortInfo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info.FullName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Совершеннолетний: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info.IsAdult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20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2677656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/>
              <a:t>Агрегация (Вычисления по всей коллекции</a:t>
            </a:r>
            <a:r>
              <a:rPr lang="ru-RU" sz="2400" b="1" dirty="0" smtClean="0"/>
              <a:t>):</a:t>
            </a:r>
          </a:p>
          <a:p>
            <a:pPr algn="just">
              <a:lnSpc>
                <a:spcPct val="150000"/>
              </a:lnSpc>
            </a:pPr>
            <a:endParaRPr lang="ru-RU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totalAge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people.Sum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Сумма возрастов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avgAge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people.Average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 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Средний возраст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count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people.Count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Количество </a:t>
            </a:r>
            <a:r>
              <a:rPr lang="ru-RU" sz="2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несовершеннолетних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11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Группировка (</a:t>
            </a:r>
            <a:r>
              <a:rPr lang="ru-RU" sz="2400" b="1" dirty="0" err="1"/>
              <a:t>GroupBy</a:t>
            </a:r>
            <a:r>
              <a:rPr lang="ru-RU" sz="2400" b="1" dirty="0"/>
              <a:t>):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Разбивает коллекцию на группы по ключу. Результат — коллекция групп </a:t>
            </a:r>
            <a:r>
              <a:rPr lang="ru-RU" sz="2400" dirty="0" err="1"/>
              <a:t>IGrouping</a:t>
            </a:r>
            <a:r>
              <a:rPr lang="ru-RU" sz="2400" dirty="0"/>
              <a:t>&lt;</a:t>
            </a:r>
            <a:r>
              <a:rPr lang="ru-RU" sz="2400" dirty="0" err="1"/>
              <a:t>Key</a:t>
            </a:r>
            <a:r>
              <a:rPr lang="ru-RU" sz="2400" dirty="0"/>
              <a:t>, </a:t>
            </a:r>
            <a:r>
              <a:rPr lang="ru-RU" sz="2400" dirty="0" err="1"/>
              <a:t>Value</a:t>
            </a:r>
            <a:r>
              <a:rPr lang="ru-RU" sz="2400" dirty="0"/>
              <a:t>&gt;.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Пример: Группируем людей по первой букве имени</a:t>
            </a:r>
            <a:r>
              <a:rPr lang="ru-RU" sz="2400" b="1" dirty="0" smtClean="0"/>
              <a:t>:</a:t>
            </a:r>
          </a:p>
          <a:p>
            <a:pPr>
              <a:lnSpc>
                <a:spcPct val="150000"/>
              </a:lnSpc>
            </a:pPr>
            <a:endParaRPr lang="ru-RU" sz="2400" b="1" dirty="0"/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grouped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people.GroupBy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group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grouped)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$"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Буква: 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group.Key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Ключ группировки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person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group)            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Сами элементы внутри группы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$" -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person.Name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2110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-15564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/>
              <a:t>First</a:t>
            </a:r>
            <a:r>
              <a:rPr lang="ru-RU" sz="2400" b="1" dirty="0"/>
              <a:t> / </a:t>
            </a:r>
            <a:r>
              <a:rPr lang="ru-RU" sz="2400" b="1" dirty="0" err="1"/>
              <a:t>Last</a:t>
            </a:r>
            <a:r>
              <a:rPr lang="ru-RU" sz="2400" b="1" dirty="0"/>
              <a:t>:</a:t>
            </a:r>
            <a:r>
              <a:rPr lang="ru-RU" sz="2400" dirty="0"/>
              <a:t> Возвращают первый/последний элемент. </a:t>
            </a:r>
            <a:r>
              <a:rPr lang="ru-RU" sz="2400" b="1" dirty="0"/>
              <a:t>Выдают ошибку (</a:t>
            </a:r>
            <a:r>
              <a:rPr lang="ru-RU" sz="2400" b="1" dirty="0" err="1"/>
              <a:t>Exception</a:t>
            </a:r>
            <a:r>
              <a:rPr lang="ru-RU" sz="2400" b="1" dirty="0"/>
              <a:t>)</a:t>
            </a:r>
            <a:r>
              <a:rPr lang="ru-RU" sz="2400" dirty="0"/>
              <a:t>, если список пуст.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FirstOrDefault</a:t>
            </a:r>
            <a:r>
              <a:rPr lang="ru-RU" sz="2400" b="1" dirty="0"/>
              <a:t> / </a:t>
            </a:r>
            <a:r>
              <a:rPr lang="ru-RU" sz="2400" b="1" dirty="0" err="1"/>
              <a:t>LastOrDefault</a:t>
            </a:r>
            <a:r>
              <a:rPr lang="ru-RU" sz="2400" b="1" dirty="0"/>
              <a:t>:</a:t>
            </a:r>
            <a:r>
              <a:rPr lang="ru-RU" sz="2400" dirty="0"/>
              <a:t> Возвращают элемент или </a:t>
            </a:r>
            <a:r>
              <a:rPr lang="ru-RU" sz="2400" dirty="0" err="1"/>
              <a:t>null</a:t>
            </a:r>
            <a:r>
              <a:rPr lang="ru-RU" sz="2400" dirty="0"/>
              <a:t> (для объектов), если ничего не найдено. </a:t>
            </a:r>
            <a:r>
              <a:rPr lang="ru-RU" sz="2400" b="1" dirty="0"/>
              <a:t>Безопасный выбор.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 err="1"/>
              <a:t>Single</a:t>
            </a:r>
            <a:r>
              <a:rPr lang="ru-RU" sz="2400" b="1" dirty="0"/>
              <a:t> / </a:t>
            </a:r>
            <a:r>
              <a:rPr lang="ru-RU" sz="2400" b="1" dirty="0" err="1"/>
              <a:t>SingleOrDefault</a:t>
            </a:r>
            <a:r>
              <a:rPr lang="ru-RU" sz="2400" b="1" dirty="0"/>
              <a:t>:</a:t>
            </a:r>
            <a:r>
              <a:rPr lang="ru-RU" sz="2400" dirty="0"/>
              <a:t> Выбирают единственный элемент. Если в списке 0 или </a:t>
            </a:r>
            <a:r>
              <a:rPr lang="ru-RU" sz="2400" b="1" dirty="0"/>
              <a:t>больше одного</a:t>
            </a:r>
            <a:r>
              <a:rPr lang="ru-RU" sz="2400" dirty="0"/>
              <a:t> элемента — выдадут ошибку</a:t>
            </a:r>
            <a:r>
              <a:rPr lang="ru-RU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ElementAtOrDefault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выбирает элемент коллекции по определенному индексу или возвращает значение по умолчанию, если индекс вне допустимого диапазона</a:t>
            </a:r>
            <a:endParaRPr lang="en-US" sz="2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Last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выбирает последний элемент коллекции</a:t>
            </a:r>
            <a:endParaRPr lang="en-US" sz="24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LastOrDefault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выбирает последний элемент коллекции или возвращает значение по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умолчанию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1099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-15564"/>
            <a:ext cx="12192000" cy="58169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Почему это важно? (Разница между </a:t>
            </a:r>
            <a:r>
              <a:rPr lang="ru-RU" sz="2400" b="1" dirty="0" err="1"/>
              <a:t>First</a:t>
            </a:r>
            <a:r>
              <a:rPr lang="ru-RU" sz="2400" b="1" dirty="0"/>
              <a:t> и </a:t>
            </a:r>
            <a:r>
              <a:rPr lang="ru-RU" sz="2400" b="1" dirty="0" err="1"/>
              <a:t>FirstOrDefault</a:t>
            </a:r>
            <a:r>
              <a:rPr lang="ru-RU" sz="2400" b="1" dirty="0" smtClean="0"/>
              <a:t>):</a:t>
            </a:r>
          </a:p>
          <a:p>
            <a:endParaRPr lang="ru-RU" sz="2400" dirty="0" smtClean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people 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List&lt;Person&gt;();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Пустой список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ОПАСНО: Программа упадет с </a:t>
            </a:r>
            <a:r>
              <a:rPr lang="en-US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InvalidOperationException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person1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people.First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БЕЗОПАСНО: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person2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станет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null,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программу можно продолжать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person2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people.FirstOrDefault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(person2 !=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/*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работаем */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ru-RU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/>
              <a:t>Правило:</a:t>
            </a:r>
            <a:r>
              <a:rPr lang="ru-RU" sz="2400" dirty="0"/>
              <a:t> Используйте </a:t>
            </a:r>
            <a:r>
              <a:rPr lang="ru-RU" sz="2400" dirty="0" err="1"/>
              <a:t>FirstOrDefault</a:t>
            </a:r>
            <a:r>
              <a:rPr lang="ru-RU" sz="2400" dirty="0"/>
              <a:t>, если не уверены на 100%, что данные в списке точно есть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85537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-15564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people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Person[]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 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25),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32),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54),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"Tim"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15),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"Tomas"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19),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"Bill"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75)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Первый человек, чей возраст меньше 20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people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.First(p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20);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			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selectedPeople.Name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 smtClean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Последний 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человек, чей возраст меньше 20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selectedPeople2 = people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.Last(p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20);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		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selectedPeople2.Name}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{selectedPeople2.Age}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694" y="4867184"/>
            <a:ext cx="2257631" cy="9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96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/>
              <a:t>Any</a:t>
            </a:r>
            <a:r>
              <a:rPr lang="ru-RU" sz="2400" b="1" dirty="0"/>
              <a:t>():</a:t>
            </a:r>
            <a:r>
              <a:rPr lang="ru-RU" sz="2400" dirty="0"/>
              <a:t> Возвращает </a:t>
            </a:r>
            <a:r>
              <a:rPr lang="ru-RU" sz="2400" dirty="0" err="1"/>
              <a:t>true</a:t>
            </a:r>
            <a:r>
              <a:rPr lang="ru-RU" sz="2400" dirty="0"/>
              <a:t>, если хотя бы один элемент подходит под условие. (Быстрее, чем </a:t>
            </a:r>
            <a:r>
              <a:rPr lang="ru-RU" sz="2400" dirty="0" err="1"/>
              <a:t>Count</a:t>
            </a:r>
            <a:r>
              <a:rPr lang="ru-RU" sz="2400" dirty="0"/>
              <a:t>() &gt; 0).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All</a:t>
            </a:r>
            <a:r>
              <a:rPr lang="ru-RU" sz="2400" b="1" dirty="0"/>
              <a:t>():</a:t>
            </a:r>
            <a:r>
              <a:rPr lang="ru-RU" sz="2400" dirty="0"/>
              <a:t> Возвращает </a:t>
            </a:r>
            <a:r>
              <a:rPr lang="ru-RU" sz="2400" dirty="0" err="1"/>
              <a:t>true</a:t>
            </a:r>
            <a:r>
              <a:rPr lang="ru-RU" sz="2400" dirty="0"/>
              <a:t>, только если </a:t>
            </a:r>
            <a:r>
              <a:rPr lang="ru-RU" sz="2400" b="1" dirty="0"/>
              <a:t>все</a:t>
            </a:r>
            <a:r>
              <a:rPr lang="ru-RU" sz="2400" dirty="0"/>
              <a:t> элементы подходят под условие.</a:t>
            </a:r>
          </a:p>
          <a:p>
            <a:pPr algn="just"/>
            <a:endParaRPr lang="ru-RU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people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Person[]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 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25),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32),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54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"Tim"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15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"Tomas"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19),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"Bill"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75)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Есть ли в коллекции человек, чей возраст меньше 20?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В коллекции у всех возраст меньше 20?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people.Any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20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)}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+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people.All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(p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&lt; 20)}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9339" y="5550163"/>
            <a:ext cx="2992011" cy="45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13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Take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выбирает определенное количество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элементов</a:t>
            </a:r>
            <a:endParaRPr lang="en-US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Skip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пропускает определенное количество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элементов</a:t>
            </a:r>
            <a:endParaRPr lang="en-US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TakeWhile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возвращает цепочку элементов последовательности, до тех пор, пока условие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истинно</a:t>
            </a:r>
            <a:endParaRPr lang="en-US" sz="2400" dirty="0" smtClean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 err="1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SkipWhile</a:t>
            </a:r>
            <a:r>
              <a:rPr lang="ru-RU" sz="24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пропускает элементы в последовательности, пока они удовлетворяют заданному условию, и затем возвращает оставшиеся </a:t>
            </a:r>
            <a:r>
              <a:rPr lang="ru-RU" sz="2400" dirty="0" smtClean="0">
                <a:latin typeface="Bookman Old Style" panose="02050604050505020204" pitchFamily="18" charset="0"/>
                <a:cs typeface="Times New Roman" panose="02020603050405020304" pitchFamily="18" charset="0"/>
              </a:rPr>
              <a:t>элементы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90524" y="1916490"/>
            <a:ext cx="115337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86376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489364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/>
            <a:endParaRPr lang="ru-RU" sz="2400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people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Person[]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 </a:t>
            </a:r>
          </a:p>
          <a:p>
            <a:pPr lvl="1"/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25),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32),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54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pPr lvl="1"/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"Tim"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15),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"Tomas"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19),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"Bill"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75)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 Пропустим 1 и заберем 3 объекта из коллекции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people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.Skip(1)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.Take(3);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person.Name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0524" y="1916490"/>
            <a:ext cx="115337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217" y="4893647"/>
            <a:ext cx="1654467" cy="146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30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/>
              <a:t>Distinct</a:t>
            </a:r>
            <a:r>
              <a:rPr lang="ru-RU" sz="2400" b="1" dirty="0"/>
              <a:t> / </a:t>
            </a:r>
            <a:r>
              <a:rPr lang="ru-RU" sz="2400" b="1" dirty="0" err="1"/>
              <a:t>DistinctBy</a:t>
            </a:r>
            <a:r>
              <a:rPr lang="ru-RU" sz="2400" b="1" dirty="0"/>
              <a:t>:</a:t>
            </a:r>
            <a:r>
              <a:rPr lang="ru-RU" sz="2400" dirty="0"/>
              <a:t> Удаляет дубликаты.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Except</a:t>
            </a:r>
            <a:r>
              <a:rPr lang="ru-RU" sz="2400" b="1" dirty="0"/>
              <a:t> / </a:t>
            </a:r>
            <a:r>
              <a:rPr lang="ru-RU" sz="2400" b="1" dirty="0" err="1"/>
              <a:t>ExceptBy</a:t>
            </a:r>
            <a:r>
              <a:rPr lang="ru-RU" sz="2400" b="1" dirty="0"/>
              <a:t>:</a:t>
            </a:r>
            <a:r>
              <a:rPr lang="ru-RU" sz="2400" dirty="0"/>
              <a:t> Разность (те, что есть в первом списке, но нет во втором).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Intersect</a:t>
            </a:r>
            <a:r>
              <a:rPr lang="ru-RU" sz="2400" b="1" dirty="0"/>
              <a:t> / </a:t>
            </a:r>
            <a:r>
              <a:rPr lang="ru-RU" sz="2400" b="1" dirty="0" err="1"/>
              <a:t>IntersectBy</a:t>
            </a:r>
            <a:r>
              <a:rPr lang="ru-RU" sz="2400" b="1" dirty="0"/>
              <a:t>:</a:t>
            </a:r>
            <a:r>
              <a:rPr lang="ru-RU" sz="2400" dirty="0"/>
              <a:t> Пересечение (только те, что есть в обоих списках).</a:t>
            </a:r>
          </a:p>
          <a:p>
            <a:pPr>
              <a:lnSpc>
                <a:spcPct val="150000"/>
              </a:lnSpc>
            </a:pPr>
            <a:r>
              <a:rPr lang="ru-RU" sz="2400" b="1" dirty="0" err="1"/>
              <a:t>Union</a:t>
            </a:r>
            <a:r>
              <a:rPr lang="ru-RU" sz="2400" b="1" dirty="0"/>
              <a:t>:</a:t>
            </a:r>
            <a:r>
              <a:rPr lang="ru-RU" sz="2400" dirty="0"/>
              <a:t> Объединение двух списков без дубликатов</a:t>
            </a:r>
            <a:r>
              <a:rPr lang="ru-RU" sz="2400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18603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415498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ru-RU" sz="2400" dirty="0" smtClean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ru-RU" sz="2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Оставит только уникальные имена, даже если это разные объекты в памяти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uniqueNames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people.DistinctBy</a:t>
            </a: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</a:rPr>
              <a:t>(p =&gt; </a:t>
            </a:r>
            <a:r>
              <a:rPr lang="ru-RU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p.Name</a:t>
            </a:r>
            <a:r>
              <a:rPr lang="ru-RU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ru-RU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/>
              <a:t>Важно для объектов:</a:t>
            </a:r>
            <a:r>
              <a:rPr lang="ru-RU" sz="2400" dirty="0"/>
              <a:t> Обычные методы (например, </a:t>
            </a:r>
            <a:r>
              <a:rPr lang="ru-RU" sz="2400" dirty="0" err="1"/>
              <a:t>Distinct</a:t>
            </a:r>
            <a:r>
              <a:rPr lang="ru-RU" sz="2400" dirty="0"/>
              <a:t>()) сравнивают ссылки. Если у вас два разных объекта </a:t>
            </a:r>
            <a:r>
              <a:rPr lang="ru-RU" sz="2400" dirty="0" err="1"/>
              <a:t>new</a:t>
            </a:r>
            <a:r>
              <a:rPr lang="ru-RU" sz="2400" dirty="0"/>
              <a:t> </a:t>
            </a:r>
            <a:r>
              <a:rPr lang="ru-RU" sz="2400" dirty="0" err="1"/>
              <a:t>Person</a:t>
            </a:r>
            <a:r>
              <a:rPr lang="ru-RU" sz="2400" dirty="0"/>
              <a:t>("</a:t>
            </a:r>
            <a:r>
              <a:rPr lang="ru-RU" sz="2400" dirty="0" err="1"/>
              <a:t>Tom</a:t>
            </a:r>
            <a:r>
              <a:rPr lang="ru-RU" sz="2400" dirty="0"/>
              <a:t>"), LINQ сочтет их разными. Чтобы сравнивать по полям (например, по ID или Имени), используйте версии методов с припиской </a:t>
            </a:r>
            <a:r>
              <a:rPr lang="ru-RU" sz="2400" b="1" dirty="0" err="1"/>
              <a:t>By</a:t>
            </a:r>
            <a:r>
              <a:rPr lang="ru-RU" sz="2400" dirty="0" smtClean="0"/>
              <a:t>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4574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5556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people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Person[]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25),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32),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54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"Tim"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15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"Tomas"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19),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"Bill"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75)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people2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Person[]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11),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"Bob2"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74),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9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"Tim2"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32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 </a:t>
            </a:r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"Tomas2"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44),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"Bill2"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31)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Люди из коллекции </a:t>
            </a:r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people 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кроме людей из </a:t>
            </a:r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people2</a:t>
            </a:r>
            <a:endParaRPr lang="ru-RU" sz="2400" dirty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people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.Except(people2);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person.Name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184" y="3537583"/>
            <a:ext cx="2238791" cy="306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9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37097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people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Person[]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 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25),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32),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54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"Tim"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15),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"Tomas"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19),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"Bill"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75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people2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Person[] 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11),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"Bob2"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74),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"Sam"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9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),</a:t>
            </a: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	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"Tim2"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32),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"Tomas2"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44),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"Bill2"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31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  <a:endParaRPr lang="en-US" sz="2400" dirty="0" smtClean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 Люди, имена которых есть в коллекции </a:t>
            </a:r>
            <a:r>
              <a:rPr lang="en-US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people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и в </a:t>
            </a:r>
            <a:r>
              <a:rPr lang="en-US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people2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people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IntersectBy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(people2.Select(v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v.Name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), p =&gt;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p.Name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person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selectedPeople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person.Name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person.Age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US" sz="24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417" y="5503696"/>
            <a:ext cx="1524308" cy="86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40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63944" y="6472639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Ералаш конец картинка - 65 фото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295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14425</TotalTime>
  <Words>667</Words>
  <Application>Microsoft Office PowerPoint</Application>
  <PresentationFormat>Широкоэкранный</PresentationFormat>
  <Paragraphs>291</Paragraphs>
  <Slides>28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5" baseType="lpstr">
      <vt:lpstr>Arial</vt:lpstr>
      <vt:lpstr>Bookman Old Style</vt:lpstr>
      <vt:lpstr>Calibri</vt:lpstr>
      <vt:lpstr>Cascadia Mono</vt:lpstr>
      <vt:lpstr>Consolas</vt:lpstr>
      <vt:lpstr>Times New Roman</vt:lpstr>
      <vt:lpstr>Тема Office</vt:lpstr>
      <vt:lpstr>4 семестр Лекция 7. 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семестр Лекция 7.   Содержание лекции:</dc:title>
  <dc:subject/>
  <dc:creator/>
  <cp:keywords/>
  <dc:description/>
  <cp:lastModifiedBy>Daniil Kljukin</cp:lastModifiedBy>
  <cp:revision>808</cp:revision>
  <dcterms:modified xsi:type="dcterms:W3CDTF">2026-05-05T08:05:31Z</dcterms:modified>
  <cp:category/>
  <cp:contentStatus/>
</cp:coreProperties>
</file>