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20"/>
  </p:notesMasterIdLst>
  <p:sldIdLst>
    <p:sldId id="273" r:id="rId2"/>
    <p:sldId id="274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2799" autoAdjust="0"/>
    <p:restoredTop sz="95343" autoAdjust="0"/>
  </p:normalViewPr>
  <p:slideViewPr>
    <p:cSldViewPr snapToGrid="0">
      <p:cViewPr varScale="1">
        <p:scale>
          <a:sx n="151" d="100"/>
          <a:sy n="151" d="100"/>
        </p:scale>
        <p:origin x="186" y="36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8258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4988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5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5708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0424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8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287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5428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1970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528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623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529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1764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49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800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6899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3369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Bookman Old Style" panose="020506040505050202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2626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Bookman Old Style" panose="02050604050505020204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Bookman Old Style" panose="02050604050505020204" pitchFamily="18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etanit.com/sharp/tutorial/14.1.php" TargetMode="External"/><Relationship Id="rId7" Type="http://schemas.openxmlformats.org/officeDocument/2006/relationships/hyperlink" Target="https://ulearn.me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tanit.com/sharp/aspnet6/1.1.php" TargetMode="External"/><Relationship Id="rId5" Type="http://schemas.openxmlformats.org/officeDocument/2006/relationships/hyperlink" Target="https://metanit.com/sharp/net/3.4.php" TargetMode="External"/><Relationship Id="rId4" Type="http://schemas.openxmlformats.org/officeDocument/2006/relationships/hyperlink" Target="https://metanit.com/sharp/tutorial/8.1.php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2490651"/>
            <a:ext cx="10670534" cy="2000203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7. 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LINQ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LINQ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333632" y="691338"/>
            <a:ext cx="11497963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Language-Integrated</a:t>
            </a: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Query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) представляет простой и удобный язык запросов к источнику данных. В качестве источника данных может выступать объект, реализующий интерфейс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IEnumerable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 (например, стандартные коллекции, массивы), набор данных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DataSet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, документ XML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Основная часть функциональности LINQ сосредоточена в пространстве имен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System.LINQ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. В проектах под .NET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6+ 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данное пространство имен подключается по умолчанию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5268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234778" y="691338"/>
            <a:ext cx="11957222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people =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	"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Bill“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};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Люди с первой буквой </a:t>
            </a:r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T,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упорядоченные по имени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.Where(p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p.ToUpper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StartsWith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p);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(person);</a:t>
            </a:r>
          </a:p>
          <a:p>
            <a:pPr algn="just"/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837" y="4234875"/>
            <a:ext cx="1264909" cy="1350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05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358346" y="0"/>
            <a:ext cx="11504140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Пример для коллекции объектов типа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Person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Создадим класс человека с 2 свойствами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Имя и Возраст.</a:t>
            </a:r>
          </a:p>
          <a:p>
            <a:pPr algn="just"/>
            <a:endParaRPr lang="ru-RU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Name {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Age {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set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 }</a:t>
            </a: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2B91AF"/>
                </a:solidFill>
                <a:latin typeface="Cascadia Mono" panose="020B0609020000020004" pitchFamily="49" charset="0"/>
              </a:rPr>
              <a:t>Person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name, 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age)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Name = name;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Age = age;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pPr algn="just"/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606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345988" y="0"/>
            <a:ext cx="11392931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Создадим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коллекцию людей:</a:t>
            </a:r>
          </a:p>
          <a:p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 Люди с первой буквой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T, 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упорядоченные по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возрасту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 В отличие от прошлого примеры мы работаем с объектами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.Where(p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p.Name.ToUpper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StartsWith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pPr algn="just"/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579" y="4572000"/>
            <a:ext cx="1973340" cy="1277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612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228599" y="0"/>
            <a:ext cx="1169670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Where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 фильтр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выборки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OrderBy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упорядочивает элементы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возрастанию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OrderByDescending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упорядочивает элементы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убыванию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ThenBy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задает дополнительные критерии для упорядочивания элементов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возрастанию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ThenByDescending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задает дополнительные критерии для упорядочивания элементов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убыванию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Select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 проекцию выбранных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значений</a:t>
            </a:r>
            <a:endParaRPr lang="ru-RU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725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400050" y="0"/>
            <a:ext cx="11306176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Пример </a:t>
            </a:r>
            <a:r>
              <a:rPr lang="ru-RU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проекции </a:t>
            </a:r>
            <a:r>
              <a:rPr lang="en-US" sz="24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Select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:</a:t>
            </a:r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.Where(p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p.Name.ToUpper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StartsWith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OrderBy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.Select(p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Метод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Where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фильтрует людей в результате остаются только люди с первой буквой Т.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Метод </a:t>
            </a:r>
            <a:r>
              <a:rPr lang="en-US" sz="24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OrderBy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упорядочивает людей по возрасту.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Метод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Select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преобразует людей в имена, т.е. преобразует тип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Person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string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46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304800" y="-15564"/>
            <a:ext cx="11544300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First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первый элемент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FirstOrDefault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первый элемент коллекции или возвращает значение по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умолчанию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Single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единственный элемент коллекции, если коллекция содержит больше или меньше одного элемента, то генерируется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исключение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SingleOrDefault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единственный элемент коллекции. Если коллекция пуста, возвращает значение по умолчанию. Если в коллекции больше одного элемента, генерирует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исключение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ElementAt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элемент последовательности по определенному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индексу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998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314325" y="-15564"/>
            <a:ext cx="1157287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ElementAtOrDefault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элемент коллекции по определенному индексу или возвращает значение по умолчанию, если индекс вне допустимого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диапазона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Last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последний элемент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LastOrDefault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последний элемент коллекции или возвращает значение по умолчанию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5542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266700" y="-15564"/>
            <a:ext cx="11477625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54),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Первый человек, чей возраст меньше 20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.First(p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 smtClean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Последний 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человек, чей возраст меньше 20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selectedPeople2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.Last(p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selectedPeople2.Name}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{selectedPeople2.Age}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694" y="4867184"/>
            <a:ext cx="2257631" cy="990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9629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19075" y="0"/>
            <a:ext cx="11515726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All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определяет, все ли элементы коллекции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удовлетворяют 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определенному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условию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Any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определяет, удовлетворяет хотя бы один элемент коллекции определенному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условию</a:t>
            </a:r>
          </a:p>
          <a:p>
            <a:pPr algn="just"/>
            <a:endParaRPr lang="ru-RU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Есть ли в коллекции человек, чей возраст меньше 20?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В коллекции у всех возраст меньше 20?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people.Any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)}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people.All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20)}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9339" y="5550163"/>
            <a:ext cx="2992011" cy="45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13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0524" y="0"/>
            <a:ext cx="1136332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Take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выбирает определенное количество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элементов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Skip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пропускает определенное количество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элементов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TakeWhile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возвращает цепочку элементов последовательности, до тех пор, пока условие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истинно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SkipWhile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пропускает элементы в последовательности, пока они удовлетворяют заданному условию, и затем возвращает оставшиеся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элементы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390524" y="1916490"/>
            <a:ext cx="1153374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63763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90524" y="0"/>
            <a:ext cx="11363326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ru-RU" sz="24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pPr lvl="1"/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pPr lvl="1"/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 Пропустим 1 и заберем 3 объекта из коллекции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.Skip(1)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.Take(3);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390524" y="1916490"/>
            <a:ext cx="1153374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217" y="4893647"/>
            <a:ext cx="1654467" cy="146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300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333375" y="0"/>
            <a:ext cx="1145857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Distinct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удаляет </a:t>
            </a:r>
            <a:r>
              <a:rPr lang="ru-RU" sz="2400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дублирующиеся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 элементы из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Except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возвращает разность двух коллекцию, то есть те элементы, которые создаются только в одной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Union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объединяет две однородные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коллекции</a:t>
            </a:r>
            <a:endParaRPr lang="en-US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Intersect</a:t>
            </a:r>
            <a:r>
              <a:rPr lang="ru-RU" sz="24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: возвращает пересечение двух коллекций, то есть те элементы, которые встречаются в обоих </a:t>
            </a:r>
            <a:r>
              <a:rPr lang="ru-RU" sz="24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коллекциях</a:t>
            </a:r>
          </a:p>
        </p:txBody>
      </p:sp>
    </p:spTree>
    <p:extLst>
      <p:ext uri="{BB962C8B-B14F-4D97-AF65-F5344CB8AC3E}">
        <p14:creationId xmlns:p14="http://schemas.microsoft.com/office/powerpoint/2010/main" val="2618603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66700" y="0"/>
            <a:ext cx="11553825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11),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9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44),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31)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Люди из коллекции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people </a:t>
            </a:r>
            <a:r>
              <a:rPr lang="ru-RU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кроме людей из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people2</a:t>
            </a:r>
            <a:endParaRPr lang="ru-RU" sz="24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.Except(people2);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184" y="3537583"/>
            <a:ext cx="2238791" cy="306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90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47650" y="0"/>
            <a:ext cx="11687175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 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25),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54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15),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19),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people2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Person[] 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11),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"Bob2"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74),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"Sam"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9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"Tim2"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32),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"Tomas2"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44),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"Bill2"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31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  <a:endParaRPr lang="en-US" sz="2400" dirty="0" smtClean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 Люди, имена которых есть в коллекции </a:t>
            </a:r>
            <a:r>
              <a:rPr lang="en-US" sz="2400" dirty="0">
                <a:solidFill>
                  <a:srgbClr val="00B050"/>
                </a:solidFill>
                <a:latin typeface="Cascadia Mono" panose="020B0609020000020004" pitchFamily="49" charset="0"/>
              </a:rPr>
              <a:t>people </a:t>
            </a:r>
            <a:r>
              <a:rPr lang="ru-RU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и в </a:t>
            </a:r>
            <a:r>
              <a:rPr lang="en-US" sz="24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people2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people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.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IntersectBy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(people2.Select(v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), p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person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selectedPeople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person.Age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1417" y="5503696"/>
            <a:ext cx="1524308" cy="86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040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ru-RU" sz="2400" dirty="0" smtClean="0">
              <a:latin typeface="Bookman Old Style" panose="02050604050505020204" pitchFamily="18" charset="0"/>
            </a:endParaRPr>
          </a:p>
          <a:p>
            <a:pPr algn="ctr"/>
            <a:r>
              <a:rPr lang="ru-RU" sz="2400" b="1" dirty="0" smtClean="0">
                <a:latin typeface="Bookman Old Style" panose="02050604050505020204" pitchFamily="18" charset="0"/>
              </a:rPr>
              <a:t>Темы для самостоятельного изучения</a:t>
            </a: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Рефлексия: </a:t>
            </a:r>
            <a:r>
              <a:rPr lang="it-IT" sz="2400" dirty="0" smtClean="0">
                <a:latin typeface="Bookman Old Style" panose="02050604050505020204" pitchFamily="18" charset="0"/>
                <a:hlinkClick r:id="rId3"/>
              </a:rPr>
              <a:t>https</a:t>
            </a:r>
            <a:r>
              <a:rPr lang="it-IT" sz="2400" dirty="0">
                <a:latin typeface="Bookman Old Style" panose="02050604050505020204" pitchFamily="18" charset="0"/>
                <a:hlinkClick r:id="rId3"/>
              </a:rPr>
              <a:t>://</a:t>
            </a:r>
            <a:r>
              <a:rPr lang="it-IT" sz="2400" dirty="0" smtClean="0">
                <a:latin typeface="Bookman Old Style" panose="02050604050505020204" pitchFamily="18" charset="0"/>
                <a:hlinkClick r:id="rId3"/>
              </a:rPr>
              <a:t>metanit.com/sharp/tutorial/14.1.php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Управление памятью: </a:t>
            </a: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metanit.com/sharp/tutorial/8.1.php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ru-RU" sz="2400" b="1" dirty="0" smtClean="0">
                <a:latin typeface="Bookman Old Style" panose="02050604050505020204" pitchFamily="18" charset="0"/>
              </a:rPr>
              <a:t>Клиент-серверные приложения: </a:t>
            </a:r>
            <a:r>
              <a:rPr lang="en-US" sz="2400" dirty="0">
                <a:latin typeface="Bookman Old Style" panose="02050604050505020204" pitchFamily="18" charset="0"/>
                <a:hlinkClick r:id="rId5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5"/>
              </a:rPr>
              <a:t>metanit.com/sharp/net/3.4.php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/>
            <a:r>
              <a:rPr lang="en-US" sz="2400" b="1" dirty="0" smtClean="0">
                <a:latin typeface="Bookman Old Style" panose="02050604050505020204" pitchFamily="18" charset="0"/>
              </a:rPr>
              <a:t>Web </a:t>
            </a:r>
            <a:r>
              <a:rPr lang="ru-RU" sz="2400" b="1" dirty="0" smtClean="0">
                <a:latin typeface="Bookman Old Style" panose="02050604050505020204" pitchFamily="18" charset="0"/>
              </a:rPr>
              <a:t>приложения: </a:t>
            </a:r>
            <a:r>
              <a:rPr lang="en-US" sz="2400" dirty="0">
                <a:latin typeface="Bookman Old Style" panose="02050604050505020204" pitchFamily="18" charset="0"/>
                <a:hlinkClick r:id="rId6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6"/>
              </a:rPr>
              <a:t>metanit.com/sharp/aspnet6/1.1.php</a:t>
            </a:r>
            <a:r>
              <a:rPr lang="ru-RU" sz="2400" dirty="0" smtClean="0">
                <a:latin typeface="Bookman Old Style" panose="02050604050505020204" pitchFamily="18" charset="0"/>
              </a:rPr>
              <a:t>  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/>
            <a:endParaRPr lang="en-US" sz="2400" b="0" dirty="0">
              <a:effectLst/>
              <a:latin typeface="Bookman Old Style" panose="02050604050505020204" pitchFamily="18" charset="0"/>
            </a:endParaRPr>
          </a:p>
          <a:p>
            <a:pPr algn="ctr"/>
            <a:r>
              <a:rPr lang="ru-RU" sz="2400" b="1" dirty="0" smtClean="0">
                <a:latin typeface="Bookman Old Style" panose="02050604050505020204" pitchFamily="18" charset="0"/>
              </a:rPr>
              <a:t>Бесплатные курсы по программированию</a:t>
            </a:r>
          </a:p>
          <a:p>
            <a:pPr algn="just"/>
            <a:r>
              <a:rPr lang="it-IT" sz="2400" dirty="0">
                <a:latin typeface="Bookman Old Style" panose="02050604050505020204" pitchFamily="18" charset="0"/>
                <a:hlinkClick r:id="rId7"/>
              </a:rPr>
              <a:t>https://ulearn.me</a:t>
            </a:r>
            <a:r>
              <a:rPr lang="it-IT" sz="2400" dirty="0" smtClean="0">
                <a:latin typeface="Bookman Old Style" panose="02050604050505020204" pitchFamily="18" charset="0"/>
                <a:hlinkClick r:id="rId7"/>
              </a:rPr>
              <a:t>/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endParaRPr lang="it-IT" sz="2400" b="0" dirty="0"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3313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963944" y="6472639"/>
            <a:ext cx="18473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ru-RU" altLang="ru-RU" sz="24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18" name="Picture 2" descr="Ералаш конец картинка - 65 фото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0295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14397</TotalTime>
  <Words>653</Words>
  <Application>Microsoft Office PowerPoint</Application>
  <PresentationFormat>Широкоэкранный</PresentationFormat>
  <Paragraphs>192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Arial</vt:lpstr>
      <vt:lpstr>Bookman Old Style</vt:lpstr>
      <vt:lpstr>Calibri</vt:lpstr>
      <vt:lpstr>Cascadia Mono</vt:lpstr>
      <vt:lpstr>Times New Roman</vt:lpstr>
      <vt:lpstr>Тема Office</vt:lpstr>
      <vt:lpstr>4 семестр Лекция 7. 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 семестр Лекция 7.   Содержание лекции:</dc:title>
  <dc:subject/>
  <dc:creator/>
  <cp:keywords/>
  <dc:description/>
  <cp:lastModifiedBy>Daniil Kljukin</cp:lastModifiedBy>
  <cp:revision>801</cp:revision>
  <dcterms:modified xsi:type="dcterms:W3CDTF">2026-04-22T07:53:28Z</dcterms:modified>
  <cp:category/>
  <cp:contentStatus/>
</cp:coreProperties>
</file>