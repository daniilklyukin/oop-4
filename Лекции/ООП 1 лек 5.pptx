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6"/>
  </p:notesMasterIdLst>
  <p:sldIdLst>
    <p:sldId id="273" r:id="rId2"/>
    <p:sldId id="969" r:id="rId3"/>
    <p:sldId id="1162" r:id="rId4"/>
    <p:sldId id="1163" r:id="rId5"/>
    <p:sldId id="1164" r:id="rId6"/>
    <p:sldId id="1161" r:id="rId7"/>
    <p:sldId id="1147" r:id="rId8"/>
    <p:sldId id="1092" r:id="rId9"/>
    <p:sldId id="1122" r:id="rId10"/>
    <p:sldId id="1123" r:id="rId11"/>
    <p:sldId id="1148" r:id="rId12"/>
    <p:sldId id="1124" r:id="rId13"/>
    <p:sldId id="1125" r:id="rId14"/>
    <p:sldId id="1149" r:id="rId15"/>
    <p:sldId id="1127" r:id="rId16"/>
    <p:sldId id="1128" r:id="rId17"/>
    <p:sldId id="1129" r:id="rId18"/>
    <p:sldId id="1150" r:id="rId19"/>
    <p:sldId id="1151" r:id="rId20"/>
    <p:sldId id="1131" r:id="rId21"/>
    <p:sldId id="1152" r:id="rId22"/>
    <p:sldId id="1132" r:id="rId23"/>
    <p:sldId id="1133" r:id="rId24"/>
    <p:sldId id="1134" r:id="rId25"/>
    <p:sldId id="1135" r:id="rId26"/>
    <p:sldId id="1153" r:id="rId27"/>
    <p:sldId id="1140" r:id="rId28"/>
    <p:sldId id="1139" r:id="rId29"/>
    <p:sldId id="1137" r:id="rId30"/>
    <p:sldId id="1154" r:id="rId31"/>
    <p:sldId id="1138" r:id="rId32"/>
    <p:sldId id="1160" r:id="rId33"/>
    <p:sldId id="1141" r:id="rId34"/>
    <p:sldId id="1155" r:id="rId35"/>
    <p:sldId id="1165" r:id="rId36"/>
    <p:sldId id="1166" r:id="rId37"/>
    <p:sldId id="1142" r:id="rId38"/>
    <p:sldId id="1156" r:id="rId39"/>
    <p:sldId id="1143" r:id="rId40"/>
    <p:sldId id="1144" r:id="rId41"/>
    <p:sldId id="1157" r:id="rId42"/>
    <p:sldId id="1145" r:id="rId43"/>
    <p:sldId id="1158" r:id="rId44"/>
    <p:sldId id="1146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6" autoAdjust="0"/>
    <p:restoredTop sz="94485" autoAdjust="0"/>
  </p:normalViewPr>
  <p:slideViewPr>
    <p:cSldViewPr snapToGrid="0">
      <p:cViewPr>
        <p:scale>
          <a:sx n="66" d="100"/>
          <a:sy n="66" d="100"/>
        </p:scale>
        <p:origin x="2556" y="19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5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01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11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93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эпоху многоядерных машин, которые позволяют параллельно выполнять сразу несколько процессов, стандартных средств работы с потоками в .NET уже оказалось недостаточно. Поэтому во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.NET была добавлена библиотека параллельных задач TPL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основной функционал которой располагается в пространстве имен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System.Threading.Tasks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Данная библиотека упрощает работу с многопроцессорными, многоядерными системами. Кроме того, она упрощает работу по созданию новых потоков. Поэтому обычно рекомендуется использовать именно TPL и ее классы для создания многопоточных приложений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основе библиотеки TPL лежит концепция задач, каждая из которых описывает отдельную продолжительную операцию. В библиотеке классов .NET задача представлена специальным классом - классом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находится в пространстве имен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System.Threading.Tasks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Данный класс описывает отдельную задачу, которая запускается асинхронно в одном из потоков из пула потоков. Хотя ее также можно запускать синхронно в текущем потоке.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19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37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80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78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27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70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19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74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18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57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39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505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Ответ: может отобразиться ничего, а может вывести сообщения </a:t>
            </a:r>
            <a:r>
              <a:rPr lang="en-US" dirty="0" smtClean="0"/>
              <a:t>Task1…</a:t>
            </a:r>
            <a:r>
              <a:rPr lang="ru-RU" dirty="0" smtClean="0"/>
              <a:t>,</a:t>
            </a:r>
            <a:r>
              <a:rPr lang="ru-RU" baseline="0" dirty="0" smtClean="0"/>
              <a:t> </a:t>
            </a:r>
            <a:r>
              <a:rPr lang="ru-RU" baseline="0" dirty="0" err="1" smtClean="0"/>
              <a:t>тк</a:t>
            </a:r>
            <a:r>
              <a:rPr lang="ru-RU" baseline="0" dirty="0" smtClean="0"/>
              <a:t> задачи выполняются в отдельном потоке и мы не ждем их завершения, то они могут завершиться после выхода из </a:t>
            </a:r>
            <a:r>
              <a:rPr lang="en-US" baseline="0" dirty="0" smtClean="0"/>
              <a:t>Main</a:t>
            </a:r>
            <a:r>
              <a:rPr lang="ru-RU" baseline="0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5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46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51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343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31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34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935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558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495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980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196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797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224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984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926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656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685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585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755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508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83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987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750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199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588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760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20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2" y="2490651"/>
            <a:ext cx="10670534" cy="2000203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4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5.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 dirty="0" err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4490853"/>
            <a:ext cx="110413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Параллельное программирование (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TPL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Класс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Класс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Parallel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Отмена задач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Почему мы здесь? Кризис частоты и закон Мура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Историческая справка: </a:t>
            </a:r>
            <a:r>
              <a:rPr lang="ru-RU" sz="2400" dirty="0">
                <a:latin typeface="Bookman Old Style" panose="02050604050505020204" pitchFamily="18" charset="0"/>
              </a:rPr>
              <a:t>До 2005 года программисты жили в эпоху «бесплатного обеда». Каждые 18-24 месяца процессоры становились в два раза быстрее за счет роста тактовой частоты. Старая программа просто начинала работать быстрее на новом компьютере сама по себе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Проблема: </a:t>
            </a:r>
            <a:r>
              <a:rPr lang="ru-RU" sz="2400" dirty="0">
                <a:latin typeface="Bookman Old Style" panose="02050604050505020204" pitchFamily="18" charset="0"/>
              </a:rPr>
              <a:t>В середине 2000-х мы уперлись в «тепловой барьер». Процессоры начали плавиться при попытке поднять частоту выше.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Решение: </a:t>
            </a:r>
            <a:r>
              <a:rPr lang="ru-RU" sz="2400" dirty="0">
                <a:latin typeface="Bookman Old Style" panose="02050604050505020204" pitchFamily="18" charset="0"/>
              </a:rPr>
              <a:t>Производители пошли не вглубь (частота), а вширь (количество ядер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</a:t>
            </a:r>
            <a:r>
              <a:rPr lang="en-US" sz="2400" dirty="0" err="1" smtClean="0">
                <a:latin typeface="Bookman Old Style" panose="02050604050505020204" pitchFamily="18" charset="0"/>
              </a:rPr>
              <a:t>тать</a:t>
            </a:r>
            <a:r>
              <a:rPr lang="ru-RU" sz="2400" dirty="0" smtClean="0">
                <a:latin typeface="Bookman Old Style" panose="02050604050505020204" pitchFamily="18" charset="0"/>
              </a:rPr>
              <a:t>я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Герба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Саттера</a:t>
            </a:r>
            <a:r>
              <a:rPr lang="en-US" sz="2400" dirty="0">
                <a:latin typeface="Bookman Old Style" panose="02050604050505020204" pitchFamily="18" charset="0"/>
              </a:rPr>
              <a:t> «The Free Lunch Is Over</a:t>
            </a:r>
            <a:r>
              <a:rPr lang="en-US" sz="2400" dirty="0" smtClean="0">
                <a:latin typeface="Bookman Old Style" panose="02050604050505020204" pitchFamily="18" charset="0"/>
              </a:rPr>
              <a:t>»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5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48387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Зако́н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Му́ра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— </a:t>
            </a:r>
            <a:r>
              <a:rPr lang="ru-RU" sz="2400" dirty="0">
                <a:latin typeface="Bookman Old Style" panose="02050604050505020204" pitchFamily="18" charset="0"/>
              </a:rPr>
              <a:t>эмпирическое наблюдение, изначально сделанное Гордоном Муром, согласно которому (в современной формулировке) количество транзисторов, размещаемых на кристалле интегральной схемы, удваивается каждые 24 месяца.</a:t>
            </a:r>
            <a:endParaRPr lang="ru-RU" sz="32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700" y="712973"/>
            <a:ext cx="7183084" cy="531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4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Эволюция абстракций в .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NET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Чтобы понять </a:t>
            </a:r>
            <a:r>
              <a:rPr lang="ru-RU" sz="2400" dirty="0" err="1">
                <a:latin typeface="Bookman Old Style" panose="02050604050505020204" pitchFamily="18" charset="0"/>
              </a:rPr>
              <a:t>Task</a:t>
            </a:r>
            <a:r>
              <a:rPr lang="ru-RU" sz="2400" dirty="0">
                <a:latin typeface="Bookman Old Style" panose="02050604050505020204" pitchFamily="18" charset="0"/>
              </a:rPr>
              <a:t>, нужно вспомнить, что было до него: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Thread</a:t>
            </a:r>
            <a:r>
              <a:rPr lang="ru-RU" sz="2400" b="1" dirty="0">
                <a:latin typeface="Bookman Old Style" panose="02050604050505020204" pitchFamily="18" charset="0"/>
              </a:rPr>
              <a:t> (2002, .NET 1.0):</a:t>
            </a:r>
            <a:r>
              <a:rPr lang="ru-RU" sz="2400" dirty="0">
                <a:latin typeface="Bookman Old Style" panose="02050604050505020204" pitchFamily="18" charset="0"/>
              </a:rPr>
              <a:t> Вы сами создаете поток. Это как нанимать отдельного рабочего под каждую мелкую задачу. Очень дорого (1 МБ памяти на поток!), сложно управлять, легко всё сломать.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ThreadPool</a:t>
            </a:r>
            <a:r>
              <a:rPr lang="ru-RU" sz="2400" b="1" dirty="0">
                <a:latin typeface="Bookman Old Style" panose="02050604050505020204" pitchFamily="18" charset="0"/>
              </a:rPr>
              <a:t> (2005, .NET 2.0):</a:t>
            </a:r>
            <a:r>
              <a:rPr lang="ru-RU" sz="2400" dirty="0">
                <a:latin typeface="Bookman Old Style" panose="02050604050505020204" pitchFamily="18" charset="0"/>
              </a:rPr>
              <a:t> Появилась «бригада рабочих». Мы кидаем задачу в кучу, кто-то её подхватывает. Лучше, но мы не знаем, когда задача закончится и как вернуть результат.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TPL и </a:t>
            </a:r>
            <a:r>
              <a:rPr lang="ru-RU" sz="2400" b="1" dirty="0" err="1">
                <a:latin typeface="Bookman Old Style" panose="02050604050505020204" pitchFamily="18" charset="0"/>
              </a:rPr>
              <a:t>Task</a:t>
            </a:r>
            <a:r>
              <a:rPr lang="ru-RU" sz="2400" b="1" dirty="0">
                <a:latin typeface="Bookman Old Style" panose="02050604050505020204" pitchFamily="18" charset="0"/>
              </a:rPr>
              <a:t> (2010, .NET 4.0):</a:t>
            </a:r>
            <a:r>
              <a:rPr lang="ru-RU" sz="2400" dirty="0">
                <a:latin typeface="Bookman Old Style" panose="02050604050505020204" pitchFamily="18" charset="0"/>
              </a:rPr>
              <a:t> Революция. Мы перешли от управления «потоками» (железом) к управлению «задачами» (логикой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Task</a:t>
            </a:r>
            <a:r>
              <a:rPr lang="ru-RU" sz="2400" b="1" dirty="0">
                <a:latin typeface="Bookman Old Style" panose="02050604050505020204" pitchFamily="18" charset="0"/>
              </a:rPr>
              <a:t> — это не поток. </a:t>
            </a:r>
            <a:r>
              <a:rPr lang="ru-RU" sz="2400" dirty="0">
                <a:latin typeface="Bookman Old Style" panose="02050604050505020204" pitchFamily="18" charset="0"/>
              </a:rPr>
              <a:t>Это обещание (</a:t>
            </a:r>
            <a:r>
              <a:rPr lang="ru-RU" sz="2400" dirty="0" err="1">
                <a:latin typeface="Bookman Old Style" panose="02050604050505020204" pitchFamily="18" charset="0"/>
              </a:rPr>
              <a:t>Promise</a:t>
            </a:r>
            <a:r>
              <a:rPr lang="ru-RU" sz="2400" dirty="0">
                <a:latin typeface="Bookman Old Style" panose="02050604050505020204" pitchFamily="18" charset="0"/>
              </a:rPr>
              <a:t>), что работа будет сделана. А КТО и КАК её сделает — решает умный планировщик внутри .NET.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98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Главные сценарии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556966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Прежде чем изучать методы, разделим все задачи на два типа: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CPU-</a:t>
            </a:r>
            <a:r>
              <a:rPr lang="ru-RU" sz="2400" b="1" dirty="0" err="1">
                <a:latin typeface="Bookman Old Style" panose="02050604050505020204" pitchFamily="18" charset="0"/>
              </a:rPr>
              <a:t>Bound</a:t>
            </a:r>
            <a:r>
              <a:rPr lang="ru-RU" sz="2400" b="1" dirty="0">
                <a:latin typeface="Bookman Old Style" panose="02050604050505020204" pitchFamily="18" charset="0"/>
              </a:rPr>
              <a:t> (Вычислительные):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Пример:</a:t>
            </a:r>
            <a:r>
              <a:rPr lang="ru-RU" sz="2400" dirty="0">
                <a:latin typeface="Bookman Old Style" panose="02050604050505020204" pitchFamily="18" charset="0"/>
              </a:rPr>
              <a:t> Расчет интеграла (как в нашей лекции), рендеринг видео, шифрование.</a:t>
            </a:r>
          </a:p>
          <a:p>
            <a:pPr lvl="1" algn="just"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Цель:</a:t>
            </a:r>
            <a:r>
              <a:rPr lang="ru-RU" sz="2400" dirty="0">
                <a:latin typeface="Bookman Old Style" panose="02050604050505020204" pitchFamily="18" charset="0"/>
              </a:rPr>
              <a:t> Загрузить все ядра процессора на 100%, чтобы закончить быстрее.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I/O-</a:t>
            </a:r>
            <a:r>
              <a:rPr lang="ru-RU" sz="2400" b="1" dirty="0" err="1">
                <a:latin typeface="Bookman Old Style" panose="02050604050505020204" pitchFamily="18" charset="0"/>
              </a:rPr>
              <a:t>Bound</a:t>
            </a:r>
            <a:r>
              <a:rPr lang="ru-RU" sz="2400" b="1" dirty="0">
                <a:latin typeface="Bookman Old Style" panose="02050604050505020204" pitchFamily="18" charset="0"/>
              </a:rPr>
              <a:t> (Ожидание ввода-вывода):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Пример:</a:t>
            </a:r>
            <a:r>
              <a:rPr lang="ru-RU" sz="2400" dirty="0">
                <a:latin typeface="Bookman Old Style" panose="02050604050505020204" pitchFamily="18" charset="0"/>
              </a:rPr>
              <a:t> Запрос к БД, скачивание файла, чтение с диска.</a:t>
            </a:r>
          </a:p>
          <a:p>
            <a:pPr lvl="1" algn="just"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Цель:</a:t>
            </a:r>
            <a:r>
              <a:rPr lang="ru-RU" sz="2400" dirty="0">
                <a:latin typeface="Bookman Old Style" panose="02050604050505020204" pitchFamily="18" charset="0"/>
              </a:rPr>
              <a:t> Не блокировать основной поток (интерфейс), пока мы ждем ответа от медленного устройства.</a:t>
            </a:r>
          </a:p>
        </p:txBody>
      </p:sp>
    </p:spTree>
    <p:extLst>
      <p:ext uri="{BB962C8B-B14F-4D97-AF65-F5344CB8AC3E}">
        <p14:creationId xmlns:p14="http://schemas.microsoft.com/office/powerpoint/2010/main" val="89976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Класс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Task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библиотеке классов .NET задача представлена специальным классом - классом </a:t>
            </a:r>
            <a:r>
              <a:rPr lang="ru-RU" sz="2400" b="1" dirty="0" err="1">
                <a:latin typeface="Bookman Old Style" panose="02050604050505020204" pitchFamily="18" charset="0"/>
              </a:rPr>
              <a:t>Task</a:t>
            </a:r>
            <a:r>
              <a:rPr lang="ru-RU" sz="2400" dirty="0">
                <a:latin typeface="Bookman Old Style" panose="02050604050505020204" pitchFamily="18" charset="0"/>
              </a:rPr>
              <a:t>, который находится в пространстве имен </a:t>
            </a:r>
            <a:r>
              <a:rPr lang="ru-RU" sz="2400" b="1" dirty="0" err="1">
                <a:latin typeface="Bookman Old Style" panose="02050604050505020204" pitchFamily="18" charset="0"/>
              </a:rPr>
              <a:t>System.Threading.Tasks</a:t>
            </a:r>
            <a:r>
              <a:rPr lang="ru-RU" sz="2400" dirty="0">
                <a:latin typeface="Bookman Old Style" panose="02050604050505020204" pitchFamily="18" charset="0"/>
              </a:rPr>
              <a:t>. Данный класс описывает отдельную задачу, которая запускается асинхронно в одном из потоков из пула потоков. Хотя ее также можно запускать синхронно в текущем потоке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433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Первый </a:t>
            </a:r>
            <a:r>
              <a:rPr lang="ru-RU" sz="2400" dirty="0">
                <a:latin typeface="Bookman Old Style" panose="02050604050505020204" pitchFamily="18" charset="0"/>
              </a:rPr>
              <a:t>способ создание объекта </a:t>
            </a:r>
            <a:r>
              <a:rPr lang="ru-RU" sz="2400" b="1" dirty="0" err="1">
                <a:latin typeface="Bookman Old Style" panose="02050604050505020204" pitchFamily="18" charset="0"/>
              </a:rPr>
              <a:t>Task</a:t>
            </a:r>
            <a:r>
              <a:rPr lang="ru-RU" sz="2400" dirty="0">
                <a:latin typeface="Bookman Old Style" panose="02050604050505020204" pitchFamily="18" charset="0"/>
              </a:rPr>
              <a:t> и вызов у него метода </a:t>
            </a:r>
            <a:r>
              <a:rPr lang="ru-RU" sz="2400" b="1" dirty="0" err="1">
                <a:latin typeface="Bookman Old Style" panose="02050604050505020204" pitchFamily="18" charset="0"/>
              </a:rPr>
              <a:t>Start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				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 Task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!"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task.Start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Второй способ заключается в использовании статического метода </a:t>
            </a:r>
            <a:r>
              <a:rPr lang="ru-RU" sz="2400" b="1" dirty="0" err="1">
                <a:latin typeface="Bookman Old Style" panose="02050604050505020204" pitchFamily="18" charset="0"/>
              </a:rPr>
              <a:t>Task.Factory.StartNew</a:t>
            </a:r>
            <a:r>
              <a:rPr lang="ru-RU" sz="2400" b="1" dirty="0">
                <a:latin typeface="Bookman Old Style" panose="02050604050505020204" pitchFamily="18" charset="0"/>
              </a:rPr>
              <a:t>()</a:t>
            </a:r>
            <a:r>
              <a:rPr lang="ru-RU" sz="2400" dirty="0">
                <a:latin typeface="Bookman Old Style" panose="02050604050505020204" pitchFamily="18" charset="0"/>
              </a:rPr>
              <a:t>. Этот метод также в качестве параметра принимает делегат </a:t>
            </a:r>
            <a:r>
              <a:rPr lang="ru-RU" sz="2400" b="1" dirty="0" err="1">
                <a:latin typeface="Bookman Old Style" panose="02050604050505020204" pitchFamily="18" charset="0"/>
              </a:rPr>
              <a:t>Action</a:t>
            </a:r>
            <a:r>
              <a:rPr lang="ru-RU" sz="2400" dirty="0">
                <a:latin typeface="Bookman Old Style" panose="02050604050505020204" pitchFamily="18" charset="0"/>
              </a:rPr>
              <a:t>, который указывает, какое действие будет выполняться. При этом этот метод сразу же запускает задачу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Task.Factory.StartNew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				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 Task!"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3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Третий способ определения и запуска задач представляет использование статического метода </a:t>
            </a:r>
            <a:r>
              <a:rPr lang="ru-RU" sz="2400" b="1" dirty="0" err="1">
                <a:latin typeface="Bookman Old Style" panose="02050604050505020204" pitchFamily="18" charset="0"/>
              </a:rPr>
              <a:t>Task.Run</a:t>
            </a:r>
            <a:r>
              <a:rPr lang="ru-RU" sz="2400" b="1" dirty="0" smtClean="0">
                <a:latin typeface="Bookman Old Style" panose="02050604050505020204" pitchFamily="18" charset="0"/>
              </a:rPr>
              <a:t>()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Task.Run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 Task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!"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Task.Run</a:t>
            </a:r>
            <a:r>
              <a:rPr lang="ru-RU" sz="2400" b="1" dirty="0">
                <a:latin typeface="Bookman Old Style" panose="02050604050505020204" pitchFamily="18" charset="0"/>
              </a:rPr>
              <a:t>()</a:t>
            </a:r>
            <a:r>
              <a:rPr lang="ru-RU" sz="2400" dirty="0">
                <a:latin typeface="Bookman Old Style" panose="02050604050505020204" pitchFamily="18" charset="0"/>
              </a:rPr>
              <a:t> также в качестве параметра может принимать делегат </a:t>
            </a:r>
            <a:r>
              <a:rPr lang="ru-RU" sz="2400" dirty="0" err="1">
                <a:latin typeface="Bookman Old Style" panose="02050604050505020204" pitchFamily="18" charset="0"/>
              </a:rPr>
              <a:t>Action</a:t>
            </a:r>
            <a:r>
              <a:rPr lang="ru-RU" sz="2400" dirty="0">
                <a:latin typeface="Bookman Old Style" panose="02050604050505020204" pitchFamily="18" charset="0"/>
              </a:rPr>
              <a:t> - выполняемое действие и возвращает объект </a:t>
            </a:r>
            <a:r>
              <a:rPr lang="ru-RU" sz="2400" dirty="0" err="1">
                <a:latin typeface="Bookman Old Style" panose="02050604050505020204" pitchFamily="18" charset="0"/>
              </a:rPr>
              <a:t>Task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999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Чтобы приложение ожидало завершения задачи, можно использовать 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Wait</a:t>
            </a:r>
            <a:r>
              <a:rPr lang="ru-RU" sz="2400" b="1" dirty="0">
                <a:latin typeface="Bookman Old Style" panose="02050604050505020204" pitchFamily="18" charset="0"/>
              </a:rPr>
              <a:t>()</a:t>
            </a:r>
            <a:r>
              <a:rPr lang="ru-RU" sz="2400" dirty="0">
                <a:latin typeface="Bookman Old Style" panose="02050604050505020204" pitchFamily="18" charset="0"/>
              </a:rPr>
              <a:t> объекта </a:t>
            </a:r>
            <a:r>
              <a:rPr lang="ru-RU" sz="2400" dirty="0" err="1">
                <a:latin typeface="Bookman Old Style" panose="02050604050505020204" pitchFamily="18" charset="0"/>
              </a:rPr>
              <a:t>Task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task1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Task(()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"Task1 is executed"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task1.Start();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task2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Task.Factory.StartNew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"Task2 is executed"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task3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Task.Run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"Task3 is executed"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task1.Wait(); 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ожидаем завершения задачи task1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task2.Wait(); 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ожидаем завершения задачи task2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task3.Wait(); 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ожидаем завершения задачи task3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Ожидание завершения задачи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34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92629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Стоит отметить, что метод </a:t>
            </a:r>
            <a:r>
              <a:rPr lang="ru-RU" sz="2400" dirty="0" err="1">
                <a:latin typeface="Bookman Old Style" panose="02050604050505020204" pitchFamily="18" charset="0"/>
              </a:rPr>
              <a:t>Wait</a:t>
            </a:r>
            <a:r>
              <a:rPr lang="ru-RU" sz="2400" dirty="0">
                <a:latin typeface="Bookman Old Style" panose="02050604050505020204" pitchFamily="18" charset="0"/>
              </a:rPr>
              <a:t>() блокирует вызывающий поток, в котором запущена задача, пока эта задача не завершит свое выполнение. 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Например: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"Main Starts"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создаем задачу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task1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Task(() =&gt;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"Task Starts"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(1000);   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задержка на 1 секунду - имитация долгой работы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"Task Ends"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task1.Start();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запускаем задачу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task1.Wait(); 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ожидаем выполнения задачи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"Main Ends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564" y="4164037"/>
            <a:ext cx="3499994" cy="235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230832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</a:t>
            </a:r>
            <a:r>
              <a:rPr lang="ru-RU" sz="2400" dirty="0">
                <a:latin typeface="Bookman Old Style" panose="02050604050505020204" pitchFamily="18" charset="0"/>
              </a:rPr>
              <a:t>эмуляции долговременной работы здесь в задаче task1 устанавливается задержка на 1 секунду. В итоге, когда выполнение дойдет до вызова task1.Wait() основной поток остановит свое выполнение и будет ждать завершения задачи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268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28986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Status</a:t>
            </a:r>
            <a:r>
              <a:rPr lang="ru-RU" sz="2400" dirty="0">
                <a:latin typeface="Bookman Old Style" panose="02050604050505020204" pitchFamily="18" charset="0"/>
              </a:rPr>
              <a:t>: возвращает статус задачи. Представляет перечисление </a:t>
            </a:r>
            <a:r>
              <a:rPr lang="ru-RU" sz="2400" dirty="0" err="1">
                <a:latin typeface="Bookman Old Style" panose="02050604050505020204" pitchFamily="18" charset="0"/>
              </a:rPr>
              <a:t>System.Threading.Tasks.TaskStatus</a:t>
            </a:r>
            <a:r>
              <a:rPr lang="ru-RU" sz="2400" dirty="0">
                <a:latin typeface="Bookman Old Style" panose="02050604050505020204" pitchFamily="18" charset="0"/>
              </a:rPr>
              <a:t>, которое имеет следующие значения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Canceled</a:t>
            </a:r>
            <a:r>
              <a:rPr lang="ru-RU" sz="2400" dirty="0">
                <a:latin typeface="Bookman Old Style" panose="02050604050505020204" pitchFamily="18" charset="0"/>
              </a:rPr>
              <a:t>: задача </a:t>
            </a:r>
            <a:r>
              <a:rPr lang="ru-RU" sz="2400" dirty="0" smtClean="0">
                <a:latin typeface="Bookman Old Style" panose="02050604050505020204" pitchFamily="18" charset="0"/>
              </a:rPr>
              <a:t>отменена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Created</a:t>
            </a:r>
            <a:r>
              <a:rPr lang="ru-RU" sz="2400" dirty="0">
                <a:latin typeface="Bookman Old Style" panose="02050604050505020204" pitchFamily="18" charset="0"/>
              </a:rPr>
              <a:t>: задача создана, но еще не </a:t>
            </a:r>
            <a:r>
              <a:rPr lang="ru-RU" sz="2400" dirty="0" smtClean="0">
                <a:latin typeface="Bookman Old Style" panose="02050604050505020204" pitchFamily="18" charset="0"/>
              </a:rPr>
              <a:t>запущена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Faulted</a:t>
            </a:r>
            <a:r>
              <a:rPr lang="ru-RU" sz="2400" dirty="0">
                <a:latin typeface="Bookman Old Style" panose="02050604050505020204" pitchFamily="18" charset="0"/>
              </a:rPr>
              <a:t>: в процессе работы задачи произошло </a:t>
            </a:r>
            <a:r>
              <a:rPr lang="ru-RU" sz="2400" dirty="0" smtClean="0">
                <a:latin typeface="Bookman Old Style" panose="02050604050505020204" pitchFamily="18" charset="0"/>
              </a:rPr>
              <a:t>исключение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RanToCompletion</a:t>
            </a:r>
            <a:r>
              <a:rPr lang="ru-RU" sz="2400" dirty="0">
                <a:latin typeface="Bookman Old Style" panose="02050604050505020204" pitchFamily="18" charset="0"/>
              </a:rPr>
              <a:t>: задача успешно </a:t>
            </a:r>
            <a:r>
              <a:rPr lang="ru-RU" sz="2400" dirty="0" smtClean="0">
                <a:latin typeface="Bookman Old Style" panose="02050604050505020204" pitchFamily="18" charset="0"/>
              </a:rPr>
              <a:t>завершена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Running</a:t>
            </a:r>
            <a:r>
              <a:rPr lang="ru-RU" sz="2400" dirty="0">
                <a:latin typeface="Bookman Old Style" panose="02050604050505020204" pitchFamily="18" charset="0"/>
              </a:rPr>
              <a:t>: задача запущена, но еще не </a:t>
            </a:r>
            <a:r>
              <a:rPr lang="ru-RU" sz="2400" dirty="0" smtClean="0">
                <a:latin typeface="Bookman Old Style" panose="02050604050505020204" pitchFamily="18" charset="0"/>
              </a:rPr>
              <a:t>завершена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WaitingForActivation</a:t>
            </a:r>
            <a:r>
              <a:rPr lang="ru-RU" sz="2400" dirty="0">
                <a:latin typeface="Bookman Old Style" panose="02050604050505020204" pitchFamily="18" charset="0"/>
              </a:rPr>
              <a:t>: задача ожидает активации и постановки в график </a:t>
            </a:r>
            <a:r>
              <a:rPr lang="ru-RU" sz="2400" dirty="0" smtClean="0">
                <a:latin typeface="Bookman Old Style" panose="02050604050505020204" pitchFamily="18" charset="0"/>
              </a:rPr>
              <a:t>выполнения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WaitingForChildrenToComplete</a:t>
            </a:r>
            <a:r>
              <a:rPr lang="ru-RU" sz="2400" dirty="0">
                <a:latin typeface="Bookman Old Style" panose="02050604050505020204" pitchFamily="18" charset="0"/>
              </a:rPr>
              <a:t>: задача завершена и теперь ожидает завершения прикрепленных к ней дочерних </a:t>
            </a:r>
            <a:r>
              <a:rPr lang="ru-RU" sz="2400" dirty="0" smtClean="0">
                <a:latin typeface="Bookman Old Style" panose="02050604050505020204" pitchFamily="18" charset="0"/>
              </a:rPr>
              <a:t>задач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WaitingToRun</a:t>
            </a:r>
            <a:r>
              <a:rPr lang="ru-RU" sz="2400" dirty="0">
                <a:latin typeface="Bookman Old Style" panose="02050604050505020204" pitchFamily="18" charset="0"/>
              </a:rPr>
              <a:t>: задача поставлена в график выполнения, но еще не начала свое </a:t>
            </a:r>
            <a:r>
              <a:rPr lang="ru-RU" sz="2400" dirty="0" smtClean="0">
                <a:latin typeface="Bookman Old Style" panose="02050604050505020204" pitchFamily="18" charset="0"/>
              </a:rPr>
              <a:t>выполнение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Свойства класса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72206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IsCompleted</a:t>
            </a:r>
            <a:r>
              <a:rPr lang="ru-RU" sz="2400" dirty="0">
                <a:latin typeface="Bookman Old Style" panose="02050604050505020204" pitchFamily="18" charset="0"/>
              </a:rPr>
              <a:t>: возвращает </a:t>
            </a:r>
            <a:r>
              <a:rPr lang="ru-RU" sz="2400" dirty="0" err="1">
                <a:latin typeface="Bookman Old Style" panose="02050604050505020204" pitchFamily="18" charset="0"/>
              </a:rPr>
              <a:t>true</a:t>
            </a:r>
            <a:r>
              <a:rPr lang="ru-RU" sz="2400" dirty="0">
                <a:latin typeface="Bookman Old Style" panose="02050604050505020204" pitchFamily="18" charset="0"/>
              </a:rPr>
              <a:t>, если задача </a:t>
            </a:r>
            <a:r>
              <a:rPr lang="ru-RU" sz="2400" dirty="0" smtClean="0">
                <a:latin typeface="Bookman Old Style" panose="02050604050505020204" pitchFamily="18" charset="0"/>
              </a:rPr>
              <a:t>завершена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IsCanceled</a:t>
            </a:r>
            <a:r>
              <a:rPr lang="ru-RU" sz="2400" dirty="0">
                <a:latin typeface="Bookman Old Style" panose="02050604050505020204" pitchFamily="18" charset="0"/>
              </a:rPr>
              <a:t>: возвращает </a:t>
            </a:r>
            <a:r>
              <a:rPr lang="ru-RU" sz="2400" dirty="0" err="1">
                <a:latin typeface="Bookman Old Style" panose="02050604050505020204" pitchFamily="18" charset="0"/>
              </a:rPr>
              <a:t>true</a:t>
            </a:r>
            <a:r>
              <a:rPr lang="ru-RU" sz="2400" dirty="0">
                <a:latin typeface="Bookman Old Style" panose="02050604050505020204" pitchFamily="18" charset="0"/>
              </a:rPr>
              <a:t>, если задача была </a:t>
            </a:r>
            <a:r>
              <a:rPr lang="ru-RU" sz="2400" dirty="0" smtClean="0">
                <a:latin typeface="Bookman Old Style" panose="02050604050505020204" pitchFamily="18" charset="0"/>
              </a:rPr>
              <a:t>отменена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IsFaulted</a:t>
            </a:r>
            <a:r>
              <a:rPr lang="ru-RU" sz="2400" dirty="0">
                <a:latin typeface="Bookman Old Style" panose="02050604050505020204" pitchFamily="18" charset="0"/>
              </a:rPr>
              <a:t>: возвращает </a:t>
            </a:r>
            <a:r>
              <a:rPr lang="ru-RU" sz="2400" dirty="0" err="1">
                <a:latin typeface="Bookman Old Style" panose="02050604050505020204" pitchFamily="18" charset="0"/>
              </a:rPr>
              <a:t>true</a:t>
            </a:r>
            <a:r>
              <a:rPr lang="ru-RU" sz="2400" dirty="0">
                <a:latin typeface="Bookman Old Style" panose="02050604050505020204" pitchFamily="18" charset="0"/>
              </a:rPr>
              <a:t>, если задача завершилась при возникновении </a:t>
            </a:r>
            <a:r>
              <a:rPr lang="ru-RU" sz="2400" dirty="0" smtClean="0">
                <a:latin typeface="Bookman Old Style" panose="02050604050505020204" pitchFamily="18" charset="0"/>
              </a:rPr>
              <a:t>исключения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IsCompletedSuccessfully</a:t>
            </a:r>
            <a:r>
              <a:rPr lang="ru-RU" sz="2400" dirty="0">
                <a:latin typeface="Bookman Old Style" panose="02050604050505020204" pitchFamily="18" charset="0"/>
              </a:rPr>
              <a:t>: возвращает </a:t>
            </a:r>
            <a:r>
              <a:rPr lang="ru-RU" sz="2400" dirty="0" err="1">
                <a:latin typeface="Bookman Old Style" panose="02050604050505020204" pitchFamily="18" charset="0"/>
              </a:rPr>
              <a:t>true</a:t>
            </a:r>
            <a:r>
              <a:rPr lang="ru-RU" sz="2400" dirty="0">
                <a:latin typeface="Bookman Old Style" panose="02050604050505020204" pitchFamily="18" charset="0"/>
              </a:rPr>
              <a:t>, если задача завершилась </a:t>
            </a:r>
            <a:r>
              <a:rPr lang="ru-RU" sz="2400" dirty="0" smtClean="0">
                <a:latin typeface="Bookman Old Style" panose="02050604050505020204" pitchFamily="18" charset="0"/>
              </a:rPr>
              <a:t>успешно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51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Пример: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task1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Task(() =&gt;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Task.CurrentId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Starts"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(1000);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Task.CurrentId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Ends"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task1.Start();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запускаем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задачу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получаем информацию о задаче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$"task1 Id: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{task1.Id}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$"task1 is Completed: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{task1.IsCompleted}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$"task1 Status: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{task1.Status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task1.Wait();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ожидаем завершения задачи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1194"/>
          <a:stretch/>
        </p:blipFill>
        <p:spPr>
          <a:xfrm>
            <a:off x="6610350" y="2117763"/>
            <a:ext cx="5581650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4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10936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/>
            <a:r>
              <a:rPr lang="ru-RU" sz="2300" dirty="0">
                <a:latin typeface="Bookman Old Style" panose="02050604050505020204" pitchFamily="18" charset="0"/>
              </a:rPr>
              <a:t>Одна задача может запускать другую - вложенную задачу. При этом эти задачи выполняются независимо друг от </a:t>
            </a:r>
            <a:r>
              <a:rPr lang="ru-RU" sz="2300" dirty="0" smtClean="0">
                <a:latin typeface="Bookman Old Style" panose="02050604050505020204" pitchFamily="18" charset="0"/>
              </a:rPr>
              <a:t>друга. Например:</a:t>
            </a:r>
          </a:p>
          <a:p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outer =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Task.Factory.StartNew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     </a:t>
            </a:r>
            <a:r>
              <a:rPr lang="en-US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внешняя задача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"Outer task starting..."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inner =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Task.Factory.StartNew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 </a:t>
            </a:r>
            <a:r>
              <a:rPr lang="en-US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вложенная задача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"Inner task starting..."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(2000);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"Inner task finished."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ru-RU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ожидаем выполнения внешней задачи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outer.Wait</a:t>
            </a:r>
            <a:r>
              <a:rPr lang="ru-RU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3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"End of Main</a:t>
            </a:r>
            <a:r>
              <a:rPr lang="en-US" sz="23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3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 smtClean="0">
                <a:latin typeface="Bookman Old Style" panose="02050604050505020204" pitchFamily="18" charset="0"/>
              </a:rPr>
              <a:t>Вложенная </a:t>
            </a:r>
            <a:r>
              <a:rPr lang="ru-RU" sz="2300" dirty="0">
                <a:latin typeface="Bookman Old Style" panose="02050604050505020204" pitchFamily="18" charset="0"/>
              </a:rPr>
              <a:t>задача может </a:t>
            </a:r>
            <a:r>
              <a:rPr lang="ru-RU" sz="2300" dirty="0" smtClean="0">
                <a:latin typeface="Bookman Old Style" panose="02050604050505020204" pitchFamily="18" charset="0"/>
              </a:rPr>
              <a:t>завершиться даже </a:t>
            </a:r>
            <a:r>
              <a:rPr lang="ru-RU" sz="2300" dirty="0">
                <a:latin typeface="Bookman Old Style" panose="02050604050505020204" pitchFamily="18" charset="0"/>
              </a:rPr>
              <a:t>после завершения метода </a:t>
            </a:r>
            <a:r>
              <a:rPr lang="ru-RU" sz="2300" dirty="0" err="1" smtClean="0">
                <a:latin typeface="Bookman Old Style" panose="02050604050505020204" pitchFamily="18" charset="0"/>
              </a:rPr>
              <a:t>Main</a:t>
            </a:r>
            <a:r>
              <a:rPr lang="ru-RU" sz="2300" dirty="0" smtClean="0">
                <a:latin typeface="Bookman Old Style" panose="02050604050505020204" pitchFamily="18" charset="0"/>
              </a:rPr>
              <a:t>.</a:t>
            </a:r>
            <a:endParaRPr lang="ru-RU" sz="2300" dirty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Вложенные задачи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145" y="4448175"/>
            <a:ext cx="5564855" cy="14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3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46330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/>
            <a:r>
              <a:rPr lang="ru-RU" sz="2300" dirty="0">
                <a:latin typeface="Bookman Old Style" panose="02050604050505020204" pitchFamily="18" charset="0"/>
              </a:rPr>
              <a:t>Если необходимо, чтобы вложенная задача выполнялась как часть внешней, необходимо использовать значение </a:t>
            </a:r>
            <a:r>
              <a:rPr lang="ru-RU" sz="2300" dirty="0" err="1">
                <a:latin typeface="Bookman Old Style" panose="02050604050505020204" pitchFamily="18" charset="0"/>
              </a:rPr>
              <a:t>TaskCreationOptions.AttachedToParent</a:t>
            </a:r>
            <a:r>
              <a:rPr lang="ru-RU" sz="2300" dirty="0" smtClean="0">
                <a:latin typeface="Bookman Old Style" panose="02050604050505020204" pitchFamily="18" charset="0"/>
              </a:rPr>
              <a:t>:</a:t>
            </a:r>
            <a:endParaRPr lang="ru-RU" sz="2300" dirty="0">
              <a:latin typeface="Bookman Old Style" panose="02050604050505020204" pitchFamily="18" charset="0"/>
            </a:endParaRPr>
          </a:p>
          <a:p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outer =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Task.Factory.StartNew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     </a:t>
            </a:r>
            <a:r>
              <a:rPr lang="en-US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внешняя задача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"Outer task starting</a:t>
            </a:r>
            <a:r>
              <a:rPr lang="en-US" sz="23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..."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inner =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Task.Factory.StartNew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 </a:t>
            </a:r>
            <a:r>
              <a:rPr lang="en-US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вложенная задача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"Inner task starting..."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(2000);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"Inner task finished."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},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TaskCreationOptions.AttachedToParent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outer.Wait</a:t>
            </a:r>
            <a:r>
              <a:rPr lang="ru-RU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ожидаем </a:t>
            </a:r>
            <a:r>
              <a:rPr lang="ru-RU" sz="23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выполнения</a:t>
            </a:r>
          </a:p>
          <a:p>
            <a:r>
              <a:rPr lang="en-US" sz="23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"End of Main</a:t>
            </a:r>
            <a:r>
              <a:rPr lang="en-US" sz="23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300" dirty="0" smtClean="0">
              <a:latin typeface="Bookman Old Style" panose="02050604050505020204" pitchFamily="18" charset="0"/>
            </a:endParaRPr>
          </a:p>
          <a:p>
            <a:r>
              <a:rPr lang="ru-RU" sz="2300" dirty="0" smtClean="0">
                <a:latin typeface="Bookman Old Style" panose="02050604050505020204" pitchFamily="18" charset="0"/>
              </a:rPr>
              <a:t>Внешняя </a:t>
            </a:r>
            <a:r>
              <a:rPr lang="ru-RU" sz="2300" dirty="0">
                <a:latin typeface="Bookman Old Style" panose="02050604050505020204" pitchFamily="18" charset="0"/>
              </a:rPr>
              <a:t>задача завершится </a:t>
            </a:r>
            <a:r>
              <a:rPr lang="ru-RU" sz="2300" dirty="0" smtClean="0">
                <a:latin typeface="Bookman Old Style" panose="02050604050505020204" pitchFamily="18" charset="0"/>
              </a:rPr>
              <a:t>когда </a:t>
            </a:r>
            <a:r>
              <a:rPr lang="ru-RU" sz="2300" dirty="0">
                <a:latin typeface="Bookman Old Style" panose="02050604050505020204" pitchFamily="18" charset="0"/>
              </a:rPr>
              <a:t>завершатся все прикрепленные к ней вложенные задачи.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995" y="3904804"/>
            <a:ext cx="4915586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2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как и с потоками, мы можем создать и запустить массив задач. Можно определить все задачи в массиве непосредственно через объект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Task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Task[] tasks1 =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Task[3]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Task(() =&gt;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"First Task"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)),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Task(() =&gt;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"Second Task"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)),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Task(() =&gt;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"Third Task"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</a:p>
          <a:p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запуск задач в массиве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t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tasks1)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t.Start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Массив задач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20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30481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ИЛИ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Task[] tasks2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Task[3];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j = 1;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tasks2.Length;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tasks2[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Task.Factory.StartNew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$"Task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{j++}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b="1" dirty="0" smtClean="0">
                <a:latin typeface="Bookman Old Style" panose="02050604050505020204" pitchFamily="18" charset="0"/>
              </a:rPr>
              <a:t>Вопрос: Что отобразится на экране?</a:t>
            </a:r>
            <a:endParaRPr lang="en-US" sz="24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44764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Исправим это с помощью </a:t>
            </a:r>
            <a:r>
              <a:rPr lang="en-US" sz="2400" dirty="0" err="1" smtClean="0">
                <a:latin typeface="Bookman Old Style" panose="02050604050505020204" pitchFamily="18" charset="0"/>
              </a:rPr>
              <a:t>Task.WaitAll</a:t>
            </a:r>
            <a:r>
              <a:rPr lang="en-US" sz="2400" dirty="0" smtClean="0">
                <a:latin typeface="Bookman Old Style" panose="02050604050505020204" pitchFamily="18" charset="0"/>
              </a:rPr>
              <a:t>():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Task[] tasks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Task[3];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tasks.Length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tasks[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Task(() =&gt;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(1000);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эмуляция долгой работы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finished"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tasks[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].Start(); 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запускаем задачу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Завершение метода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Main"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Task.WaitAll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tasks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ожидаем завершения всех задач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1540"/>
          <a:stretch/>
        </p:blipFill>
        <p:spPr>
          <a:xfrm>
            <a:off x="7203688" y="390526"/>
            <a:ext cx="4988312" cy="172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примере выше мы столкнулись с такой вещью как </a:t>
            </a:r>
            <a:r>
              <a:rPr lang="ru-RU" sz="2400" b="1" dirty="0" smtClean="0">
                <a:latin typeface="Bookman Old Style" panose="02050604050505020204" pitchFamily="18" charset="0"/>
              </a:rPr>
              <a:t>замыкание</a:t>
            </a:r>
            <a:r>
              <a:rPr lang="ru-RU" sz="2400" dirty="0" smtClean="0">
                <a:latin typeface="Bookman Old Style" panose="02050604050505020204" pitchFamily="18" charset="0"/>
              </a:rPr>
              <a:t> (нам 3 раза вывело </a:t>
            </a:r>
            <a:r>
              <a:rPr lang="en-US" sz="2400" dirty="0" smtClean="0">
                <a:latin typeface="Bookman Old Style" panose="02050604050505020204" pitchFamily="18" charset="0"/>
              </a:rPr>
              <a:t>Task</a:t>
            </a:r>
            <a:r>
              <a:rPr lang="en-US" sz="2400" b="1" dirty="0" smtClean="0">
                <a:latin typeface="Bookman Old Style" panose="02050604050505020204" pitchFamily="18" charset="0"/>
              </a:rPr>
              <a:t>3</a:t>
            </a:r>
            <a:r>
              <a:rPr lang="ru-RU" sz="2400" dirty="0" smtClean="0">
                <a:latin typeface="Bookman Old Style" panose="02050604050505020204" pitchFamily="18" charset="0"/>
              </a:rPr>
              <a:t>, хотя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i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менялось от 0 до 2).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Замыкание это закрепление объекта за его окружением (областью видимости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i="1" dirty="0" smtClean="0">
                <a:latin typeface="Bookman Old Style" panose="02050604050505020204" pitchFamily="18" charset="0"/>
              </a:rPr>
              <a:t>Пояснение: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C# лямбда-выражение внутри задачи не копирует </a:t>
            </a:r>
            <a:r>
              <a:rPr lang="ru-RU" sz="2400" b="1" dirty="0">
                <a:latin typeface="Bookman Old Style" panose="02050604050505020204" pitchFamily="18" charset="0"/>
              </a:rPr>
              <a:t>значение</a:t>
            </a:r>
            <a:r>
              <a:rPr lang="ru-RU" sz="2400" dirty="0">
                <a:latin typeface="Bookman Old Style" panose="02050604050505020204" pitchFamily="18" charset="0"/>
              </a:rPr>
              <a:t> переменной i. Оно </a:t>
            </a:r>
            <a:r>
              <a:rPr lang="ru-RU" sz="2400" b="1" dirty="0">
                <a:latin typeface="Bookman Old Style" panose="02050604050505020204" pitchFamily="18" charset="0"/>
              </a:rPr>
              <a:t>захватывает саму переменную</a:t>
            </a:r>
            <a:r>
              <a:rPr lang="ru-RU" sz="2400" dirty="0">
                <a:latin typeface="Bookman Old Style" panose="02050604050505020204" pitchFamily="18" charset="0"/>
              </a:rPr>
              <a:t> (ссылку на неё).</a:t>
            </a:r>
            <a:endParaRPr lang="ru-RU" sz="32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60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Исправим пример выше создав локальную переменную </a:t>
            </a:r>
            <a:r>
              <a:rPr lang="en-US" sz="2400" dirty="0" smtClean="0">
                <a:latin typeface="Bookman Old Style" panose="02050604050505020204" pitchFamily="18" charset="0"/>
              </a:rPr>
              <a:t>index: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Task[] tasks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Task[3];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tasks.Length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index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tasks[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Task(() =&gt;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(1000);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эмуляция долгой работы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{index}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finished"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tasks[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].Start(); 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запускаем задачу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Завершение метода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Main"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Task.WaitAll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tasks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ожидаем завершения всех задач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687" y="1405654"/>
            <a:ext cx="4884235" cy="173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0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pt-BR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n1 = 4, n2 = 5;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Task&lt;</a:t>
            </a: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sumTask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&gt;(() =&gt;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Sum(n1, n2));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sumTask.Start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sumTask.Result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{n1}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+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{n2}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{result}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4 + 5 = 9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Sum(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a,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b) =&gt; a + b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При обращении к свойству </a:t>
            </a:r>
            <a:r>
              <a:rPr lang="ru-RU" sz="2400" b="1" dirty="0" err="1">
                <a:latin typeface="Bookman Old Style" panose="02050604050505020204" pitchFamily="18" charset="0"/>
              </a:rPr>
              <a:t>Result</a:t>
            </a:r>
            <a:r>
              <a:rPr lang="ru-RU" sz="2400" dirty="0">
                <a:latin typeface="Bookman Old Style" panose="02050604050505020204" pitchFamily="18" charset="0"/>
              </a:rPr>
              <a:t> текущий поток останавливает выполнение и ждет, когда будет получен результат из выполняемой задачи.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Получение результатов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из задач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3200"/>
          <a:stretch/>
        </p:blipFill>
        <p:spPr>
          <a:xfrm>
            <a:off x="8025858" y="1668502"/>
            <a:ext cx="2984113" cy="59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Задачи продолжения или </a:t>
            </a:r>
            <a:r>
              <a:rPr lang="ru-RU" sz="2400" b="1" dirty="0" err="1">
                <a:latin typeface="Bookman Old Style" panose="02050604050505020204" pitchFamily="18" charset="0"/>
              </a:rPr>
              <a:t>continuation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task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позволяют определить задачи, которые выполняются после завершения других </a:t>
            </a:r>
            <a:r>
              <a:rPr lang="ru-RU" sz="2400" dirty="0" smtClean="0">
                <a:latin typeface="Bookman Old Style" panose="02050604050505020204" pitchFamily="18" charset="0"/>
              </a:rPr>
              <a:t>задач.</a:t>
            </a:r>
          </a:p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Благодаря </a:t>
            </a:r>
            <a:r>
              <a:rPr lang="ru-RU" sz="2400" dirty="0">
                <a:latin typeface="Bookman Old Style" panose="02050604050505020204" pitchFamily="18" charset="0"/>
              </a:rPr>
              <a:t>этому мы можем вызвать после выполнения одной задачи несколько других, определить условия их вызова, передать из предыдущей задачи в следующую некоторые </a:t>
            </a:r>
            <a:r>
              <a:rPr lang="ru-RU" sz="2400" dirty="0" smtClean="0">
                <a:latin typeface="Bookman Old Style" panose="02050604050505020204" pitchFamily="18" charset="0"/>
              </a:rPr>
              <a:t>данные.</a:t>
            </a:r>
          </a:p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Задачи </a:t>
            </a:r>
            <a:r>
              <a:rPr lang="ru-RU" sz="2400" dirty="0">
                <a:latin typeface="Bookman Old Style" panose="02050604050505020204" pitchFamily="18" charset="0"/>
              </a:rPr>
              <a:t>продолжения похожи на методы обратного вызова, но фактически являются обычными задачами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Task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Посмотрим </a:t>
            </a:r>
            <a:r>
              <a:rPr lang="ru-RU" sz="2400" dirty="0">
                <a:latin typeface="Bookman Old Style" panose="02050604050505020204" pitchFamily="18" charset="0"/>
              </a:rPr>
              <a:t>на примере: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Задачи продолжения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99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task1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Task(() =&gt;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$"Id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задачи: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Task.CurrentId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задача продолжения - task2 выполняется после task1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task2 = task1.ContinueWith(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task1.Start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ждем окончания второй задачи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task2.Wait();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Конец метода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Main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(Task t)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$"Id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задачи: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Task.CurrentId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$"Id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предыдущей задачи: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t.Id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(3000);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1447" r="3046"/>
          <a:stretch/>
        </p:blipFill>
        <p:spPr>
          <a:xfrm>
            <a:off x="7115175" y="2786891"/>
            <a:ext cx="5076825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5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Первая задача задается с помощью лямбда-выражения, которое просто выводит </a:t>
            </a:r>
            <a:r>
              <a:rPr lang="ru-RU" sz="2400" dirty="0" err="1">
                <a:latin typeface="Bookman Old Style" panose="02050604050505020204" pitchFamily="18" charset="0"/>
              </a:rPr>
              <a:t>id</a:t>
            </a:r>
            <a:r>
              <a:rPr lang="ru-RU" sz="2400" dirty="0">
                <a:latin typeface="Bookman Old Style" panose="02050604050505020204" pitchFamily="18" charset="0"/>
              </a:rPr>
              <a:t> этой задачи. Вторая задача - задача продолжения задается с помощью метода </a:t>
            </a:r>
            <a:r>
              <a:rPr lang="ru-RU" sz="2400" b="1" dirty="0" err="1">
                <a:latin typeface="Bookman Old Style" panose="02050604050505020204" pitchFamily="18" charset="0"/>
              </a:rPr>
              <a:t>ContinueWith</a:t>
            </a:r>
            <a:r>
              <a:rPr lang="ru-RU" sz="2400" dirty="0">
                <a:latin typeface="Bookman Old Style" panose="02050604050505020204" pitchFamily="18" charset="0"/>
              </a:rPr>
              <a:t>, который в качестве параметра принимает делегат </a:t>
            </a:r>
            <a:r>
              <a:rPr lang="ru-RU" sz="2400" dirty="0" err="1">
                <a:latin typeface="Bookman Old Style" panose="02050604050505020204" pitchFamily="18" charset="0"/>
              </a:rPr>
              <a:t>Action</a:t>
            </a:r>
            <a:r>
              <a:rPr lang="ru-RU" sz="2400" dirty="0">
                <a:latin typeface="Bookman Old Style" panose="02050604050505020204" pitchFamily="18" charset="0"/>
              </a:rPr>
              <a:t>&lt;</a:t>
            </a:r>
            <a:r>
              <a:rPr lang="ru-RU" sz="2400" dirty="0" err="1">
                <a:latin typeface="Bookman Old Style" panose="02050604050505020204" pitchFamily="18" charset="0"/>
              </a:rPr>
              <a:t>Task</a:t>
            </a:r>
            <a:r>
              <a:rPr lang="ru-RU" sz="2400" dirty="0">
                <a:latin typeface="Bookman Old Style" panose="02050604050505020204" pitchFamily="18" charset="0"/>
              </a:rPr>
              <a:t>&gt;. То есть 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PrintTask</a:t>
            </a:r>
            <a:r>
              <a:rPr lang="ru-RU" sz="2400" dirty="0">
                <a:latin typeface="Bookman Old Style" panose="02050604050505020204" pitchFamily="18" charset="0"/>
              </a:rPr>
              <a:t>, который передается в вызов </a:t>
            </a:r>
            <a:r>
              <a:rPr lang="ru-RU" sz="2400" dirty="0" err="1">
                <a:latin typeface="Bookman Old Style" panose="02050604050505020204" pitchFamily="18" charset="0"/>
              </a:rPr>
              <a:t>ContinueWith</a:t>
            </a:r>
            <a:r>
              <a:rPr lang="ru-RU" sz="2400" dirty="0">
                <a:latin typeface="Bookman Old Style" panose="02050604050505020204" pitchFamily="18" charset="0"/>
              </a:rPr>
              <a:t>, должен принимать параметр типа </a:t>
            </a:r>
            <a:r>
              <a:rPr lang="ru-RU" sz="2400" dirty="0" err="1" smtClean="0">
                <a:latin typeface="Bookman Old Style" panose="02050604050505020204" pitchFamily="18" charset="0"/>
              </a:rPr>
              <a:t>Task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Можно было написать так: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task2 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task1.ContinueWith(t =&gt;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PrintTask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(t));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55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</a:t>
            </a:r>
            <a:r>
              <a:rPr lang="ru-RU" sz="2400" dirty="0">
                <a:latin typeface="Bookman Old Style" panose="02050604050505020204" pitchFamily="18" charset="0"/>
              </a:rPr>
              <a:t>мы можем передавать конкретный результат работы предыдущей задачи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sumTask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Task&lt;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&gt;(() =&gt; Sum(4, 5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задача продолжения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Task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sumTask.ContinueWith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(task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=&gt;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PrintResult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task.Result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sumTask.Start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ждем окончания второй задачи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printTask.Wait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Конец метода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Main"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Sum(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a,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b) =&gt; a + b;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PrintResult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sum)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$"Sum: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{sum}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784" y="3827084"/>
            <a:ext cx="3877216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0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Рассмотрим пример параллельного вычисления интеграла. </a:t>
            </a:r>
            <a:endParaRPr lang="en-US" sz="2400" dirty="0"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en-US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Integrate(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from,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to,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intervals = 100)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integral = 0.0;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step = (to - from) / intervals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intervals; i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++)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xLeft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from +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* step;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xRight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xLeft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 step;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integral += (f(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xLeft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 + f(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xRight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 / 2 * step;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integral;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fr-F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f(</a:t>
            </a:r>
            <a:r>
              <a:rPr lang="fr-F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fr-F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x) =&gt; x * x;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596941"/>
              </p:ext>
            </p:extLst>
          </p:nvPr>
        </p:nvGraphicFramePr>
        <p:xfrm>
          <a:off x="6038850" y="3319463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" name="Уравнение" r:id="rId4" imgW="114120" imgH="215640" progId="Equation.3">
                  <p:embed/>
                </p:oleObj>
              </mc:Choice>
              <mc:Fallback>
                <p:oleObj name="Уравнение" r:id="rId4" imgW="11412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38850" y="3319463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567637"/>
              </p:ext>
            </p:extLst>
          </p:nvPr>
        </p:nvGraphicFramePr>
        <p:xfrm>
          <a:off x="3908821" y="428943"/>
          <a:ext cx="4374357" cy="1523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" name="Уравнение" r:id="rId6" imgW="1422360" imgH="495000" progId="Equation.3">
                  <p:embed/>
                </p:oleObj>
              </mc:Choice>
              <mc:Fallback>
                <p:oleObj name="Уравнение" r:id="rId6" imgW="1422360" imgH="495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08821" y="428943"/>
                        <a:ext cx="4374357" cy="15232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296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46330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from = 0.0;</a:t>
            </a:r>
          </a:p>
          <a:p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to = 1.0;</a:t>
            </a:r>
          </a:p>
          <a:p>
            <a:endParaRPr lang="ru-RU" sz="23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//Разобьём интеграл на множество интегралов, равное количеству ядер ЦП</a:t>
            </a:r>
            <a:endParaRPr lang="ru-RU" sz="23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integralTasks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Task&lt;</a:t>
            </a:r>
            <a:r>
              <a:rPr lang="en-US" sz="23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&gt;[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Environment.ProcessorCount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];</a:t>
            </a:r>
          </a:p>
          <a:p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step = (to - from) /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integralTasks.Length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3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3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nn-NO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integralTasks.Length; i++)</a:t>
            </a: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xLeft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= from +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* step;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xRight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xLeft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+ step;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integralTasks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Task.Run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Integrate(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xLeft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xRight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, 100000000));</a:t>
            </a:r>
          </a:p>
          <a:p>
            <a:r>
              <a:rPr lang="ru-RU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Task.WaitAll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integralTasks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integralTasks.Sum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(t =&gt;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t.Result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en-US" sz="23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06155"/>
            <a:ext cx="5914673" cy="7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9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Класс </a:t>
            </a:r>
            <a:r>
              <a:rPr lang="ru-RU" sz="2400" b="1" dirty="0" err="1">
                <a:latin typeface="Bookman Old Style" panose="02050604050505020204" pitchFamily="18" charset="0"/>
              </a:rPr>
              <a:t>Parallel</a:t>
            </a:r>
            <a:r>
              <a:rPr lang="ru-RU" sz="2400" dirty="0">
                <a:latin typeface="Bookman Old Style" panose="02050604050505020204" pitchFamily="18" charset="0"/>
              </a:rPr>
              <a:t> также является частью TPL и предназначен для упрощения параллельного выполнения кода. </a:t>
            </a:r>
            <a:r>
              <a:rPr lang="ru-RU" sz="2400" b="1" dirty="0" err="1">
                <a:latin typeface="Bookman Old Style" panose="02050604050505020204" pitchFamily="18" charset="0"/>
              </a:rPr>
              <a:t>Parallel</a:t>
            </a:r>
            <a:r>
              <a:rPr lang="ru-RU" sz="2400" dirty="0">
                <a:latin typeface="Bookman Old Style" panose="02050604050505020204" pitchFamily="18" charset="0"/>
              </a:rPr>
              <a:t> имеет ряд методов, которые позволяют распараллелить задачу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Parallel.Invoke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метод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Parallel.Invoke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выполняет три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метода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Print,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() =&gt;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Выполняется задача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Task.CurrentId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(3000);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() =&gt; Square(5)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Класс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Parallel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139" y="4836014"/>
            <a:ext cx="4969959" cy="181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1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Print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Выполняется задача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Task.CurrentId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(3000);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Square(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вычисляем квадрат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числа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Выполняется задача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Task.CurrentId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(3000);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Результат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n * n}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457" y="3584781"/>
            <a:ext cx="6069353" cy="22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en-US" sz="2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Parallel.For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Action&lt;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&gt;)</a:t>
            </a:r>
          </a:p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Parallel.For</a:t>
            </a:r>
            <a:r>
              <a:rPr lang="ru-RU" sz="2400" dirty="0">
                <a:latin typeface="Bookman Old Style" panose="02050604050505020204" pitchFamily="18" charset="0"/>
              </a:rPr>
              <a:t> позволяет выполнять итерации цикла параллельно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Первый параметр метода задает начальный индекс элемента в цикле, а второй параметр - конечный индекс. Третий параметр - делегат </a:t>
            </a:r>
            <a:r>
              <a:rPr lang="ru-RU" sz="2400" dirty="0" err="1">
                <a:latin typeface="Bookman Old Style" panose="02050604050505020204" pitchFamily="18" charset="0"/>
              </a:rPr>
              <a:t>Action</a:t>
            </a:r>
            <a:r>
              <a:rPr lang="ru-RU" sz="2400" dirty="0">
                <a:latin typeface="Bookman Old Style" panose="02050604050505020204" pitchFamily="18" charset="0"/>
              </a:rPr>
              <a:t> - указывает на метод, который будет выполняться один раз за итерацию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Parallel.For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(1, 5, Square);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вычисляем квадрат числа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Square(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Выполняется задача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Task.CurrentId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Квадрат числа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n}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равен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n * n}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(2000);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13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693" y="1078525"/>
            <a:ext cx="6728613" cy="470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5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en-US" sz="2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Parallel.ForEach</a:t>
            </a:r>
            <a:r>
              <a:rPr lang="en-US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TSource</a:t>
            </a:r>
            <a:r>
              <a:rPr lang="en-US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US" sz="2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en-US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TSource</a:t>
            </a:r>
            <a:r>
              <a:rPr lang="en-US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source,Action</a:t>
            </a:r>
            <a:r>
              <a:rPr lang="en-US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TSource</a:t>
            </a:r>
            <a:r>
              <a:rPr lang="en-US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&gt; body)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algn="just"/>
            <a:r>
              <a:rPr lang="ru-RU" sz="2400" dirty="0">
                <a:latin typeface="Bookman Old Style" panose="02050604050505020204" pitchFamily="18" charset="0"/>
              </a:rPr>
              <a:t>Метод </a:t>
            </a:r>
            <a:r>
              <a:rPr lang="ru-RU" sz="2400" dirty="0" err="1">
                <a:latin typeface="Bookman Old Style" panose="02050604050505020204" pitchFamily="18" charset="0"/>
              </a:rPr>
              <a:t>Parallel.ForEach</a:t>
            </a:r>
            <a:r>
              <a:rPr lang="ru-RU" sz="2400" dirty="0">
                <a:latin typeface="Bookman Old Style" panose="02050604050505020204" pitchFamily="18" charset="0"/>
              </a:rPr>
              <a:t> осуществляет итерацию по коллекции, реализующей интерфейс </a:t>
            </a:r>
            <a:r>
              <a:rPr lang="ru-RU" sz="2400" dirty="0" err="1">
                <a:latin typeface="Bookman Old Style" panose="02050604050505020204" pitchFamily="18" charset="0"/>
              </a:rPr>
              <a:t>IEnumerable</a:t>
            </a:r>
            <a:r>
              <a:rPr lang="ru-RU" sz="2400" dirty="0">
                <a:latin typeface="Bookman Old Style" panose="02050604050505020204" pitchFamily="18" charset="0"/>
              </a:rPr>
              <a:t>, подобно циклу </a:t>
            </a:r>
            <a:r>
              <a:rPr lang="ru-RU" sz="2400" dirty="0" err="1">
                <a:latin typeface="Bookman Old Style" panose="02050604050505020204" pitchFamily="18" charset="0"/>
              </a:rPr>
              <a:t>foreach</a:t>
            </a:r>
            <a:r>
              <a:rPr lang="ru-RU" sz="2400" dirty="0">
                <a:latin typeface="Bookman Old Style" panose="02050604050505020204" pitchFamily="18" charset="0"/>
              </a:rPr>
              <a:t>, только осуществляет параллельное выполнение перебора. 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ParallelLoopResult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result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Parallel.ForEach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3, 5, 8 },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Square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вычисляем квадрат числа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Square(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Выполняется задача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Task.CurrentId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Квадрат числа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n}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равен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n * n}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(2000);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713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852693"/>
            <a:ext cx="7200900" cy="471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7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595547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Вычислим число Пи через сумму ряда: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endParaRPr lang="ru-RU" sz="21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1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1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iterations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10_000_000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globalSum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lockObj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Parallel</a:t>
            </a:r>
            <a:r>
              <a:rPr lang="en-US" sz="21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100" dirty="0" err="1">
                <a:solidFill>
                  <a:srgbClr val="795E26"/>
                </a:solidFill>
                <a:latin typeface="Consolas" panose="020B0609020204030204" pitchFamily="49" charset="0"/>
              </a:rPr>
              <a:t>For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&gt;(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,          </a:t>
            </a:r>
            <a:r>
              <a:rPr lang="en-US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Аргумент 1: Начальный индекс</a:t>
            </a:r>
            <a:endParaRPr lang="ru-RU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iterations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Аргумент 2: Конечный индекс</a:t>
            </a:r>
            <a:endParaRPr lang="ru-RU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sz="2100" dirty="0" smtClean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Аргумент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3: Функция инициализации локального "черновика" для каждого потока.</a:t>
            </a:r>
            <a:endParaRPr lang="ru-RU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Выполняется 1 раз для каждого участвующего потока.</a:t>
            </a:r>
            <a:endParaRPr lang="ru-RU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() </a:t>
            </a:r>
            <a:r>
              <a:rPr lang="ru-RU" sz="2100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ru-RU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2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ru-RU" sz="21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Продолжение на следующем слайде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Расчет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числа Пи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139" y="700076"/>
            <a:ext cx="5377088" cy="53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5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87880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Аргумент 4: Тело цикла.</a:t>
            </a:r>
          </a:p>
          <a:p>
            <a:r>
              <a:rPr lang="ru-RU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Принимает: (индекс, состояние цикла, текущая локальная сумма потока)</a:t>
            </a:r>
            <a:endParaRPr lang="ru-RU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Возвращает: новую локальную сумму.</a:t>
            </a:r>
            <a:endParaRPr lang="ru-RU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(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state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localSum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term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%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?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1.0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1.0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2.0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1.0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localSum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term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},</a:t>
            </a:r>
            <a:endParaRPr lang="ru-RU" sz="2100" dirty="0" smtClean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// Аргумент 5: Финальное действие для потока. </a:t>
            </a:r>
            <a:endParaRPr lang="en-US" sz="21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Выполняется 1 раз по завершении работы конкретного потока.</a:t>
            </a:r>
            <a:endParaRPr lang="ru-RU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Сюда передается накопленная локальная сумма (</a:t>
            </a:r>
            <a:r>
              <a:rPr lang="en-US" sz="2100" dirty="0" err="1">
                <a:solidFill>
                  <a:srgbClr val="008000"/>
                </a:solidFill>
                <a:latin typeface="Consolas" panose="020B0609020204030204" pitchFamily="49" charset="0"/>
              </a:rPr>
              <a:t>localSum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).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(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finalLocalSum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lock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lockObj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{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globalSum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finalLocalSum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21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pi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globalSum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1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1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1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ru-RU" sz="2100" dirty="0">
                <a:solidFill>
                  <a:srgbClr val="A31515"/>
                </a:solidFill>
                <a:latin typeface="Consolas" panose="020B0609020204030204" pitchFamily="49" charset="0"/>
              </a:rPr>
              <a:t>Результат: {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pi</a:t>
            </a:r>
            <a:r>
              <a:rPr lang="en-US" sz="21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}"</a:t>
            </a:r>
            <a:r>
              <a:rPr lang="en-US" sz="21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384" y="5283201"/>
            <a:ext cx="6835051" cy="9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4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654356"/>
            <a:ext cx="12192000" cy="230832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стандартных циклах </a:t>
            </a:r>
            <a:r>
              <a:rPr lang="ru-RU" sz="2400" dirty="0" err="1">
                <a:latin typeface="Bookman Old Style" panose="02050604050505020204" pitchFamily="18" charset="0"/>
              </a:rPr>
              <a:t>for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latin typeface="Bookman Old Style" panose="02050604050505020204" pitchFamily="18" charset="0"/>
              </a:rPr>
              <a:t>foreach</a:t>
            </a:r>
            <a:r>
              <a:rPr lang="ru-RU" sz="2400" dirty="0">
                <a:latin typeface="Bookman Old Style" panose="02050604050505020204" pitchFamily="18" charset="0"/>
              </a:rPr>
              <a:t> предусмотрен преждевременный выход из цикла с помощью оператора </a:t>
            </a:r>
            <a:r>
              <a:rPr lang="ru-RU" sz="2400" b="1" dirty="0" err="1">
                <a:latin typeface="Bookman Old Style" panose="02050604050505020204" pitchFamily="18" charset="0"/>
              </a:rPr>
              <a:t>break</a:t>
            </a:r>
            <a:r>
              <a:rPr lang="ru-RU" sz="2400" dirty="0">
                <a:latin typeface="Bookman Old Style" panose="02050604050505020204" pitchFamily="18" charset="0"/>
              </a:rPr>
              <a:t>. В методах </a:t>
            </a:r>
            <a:r>
              <a:rPr lang="ru-RU" sz="2400" dirty="0" err="1">
                <a:latin typeface="Bookman Old Style" panose="02050604050505020204" pitchFamily="18" charset="0"/>
              </a:rPr>
              <a:t>Parallel.ForEach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latin typeface="Bookman Old Style" panose="02050604050505020204" pitchFamily="18" charset="0"/>
              </a:rPr>
              <a:t>Parallel.For</a:t>
            </a:r>
            <a:r>
              <a:rPr lang="ru-RU" sz="2400" dirty="0">
                <a:latin typeface="Bookman Old Style" panose="02050604050505020204" pitchFamily="18" charset="0"/>
              </a:rPr>
              <a:t> мы также можем, не дожидаясь окончания цикла, выйти из него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</p:txBody>
      </p:sp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Выход из цикла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67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654356"/>
            <a:ext cx="12192000" cy="52629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ParallelLoopResult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result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Parallel.For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(1, 25, Square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(!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result.IsCompleted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Выполнение цикла завершено на итерации 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					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result.LowestBreakIteration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вычисляем квадрат числа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Square(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n,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ParallelLoopState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pls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  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если передано 5, выходим из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цикла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(n == 5)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pls.Break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    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Квадрат числа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n}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равен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n * n}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(2000);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99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" y="112834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Вывод на консоль: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223" y="696521"/>
            <a:ext cx="8237551" cy="568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Параллельное выполнение задач может занимать много времени. И иногда может возникнуть необходимость прервать выполняемую задачу. Для этого платформа .NET предоставляет структуру </a:t>
            </a:r>
            <a:r>
              <a:rPr lang="ru-RU" sz="2400" b="1" dirty="0" err="1">
                <a:latin typeface="Bookman Old Style" panose="02050604050505020204" pitchFamily="18" charset="0"/>
              </a:rPr>
              <a:t>CancellationToken</a:t>
            </a:r>
            <a:r>
              <a:rPr lang="ru-RU" sz="2400" dirty="0">
                <a:latin typeface="Bookman Old Style" panose="02050604050505020204" pitchFamily="18" charset="0"/>
              </a:rPr>
              <a:t> из пространства имен </a:t>
            </a:r>
            <a:r>
              <a:rPr lang="ru-RU" sz="2400" dirty="0" err="1">
                <a:latin typeface="Bookman Old Style" panose="02050604050505020204" pitchFamily="18" charset="0"/>
              </a:rPr>
              <a:t>System.Threading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Важный нюанс: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>
                <a:latin typeface="Bookman Old Style" panose="02050604050505020204" pitchFamily="18" charset="0"/>
              </a:rPr>
              <a:t>.NET отмена </a:t>
            </a:r>
            <a:r>
              <a:rPr lang="ru-RU" sz="2400" b="1" dirty="0">
                <a:latin typeface="Bookman Old Style" panose="02050604050505020204" pitchFamily="18" charset="0"/>
              </a:rPr>
              <a:t>кооперативная</a:t>
            </a:r>
            <a:r>
              <a:rPr lang="ru-RU" sz="2400" dirty="0">
                <a:latin typeface="Bookman Old Style" panose="02050604050505020204" pitchFamily="18" charset="0"/>
              </a:rPr>
              <a:t>. Мы не можем «убить» задачу извне (это опасно), мы можем только вежливо попросить её завершиться, а она должна проверить флаг </a:t>
            </a:r>
            <a:r>
              <a:rPr lang="ru-RU" sz="2400" dirty="0" err="1">
                <a:latin typeface="Bookman Old Style" panose="02050604050505020204" pitchFamily="18" charset="0"/>
              </a:rPr>
              <a:t>IsCancellationRequested</a:t>
            </a:r>
            <a:r>
              <a:rPr lang="ru-RU" sz="2400" dirty="0">
                <a:latin typeface="Bookman Old Style" panose="02050604050505020204" pitchFamily="18" charset="0"/>
              </a:rPr>
              <a:t>. Это важный философский момент </a:t>
            </a:r>
            <a:r>
              <a:rPr lang="ru-RU" sz="2400" dirty="0" err="1" smtClean="0">
                <a:latin typeface="Bookman Old Style" panose="02050604050505020204" pitchFamily="18" charset="0"/>
              </a:rPr>
              <a:t>многопоточности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3200" dirty="0" smtClean="0">
              <a:latin typeface="Bookman Old Style" panose="02050604050505020204" pitchFamily="18" charset="0"/>
            </a:endParaRPr>
          </a:p>
        </p:txBody>
      </p:sp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Отмена задач и параллельных операций.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CancellationToken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8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76076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Общий алгоритм отмены задачи обычно предусматривает следующий порядок действий: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40000"/>
              </a:lnSpc>
              <a:buFont typeface="+mj-lt"/>
              <a:buAutoNum type="arabicPeriod"/>
            </a:pPr>
            <a:r>
              <a:rPr lang="ru-RU" sz="2400" dirty="0" smtClean="0">
                <a:latin typeface="Bookman Old Style" panose="02050604050505020204" pitchFamily="18" charset="0"/>
              </a:rPr>
              <a:t>Создание </a:t>
            </a:r>
            <a:r>
              <a:rPr lang="ru-RU" sz="2400" dirty="0">
                <a:latin typeface="Bookman Old Style" panose="02050604050505020204" pitchFamily="18" charset="0"/>
              </a:rPr>
              <a:t>объекта </a:t>
            </a:r>
            <a:r>
              <a:rPr lang="ru-RU" sz="2400" b="1" dirty="0" err="1">
                <a:latin typeface="Bookman Old Style" panose="02050604050505020204" pitchFamily="18" charset="0"/>
              </a:rPr>
              <a:t>CancellationTokenSource</a:t>
            </a:r>
            <a:r>
              <a:rPr lang="ru-RU" sz="2400" dirty="0">
                <a:latin typeface="Bookman Old Style" panose="02050604050505020204" pitchFamily="18" charset="0"/>
              </a:rPr>
              <a:t>, который управляет и посылает уведомление об отмене </a:t>
            </a:r>
            <a:r>
              <a:rPr lang="ru-RU" sz="2400" dirty="0" err="1">
                <a:latin typeface="Bookman Old Style" panose="02050604050505020204" pitchFamily="18" charset="0"/>
              </a:rPr>
              <a:t>токену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40000"/>
              </a:lnSpc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</a:rPr>
              <a:t>С помощью свойства </a:t>
            </a:r>
            <a:r>
              <a:rPr lang="ru-RU" sz="2400" b="1" dirty="0" err="1">
                <a:latin typeface="Bookman Old Style" panose="02050604050505020204" pitchFamily="18" charset="0"/>
              </a:rPr>
              <a:t>CancellationTokenSource.Token</a:t>
            </a:r>
            <a:r>
              <a:rPr lang="ru-RU" sz="2400" dirty="0">
                <a:latin typeface="Bookman Old Style" panose="02050604050505020204" pitchFamily="18" charset="0"/>
              </a:rPr>
              <a:t> получаем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токен</a:t>
            </a:r>
            <a:r>
              <a:rPr lang="ru-RU" sz="2400" dirty="0" smtClean="0">
                <a:latin typeface="Bookman Old Style" panose="02050604050505020204" pitchFamily="18" charset="0"/>
              </a:rPr>
              <a:t> и </a:t>
            </a:r>
            <a:r>
              <a:rPr lang="ru-RU" sz="2400" dirty="0">
                <a:latin typeface="Bookman Old Style" panose="02050604050505020204" pitchFamily="18" charset="0"/>
              </a:rPr>
              <a:t>передаем его в задачу, которая может быть отменена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40000"/>
              </a:lnSpc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</a:rPr>
              <a:t>Определяем в задаче действия на случай ее отмены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40000"/>
              </a:lnSpc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</a:rPr>
              <a:t>Вызываем метод </a:t>
            </a:r>
            <a:r>
              <a:rPr lang="en-US" sz="2400" b="1" dirty="0" err="1">
                <a:latin typeface="Bookman Old Style" panose="02050604050505020204" pitchFamily="18" charset="0"/>
              </a:rPr>
              <a:t>CancellationTokenSource.Cancel</a:t>
            </a:r>
            <a:r>
              <a:rPr lang="en-US" sz="2400" dirty="0">
                <a:latin typeface="Bookman Old Style" panose="02050604050505020204" pitchFamily="18" charset="0"/>
              </a:rPr>
              <a:t>(), </a:t>
            </a:r>
            <a:r>
              <a:rPr lang="ru-RU" sz="2400" dirty="0">
                <a:latin typeface="Bookman Old Style" panose="02050604050505020204" pitchFamily="18" charset="0"/>
              </a:rPr>
              <a:t>который устанавливает для свойства </a:t>
            </a:r>
            <a:r>
              <a:rPr lang="en-US" sz="2400" b="1" dirty="0" err="1">
                <a:latin typeface="Bookman Old Style" panose="02050604050505020204" pitchFamily="18" charset="0"/>
              </a:rPr>
              <a:t>CancellationToken.IsCancellationRequested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значение </a:t>
            </a:r>
            <a:r>
              <a:rPr lang="en-US" sz="2400" dirty="0">
                <a:latin typeface="Bookman Old Style" panose="02050604050505020204" pitchFamily="18" charset="0"/>
              </a:rPr>
              <a:t>true.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40000"/>
              </a:lnSpc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</a:rPr>
              <a:t>когда работа с объектом </a:t>
            </a:r>
            <a:r>
              <a:rPr lang="ru-RU" sz="2400" b="1" dirty="0" err="1">
                <a:latin typeface="Bookman Old Style" panose="02050604050505020204" pitchFamily="18" charset="0"/>
              </a:rPr>
              <a:t>CancellationTokenSource</a:t>
            </a:r>
            <a:r>
              <a:rPr lang="ru-RU" sz="2400" dirty="0">
                <a:latin typeface="Bookman Old Style" panose="02050604050505020204" pitchFamily="18" charset="0"/>
              </a:rPr>
              <a:t> завершена, у него следует вызвать 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Dispose</a:t>
            </a:r>
            <a:r>
              <a:rPr lang="ru-RU" sz="2400" dirty="0">
                <a:latin typeface="Bookman Old Style" panose="02050604050505020204" pitchFamily="18" charset="0"/>
              </a:rPr>
              <a:t> для освобождения всех связанных с ним используемых ресурсов. 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21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46330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CancellationTokenSource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cancelTokenSource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</a:t>
            </a:r>
            <a:r>
              <a:rPr lang="en-US" sz="23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CancellationTokenSource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CancellationToken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cancelTokenSource.Token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Task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Task(() 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=&gt;</a:t>
            </a:r>
            <a:r>
              <a:rPr lang="ru-RU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задача вычисляет квадраты </a:t>
            </a:r>
            <a:r>
              <a:rPr lang="ru-RU" sz="23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чисел</a:t>
            </a:r>
            <a:endParaRPr lang="en-US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n-NO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n-NO" sz="23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3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i = 1; i </a:t>
            </a:r>
            <a:r>
              <a:rPr lang="nn-NO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ru-RU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</a:t>
            </a:r>
            <a:r>
              <a:rPr lang="nn-NO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10; i++)</a:t>
            </a: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3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token.IsCancellationRequested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  </a:t>
            </a:r>
            <a:r>
              <a:rPr lang="en-US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проверяем наличие сигнала </a:t>
            </a:r>
            <a:r>
              <a:rPr lang="ru-RU" sz="23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отмены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Операция прервана"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ru-RU" sz="23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;     </a:t>
            </a:r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 выходим из метода и тем самым завершаем задачу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Квадрат числа 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равен 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*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(200);</a:t>
            </a:r>
          </a:p>
          <a:p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}, token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93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task.Start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(1000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// после задержки по времени отменяем выполнение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задачи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cancelTokenSource.Cancel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task.Wait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ожидаем завершения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задачи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$"Task Status: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task.Status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//  проверяем статус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задачи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cancelTokenSource.Dispose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освобождаем ресурсы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88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011" y="1106094"/>
            <a:ext cx="7719978" cy="371355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94716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Вывод на консоль: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86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15244</TotalTime>
  <Words>2423</Words>
  <Application>Microsoft Office PowerPoint</Application>
  <PresentationFormat>Широкоэкранный</PresentationFormat>
  <Paragraphs>452</Paragraphs>
  <Slides>44</Slides>
  <Notes>44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3" baseType="lpstr">
      <vt:lpstr>Arial</vt:lpstr>
      <vt:lpstr>Bookman Old Style</vt:lpstr>
      <vt:lpstr>Calibri</vt:lpstr>
      <vt:lpstr>Calibri Light</vt:lpstr>
      <vt:lpstr>Cascadia Mono</vt:lpstr>
      <vt:lpstr>Consolas</vt:lpstr>
      <vt:lpstr>Times New Roman</vt:lpstr>
      <vt:lpstr>Тема Office</vt:lpstr>
      <vt:lpstr>Уравнение</vt:lpstr>
      <vt:lpstr>4 семестр Лекция 5.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866</cp:revision>
  <dcterms:modified xsi:type="dcterms:W3CDTF">2026-04-07T07:38:20Z</dcterms:modified>
</cp:coreProperties>
</file>