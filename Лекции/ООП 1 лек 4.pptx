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3"/>
  </p:notesMasterIdLst>
  <p:sldIdLst>
    <p:sldId id="273" r:id="rId2"/>
    <p:sldId id="969" r:id="rId3"/>
    <p:sldId id="1138" r:id="rId4"/>
    <p:sldId id="1125" r:id="rId5"/>
    <p:sldId id="1126" r:id="rId6"/>
    <p:sldId id="1127" r:id="rId7"/>
    <p:sldId id="1092" r:id="rId8"/>
    <p:sldId id="1108" r:id="rId9"/>
    <p:sldId id="1110" r:id="rId10"/>
    <p:sldId id="1122" r:id="rId11"/>
    <p:sldId id="1111" r:id="rId12"/>
    <p:sldId id="1112" r:id="rId13"/>
    <p:sldId id="1113" r:id="rId14"/>
    <p:sldId id="1139" r:id="rId15"/>
    <p:sldId id="1114" r:id="rId16"/>
    <p:sldId id="1115" r:id="rId17"/>
    <p:sldId id="1123" r:id="rId18"/>
    <p:sldId id="1116" r:id="rId19"/>
    <p:sldId id="1143" r:id="rId20"/>
    <p:sldId id="1142" r:id="rId21"/>
    <p:sldId id="1144" r:id="rId22"/>
    <p:sldId id="1124" r:id="rId23"/>
    <p:sldId id="1117" r:id="rId24"/>
    <p:sldId id="1145" r:id="rId25"/>
    <p:sldId id="1129" r:id="rId26"/>
    <p:sldId id="1134" r:id="rId27"/>
    <p:sldId id="1135" r:id="rId28"/>
    <p:sldId id="1147" r:id="rId29"/>
    <p:sldId id="1148" r:id="rId30"/>
    <p:sldId id="1149" r:id="rId31"/>
    <p:sldId id="1150" r:id="rId32"/>
    <p:sldId id="1151" r:id="rId33"/>
    <p:sldId id="1152" r:id="rId34"/>
    <p:sldId id="1155" r:id="rId35"/>
    <p:sldId id="1153" r:id="rId36"/>
    <p:sldId id="1154" r:id="rId37"/>
    <p:sldId id="1156" r:id="rId38"/>
    <p:sldId id="1157" r:id="rId39"/>
    <p:sldId id="1158" r:id="rId40"/>
    <p:sldId id="1159" r:id="rId41"/>
    <p:sldId id="1160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43" autoAdjust="0"/>
    <p:restoredTop sz="95343" autoAdjust="0"/>
  </p:normalViewPr>
  <p:slideViewPr>
    <p:cSldViewPr snapToGrid="0">
      <p:cViewPr varScale="1">
        <p:scale>
          <a:sx n="160" d="100"/>
          <a:sy n="160" d="100"/>
        </p:scale>
        <p:origin x="384" y="14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5/2/2025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31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19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454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608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805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302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24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2222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349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521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58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206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6942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2582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0526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4489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202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514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397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864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454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67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506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2885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7653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9755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650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7979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6695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2567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7660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456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98448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00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689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7004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82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89496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905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567038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0733" y="2136696"/>
            <a:ext cx="10670534" cy="1634101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4.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760733" y="3770797"/>
            <a:ext cx="11041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Многопоточность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Thread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Потоки с параметрами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ThreadPool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Синхронизация потоков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Многопоточность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228600" y="654355"/>
            <a:ext cx="1167765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Поток</a:t>
            </a:r>
            <a:r>
              <a:rPr lang="ru-RU" sz="2400" dirty="0">
                <a:latin typeface="Bookman Old Style" panose="02050604050505020204" pitchFamily="18" charset="0"/>
              </a:rPr>
              <a:t> — это основная единица, которой операционная система выделяет время процессора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 помощи </a:t>
            </a:r>
            <a:r>
              <a:rPr lang="ru-RU" sz="2400" dirty="0" err="1" smtClean="0">
                <a:latin typeface="Bookman Old Style" panose="02050604050505020204" pitchFamily="18" charset="0"/>
              </a:rPr>
              <a:t>многопоточности</a:t>
            </a:r>
            <a:r>
              <a:rPr lang="ru-RU" sz="2400" dirty="0" smtClean="0">
                <a:latin typeface="Bookman Old Style" panose="02050604050505020204" pitchFamily="18" charset="0"/>
              </a:rPr>
              <a:t> можно выделить в приложении несколько потоков, которые будут выполнять различные задачи одновременно.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Например</a:t>
            </a:r>
            <a:r>
              <a:rPr lang="ru-RU" sz="2400" dirty="0" smtClean="0">
                <a:latin typeface="Bookman Old Style" panose="02050604050505020204" pitchFamily="18" charset="0"/>
              </a:rPr>
              <a:t>, обработку данных и отображение результатов можно выделить в разные потоки, чтобы на время расчета программа не «зависала».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Многопоточность</a:t>
            </a:r>
            <a:r>
              <a:rPr lang="ru-RU" sz="2400" dirty="0">
                <a:latin typeface="Bookman Old Style" panose="02050604050505020204" pitchFamily="18" charset="0"/>
              </a:rPr>
              <a:t> может быть реализована 3 способами: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</a:rPr>
              <a:t>Thread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>
                <a:latin typeface="Bookman Old Style" panose="02050604050505020204" pitchFamily="18" charset="0"/>
              </a:rPr>
              <a:t>ThreadPool</a:t>
            </a:r>
            <a:endParaRPr lang="en-US" sz="2400" dirty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smtClean="0">
                <a:latin typeface="Bookman Old Style" panose="02050604050505020204" pitchFamily="18" charset="0"/>
              </a:rPr>
              <a:t>Task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80976" y="0"/>
            <a:ext cx="1183005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Основной </a:t>
            </a:r>
            <a:r>
              <a:rPr lang="ru-RU" sz="2400" dirty="0">
                <a:latin typeface="Bookman Old Style" panose="02050604050505020204" pitchFamily="18" charset="0"/>
              </a:rPr>
              <a:t>функционал для использования потоков в приложении сосредоточен в пространстве имен </a:t>
            </a:r>
            <a:r>
              <a:rPr lang="ru-RU" sz="2400" b="1" dirty="0" err="1">
                <a:latin typeface="Bookman Old Style" panose="02050604050505020204" pitchFamily="18" charset="0"/>
              </a:rPr>
              <a:t>System.Threading</a:t>
            </a:r>
            <a:r>
              <a:rPr lang="ru-RU" sz="2400" dirty="0">
                <a:latin typeface="Bookman Old Style" panose="02050604050505020204" pitchFamily="18" charset="0"/>
              </a:rPr>
              <a:t>. В нем определен класс, представляющий отдельный поток - класс </a:t>
            </a:r>
            <a:r>
              <a:rPr lang="ru-RU" sz="2400" b="1" dirty="0" err="1">
                <a:latin typeface="Bookman Old Style" panose="02050604050505020204" pitchFamily="18" charset="0"/>
              </a:rPr>
              <a:t>Thread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Плюсы: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✅ Полный контроль над потоком (запуск, приостановка, приоритеты).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✅ Подходит для долгосрочных задач.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✅ Возможность ручного управления состоянием потока.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Минусы: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❌ Создание потока – дорогая операция (каждый поток требует ресурсов).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❌ Большое количество потоков может привести к перегрузке системы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496804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942" y="654355"/>
            <a:ext cx="11646834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Ключевое отличие </a:t>
            </a:r>
            <a:r>
              <a:rPr lang="ru-RU" sz="2400" dirty="0" smtClean="0">
                <a:latin typeface="Bookman Old Style" panose="02050604050505020204" pitchFamily="18" charset="0"/>
              </a:rPr>
              <a:t>однопоточного режима от многопоточного: один процесс выполняется одним исполнителем.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Однопоточный режим выполнения на примере: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296396" y="2160495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Действие 1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3612777" y="2160495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Действие </a:t>
            </a:r>
            <a:r>
              <a:rPr lang="en-US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2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848166" y="2160495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Действие </a:t>
            </a:r>
            <a:r>
              <a:rPr lang="en-US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N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4" name="Прямая со стрелкой 3"/>
          <p:cNvCxnSpPr>
            <a:stCxn id="2" idx="3"/>
            <a:endCxn id="5" idx="1"/>
          </p:cNvCxnSpPr>
          <p:nvPr/>
        </p:nvCxnSpPr>
        <p:spPr>
          <a:xfrm>
            <a:off x="2681008" y="2707342"/>
            <a:ext cx="931769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>
            <a:stCxn id="5" idx="3"/>
          </p:cNvCxnSpPr>
          <p:nvPr/>
        </p:nvCxnSpPr>
        <p:spPr>
          <a:xfrm>
            <a:off x="5997389" y="2707342"/>
            <a:ext cx="1057834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>
            <a:endCxn id="6" idx="1"/>
          </p:cNvCxnSpPr>
          <p:nvPr/>
        </p:nvCxnSpPr>
        <p:spPr>
          <a:xfrm>
            <a:off x="7960659" y="2707342"/>
            <a:ext cx="887507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296396" y="4213481"/>
            <a:ext cx="1694329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Помыть овощи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761129" y="4213481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Нарезать овощи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8" name="Прямая со стрелкой 17"/>
          <p:cNvCxnSpPr>
            <a:stCxn id="15" idx="3"/>
            <a:endCxn id="16" idx="1"/>
          </p:cNvCxnSpPr>
          <p:nvPr/>
        </p:nvCxnSpPr>
        <p:spPr>
          <a:xfrm>
            <a:off x="1990725" y="4760328"/>
            <a:ext cx="770404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16" idx="3"/>
            <a:endCxn id="22" idx="1"/>
          </p:cNvCxnSpPr>
          <p:nvPr/>
        </p:nvCxnSpPr>
        <p:spPr>
          <a:xfrm>
            <a:off x="5145741" y="4760328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/>
          <p:cNvSpPr/>
          <p:nvPr/>
        </p:nvSpPr>
        <p:spPr>
          <a:xfrm>
            <a:off x="6060141" y="4213481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Заправить маслом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8" name="Прямоугольник 27"/>
          <p:cNvSpPr/>
          <p:nvPr/>
        </p:nvSpPr>
        <p:spPr>
          <a:xfrm>
            <a:off x="9126071" y="4213481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Добавить соль, перец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29" name="Прямая со стрелкой 28"/>
          <p:cNvCxnSpPr>
            <a:stCxn id="22" idx="3"/>
            <a:endCxn id="28" idx="1"/>
          </p:cNvCxnSpPr>
          <p:nvPr/>
        </p:nvCxnSpPr>
        <p:spPr>
          <a:xfrm>
            <a:off x="8444753" y="4760328"/>
            <a:ext cx="68131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160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00025" y="295275"/>
            <a:ext cx="1167765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Print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  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1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вызов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метода</a:t>
            </a:r>
          </a:p>
          <a:p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"Некоторые действия в методе 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Main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4</a:t>
            </a:r>
            <a:endParaRPr lang="ru-RU" sz="240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(3000);    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 2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имитация продолжительной работы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Hello World"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3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Вывод в консоль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" y="3466982"/>
            <a:ext cx="11677650" cy="1411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604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79307" y="85998"/>
            <a:ext cx="1166812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многопоточном режиме в рамках одного процесса решаются несколько задач разными потоками.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Многопоточный режим на примере домашних дел: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334229" y="4227846"/>
            <a:ext cx="11358283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Робот-пылесос убирает комнату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334229" y="2113747"/>
            <a:ext cx="1694329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Помыть овощи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2942958" y="2113747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Нарезать овощи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8" name="Прямая со стрелкой 17"/>
          <p:cNvCxnSpPr>
            <a:stCxn id="16" idx="3"/>
            <a:endCxn id="17" idx="1"/>
          </p:cNvCxnSpPr>
          <p:nvPr/>
        </p:nvCxnSpPr>
        <p:spPr>
          <a:xfrm>
            <a:off x="2028558" y="2660594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17" idx="3"/>
            <a:endCxn id="21" idx="1"/>
          </p:cNvCxnSpPr>
          <p:nvPr/>
        </p:nvCxnSpPr>
        <p:spPr>
          <a:xfrm>
            <a:off x="5327570" y="2660594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Прямоугольник 20"/>
          <p:cNvSpPr/>
          <p:nvPr/>
        </p:nvSpPr>
        <p:spPr>
          <a:xfrm>
            <a:off x="6241970" y="2113747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Заправить маслом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9307900" y="2113747"/>
            <a:ext cx="2384612" cy="1093694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Добавить соль, перец</a:t>
            </a:r>
            <a:endParaRPr lang="ru-RU" sz="2400" b="1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23" name="Прямая со стрелкой 22"/>
          <p:cNvCxnSpPr>
            <a:stCxn id="21" idx="3"/>
            <a:endCxn id="22" idx="1"/>
          </p:cNvCxnSpPr>
          <p:nvPr/>
        </p:nvCxnSpPr>
        <p:spPr>
          <a:xfrm>
            <a:off x="8626582" y="2660594"/>
            <a:ext cx="68131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>
            <a:stCxn id="22" idx="3"/>
          </p:cNvCxnSpPr>
          <p:nvPr/>
        </p:nvCxnSpPr>
        <p:spPr>
          <a:xfrm>
            <a:off x="11692512" y="2660594"/>
            <a:ext cx="49948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>
            <a:stCxn id="15" idx="3"/>
          </p:cNvCxnSpPr>
          <p:nvPr/>
        </p:nvCxnSpPr>
        <p:spPr>
          <a:xfrm>
            <a:off x="11692512" y="4774693"/>
            <a:ext cx="499488" cy="50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endCxn id="15" idx="1"/>
          </p:cNvCxnSpPr>
          <p:nvPr/>
        </p:nvCxnSpPr>
        <p:spPr>
          <a:xfrm>
            <a:off x="0" y="4774692"/>
            <a:ext cx="334229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>
            <a:endCxn id="16" idx="1"/>
          </p:cNvCxnSpPr>
          <p:nvPr/>
        </p:nvCxnSpPr>
        <p:spPr>
          <a:xfrm>
            <a:off x="0" y="2660594"/>
            <a:ext cx="334229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45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23824" y="0"/>
            <a:ext cx="12068175" cy="66770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Основные свойства класса </a:t>
            </a:r>
            <a:r>
              <a:rPr lang="en-US" sz="2400" dirty="0" smtClean="0">
                <a:latin typeface="Bookman Old Style" panose="02050604050505020204" pitchFamily="18" charset="0"/>
              </a:rPr>
              <a:t>Thread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статическое свойство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CurrentThread</a:t>
            </a:r>
            <a:r>
              <a:rPr lang="ru-RU" sz="2400" dirty="0" smtClean="0">
                <a:latin typeface="Bookman Old Style" panose="02050604050505020204" pitchFamily="18" charset="0"/>
              </a:rPr>
              <a:t> позволяет </a:t>
            </a:r>
            <a:r>
              <a:rPr lang="ru-RU" sz="2400" dirty="0">
                <a:latin typeface="Bookman Old Style" panose="02050604050505020204" pitchFamily="18" charset="0"/>
              </a:rPr>
              <a:t>получить текущий </a:t>
            </a:r>
            <a:r>
              <a:rPr lang="ru-RU" sz="2400" dirty="0" smtClean="0">
                <a:latin typeface="Bookman Old Style" panose="02050604050505020204" pitchFamily="18" charset="0"/>
              </a:rPr>
              <a:t>поток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IsAlive</a:t>
            </a:r>
            <a:r>
              <a:rPr lang="ru-RU" sz="2400" dirty="0">
                <a:latin typeface="Bookman Old Style" panose="02050604050505020204" pitchFamily="18" charset="0"/>
              </a:rPr>
              <a:t>: указывает, работает ли поток в текущий </a:t>
            </a:r>
            <a:r>
              <a:rPr lang="ru-RU" sz="2400" dirty="0" smtClean="0">
                <a:latin typeface="Bookman Old Style" panose="02050604050505020204" pitchFamily="18" charset="0"/>
              </a:rPr>
              <a:t>момент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Name</a:t>
            </a:r>
            <a:r>
              <a:rPr lang="en-US" sz="2400" dirty="0">
                <a:latin typeface="Bookman Old Style" panose="02050604050505020204" pitchFamily="18" charset="0"/>
              </a:rPr>
              <a:t>: </a:t>
            </a:r>
            <a:r>
              <a:rPr lang="ru-RU" sz="2400" dirty="0">
                <a:latin typeface="Bookman Old Style" panose="02050604050505020204" pitchFamily="18" charset="0"/>
              </a:rPr>
              <a:t>содержит имя </a:t>
            </a:r>
            <a:r>
              <a:rPr lang="ru-RU" sz="2400" dirty="0" smtClean="0">
                <a:latin typeface="Bookman Old Style" panose="02050604050505020204" pitchFamily="18" charset="0"/>
              </a:rPr>
              <a:t>потока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ManagedThreadId</a:t>
            </a:r>
            <a:r>
              <a:rPr lang="ru-RU" sz="2400" dirty="0">
                <a:latin typeface="Bookman Old Style" panose="02050604050505020204" pitchFamily="18" charset="0"/>
              </a:rPr>
              <a:t>: возвращает числовой идентификатор текущего </a:t>
            </a:r>
            <a:r>
              <a:rPr lang="ru-RU" sz="2400" dirty="0" smtClean="0">
                <a:latin typeface="Bookman Old Style" panose="02050604050505020204" pitchFamily="18" charset="0"/>
              </a:rPr>
              <a:t>потока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Priority</a:t>
            </a:r>
            <a:r>
              <a:rPr lang="en-US" sz="2400" dirty="0">
                <a:latin typeface="Bookman Old Style" panose="02050604050505020204" pitchFamily="18" charset="0"/>
              </a:rPr>
              <a:t>: </a:t>
            </a:r>
            <a:r>
              <a:rPr lang="ru-RU" sz="2400" dirty="0">
                <a:latin typeface="Bookman Old Style" panose="02050604050505020204" pitchFamily="18" charset="0"/>
              </a:rPr>
              <a:t>хранит приоритет потока - значение перечисления </a:t>
            </a:r>
            <a:r>
              <a:rPr lang="en-US" sz="2400" b="1" dirty="0" err="1">
                <a:latin typeface="Bookman Old Style" panose="02050604050505020204" pitchFamily="18" charset="0"/>
              </a:rPr>
              <a:t>ThreadPriority</a:t>
            </a:r>
            <a:r>
              <a:rPr lang="en-US" sz="2400" dirty="0">
                <a:latin typeface="Bookman Old Style" panose="02050604050505020204" pitchFamily="18" charset="0"/>
              </a:rPr>
              <a:t>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Bookman Old Style" panose="02050604050505020204" pitchFamily="18" charset="0"/>
              </a:rPr>
              <a:t>Lowest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latin typeface="Bookman Old Style" panose="02050604050505020204" pitchFamily="18" charset="0"/>
              </a:rPr>
              <a:t>BelowNormal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Bookman Old Style" panose="02050604050505020204" pitchFamily="18" charset="0"/>
              </a:rPr>
              <a:t>Normal</a:t>
            </a:r>
            <a:r>
              <a:rPr lang="en-US" sz="2400" dirty="0">
                <a:latin typeface="Bookman Old Style" panose="02050604050505020204" pitchFamily="18" charset="0"/>
              </a:rPr>
              <a:t> (</a:t>
            </a:r>
            <a:r>
              <a:rPr lang="ru-RU" sz="2400" dirty="0">
                <a:latin typeface="Bookman Old Style" panose="02050604050505020204" pitchFamily="18" charset="0"/>
              </a:rPr>
              <a:t>по умолчанию</a:t>
            </a:r>
            <a:r>
              <a:rPr lang="en-US" sz="2400" dirty="0">
                <a:latin typeface="Bookman Old Style" panose="02050604050505020204" pitchFamily="18" charset="0"/>
              </a:rPr>
              <a:t>);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latin typeface="Bookman Old Style" panose="02050604050505020204" pitchFamily="18" charset="0"/>
              </a:rPr>
              <a:t>AboveNormal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Bookman Old Style" panose="02050604050505020204" pitchFamily="18" charset="0"/>
              </a:rPr>
              <a:t>Highest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994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07333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программе на C# есть как минимум один поток - </a:t>
            </a:r>
            <a:r>
              <a:rPr lang="ru-RU" sz="2400" b="1" dirty="0">
                <a:latin typeface="Bookman Old Style" panose="02050604050505020204" pitchFamily="18" charset="0"/>
              </a:rPr>
              <a:t>главный поток</a:t>
            </a:r>
            <a:r>
              <a:rPr lang="ru-RU" sz="2400" dirty="0">
                <a:latin typeface="Bookman Old Style" panose="02050604050505020204" pitchFamily="18" charset="0"/>
              </a:rPr>
              <a:t>, в котором выполняется метод 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System.Threading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получаем текущий поток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Thread.CurrentThread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//получаем имя потока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 потока: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Метод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Main"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 потока: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Запущен ли поток: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currentThread.IsAlive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$"Id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потока: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currentThread.ManagedThreadId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Приоритет потока: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currentThread.Priority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Статус потока: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currentThread.ThreadState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957" y="657043"/>
            <a:ext cx="5382376" cy="261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9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84667" y="110496"/>
            <a:ext cx="1210733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Также класс </a:t>
            </a:r>
            <a:r>
              <a:rPr lang="ru-RU" sz="2400" b="1" dirty="0" err="1">
                <a:latin typeface="Bookman Old Style" panose="02050604050505020204" pitchFamily="18" charset="0"/>
              </a:rPr>
              <a:t>Thread</a:t>
            </a:r>
            <a:r>
              <a:rPr lang="ru-RU" sz="2400" dirty="0">
                <a:latin typeface="Bookman Old Style" panose="02050604050505020204" pitchFamily="18" charset="0"/>
              </a:rPr>
              <a:t> определяет ряд методов для управления </a:t>
            </a:r>
            <a:r>
              <a:rPr lang="ru-RU" sz="2400" dirty="0" smtClean="0">
                <a:latin typeface="Bookman Old Style" panose="02050604050505020204" pitchFamily="18" charset="0"/>
              </a:rPr>
              <a:t>потоком.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Основные </a:t>
            </a:r>
            <a:r>
              <a:rPr lang="ru-RU" sz="2400" dirty="0">
                <a:latin typeface="Bookman Old Style" panose="02050604050505020204" pitchFamily="18" charset="0"/>
              </a:rPr>
              <a:t>из них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Статический </a:t>
            </a:r>
            <a:r>
              <a:rPr lang="ru-RU" sz="2400" dirty="0">
                <a:latin typeface="Bookman Old Style" panose="02050604050505020204" pitchFamily="18" charset="0"/>
              </a:rPr>
              <a:t>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Sleep</a:t>
            </a:r>
            <a:r>
              <a:rPr lang="ru-RU" sz="2400" dirty="0">
                <a:latin typeface="Bookman Old Style" panose="02050604050505020204" pitchFamily="18" charset="0"/>
              </a:rPr>
              <a:t> останавливает поток на определенное количество </a:t>
            </a:r>
            <a:r>
              <a:rPr lang="ru-RU" sz="2400" dirty="0" smtClean="0">
                <a:latin typeface="Bookman Old Style" panose="02050604050505020204" pitchFamily="18" charset="0"/>
              </a:rPr>
              <a:t>миллисекунд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Interrupt</a:t>
            </a:r>
            <a:r>
              <a:rPr lang="ru-RU" sz="2400" dirty="0">
                <a:latin typeface="Bookman Old Style" panose="02050604050505020204" pitchFamily="18" charset="0"/>
              </a:rPr>
              <a:t> прерывает поток, который находится в состоянии </a:t>
            </a:r>
            <a:r>
              <a:rPr lang="ru-RU" sz="2400" dirty="0" err="1" smtClean="0">
                <a:latin typeface="Bookman Old Style" panose="02050604050505020204" pitchFamily="18" charset="0"/>
              </a:rPr>
              <a:t>WaitSleepJoin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Join</a:t>
            </a:r>
            <a:r>
              <a:rPr lang="ru-RU" sz="2400" dirty="0">
                <a:latin typeface="Bookman Old Style" panose="02050604050505020204" pitchFamily="18" charset="0"/>
              </a:rPr>
              <a:t> блокирует выполнение вызвавшего его потока до тех пор, пока не завершится поток, для которого был вызван данный </a:t>
            </a:r>
            <a:r>
              <a:rPr lang="ru-RU" sz="2400" dirty="0" smtClean="0">
                <a:latin typeface="Bookman Old Style" panose="02050604050505020204" pitchFamily="18" charset="0"/>
              </a:rPr>
              <a:t>метод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Start</a:t>
            </a:r>
            <a:r>
              <a:rPr lang="ru-RU" sz="2400" dirty="0">
                <a:latin typeface="Bookman Old Style" panose="02050604050505020204" pitchFamily="18" charset="0"/>
              </a:rPr>
              <a:t> запускает </a:t>
            </a:r>
            <a:r>
              <a:rPr lang="ru-RU" sz="2400" dirty="0" smtClean="0">
                <a:latin typeface="Bookman Old Style" panose="02050604050505020204" pitchFamily="18" charset="0"/>
              </a:rPr>
              <a:t>поток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3401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80894" y="110496"/>
            <a:ext cx="11576424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Например</a:t>
            </a:r>
            <a:r>
              <a:rPr lang="ru-RU" sz="2400" dirty="0">
                <a:latin typeface="Bookman Old Style" panose="02050604050505020204" pitchFamily="18" charset="0"/>
              </a:rPr>
              <a:t>, применим 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Sleep</a:t>
            </a:r>
            <a:r>
              <a:rPr lang="ru-RU" sz="2400" dirty="0">
                <a:latin typeface="Bookman Old Style" panose="02050604050505020204" pitchFamily="18" charset="0"/>
              </a:rPr>
              <a:t> для задания задержки выполнения приложения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System.Threading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10;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(500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задержка выполнения на 500 миллисекунд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010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54001" y="0"/>
            <a:ext cx="116459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Примеры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создания </a:t>
            </a:r>
            <a:r>
              <a:rPr lang="ru-RU" sz="2400" dirty="0">
                <a:latin typeface="Bookman Old Style" panose="02050604050505020204" pitchFamily="18" charset="0"/>
              </a:rPr>
              <a:t>потоков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myThread1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Thread(Print);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myThread2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ThreadStart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(Print));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myThread3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"Hello Threads"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(2000);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$"Hello Threads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    </a:t>
            </a:r>
          </a:p>
          <a:p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    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Thread.GetCurrentProcessorId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ru-RU" sz="2400" dirty="0">
                <a:latin typeface="Bookman Old Style" panose="02050604050505020204" pitchFamily="18" charset="0"/>
              </a:rPr>
              <a:t>запуска нового потока применяется 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Start</a:t>
            </a:r>
            <a:r>
              <a:rPr lang="ru-RU" sz="2400" dirty="0">
                <a:latin typeface="Bookman Old Style" panose="02050604050505020204" pitchFamily="18" charset="0"/>
              </a:rPr>
              <a:t> класса </a:t>
            </a:r>
            <a:r>
              <a:rPr lang="ru-RU" sz="2400" b="1" dirty="0" err="1">
                <a:latin typeface="Bookman Old Style" panose="02050604050505020204" pitchFamily="18" charset="0"/>
              </a:rPr>
              <a:t>Thread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myThread1.Start();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поток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myThread1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myThread2.Start();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поток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myThread2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myThread3.Start();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поток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myThread3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158" y="2057401"/>
            <a:ext cx="4593842" cy="168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611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340659" y="0"/>
            <a:ext cx="11766674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Запустим потоки в цикле: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System.Threading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создаем новый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поток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Thread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endParaRPr lang="ru-RU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myThread.Start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// запускаем поток </a:t>
            </a:r>
            <a:r>
              <a:rPr lang="en-US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myThread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5; i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  <a:endParaRPr lang="nn-NO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действия, выполняемые в главном потоке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Главный поток: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(400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действия, выполняемые во втором потоке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5; i++)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Второй поток: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(400);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306" y="381000"/>
            <a:ext cx="3633694" cy="428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471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54000" y="0"/>
            <a:ext cx="117348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en-US" sz="2400" dirty="0" err="1" smtClean="0">
                <a:solidFill>
                  <a:prstClr val="black"/>
                </a:solidFill>
                <a:latin typeface="Bookman Old Style" panose="02050604050505020204" pitchFamily="18" charset="0"/>
              </a:rPr>
              <a:t>Thread.Join</a:t>
            </a:r>
            <a:r>
              <a:rPr lang="en-US" sz="2400" dirty="0" smtClean="0">
                <a:solidFill>
                  <a:prstClr val="black"/>
                </a:solidFill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solidFill>
                  <a:prstClr val="black"/>
                </a:solidFill>
                <a:latin typeface="Bookman Old Style" panose="02050604050505020204" pitchFamily="18" charset="0"/>
              </a:rPr>
              <a:t>блокирует </a:t>
            </a:r>
            <a:r>
              <a:rPr lang="ru-RU" sz="2400" dirty="0">
                <a:solidFill>
                  <a:prstClr val="black"/>
                </a:solidFill>
                <a:latin typeface="Bookman Old Style" panose="02050604050505020204" pitchFamily="18" charset="0"/>
              </a:rPr>
              <a:t>вызывающий поток до завершения потока, представленного этим экземпляром</a:t>
            </a:r>
            <a:r>
              <a:rPr lang="ru-RU" sz="2400" dirty="0" smtClean="0">
                <a:solidFill>
                  <a:prstClr val="black"/>
                </a:solidFill>
                <a:latin typeface="Bookman Old Style" panose="02050604050505020204" pitchFamily="18" charset="0"/>
              </a:rPr>
              <a:t>.</a:t>
            </a:r>
            <a:endParaRPr lang="en-US" sz="2400" dirty="0">
              <a:solidFill>
                <a:prstClr val="black"/>
              </a:solidFill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$"Поток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.CurrentThread.ManagedThreadId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выполняет работу."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thread.Start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$"Главный поток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.CurrentThread.ManagedThreadId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продолжает работу."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thread.Join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Ожидание завершения потока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902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2964" y="654356"/>
            <a:ext cx="11929035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Пример</a:t>
            </a:r>
            <a:r>
              <a:rPr lang="en-US" sz="2400" dirty="0" smtClean="0">
                <a:latin typeface="Bookman Old Style" panose="02050604050505020204" pitchFamily="18" charset="0"/>
              </a:rPr>
              <a:t> 1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System.Threading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создаем новые потоки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myThread1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ParameterizedThreadStart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(Print));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myThread2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Thread(Print);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myThread3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Thread(message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(message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запускаем потоки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myThread1.Start(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myThread2.Start(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Привет"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myThread3.Start(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Salut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message)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(message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msgText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msgText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Потоки с параметрами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5569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316753" y="0"/>
            <a:ext cx="1179058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Пример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2</a:t>
            </a:r>
            <a:r>
              <a:rPr lang="ru-RU" sz="2400" b="1" dirty="0" smtClean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System.Threading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 = 4;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создаем новый поток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Thread(Print);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myThread.Start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(number);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n * n = 16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действия, выполняемые во втором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потокке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здесь мы ожидаем получить число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pt-BR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Console.WriteLine(</a:t>
            </a:r>
            <a:r>
              <a:rPr lang="pt-BR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$"n * n = </a:t>
            </a:r>
            <a:r>
              <a:rPr lang="pt-BR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{n * n}</a:t>
            </a:r>
            <a:r>
              <a:rPr lang="pt-BR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pt-BR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3055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394447" y="117693"/>
            <a:ext cx="1171288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</a:rPr>
              <a:t>Пример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en-US" sz="2400" dirty="0" smtClean="0">
                <a:latin typeface="Bookman Old Style" panose="02050604050505020204" pitchFamily="18" charset="0"/>
              </a:rPr>
              <a:t>3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Age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645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406400" y="117693"/>
            <a:ext cx="11700933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System.Threading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37);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создаем новый поток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Thread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Thread(Print);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myThread.Start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(tom);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?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здесь мы ожидаем получить объект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obj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person)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$"Name =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$"Age =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717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600" y="0"/>
            <a:ext cx="117348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2.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ThreadPool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это пул управляемых потоков, предоставляемый CLR для выполнения коротких задач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Плюсы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✅ Эффективное использование ресурсов </a:t>
            </a:r>
            <a:r>
              <a:rPr lang="ru-RU" sz="2400" dirty="0" smtClean="0">
                <a:latin typeface="Bookman Old Style" panose="02050604050505020204" pitchFamily="18" charset="0"/>
              </a:rPr>
              <a:t>(потоки </a:t>
            </a:r>
            <a:r>
              <a:rPr lang="ru-RU" sz="2400" dirty="0">
                <a:latin typeface="Bookman Old Style" panose="02050604050505020204" pitchFamily="18" charset="0"/>
              </a:rPr>
              <a:t>создаются заранее и </a:t>
            </a:r>
            <a:r>
              <a:rPr lang="ru-RU" sz="2400" dirty="0" err="1">
                <a:latin typeface="Bookman Old Style" panose="02050604050505020204" pitchFamily="18" charset="0"/>
              </a:rPr>
              <a:t>переиспользуются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✅ Автоматическое управление количеством </a:t>
            </a:r>
            <a:r>
              <a:rPr lang="ru-RU" sz="2400" dirty="0" smtClean="0">
                <a:latin typeface="Bookman Old Style" panose="02050604050505020204" pitchFamily="18" charset="0"/>
              </a:rPr>
              <a:t>потоков.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✅ Подходит для множества коротких задач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Минусы: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❌ Невозможно контролировать поток напрямую (например, приоритет).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❌ Не подходит для долгих операций (может забить пул).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443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34576" y="97865"/>
            <a:ext cx="117348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Основные </a:t>
            </a:r>
            <a:r>
              <a:rPr lang="ru-RU" sz="2400" b="1" dirty="0">
                <a:latin typeface="Bookman Old Style" panose="02050604050505020204" pitchFamily="18" charset="0"/>
              </a:rPr>
              <a:t>методы</a:t>
            </a:r>
          </a:p>
          <a:p>
            <a:pPr algn="just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ThreadPool.QueueUserWorkItem</a:t>
            </a:r>
            <a:r>
              <a:rPr lang="en-US" sz="2400" dirty="0">
                <a:latin typeface="Bookman Old Style" panose="02050604050505020204" pitchFamily="18" charset="0"/>
              </a:rPr>
              <a:t>() – </a:t>
            </a:r>
            <a:r>
              <a:rPr lang="ru-RU" sz="2400" dirty="0">
                <a:latin typeface="Bookman Old Style" panose="02050604050505020204" pitchFamily="18" charset="0"/>
              </a:rPr>
              <a:t>добавляет задачу в очередь пула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ThreadPool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.QueueUserWorkItem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"Hello, 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ThreadPool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ThreadPool.SetMinThreads</a:t>
            </a:r>
            <a:r>
              <a:rPr lang="en-US" sz="2400" dirty="0">
                <a:latin typeface="Bookman Old Style" panose="02050604050505020204" pitchFamily="18" charset="0"/>
              </a:rPr>
              <a:t>() / </a:t>
            </a:r>
            <a:r>
              <a:rPr lang="en-US" sz="2400" dirty="0" err="1">
                <a:latin typeface="Bookman Old Style" panose="02050604050505020204" pitchFamily="18" charset="0"/>
              </a:rPr>
              <a:t>ThreadPool.SetMaxThreads</a:t>
            </a:r>
            <a:r>
              <a:rPr lang="en-US" sz="2400" dirty="0">
                <a:latin typeface="Bookman Old Style" panose="02050604050505020204" pitchFamily="18" charset="0"/>
              </a:rPr>
              <a:t>() – </a:t>
            </a:r>
            <a:r>
              <a:rPr lang="ru-RU" sz="2400" dirty="0">
                <a:latin typeface="Bookman Old Style" panose="02050604050505020204" pitchFamily="18" charset="0"/>
              </a:rPr>
              <a:t>настройка количества потоков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ThreadPool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.SetMinThreads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(10, 10);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Минимум 10 рабочих и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I/O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потоков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ThreadPool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.SetMaxThreads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(100, 100);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Максимум 100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потоков</a:t>
            </a: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👉 </a:t>
            </a:r>
            <a:r>
              <a:rPr lang="ru-RU" sz="2400" dirty="0">
                <a:latin typeface="Bookman Old Style" panose="02050604050505020204" pitchFamily="18" charset="0"/>
              </a:rPr>
              <a:t>По умолчанию (зависит от ядер CPU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Min</a:t>
            </a:r>
            <a:r>
              <a:rPr lang="ru-RU" sz="2400" dirty="0">
                <a:latin typeface="Bookman Old Style" panose="02050604050505020204" pitchFamily="18" charset="0"/>
              </a:rPr>
              <a:t> ≈ количество </a:t>
            </a:r>
            <a:r>
              <a:rPr lang="ru-RU" sz="2400" dirty="0" smtClean="0">
                <a:latin typeface="Bookman Old Style" panose="02050604050505020204" pitchFamily="18" charset="0"/>
              </a:rPr>
              <a:t>ядер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Max</a:t>
            </a:r>
            <a:r>
              <a:rPr lang="ru-RU" sz="2400" dirty="0">
                <a:latin typeface="Bookman Old Style" panose="02050604050505020204" pitchFamily="18" charset="0"/>
              </a:rPr>
              <a:t> ≈ 32 767 (но реально ограничено системой)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7039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457200" y="531464"/>
            <a:ext cx="11734800" cy="54476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Пример использования пула потоков:</a:t>
            </a:r>
            <a:endParaRPr lang="ru-RU" sz="2400" dirty="0"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state)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Поток из пула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.CurrentThread.ManagedThreadId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выполняет задачу."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ThreadPool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.QueueUserWorkItem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Главный поток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.CurrentThread.ManagedThreadId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продолжает работу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.Sleep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(1000);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Даем время потоку из пула завершиться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998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328706" y="654356"/>
            <a:ext cx="1153458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Все </a:t>
            </a:r>
            <a:r>
              <a:rPr lang="ru-RU" sz="2400" dirty="0">
                <a:latin typeface="Bookman Old Style" panose="02050604050505020204" pitchFamily="18" charset="0"/>
              </a:rPr>
              <a:t>потоки, принадлежащие одному процессу, разделяют некоторые общие ресурсы (адресное пространство, открытые файлы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Когда </a:t>
            </a:r>
            <a:r>
              <a:rPr lang="ru-RU" sz="2400" dirty="0">
                <a:latin typeface="Bookman Old Style" panose="02050604050505020204" pitchFamily="18" charset="0"/>
              </a:rPr>
              <a:t>два или более потоков имеют доступ к одному разделенному ресурсу, они нуждаются в обеспечении того, что ресурс будет использован только одним потоком одновременно. Процесс, с помощью которого это достигается, называется </a:t>
            </a:r>
            <a:r>
              <a:rPr lang="ru-RU" sz="2400" b="1" dirty="0">
                <a:latin typeface="Bookman Old Style" panose="02050604050505020204" pitchFamily="18" charset="0"/>
              </a:rPr>
              <a:t>синхронизацией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 </a:t>
            </a:r>
            <a:r>
              <a:rPr lang="ru-RU" sz="2400" dirty="0">
                <a:latin typeface="Bookman Old Style" panose="02050604050505020204" pitchFamily="18" charset="0"/>
              </a:rPr>
              <a:t>Гонка данных (</a:t>
            </a:r>
            <a:r>
              <a:rPr lang="ru-RU" sz="2400" dirty="0" err="1">
                <a:latin typeface="Bookman Old Style" panose="02050604050505020204" pitchFamily="18" charset="0"/>
              </a:rPr>
              <a:t>Race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Condition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Допустим, у нас есть общий счетчик, который увеличивается из нескольких потоков. Без синхронизации возможна потеря данных.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Синхронизация потоков.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lock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6855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304801" y="0"/>
            <a:ext cx="115189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counter = 0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 = 0; i &lt; 10000; i++)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counter++;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Небезопасно!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thread1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thread2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thread1.Start();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thread2.Start();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thread1.Join();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thread2.Join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Итоговое значение: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counter}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Может быть меньше 20000 из-за гонки данных!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435" y="5270500"/>
            <a:ext cx="6657210" cy="539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01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47650" y="0"/>
            <a:ext cx="11696700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 smtClean="0">
                <a:latin typeface="Bookman Old Style" panose="02050604050505020204" pitchFamily="18" charset="0"/>
              </a:rPr>
              <a:t>критической секции </a:t>
            </a:r>
            <a:r>
              <a:rPr lang="ru-RU" sz="2400" dirty="0" smtClean="0">
                <a:latin typeface="Bookman Old Style" panose="02050604050505020204" pitchFamily="18" charset="0"/>
              </a:rPr>
              <a:t>– участка кода, который выполняется только одним потоком в момент времени.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lock</a:t>
            </a:r>
            <a:r>
              <a:rPr lang="ru-RU" sz="2400" dirty="0">
                <a:latin typeface="Bookman Old Style" panose="02050604050505020204" pitchFamily="18" charset="0"/>
              </a:rPr>
              <a:t> — это механизм синхронизации в C#, который обеспечивает безопасный доступ к общим ресурсам из нескольких потоков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locker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Объект-</a:t>
            </a:r>
            <a:r>
              <a:rPr lang="ru-RU" sz="2400" dirty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аглушка</a:t>
            </a:r>
            <a:endParaRPr lang="en-US" sz="2400" dirty="0">
              <a:solidFill>
                <a:srgbClr val="00B05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counter = 0;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 = 0; i &lt; 10000; i++)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(locker)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counter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637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47650" y="127000"/>
            <a:ext cx="1160145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Пример </a:t>
            </a:r>
            <a:r>
              <a:rPr lang="en-US" sz="2400" b="1" dirty="0">
                <a:latin typeface="Bookman Old Style" panose="02050604050505020204" pitchFamily="18" charset="0"/>
              </a:rPr>
              <a:t>Deadlock (</a:t>
            </a:r>
            <a:r>
              <a:rPr lang="ru-RU" sz="2400" b="1" dirty="0">
                <a:latin typeface="Bookman Old Style" panose="02050604050505020204" pitchFamily="18" charset="0"/>
              </a:rPr>
              <a:t>взаимная блокировка</a:t>
            </a:r>
            <a:r>
              <a:rPr lang="ru-RU" sz="2400" b="1" dirty="0" smtClean="0">
                <a:latin typeface="Bookman Old Style" panose="02050604050505020204" pitchFamily="18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Thread1()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(lock1)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.Sleep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(100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(lock2) {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Будет ждать, пока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Thread2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освободит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lock2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Thread2()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(lock2)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.Sleep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(100);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(lock1) {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}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Будет ждать, пока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Thread1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освободит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lock1  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451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41301" y="0"/>
            <a:ext cx="11658600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Напишем код для многопоточного расчета числа Пи.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iterations =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)1e10;</a:t>
            </a:r>
          </a:p>
          <a:p>
            <a:endParaRPr lang="ru-RU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locker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pi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CalculatePiMultithread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(iterations);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(pi);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CalculatePiThread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pi)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subSum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0.0;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from;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to;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sign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% 2 == 0 ? 1 : -1;</a:t>
            </a:r>
          </a:p>
          <a:p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subSum += sign / (2 * i + 1.0);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Thread.CurrentThread.Name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Готово!"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lock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(locker)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pi += 4 *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subSum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271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71718" y="0"/>
            <a:ext cx="12279406" cy="71096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CalculatePiMultithread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pi = 0.0;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Environment.ProcessorCount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iterationsOnThread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)n /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threadsCount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0;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 =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*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iterationsOnThread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 =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long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)((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+ 1) *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iterationsOnThread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Thread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myThread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(()=&gt;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CalculatePiThread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from,to,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ref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pi));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Поток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threads[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myThread.Start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//Ждем пока потоки досчитают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threads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thread.Join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pi;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584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79400" y="0"/>
            <a:ext cx="116713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Результат многопоточного расчета числа Пи.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r="10801"/>
          <a:stretch/>
        </p:blipFill>
        <p:spPr>
          <a:xfrm>
            <a:off x="341736" y="646331"/>
            <a:ext cx="3903489" cy="593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6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654356"/>
            <a:ext cx="115951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Monitor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— это механизм синхронизации в .NET, обеспечивающий взаимное исключение (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mutual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exclusion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) при работе с многопоточными приложениями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🔹 Основные возможности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Блокировка критических секций (аналогично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Возможность ожидания с таймаутом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Гибкое управление потоками через сигналы (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Pulse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PulseAll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Wait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🔹 Отличие от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— это синтаксический сахар над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Monitor.Enter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Monitor.Exit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Monitor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предоставляет больше контроля (например, таймауты, условные блокировки).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Monitor 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735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647460"/>
              </p:ext>
            </p:extLst>
          </p:nvPr>
        </p:nvGraphicFramePr>
        <p:xfrm>
          <a:off x="301625" y="361950"/>
          <a:ext cx="11607800" cy="5029200"/>
        </p:xfrm>
        <a:graphic>
          <a:graphicData uri="http://schemas.openxmlformats.org/drawingml/2006/table">
            <a:tbl>
              <a:tblPr/>
              <a:tblGrid>
                <a:gridCol w="516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 b="1" dirty="0">
                          <a:effectLst/>
                          <a:latin typeface="Bookman Old Style" panose="020506040505050202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 b="1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b="1" dirty="0" err="1">
                          <a:effectLst/>
                          <a:latin typeface="Bookman Old Style" panose="02050604050505020204" pitchFamily="18" charset="0"/>
                        </a:rPr>
                        <a:t>Monitor.Enter</a:t>
                      </a:r>
                      <a:r>
                        <a:rPr lang="en-US" sz="2400" b="1" dirty="0">
                          <a:effectLst/>
                          <a:latin typeface="Bookman Old Style" panose="02050604050505020204" pitchFamily="18" charset="0"/>
                        </a:rPr>
                        <a:t>(</a:t>
                      </a:r>
                      <a:r>
                        <a:rPr lang="en-US" sz="2400" b="1" dirty="0" err="1">
                          <a:effectLst/>
                          <a:latin typeface="Bookman Old Style" panose="02050604050505020204" pitchFamily="18" charset="0"/>
                        </a:rPr>
                        <a:t>obj</a:t>
                      </a:r>
                      <a:r>
                        <a:rPr lang="en-US" sz="2400" b="1" dirty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Захватывает блокировку объекта (если возможно).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Monitor.Exit(obj)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Освобождает блокировку объекта.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Monitor.TryEnter(obj, timeout)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Пытается захватить блокировку с таймаутом (избегает </a:t>
                      </a:r>
                      <a:r>
                        <a:rPr lang="ru-RU" sz="2400" dirty="0" err="1">
                          <a:effectLst/>
                          <a:latin typeface="Bookman Old Style" panose="02050604050505020204" pitchFamily="18" charset="0"/>
                        </a:rPr>
                        <a:t>deadlock</a:t>
                      </a: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Monitor.Wait(obj)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Временно освобождает блокировку и ждет сигнала (Pulse/PulseAll).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b="1" dirty="0" err="1">
                          <a:effectLst/>
                          <a:latin typeface="Bookman Old Style" panose="02050604050505020204" pitchFamily="18" charset="0"/>
                        </a:rPr>
                        <a:t>Monitor.Pulse</a:t>
                      </a:r>
                      <a:r>
                        <a:rPr lang="en-US" sz="2400" b="1" dirty="0">
                          <a:effectLst/>
                          <a:latin typeface="Bookman Old Style" panose="02050604050505020204" pitchFamily="18" charset="0"/>
                        </a:rPr>
                        <a:t>(</a:t>
                      </a:r>
                      <a:r>
                        <a:rPr lang="en-US" sz="2400" b="1" dirty="0" err="1">
                          <a:effectLst/>
                          <a:latin typeface="Bookman Old Style" panose="02050604050505020204" pitchFamily="18" charset="0"/>
                        </a:rPr>
                        <a:t>obj</a:t>
                      </a:r>
                      <a:r>
                        <a:rPr lang="en-US" sz="2400" b="1" dirty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Пробуждает </a:t>
                      </a:r>
                      <a:r>
                        <a:rPr lang="ru-RU" sz="2400" b="1">
                          <a:effectLst/>
                          <a:latin typeface="Bookman Old Style" panose="02050604050505020204" pitchFamily="18" charset="0"/>
                        </a:rPr>
                        <a:t>один</a:t>
                      </a: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 поток из ожидающих (Wait).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Monitor.PulseAll(obj)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Пробуждает </a:t>
                      </a:r>
                      <a:r>
                        <a:rPr lang="ru-RU" sz="2400" b="1" dirty="0">
                          <a:effectLst/>
                          <a:latin typeface="Bookman Old Style" panose="02050604050505020204" pitchFamily="18" charset="0"/>
                        </a:rPr>
                        <a:t>все</a:t>
                      </a: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 потоки из ожидающих (</a:t>
                      </a:r>
                      <a:r>
                        <a:rPr lang="ru-RU" sz="2400" dirty="0" err="1">
                          <a:effectLst/>
                          <a:latin typeface="Bookman Old Style" panose="02050604050505020204" pitchFamily="18" charset="0"/>
                        </a:rPr>
                        <a:t>Wait</a:t>
                      </a: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3845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0"/>
            <a:ext cx="11595100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Пример использования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Monitor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System.Diagnostics.Metrics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lockObj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counter = 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SafeIncrement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Monitor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.Enter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lockObj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Критическая секция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counter++;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Monitor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.Exit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lockObj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Важно освободить блокировку!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959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0"/>
            <a:ext cx="115951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Пример использования </a:t>
            </a:r>
            <a:r>
              <a:rPr lang="en-US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TryEnter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(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избегаем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deadlock)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lockObj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Monitor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.TryEnter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lockObj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1000))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Ждем 1 секунду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Критическая секция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Monitor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.Exit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lockObj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"Не удалось захватить блокировку!"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700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241300"/>
            <a:ext cx="115951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✅ Ситуации, где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Monitor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предпочтительнее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Нужен таймаут при захвате блокировки (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TryEnter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Требуется условная синхронизация (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Wait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/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Pulse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Важен более тонкий контроль над блокировками.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❌ Когда не стоит использовать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простых сценариев (лучше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межпроцессной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синхронизации (нужен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Mutex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2116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654356"/>
            <a:ext cx="115951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Mutex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(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Mutual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Exclusion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)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- это примитив синхронизации, который позволяет организовать взаимоисключающий доступ к общему ресурсу между потоками в рамках одного процесса или между разными процессами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Особенности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Mutex</a:t>
            </a: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✅ Преимущества: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Поддержка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межпроцессной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синхронизации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Возможность рекурсивных блокировок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Поддержка таймаутов при ожидании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Системное имя позволяет синхронизировать разные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приложения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Mutex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343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0"/>
            <a:ext cx="115951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❌ 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Недостатки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Более медленный, чем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или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Monitor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(работает на уровне ядра ОС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Требует явного освобождения (в отличие от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Необходимость обработки исключений (например, при аварийном завершении потока)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184031" y="3429000"/>
            <a:ext cx="5709519" cy="32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23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284348"/>
              </p:ext>
            </p:extLst>
          </p:nvPr>
        </p:nvGraphicFramePr>
        <p:xfrm>
          <a:off x="838200" y="320834"/>
          <a:ext cx="10515600" cy="48463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 b="1" dirty="0">
                          <a:effectLst/>
                          <a:latin typeface="Bookman Old Style" panose="020506040505050202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 b="1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WaitOne()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Блокирует </a:t>
                      </a:r>
                      <a:r>
                        <a:rPr lang="ru-RU" sz="2400" dirty="0" err="1">
                          <a:effectLst/>
                          <a:latin typeface="Bookman Old Style" panose="02050604050505020204" pitchFamily="18" charset="0"/>
                        </a:rPr>
                        <a:t>мьютекс</a:t>
                      </a: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 (если он свободен)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sz="2400" b="1" dirty="0" err="1">
                          <a:effectLst/>
                          <a:latin typeface="Bookman Old Style" panose="02050604050505020204" pitchFamily="18" charset="0"/>
                        </a:rPr>
                        <a:t>ReleaseMutex</a:t>
                      </a:r>
                      <a:r>
                        <a:rPr lang="en-US" sz="2400" b="1" dirty="0">
                          <a:effectLst/>
                          <a:latin typeface="Bookman Old Style" panose="02050604050505020204" pitchFamily="18" charset="0"/>
                        </a:rPr>
                        <a:t>()</a:t>
                      </a:r>
                      <a:endParaRPr lang="en-US" sz="2400" dirty="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Освобождает мьютекс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WaitOne(</a:t>
                      </a:r>
                      <a:r>
                        <a:rPr lang="ru-RU" sz="2400" b="1">
                          <a:effectLst/>
                          <a:latin typeface="Bookman Old Style" panose="02050604050505020204" pitchFamily="18" charset="0"/>
                        </a:rPr>
                        <a:t>таймаут)</a:t>
                      </a:r>
                      <a:endParaRPr lang="ru-RU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Попытка захвата с ожиданием в течение указанного времени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Close()/Dispose()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Освобождение системных ресурсов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6944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76224" y="0"/>
            <a:ext cx="11452225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Базовый пример (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внутрипроцессная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синхронизация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</a:t>
            </a: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counter = 0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 = 0; i &lt; 5; i</a:t>
            </a:r>
            <a:r>
              <a:rPr lang="nn-NO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(Increment).Start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Increment()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mutex.WaitOne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Захватываем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мьютекс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 = 0; i &lt; 10000; i++)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counter++;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$"Counter =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{counter}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mutex.ReleaseMutex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Освобождаем </a:t>
            </a:r>
            <a:r>
              <a:rPr lang="ru-RU" sz="24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мьютекс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38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85750" y="0"/>
            <a:ext cx="11442700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Межпроцессная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синхронизация</a:t>
            </a: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Создаем именованный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мьютекс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(видимый другим процессам)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false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"Global</a:t>
            </a:r>
            <a:r>
              <a:rPr lang="en-US" sz="2400" dirty="0">
                <a:solidFill>
                  <a:srgbClr val="9E5B71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\\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MyAppMutex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Пытаемся захватить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мьютекс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(ждем 5 секунд)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(!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mutex.WaitOne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(5000))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"Другая копия приложения уже запущена!"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Приложение работает..."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.ReadLine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mutex.ReleaseMutex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056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98450" y="654356"/>
            <a:ext cx="115951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Semaphore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— это примитив синхронизации, который ограничивает количество потоков, одновременно имеющих доступ к ресурсу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🔹 Основные характеристики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Поддерживает заданное максимальное число потоков в критической секции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Может быть именованным (для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межпроцессной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синхронизации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Использует счетчик, уменьшающийся при захвате (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WaitOne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) и увеличивающийся при освобождении (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Release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📌 Отличие от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Mutex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Mutex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разрешает доступ только одному потоку (как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Semaphore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разрешает доступ N потокам одновременно.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Semaphore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2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084021"/>
              </p:ext>
            </p:extLst>
          </p:nvPr>
        </p:nvGraphicFramePr>
        <p:xfrm>
          <a:off x="238125" y="333375"/>
          <a:ext cx="11696700" cy="5394960"/>
        </p:xfrm>
        <a:graphic>
          <a:graphicData uri="http://schemas.openxmlformats.org/drawingml/2006/table">
            <a:tbl>
              <a:tblPr/>
              <a:tblGrid>
                <a:gridCol w="3629025">
                  <a:extLst>
                    <a:ext uri="{9D8B030D-6E8A-4147-A177-3AD203B41FA5}">
                      <a16:colId xmlns:a16="http://schemas.microsoft.com/office/drawing/2014/main" val="1316415174"/>
                    </a:ext>
                  </a:extLst>
                </a:gridCol>
                <a:gridCol w="8067675">
                  <a:extLst>
                    <a:ext uri="{9D8B030D-6E8A-4147-A177-3AD203B41FA5}">
                      <a16:colId xmlns:a16="http://schemas.microsoft.com/office/drawing/2014/main" val="2631688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 b="1" dirty="0">
                          <a:effectLst/>
                          <a:latin typeface="Bookman Old Style" panose="020506040505050202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ru-RU" sz="2400" b="1">
                          <a:effectLst/>
                          <a:latin typeface="Bookman Old Style" panose="02050604050505020204" pitchFamily="18" charset="0"/>
                        </a:rPr>
                        <a:t>Описание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9705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WaitOne()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Захватывает семафор (уменьшает счетчик). Если счетчик = 0 — блокирует поток.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0518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Release()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Освобождает семафор (увеличивает счетчик), разрешая доступ другому потоку.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213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WaitOne(</a:t>
                      </a:r>
                      <a:r>
                        <a:rPr lang="ru-RU" sz="2400" b="1">
                          <a:effectLst/>
                          <a:latin typeface="Bookman Old Style" panose="02050604050505020204" pitchFamily="18" charset="0"/>
                        </a:rPr>
                        <a:t>таймаут)</a:t>
                      </a:r>
                      <a:endParaRPr lang="ru-RU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>
                          <a:effectLst/>
                          <a:latin typeface="Bookman Old Style" panose="02050604050505020204" pitchFamily="18" charset="0"/>
                        </a:rPr>
                        <a:t>Пытается захватить семафор с ожиданием (возвращает false, если не удалось).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6934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1">
                          <a:effectLst/>
                          <a:latin typeface="Bookman Old Style" panose="02050604050505020204" pitchFamily="18" charset="0"/>
                        </a:rPr>
                        <a:t>Dispose()</a:t>
                      </a:r>
                      <a:endParaRPr lang="en-US" sz="2400"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Освобождает системные ресурсы (рекомендуется использовать </a:t>
                      </a:r>
                      <a:r>
                        <a:rPr lang="ru-RU" sz="2400" dirty="0" err="1">
                          <a:effectLst/>
                          <a:latin typeface="Bookman Old Style" panose="02050604050505020204" pitchFamily="18" charset="0"/>
                        </a:rPr>
                        <a:t>using</a:t>
                      </a:r>
                      <a:r>
                        <a:rPr lang="ru-RU" sz="2400" dirty="0">
                          <a:effectLst/>
                          <a:latin typeface="Bookman Old Style" panose="02050604050505020204" pitchFamily="18" charset="0"/>
                        </a:rPr>
                        <a:t>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52938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498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93675" y="120956"/>
            <a:ext cx="115951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Semaphore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semaphore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Semaphore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(3, 3);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Максимум 3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потока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 = 1; i &lt;= 10; i</a:t>
            </a:r>
            <a:r>
              <a:rPr lang="nn-NO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 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).Start(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DoWork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id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Поток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ждет доступа..."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semaphore.WaitOne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Захватываем семафор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$"Поток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вошел в </a:t>
            </a:r>
            <a:r>
              <a:rPr lang="ru-RU" sz="2400" dirty="0" err="1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крит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с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Thread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.Sleep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(2000);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Имитация работы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semaphore.Release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Освобождаем семафор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Поток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вышел."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503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9875" y="161925"/>
            <a:ext cx="115951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Когда использовать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Semaphore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?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✅ Популярные сценарии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Ограничение подключений к БД/API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Управление доступом к общему файлу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Реализация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пула потоков (например, ограничение параллельных задач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высоконагруженных приложений используйте </a:t>
            </a:r>
            <a:r>
              <a:rPr lang="ru-RU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SemaphoreSlim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❌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Когда не стоит использовать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Если нужна эксклюзивная блокировка (лучше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Mutex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простых сценариев (иногда хватает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lock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7268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14762</TotalTime>
  <Words>2616</Words>
  <Application>Microsoft Office PowerPoint</Application>
  <PresentationFormat>Широкоэкранный</PresentationFormat>
  <Paragraphs>541</Paragraphs>
  <Slides>41</Slides>
  <Notes>41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8" baseType="lpstr">
      <vt:lpstr>Arial</vt:lpstr>
      <vt:lpstr>Bookman Old Style</vt:lpstr>
      <vt:lpstr>Calibri</vt:lpstr>
      <vt:lpstr>Calibri Light</vt:lpstr>
      <vt:lpstr>Cascadia Mono</vt:lpstr>
      <vt:lpstr>Times New Roman</vt:lpstr>
      <vt:lpstr>Тема Office</vt:lpstr>
      <vt:lpstr>4 семестр Лекция 4.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854</cp:revision>
  <dcterms:modified xsi:type="dcterms:W3CDTF">2025-05-02T14:17:59Z</dcterms:modified>
  <dc:subject/>
  <cp:keywords/>
  <dc:description/>
  <cp:category/>
  <cp:contentStatus/>
</cp:coreProperties>
</file>