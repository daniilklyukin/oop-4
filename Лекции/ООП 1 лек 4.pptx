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43"/>
  </p:notesMasterIdLst>
  <p:sldIdLst>
    <p:sldId id="273" r:id="rId2"/>
    <p:sldId id="969" r:id="rId3"/>
    <p:sldId id="1138" r:id="rId4"/>
    <p:sldId id="1125" r:id="rId5"/>
    <p:sldId id="1126" r:id="rId6"/>
    <p:sldId id="1127" r:id="rId7"/>
    <p:sldId id="1092" r:id="rId8"/>
    <p:sldId id="1108" r:id="rId9"/>
    <p:sldId id="1110" r:id="rId10"/>
    <p:sldId id="1122" r:id="rId11"/>
    <p:sldId id="1111" r:id="rId12"/>
    <p:sldId id="1112" r:id="rId13"/>
    <p:sldId id="1113" r:id="rId14"/>
    <p:sldId id="1139" r:id="rId15"/>
    <p:sldId id="1114" r:id="rId16"/>
    <p:sldId id="1115" r:id="rId17"/>
    <p:sldId id="1123" r:id="rId18"/>
    <p:sldId id="1116" r:id="rId19"/>
    <p:sldId id="1143" r:id="rId20"/>
    <p:sldId id="1142" r:id="rId21"/>
    <p:sldId id="1144" r:id="rId22"/>
    <p:sldId id="1124" r:id="rId23"/>
    <p:sldId id="1117" r:id="rId24"/>
    <p:sldId id="1145" r:id="rId25"/>
    <p:sldId id="1129" r:id="rId26"/>
    <p:sldId id="1134" r:id="rId27"/>
    <p:sldId id="1135" r:id="rId28"/>
    <p:sldId id="1147" r:id="rId29"/>
    <p:sldId id="1148" r:id="rId30"/>
    <p:sldId id="1149" r:id="rId31"/>
    <p:sldId id="1150" r:id="rId32"/>
    <p:sldId id="1151" r:id="rId33"/>
    <p:sldId id="1152" r:id="rId34"/>
    <p:sldId id="1155" r:id="rId35"/>
    <p:sldId id="1153" r:id="rId36"/>
    <p:sldId id="1154" r:id="rId37"/>
    <p:sldId id="1156" r:id="rId38"/>
    <p:sldId id="1157" r:id="rId39"/>
    <p:sldId id="1158" r:id="rId40"/>
    <p:sldId id="1159" r:id="rId41"/>
    <p:sldId id="1160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929"/>
    <a:srgbClr val="BFEFC9"/>
    <a:srgbClr val="5A5A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43" autoAdjust="0"/>
    <p:restoredTop sz="95343" autoAdjust="0"/>
  </p:normalViewPr>
  <p:slideViewPr>
    <p:cSldViewPr snapToGrid="0">
      <p:cViewPr varScale="1">
        <p:scale>
          <a:sx n="55" d="100"/>
          <a:sy n="55" d="100"/>
        </p:scale>
        <p:origin x="96" y="241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-654"/>
    </p:cViewPr>
  </p:sorterViewPr>
  <p:notesViewPr>
    <p:cSldViewPr snapToGrid="0">
      <p:cViewPr varScale="1">
        <p:scale>
          <a:sx n="86" d="100"/>
          <a:sy n="86" d="100"/>
        </p:scale>
        <p:origin x="378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2F9473-F066-431E-A6E8-1D478C995A6B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F4E2F1-1521-4C3A-A563-2F7D19AB6E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975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481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3654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1310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1930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4540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6084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8805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3028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3246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2222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3494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5217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2589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4206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6942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2582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0526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4489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7202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5144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3978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8864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0454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167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15062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28857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76538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97552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56506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7979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66951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25670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76608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45665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98448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3009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86890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70042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4822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89496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090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0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736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5897"/>
            <a:ext cx="12192000" cy="949324"/>
          </a:xfrm>
        </p:spPr>
        <p:txBody>
          <a:bodyPr/>
          <a:lstStyle>
            <a:lvl1pPr algn="ctr">
              <a:defRPr sz="27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0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214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0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892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86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0" y="567038"/>
            <a:ext cx="12192000" cy="1569658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indent="254000" algn="ctr">
              <a:spcBef>
                <a:spcPct val="20000"/>
              </a:spcBef>
            </a:pPr>
            <a:r>
              <a:rPr lang="ru-RU" sz="4800" b="1" dirty="0">
                <a:solidFill>
                  <a:schemeClr val="accent1">
                    <a:lumMod val="50000"/>
                  </a:schemeClr>
                </a:solidFill>
                <a:latin typeface="Bookman Old Style" pitchFamily="18" charset="0"/>
              </a:rPr>
              <a:t>Объектно-ориентированное программирование</a:t>
            </a:r>
            <a:endParaRPr lang="ru-RU" altLang="ru-RU" sz="4800" b="1" dirty="0">
              <a:solidFill>
                <a:schemeClr val="accent1">
                  <a:lumMod val="50000"/>
                </a:schemeClr>
              </a:solidFill>
              <a:latin typeface="Bookman Old Style" pitchFamily="18" charset="0"/>
            </a:endParaRPr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D630362D-1F09-46B4-9DE4-AEA483AC82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0733" y="2136696"/>
            <a:ext cx="10670534" cy="1634101"/>
          </a:xfrm>
        </p:spPr>
        <p:txBody>
          <a:bodyPr>
            <a:noAutofit/>
          </a:bodyPr>
          <a:lstStyle/>
          <a:p>
            <a:pPr algn="l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4 семестр</a:t>
            </a:r>
            <a:b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ru-RU" sz="2800" b="1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Лекция 4. </a:t>
            </a: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/>
            </a:r>
            <a:b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/>
            </a:r>
            <a:b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Содержание лекции:</a:t>
            </a:r>
            <a:endParaRPr lang="ru-RU" sz="2800" dirty="0">
              <a:latin typeface="Bookman Old Style" panose="02050604050505020204" pitchFamily="18" charset="0"/>
            </a:endParaRPr>
          </a:p>
        </p:txBody>
      </p:sp>
      <p:sp>
        <p:nvSpPr>
          <p:cNvPr id="10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6336807"/>
            <a:ext cx="12192000" cy="521193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9050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indent="723900" algn="just"/>
            <a:r>
              <a:rPr lang="ru-RU" b="1" dirty="0">
                <a:solidFill>
                  <a:srgbClr val="292929"/>
                </a:solidFill>
                <a:latin typeface="Bookman Old Style" pitchFamily="18" charset="0"/>
              </a:rPr>
              <a:t>Преподаватель курса: Клюкин Даниил Анатольевич, ст. преподаватель каф. </a:t>
            </a:r>
            <a:r>
              <a:rPr lang="ru-RU" b="1">
                <a:solidFill>
                  <a:srgbClr val="292929"/>
                </a:solidFill>
                <a:latin typeface="Bookman Old Style" pitchFamily="18" charset="0"/>
              </a:rPr>
              <a:t>ПМиИТ</a:t>
            </a:r>
            <a:endParaRPr lang="ru-RU" b="1" dirty="0">
              <a:solidFill>
                <a:srgbClr val="292929"/>
              </a:solidFill>
              <a:latin typeface="Bookman Old Style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B00361-5492-4290-B470-295172C16526}"/>
              </a:ext>
            </a:extLst>
          </p:cNvPr>
          <p:cNvSpPr txBox="1"/>
          <p:nvPr/>
        </p:nvSpPr>
        <p:spPr>
          <a:xfrm>
            <a:off x="760733" y="3770797"/>
            <a:ext cx="1104134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 err="1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Многопоточность</a:t>
            </a:r>
            <a:endParaRPr lang="en-US" sz="2800" dirty="0" smtClean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Класс </a:t>
            </a:r>
            <a:r>
              <a:rPr lang="en-US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Thread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Потоки с параметрами</a:t>
            </a:r>
            <a:endParaRPr lang="en-US" sz="2800" dirty="0" smtClean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ThreadPool</a:t>
            </a:r>
            <a:endParaRPr lang="ru-RU" sz="2800" dirty="0" smtClean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Синхронизация потоков</a:t>
            </a:r>
            <a:endParaRPr lang="en-US" sz="2800" dirty="0" smtClean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err="1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Многопоточность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654356"/>
            <a:ext cx="12192000" cy="624369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Поток</a:t>
            </a:r>
            <a:r>
              <a:rPr lang="ru-RU" sz="2400" dirty="0">
                <a:latin typeface="Bookman Old Style" panose="02050604050505020204" pitchFamily="18" charset="0"/>
              </a:rPr>
              <a:t> — это основная единица, которой операционная система выделяет время процессора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</a:p>
          <a:p>
            <a:pPr algn="just">
              <a:lnSpc>
                <a:spcPct val="14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При помощи </a:t>
            </a:r>
            <a:r>
              <a:rPr lang="ru-RU" sz="2400" b="1" dirty="0" err="1" smtClean="0">
                <a:latin typeface="Bookman Old Style" panose="02050604050505020204" pitchFamily="18" charset="0"/>
              </a:rPr>
              <a:t>многопоточности</a:t>
            </a:r>
            <a:r>
              <a:rPr lang="ru-RU" sz="2400" dirty="0" smtClean="0">
                <a:latin typeface="Bookman Old Style" panose="02050604050505020204" pitchFamily="18" charset="0"/>
              </a:rPr>
              <a:t> можно выделить в приложении несколько потоков, которые будут выполнять различные задачи одновременно.</a:t>
            </a:r>
            <a:endParaRPr lang="ru-RU" sz="2400" b="1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4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Процесс</a:t>
            </a:r>
            <a:r>
              <a:rPr lang="ru-RU" sz="2400" dirty="0">
                <a:latin typeface="Bookman Old Style" panose="02050604050505020204" pitchFamily="18" charset="0"/>
              </a:rPr>
              <a:t> — это совокупность набора исполняемых инструкций (кода), текущего состояния выполнения (контекста) и выделенных системных ресурсов (адресного пространства, дескрипторов файлов и др</a:t>
            </a:r>
            <a:r>
              <a:rPr lang="ru-RU" sz="2400" dirty="0" smtClean="0">
                <a:latin typeface="Bookman Old Style" panose="02050604050505020204" pitchFamily="18" charset="0"/>
              </a:rPr>
              <a:t>.).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40000"/>
              </a:lnSpc>
            </a:pPr>
            <a:r>
              <a:rPr lang="ru-RU" sz="2400" dirty="0" err="1" smtClean="0">
                <a:latin typeface="Bookman Old Style" panose="02050604050505020204" pitchFamily="18" charset="0"/>
              </a:rPr>
              <a:t>Многопоточность</a:t>
            </a:r>
            <a:r>
              <a:rPr lang="ru-RU" sz="2400" dirty="0" smtClean="0">
                <a:latin typeface="Bookman Old Style" panose="02050604050505020204" pitchFamily="18" charset="0"/>
              </a:rPr>
              <a:t> может быть реализована 3 способами:</a:t>
            </a:r>
          </a:p>
          <a:p>
            <a:pPr marL="457200" indent="-457200" algn="just">
              <a:lnSpc>
                <a:spcPct val="140000"/>
              </a:lnSpc>
              <a:buFont typeface="+mj-lt"/>
              <a:buAutoNum type="arabicPeriod"/>
            </a:pPr>
            <a:r>
              <a:rPr lang="en-US" sz="2400" dirty="0" smtClean="0">
                <a:latin typeface="Bookman Old Style" panose="02050604050505020204" pitchFamily="18" charset="0"/>
              </a:rPr>
              <a:t>Thread</a:t>
            </a:r>
            <a:endParaRPr lang="en-US" sz="2400" dirty="0">
              <a:latin typeface="Bookman Old Style" panose="02050604050505020204" pitchFamily="18" charset="0"/>
            </a:endParaRPr>
          </a:p>
          <a:p>
            <a:pPr marL="457200" indent="-457200" algn="just">
              <a:lnSpc>
                <a:spcPct val="140000"/>
              </a:lnSpc>
              <a:buFont typeface="+mj-lt"/>
              <a:buAutoNum type="arabicPeriod"/>
            </a:pPr>
            <a:r>
              <a:rPr lang="en-US" sz="2400" dirty="0" err="1">
                <a:latin typeface="Bookman Old Style" panose="02050604050505020204" pitchFamily="18" charset="0"/>
              </a:rPr>
              <a:t>ThreadPool</a:t>
            </a:r>
            <a:endParaRPr lang="en-US" sz="2400" dirty="0">
              <a:latin typeface="Bookman Old Style" panose="02050604050505020204" pitchFamily="18" charset="0"/>
            </a:endParaRPr>
          </a:p>
          <a:p>
            <a:pPr marL="457200" indent="-457200" algn="just">
              <a:lnSpc>
                <a:spcPct val="140000"/>
              </a:lnSpc>
              <a:buFont typeface="+mj-lt"/>
              <a:buAutoNum type="arabicPeriod"/>
            </a:pPr>
            <a:r>
              <a:rPr lang="en-US" sz="2400" dirty="0" smtClean="0">
                <a:latin typeface="Bookman Old Style" panose="02050604050505020204" pitchFamily="18" charset="0"/>
              </a:rPr>
              <a:t>Task</a:t>
            </a:r>
            <a:endParaRPr lang="en-US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8555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528262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35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Основной </a:t>
            </a:r>
            <a:r>
              <a:rPr lang="ru-RU" sz="2400" dirty="0">
                <a:latin typeface="Bookman Old Style" panose="02050604050505020204" pitchFamily="18" charset="0"/>
              </a:rPr>
              <a:t>функционал для использования потоков в приложении сосредоточен в пространстве имен </a:t>
            </a:r>
            <a:r>
              <a:rPr lang="ru-RU" sz="2400" b="1" dirty="0" err="1">
                <a:latin typeface="Bookman Old Style" panose="02050604050505020204" pitchFamily="18" charset="0"/>
              </a:rPr>
              <a:t>System.Threading</a:t>
            </a:r>
            <a:r>
              <a:rPr lang="ru-RU" sz="2400" dirty="0">
                <a:latin typeface="Bookman Old Style" panose="02050604050505020204" pitchFamily="18" charset="0"/>
              </a:rPr>
              <a:t>. В нем определен класс, представляющий отдельный поток - класс </a:t>
            </a:r>
            <a:r>
              <a:rPr lang="ru-RU" sz="2400" b="1" dirty="0" err="1">
                <a:latin typeface="Bookman Old Style" panose="02050604050505020204" pitchFamily="18" charset="0"/>
              </a:rPr>
              <a:t>Thread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35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35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Плюсы:</a:t>
            </a:r>
          </a:p>
          <a:p>
            <a:pPr algn="just">
              <a:lnSpc>
                <a:spcPct val="135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✅ Полный контроль над потоком (запуск, приостановка, приоритеты).</a:t>
            </a:r>
          </a:p>
          <a:p>
            <a:pPr algn="just">
              <a:lnSpc>
                <a:spcPct val="135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✅ Подходит для долгосрочных задач.</a:t>
            </a:r>
          </a:p>
          <a:p>
            <a:pPr algn="just">
              <a:lnSpc>
                <a:spcPct val="135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✅ Возможность ручного управления состоянием потока.</a:t>
            </a:r>
          </a:p>
          <a:p>
            <a:pPr algn="just">
              <a:lnSpc>
                <a:spcPct val="135000"/>
              </a:lnSpc>
            </a:pPr>
            <a:endParaRPr lang="ru-RU" sz="2400" b="1" dirty="0">
              <a:latin typeface="Bookman Old Style" panose="02050604050505020204" pitchFamily="18" charset="0"/>
            </a:endParaRPr>
          </a:p>
          <a:p>
            <a:pPr algn="just">
              <a:lnSpc>
                <a:spcPct val="135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Минусы:</a:t>
            </a:r>
          </a:p>
          <a:p>
            <a:pPr algn="just">
              <a:lnSpc>
                <a:spcPct val="135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❌ Создание потока – дорогая операция (каждый поток требует ресурсов).</a:t>
            </a:r>
          </a:p>
          <a:p>
            <a:pPr algn="just">
              <a:lnSpc>
                <a:spcPct val="135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❌ Большое количество потоков может привести к перегрузке системы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496804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654355"/>
            <a:ext cx="12192000" cy="3970318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Ключевое отличие </a:t>
            </a:r>
            <a:r>
              <a:rPr lang="ru-RU" sz="2400" dirty="0" smtClean="0">
                <a:latin typeface="Bookman Old Style" panose="02050604050505020204" pitchFamily="18" charset="0"/>
              </a:rPr>
              <a:t>однопоточного режима от многопоточного: один процесс выполняется одним исполнителем.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Однопоточный режим выполнения на примере:</a:t>
            </a: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296396" y="2160495"/>
            <a:ext cx="2384612" cy="1093694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tx1"/>
                </a:solidFill>
                <a:latin typeface="Bookman Old Style" panose="02050604050505020204" pitchFamily="18" charset="0"/>
              </a:rPr>
              <a:t>Действие 1</a:t>
            </a:r>
            <a:endParaRPr lang="ru-RU" sz="2400" b="1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612777" y="2160495"/>
            <a:ext cx="2384612" cy="1093694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tx1"/>
                </a:solidFill>
                <a:latin typeface="Bookman Old Style" panose="02050604050505020204" pitchFamily="18" charset="0"/>
              </a:rPr>
              <a:t>Действие </a:t>
            </a:r>
            <a:r>
              <a:rPr lang="en-US" sz="2400" b="1" dirty="0" smtClean="0">
                <a:solidFill>
                  <a:schemeClr val="tx1"/>
                </a:solidFill>
                <a:latin typeface="Bookman Old Style" panose="02050604050505020204" pitchFamily="18" charset="0"/>
              </a:rPr>
              <a:t>2</a:t>
            </a:r>
            <a:endParaRPr lang="ru-RU" sz="2400" b="1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8848166" y="2160495"/>
            <a:ext cx="2384612" cy="1093694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tx1"/>
                </a:solidFill>
                <a:latin typeface="Bookman Old Style" panose="02050604050505020204" pitchFamily="18" charset="0"/>
              </a:rPr>
              <a:t>Действие </a:t>
            </a:r>
            <a:r>
              <a:rPr lang="en-US" sz="2400" b="1" dirty="0" smtClean="0">
                <a:solidFill>
                  <a:schemeClr val="tx1"/>
                </a:solidFill>
                <a:latin typeface="Bookman Old Style" panose="02050604050505020204" pitchFamily="18" charset="0"/>
              </a:rPr>
              <a:t>N</a:t>
            </a:r>
            <a:endParaRPr lang="ru-RU" sz="2400" b="1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cxnSp>
        <p:nvCxnSpPr>
          <p:cNvPr id="4" name="Прямая со стрелкой 3"/>
          <p:cNvCxnSpPr>
            <a:stCxn id="2" idx="3"/>
            <a:endCxn id="5" idx="1"/>
          </p:cNvCxnSpPr>
          <p:nvPr/>
        </p:nvCxnSpPr>
        <p:spPr>
          <a:xfrm>
            <a:off x="2681008" y="2707342"/>
            <a:ext cx="931769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>
            <a:stCxn id="5" idx="3"/>
          </p:cNvCxnSpPr>
          <p:nvPr/>
        </p:nvCxnSpPr>
        <p:spPr>
          <a:xfrm>
            <a:off x="5997389" y="2707342"/>
            <a:ext cx="1057834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>
            <a:endCxn id="6" idx="1"/>
          </p:cNvCxnSpPr>
          <p:nvPr/>
        </p:nvCxnSpPr>
        <p:spPr>
          <a:xfrm>
            <a:off x="7960659" y="2707342"/>
            <a:ext cx="88750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Прямоугольник 14"/>
          <p:cNvSpPr/>
          <p:nvPr/>
        </p:nvSpPr>
        <p:spPr>
          <a:xfrm>
            <a:off x="296396" y="4213481"/>
            <a:ext cx="1694329" cy="1093694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tx1"/>
                </a:solidFill>
                <a:latin typeface="Bookman Old Style" panose="02050604050505020204" pitchFamily="18" charset="0"/>
              </a:rPr>
              <a:t>Помыть овощи</a:t>
            </a:r>
            <a:endParaRPr lang="ru-RU" sz="2400" b="1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2761129" y="4213481"/>
            <a:ext cx="2384612" cy="1093694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tx1"/>
                </a:solidFill>
                <a:latin typeface="Bookman Old Style" panose="02050604050505020204" pitchFamily="18" charset="0"/>
              </a:rPr>
              <a:t>Нарезать овощи</a:t>
            </a:r>
            <a:endParaRPr lang="ru-RU" sz="2400" b="1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cxnSp>
        <p:nvCxnSpPr>
          <p:cNvPr id="18" name="Прямая со стрелкой 17"/>
          <p:cNvCxnSpPr>
            <a:stCxn id="15" idx="3"/>
            <a:endCxn id="16" idx="1"/>
          </p:cNvCxnSpPr>
          <p:nvPr/>
        </p:nvCxnSpPr>
        <p:spPr>
          <a:xfrm>
            <a:off x="1990725" y="4760328"/>
            <a:ext cx="770404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>
            <a:stCxn id="16" idx="3"/>
            <a:endCxn id="22" idx="1"/>
          </p:cNvCxnSpPr>
          <p:nvPr/>
        </p:nvCxnSpPr>
        <p:spPr>
          <a:xfrm>
            <a:off x="5145741" y="4760328"/>
            <a:ext cx="91440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Прямоугольник 21"/>
          <p:cNvSpPr/>
          <p:nvPr/>
        </p:nvSpPr>
        <p:spPr>
          <a:xfrm>
            <a:off x="6060141" y="4213481"/>
            <a:ext cx="2384612" cy="1093694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tx1"/>
                </a:solidFill>
                <a:latin typeface="Bookman Old Style" panose="02050604050505020204" pitchFamily="18" charset="0"/>
              </a:rPr>
              <a:t>Заправить маслом</a:t>
            </a:r>
            <a:endParaRPr lang="ru-RU" sz="2400" b="1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8" name="Прямоугольник 27"/>
          <p:cNvSpPr/>
          <p:nvPr/>
        </p:nvSpPr>
        <p:spPr>
          <a:xfrm>
            <a:off x="9126071" y="4213481"/>
            <a:ext cx="2384612" cy="1093694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tx1"/>
                </a:solidFill>
                <a:latin typeface="Bookman Old Style" panose="02050604050505020204" pitchFamily="18" charset="0"/>
              </a:rPr>
              <a:t>Добавить соль, перец</a:t>
            </a:r>
            <a:endParaRPr lang="ru-RU" sz="2400" b="1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cxnSp>
        <p:nvCxnSpPr>
          <p:cNvPr id="29" name="Прямая со стрелкой 28"/>
          <p:cNvCxnSpPr>
            <a:stCxn id="22" idx="3"/>
            <a:endCxn id="28" idx="1"/>
          </p:cNvCxnSpPr>
          <p:nvPr/>
        </p:nvCxnSpPr>
        <p:spPr>
          <a:xfrm>
            <a:off x="8444753" y="4760328"/>
            <a:ext cx="681318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9160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295275"/>
            <a:ext cx="12192000" cy="3416320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ru-RU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Print</a:t>
            </a:r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();   </a:t>
            </a:r>
            <a:r>
              <a:rPr lang="ru-RU" sz="24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// 1 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вызов </a:t>
            </a:r>
            <a:r>
              <a:rPr lang="ru-RU" sz="24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метода</a:t>
            </a:r>
          </a:p>
          <a:p>
            <a:r>
              <a:rPr lang="ru-RU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"Некоторые действия в методе </a:t>
            </a:r>
            <a:r>
              <a:rPr lang="ru-RU" sz="2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Main</a:t>
            </a:r>
            <a:r>
              <a:rPr lang="ru-RU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); </a:t>
            </a:r>
            <a:r>
              <a:rPr lang="ru-RU" sz="24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// 4</a:t>
            </a:r>
            <a:endParaRPr lang="ru-RU" sz="2400" dirty="0">
              <a:solidFill>
                <a:srgbClr val="008000"/>
              </a:solidFill>
              <a:latin typeface="Cascadia Mono" panose="020B0609020000020004" pitchFamily="49" charset="0"/>
            </a:endParaRP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Print()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Thread.Sleep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(3000);     </a:t>
            </a:r>
            <a:r>
              <a:rPr lang="en-US" sz="24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//</a:t>
            </a:r>
            <a:r>
              <a:rPr lang="ru-RU" sz="24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 2</a:t>
            </a:r>
            <a:r>
              <a:rPr lang="en-US" sz="24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 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имитация продолжительной работы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Hello World"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 </a:t>
            </a:r>
            <a:r>
              <a:rPr lang="ru-RU" sz="24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3</a:t>
            </a:r>
            <a:r>
              <a:rPr lang="en-US" sz="24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 </a:t>
            </a:r>
            <a:r>
              <a:rPr lang="ru-RU" sz="24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Вывод в консоль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75" y="3711595"/>
            <a:ext cx="11677650" cy="1411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604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85998"/>
            <a:ext cx="12192000" cy="1754326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 многопоточном режиме в рамках одного процесса решаются несколько задач разными потоками.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Многопоточный режим на примере домашних дел: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334229" y="4227846"/>
            <a:ext cx="11358283" cy="1093694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tx1"/>
                </a:solidFill>
                <a:latin typeface="Bookman Old Style" panose="02050604050505020204" pitchFamily="18" charset="0"/>
              </a:rPr>
              <a:t>Робот-пылесос убирает комнату</a:t>
            </a:r>
            <a:endParaRPr lang="ru-RU" sz="2400" b="1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334229" y="2113747"/>
            <a:ext cx="1694329" cy="1093694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tx1"/>
                </a:solidFill>
                <a:latin typeface="Bookman Old Style" panose="02050604050505020204" pitchFamily="18" charset="0"/>
              </a:rPr>
              <a:t>Помыть овощи</a:t>
            </a:r>
            <a:endParaRPr lang="ru-RU" sz="2400" b="1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2942958" y="2113747"/>
            <a:ext cx="2384612" cy="1093694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tx1"/>
                </a:solidFill>
                <a:latin typeface="Bookman Old Style" panose="02050604050505020204" pitchFamily="18" charset="0"/>
              </a:rPr>
              <a:t>Нарезать овощи</a:t>
            </a:r>
            <a:endParaRPr lang="ru-RU" sz="2400" b="1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cxnSp>
        <p:nvCxnSpPr>
          <p:cNvPr id="18" name="Прямая со стрелкой 17"/>
          <p:cNvCxnSpPr>
            <a:stCxn id="16" idx="3"/>
            <a:endCxn id="17" idx="1"/>
          </p:cNvCxnSpPr>
          <p:nvPr/>
        </p:nvCxnSpPr>
        <p:spPr>
          <a:xfrm>
            <a:off x="2028558" y="2660594"/>
            <a:ext cx="91440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stCxn id="17" idx="3"/>
            <a:endCxn id="21" idx="1"/>
          </p:cNvCxnSpPr>
          <p:nvPr/>
        </p:nvCxnSpPr>
        <p:spPr>
          <a:xfrm>
            <a:off x="5327570" y="2660594"/>
            <a:ext cx="91440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 20"/>
          <p:cNvSpPr/>
          <p:nvPr/>
        </p:nvSpPr>
        <p:spPr>
          <a:xfrm>
            <a:off x="6241970" y="2113747"/>
            <a:ext cx="2384612" cy="1093694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tx1"/>
                </a:solidFill>
                <a:latin typeface="Bookman Old Style" panose="02050604050505020204" pitchFamily="18" charset="0"/>
              </a:rPr>
              <a:t>Заправить маслом</a:t>
            </a:r>
            <a:endParaRPr lang="ru-RU" sz="2400" b="1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2" name="Прямоугольник 21"/>
          <p:cNvSpPr/>
          <p:nvPr/>
        </p:nvSpPr>
        <p:spPr>
          <a:xfrm>
            <a:off x="9307900" y="2113747"/>
            <a:ext cx="2384612" cy="1093694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chemeClr val="tx1"/>
                </a:solidFill>
                <a:latin typeface="Bookman Old Style" panose="02050604050505020204" pitchFamily="18" charset="0"/>
              </a:rPr>
              <a:t>Добавить соль, перец</a:t>
            </a:r>
            <a:endParaRPr lang="ru-RU" sz="2400" b="1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cxnSp>
        <p:nvCxnSpPr>
          <p:cNvPr id="23" name="Прямая со стрелкой 22"/>
          <p:cNvCxnSpPr>
            <a:stCxn id="21" idx="3"/>
            <a:endCxn id="22" idx="1"/>
          </p:cNvCxnSpPr>
          <p:nvPr/>
        </p:nvCxnSpPr>
        <p:spPr>
          <a:xfrm>
            <a:off x="8626582" y="2660594"/>
            <a:ext cx="681318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>
            <a:stCxn id="22" idx="3"/>
          </p:cNvCxnSpPr>
          <p:nvPr/>
        </p:nvCxnSpPr>
        <p:spPr>
          <a:xfrm>
            <a:off x="11692512" y="2660594"/>
            <a:ext cx="499488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>
            <a:stCxn id="15" idx="3"/>
          </p:cNvCxnSpPr>
          <p:nvPr/>
        </p:nvCxnSpPr>
        <p:spPr>
          <a:xfrm>
            <a:off x="11692512" y="4774693"/>
            <a:ext cx="499488" cy="50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>
            <a:endCxn id="15" idx="1"/>
          </p:cNvCxnSpPr>
          <p:nvPr/>
        </p:nvCxnSpPr>
        <p:spPr>
          <a:xfrm>
            <a:off x="0" y="4774692"/>
            <a:ext cx="334229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>
            <a:endCxn id="16" idx="1"/>
          </p:cNvCxnSpPr>
          <p:nvPr/>
        </p:nvCxnSpPr>
        <p:spPr>
          <a:xfrm>
            <a:off x="0" y="2660594"/>
            <a:ext cx="334229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9545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1999" cy="6769354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Основные свойства класса </a:t>
            </a:r>
            <a:r>
              <a:rPr lang="en-US" sz="2400" dirty="0" smtClean="0">
                <a:latin typeface="Bookman Old Style" panose="02050604050505020204" pitchFamily="18" charset="0"/>
              </a:rPr>
              <a:t>Thread</a:t>
            </a:r>
            <a:r>
              <a:rPr lang="ru-RU" sz="2400" dirty="0" smtClean="0">
                <a:latin typeface="Bookman Old Style" panose="02050604050505020204" pitchFamily="18" charset="0"/>
              </a:rPr>
              <a:t>:</a:t>
            </a:r>
          </a:p>
          <a:p>
            <a:pPr algn="just">
              <a:lnSpc>
                <a:spcPct val="13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статическое свойство </a:t>
            </a:r>
            <a:r>
              <a:rPr lang="ru-RU" sz="2400" b="1" dirty="0" err="1" smtClean="0">
                <a:latin typeface="Bookman Old Style" panose="02050604050505020204" pitchFamily="18" charset="0"/>
              </a:rPr>
              <a:t>CurrentThread</a:t>
            </a:r>
            <a:r>
              <a:rPr lang="ru-RU" sz="2400" dirty="0" smtClean="0">
                <a:latin typeface="Bookman Old Style" panose="02050604050505020204" pitchFamily="18" charset="0"/>
              </a:rPr>
              <a:t> позволяет </a:t>
            </a:r>
            <a:r>
              <a:rPr lang="ru-RU" sz="2400" dirty="0">
                <a:latin typeface="Bookman Old Style" panose="02050604050505020204" pitchFamily="18" charset="0"/>
              </a:rPr>
              <a:t>получить текущий </a:t>
            </a:r>
            <a:r>
              <a:rPr lang="ru-RU" sz="2400" dirty="0" smtClean="0">
                <a:latin typeface="Bookman Old Style" panose="02050604050505020204" pitchFamily="18" charset="0"/>
              </a:rPr>
              <a:t>поток</a:t>
            </a:r>
            <a:r>
              <a:rPr lang="en-US" sz="2400" dirty="0" smtClean="0">
                <a:latin typeface="Bookman Old Style" panose="02050604050505020204" pitchFamily="18" charset="0"/>
              </a:rPr>
              <a:t>;</a:t>
            </a: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ru-RU" sz="2400" b="1" dirty="0" err="1">
                <a:latin typeface="Bookman Old Style" panose="02050604050505020204" pitchFamily="18" charset="0"/>
              </a:rPr>
              <a:t>IsAlive</a:t>
            </a:r>
            <a:r>
              <a:rPr lang="ru-RU" sz="2400" dirty="0">
                <a:latin typeface="Bookman Old Style" panose="02050604050505020204" pitchFamily="18" charset="0"/>
              </a:rPr>
              <a:t>: указывает, работает ли поток в текущий </a:t>
            </a:r>
            <a:r>
              <a:rPr lang="ru-RU" sz="2400" dirty="0" smtClean="0">
                <a:latin typeface="Bookman Old Style" panose="02050604050505020204" pitchFamily="18" charset="0"/>
              </a:rPr>
              <a:t>момент</a:t>
            </a:r>
            <a:r>
              <a:rPr lang="en-US" sz="2400" dirty="0" smtClean="0">
                <a:latin typeface="Bookman Old Style" panose="02050604050505020204" pitchFamily="18" charset="0"/>
              </a:rPr>
              <a:t>;</a:t>
            </a: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en-US" sz="2400" b="1" dirty="0">
                <a:latin typeface="Bookman Old Style" panose="02050604050505020204" pitchFamily="18" charset="0"/>
              </a:rPr>
              <a:t>Name</a:t>
            </a:r>
            <a:r>
              <a:rPr lang="en-US" sz="2400" dirty="0">
                <a:latin typeface="Bookman Old Style" panose="02050604050505020204" pitchFamily="18" charset="0"/>
              </a:rPr>
              <a:t>: </a:t>
            </a:r>
            <a:r>
              <a:rPr lang="ru-RU" sz="2400" dirty="0">
                <a:latin typeface="Bookman Old Style" panose="02050604050505020204" pitchFamily="18" charset="0"/>
              </a:rPr>
              <a:t>содержит имя </a:t>
            </a:r>
            <a:r>
              <a:rPr lang="ru-RU" sz="2400" dirty="0" smtClean="0">
                <a:latin typeface="Bookman Old Style" panose="02050604050505020204" pitchFamily="18" charset="0"/>
              </a:rPr>
              <a:t>потока</a:t>
            </a:r>
            <a:r>
              <a:rPr lang="en-US" sz="2400" dirty="0" smtClean="0">
                <a:latin typeface="Bookman Old Style" panose="02050604050505020204" pitchFamily="18" charset="0"/>
              </a:rPr>
              <a:t>;</a:t>
            </a: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ru-RU" sz="2400" b="1" dirty="0" err="1">
                <a:latin typeface="Bookman Old Style" panose="02050604050505020204" pitchFamily="18" charset="0"/>
              </a:rPr>
              <a:t>ManagedThreadId</a:t>
            </a:r>
            <a:r>
              <a:rPr lang="ru-RU" sz="2400" dirty="0">
                <a:latin typeface="Bookman Old Style" panose="02050604050505020204" pitchFamily="18" charset="0"/>
              </a:rPr>
              <a:t>: возвращает числовой идентификатор текущего </a:t>
            </a:r>
            <a:r>
              <a:rPr lang="ru-RU" sz="2400" dirty="0" smtClean="0">
                <a:latin typeface="Bookman Old Style" panose="02050604050505020204" pitchFamily="18" charset="0"/>
              </a:rPr>
              <a:t>потока</a:t>
            </a:r>
            <a:r>
              <a:rPr lang="en-US" sz="2400" dirty="0" smtClean="0">
                <a:latin typeface="Bookman Old Style" panose="02050604050505020204" pitchFamily="18" charset="0"/>
              </a:rPr>
              <a:t>;</a:t>
            </a: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en-US" sz="2400" b="1" dirty="0">
                <a:latin typeface="Bookman Old Style" panose="02050604050505020204" pitchFamily="18" charset="0"/>
              </a:rPr>
              <a:t>Priority</a:t>
            </a:r>
            <a:r>
              <a:rPr lang="en-US" sz="2400" dirty="0">
                <a:latin typeface="Bookman Old Style" panose="02050604050505020204" pitchFamily="18" charset="0"/>
              </a:rPr>
              <a:t>: </a:t>
            </a:r>
            <a:r>
              <a:rPr lang="ru-RU" sz="2400" dirty="0">
                <a:latin typeface="Bookman Old Style" panose="02050604050505020204" pitchFamily="18" charset="0"/>
              </a:rPr>
              <a:t>хранит приоритет потока - значение перечисления </a:t>
            </a:r>
            <a:r>
              <a:rPr lang="en-US" sz="2400" b="1" dirty="0" err="1">
                <a:latin typeface="Bookman Old Style" panose="02050604050505020204" pitchFamily="18" charset="0"/>
              </a:rPr>
              <a:t>ThreadPriority</a:t>
            </a:r>
            <a:r>
              <a:rPr lang="en-US" sz="2400" dirty="0">
                <a:latin typeface="Bookman Old Style" panose="02050604050505020204" pitchFamily="18" charset="0"/>
              </a:rPr>
              <a:t>: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Bookman Old Style" panose="02050604050505020204" pitchFamily="18" charset="0"/>
              </a:rPr>
              <a:t>Lowest</a:t>
            </a:r>
            <a:r>
              <a:rPr lang="en-US" sz="2400" dirty="0">
                <a:latin typeface="Bookman Old Style" panose="02050604050505020204" pitchFamily="18" charset="0"/>
              </a:rPr>
              <a:t>;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Bookman Old Style" panose="02050604050505020204" pitchFamily="18" charset="0"/>
              </a:rPr>
              <a:t>BelowNormal</a:t>
            </a:r>
            <a:r>
              <a:rPr lang="en-US" sz="2400" dirty="0">
                <a:latin typeface="Bookman Old Style" panose="02050604050505020204" pitchFamily="18" charset="0"/>
              </a:rPr>
              <a:t>;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Bookman Old Style" panose="02050604050505020204" pitchFamily="18" charset="0"/>
              </a:rPr>
              <a:t>Normal</a:t>
            </a:r>
            <a:r>
              <a:rPr lang="en-US" sz="2400" dirty="0">
                <a:latin typeface="Bookman Old Style" panose="02050604050505020204" pitchFamily="18" charset="0"/>
              </a:rPr>
              <a:t> (</a:t>
            </a:r>
            <a:r>
              <a:rPr lang="ru-RU" sz="2400" dirty="0">
                <a:latin typeface="Bookman Old Style" panose="02050604050505020204" pitchFamily="18" charset="0"/>
              </a:rPr>
              <a:t>по умолчанию</a:t>
            </a:r>
            <a:r>
              <a:rPr lang="en-US" sz="2400" dirty="0">
                <a:latin typeface="Bookman Old Style" panose="02050604050505020204" pitchFamily="18" charset="0"/>
              </a:rPr>
              <a:t>);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Bookman Old Style" panose="02050604050505020204" pitchFamily="18" charset="0"/>
              </a:rPr>
              <a:t>AboveNormal</a:t>
            </a:r>
            <a:r>
              <a:rPr lang="en-US" sz="2400" dirty="0">
                <a:latin typeface="Bookman Old Style" panose="02050604050505020204" pitchFamily="18" charset="0"/>
              </a:rPr>
              <a:t>;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Bookman Old Style" panose="02050604050505020204" pitchFamily="18" charset="0"/>
              </a:rPr>
              <a:t>Highest</a:t>
            </a:r>
            <a:r>
              <a:rPr lang="en-US" sz="2400" dirty="0">
                <a:latin typeface="Bookman Old Style" panose="02050604050505020204" pitchFamily="18" charset="0"/>
              </a:rPr>
              <a:t>.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9994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07333" cy="6201698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/>
            <a:r>
              <a:rPr lang="ru-RU" sz="2400" dirty="0">
                <a:latin typeface="Bookman Old Style" panose="02050604050505020204" pitchFamily="18" charset="0"/>
              </a:rPr>
              <a:t>В программе на C# есть как минимум один поток - </a:t>
            </a:r>
            <a:r>
              <a:rPr lang="ru-RU" sz="2400" b="1" dirty="0">
                <a:latin typeface="Bookman Old Style" panose="02050604050505020204" pitchFamily="18" charset="0"/>
              </a:rPr>
              <a:t>главный поток</a:t>
            </a:r>
            <a:r>
              <a:rPr lang="ru-RU" sz="2400" dirty="0">
                <a:latin typeface="Bookman Old Style" panose="02050604050505020204" pitchFamily="18" charset="0"/>
              </a:rPr>
              <a:t>, в котором выполняется метод </a:t>
            </a:r>
            <a:r>
              <a:rPr lang="ru-RU" sz="2400" dirty="0" err="1">
                <a:latin typeface="Bookman Old Style" panose="02050604050505020204" pitchFamily="18" charset="0"/>
              </a:rPr>
              <a:t>Main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endParaRPr lang="ru-RU" sz="2400" dirty="0" smtClean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endParaRPr lang="ru-RU" sz="2400" dirty="0" smtClean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endParaRPr lang="ru-RU" sz="2400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endParaRPr lang="ru-RU" sz="2400" dirty="0" smtClean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en-US" sz="23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23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System.Threading</a:t>
            </a:r>
            <a:r>
              <a:rPr lang="en-US" sz="23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  <a:endParaRPr lang="ru-RU" sz="23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300" dirty="0">
                <a:solidFill>
                  <a:srgbClr val="008000"/>
                </a:solidFill>
                <a:latin typeface="Cascadia Mono" panose="020B0609020000020004" pitchFamily="49" charset="0"/>
              </a:rPr>
              <a:t>// получаем текущий поток</a:t>
            </a:r>
            <a:endParaRPr lang="ru-RU" sz="23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Thread </a:t>
            </a:r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currentThread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Thread.CurrentThread</a:t>
            </a:r>
            <a:r>
              <a:rPr lang="en-US" sz="23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  <a:endParaRPr lang="ru-RU" sz="23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300" dirty="0">
                <a:solidFill>
                  <a:srgbClr val="008000"/>
                </a:solidFill>
                <a:latin typeface="Cascadia Mono" panose="020B0609020000020004" pitchFamily="49" charset="0"/>
              </a:rPr>
              <a:t>//получаем имя потока</a:t>
            </a:r>
            <a:endParaRPr lang="ru-RU" sz="23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3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ru-RU" sz="2300" dirty="0">
                <a:solidFill>
                  <a:srgbClr val="A31515"/>
                </a:solidFill>
                <a:latin typeface="Cascadia Mono" panose="020B0609020000020004" pitchFamily="49" charset="0"/>
              </a:rPr>
              <a:t>Имя потока: </a:t>
            </a:r>
            <a:r>
              <a:rPr lang="ru-RU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currentThread.Name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3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currentThread.Name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23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ru-RU" sz="2300" dirty="0">
                <a:solidFill>
                  <a:srgbClr val="A31515"/>
                </a:solidFill>
                <a:latin typeface="Cascadia Mono" panose="020B0609020000020004" pitchFamily="49" charset="0"/>
              </a:rPr>
              <a:t>Метод </a:t>
            </a:r>
            <a:r>
              <a:rPr lang="en-US" sz="2300" dirty="0">
                <a:solidFill>
                  <a:srgbClr val="A31515"/>
                </a:solidFill>
                <a:latin typeface="Cascadia Mono" panose="020B0609020000020004" pitchFamily="49" charset="0"/>
              </a:rPr>
              <a:t>Main"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3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ru-RU" sz="2300" dirty="0">
                <a:solidFill>
                  <a:srgbClr val="A31515"/>
                </a:solidFill>
                <a:latin typeface="Cascadia Mono" panose="020B0609020000020004" pitchFamily="49" charset="0"/>
              </a:rPr>
              <a:t>Имя потока: </a:t>
            </a:r>
            <a:r>
              <a:rPr lang="ru-RU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currentThread.Name</a:t>
            </a:r>
            <a:r>
              <a:rPr lang="en-US" sz="23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3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3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ru-RU" sz="23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3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ru-RU" sz="2300" dirty="0">
                <a:solidFill>
                  <a:srgbClr val="A31515"/>
                </a:solidFill>
                <a:latin typeface="Cascadia Mono" panose="020B0609020000020004" pitchFamily="49" charset="0"/>
              </a:rPr>
              <a:t>Запущен ли поток: </a:t>
            </a:r>
            <a:r>
              <a:rPr lang="ru-RU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currentThread.IsAlive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3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300" dirty="0">
                <a:solidFill>
                  <a:srgbClr val="A31515"/>
                </a:solidFill>
                <a:latin typeface="Cascadia Mono" panose="020B0609020000020004" pitchFamily="49" charset="0"/>
              </a:rPr>
              <a:t>$"Id </a:t>
            </a:r>
            <a:r>
              <a:rPr lang="ru-RU" sz="2300" dirty="0">
                <a:solidFill>
                  <a:srgbClr val="A31515"/>
                </a:solidFill>
                <a:latin typeface="Cascadia Mono" panose="020B0609020000020004" pitchFamily="49" charset="0"/>
              </a:rPr>
              <a:t>потока: </a:t>
            </a:r>
            <a:r>
              <a:rPr lang="ru-RU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currentThread.ManagedThreadId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3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3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ru-RU" sz="2300" dirty="0">
                <a:solidFill>
                  <a:srgbClr val="A31515"/>
                </a:solidFill>
                <a:latin typeface="Cascadia Mono" panose="020B0609020000020004" pitchFamily="49" charset="0"/>
              </a:rPr>
              <a:t>Приоритет потока: </a:t>
            </a:r>
            <a:r>
              <a:rPr lang="ru-RU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currentThread.Priority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3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3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ru-RU" sz="2300" dirty="0">
                <a:solidFill>
                  <a:srgbClr val="A31515"/>
                </a:solidFill>
                <a:latin typeface="Cascadia Mono" panose="020B0609020000020004" pitchFamily="49" charset="0"/>
              </a:rPr>
              <a:t>Статус потока: </a:t>
            </a:r>
            <a:r>
              <a:rPr lang="ru-RU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currentThread.ThreadState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3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3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ru-RU" sz="2300" dirty="0">
              <a:latin typeface="Bookman Old Style" panose="020506040505050202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066" y="491943"/>
            <a:ext cx="5218326" cy="2530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92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" y="110496"/>
            <a:ext cx="12192000" cy="507831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Также класс </a:t>
            </a:r>
            <a:r>
              <a:rPr lang="ru-RU" sz="2400" b="1" dirty="0" err="1">
                <a:latin typeface="Bookman Old Style" panose="02050604050505020204" pitchFamily="18" charset="0"/>
              </a:rPr>
              <a:t>Thread</a:t>
            </a:r>
            <a:r>
              <a:rPr lang="ru-RU" sz="2400" dirty="0">
                <a:latin typeface="Bookman Old Style" panose="02050604050505020204" pitchFamily="18" charset="0"/>
              </a:rPr>
              <a:t> определяет ряд методов для управления </a:t>
            </a:r>
            <a:r>
              <a:rPr lang="ru-RU" sz="2400" dirty="0" smtClean="0">
                <a:latin typeface="Bookman Old Style" panose="02050604050505020204" pitchFamily="18" charset="0"/>
              </a:rPr>
              <a:t>потоком.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Основные </a:t>
            </a:r>
            <a:r>
              <a:rPr lang="ru-RU" sz="2400" dirty="0">
                <a:latin typeface="Bookman Old Style" panose="02050604050505020204" pitchFamily="18" charset="0"/>
              </a:rPr>
              <a:t>из них</a:t>
            </a:r>
            <a:r>
              <a:rPr lang="ru-RU" sz="2400" dirty="0" smtClean="0">
                <a:latin typeface="Bookman Old Style" panose="02050604050505020204" pitchFamily="18" charset="0"/>
              </a:rPr>
              <a:t>: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Bookman Old Style" panose="02050604050505020204" pitchFamily="18" charset="0"/>
              </a:rPr>
              <a:t>Статический </a:t>
            </a:r>
            <a:r>
              <a:rPr lang="ru-RU" sz="2400" dirty="0">
                <a:latin typeface="Bookman Old Style" panose="02050604050505020204" pitchFamily="18" charset="0"/>
              </a:rPr>
              <a:t>метод </a:t>
            </a:r>
            <a:r>
              <a:rPr lang="ru-RU" sz="2400" b="1" dirty="0" err="1">
                <a:latin typeface="Bookman Old Style" panose="02050604050505020204" pitchFamily="18" charset="0"/>
              </a:rPr>
              <a:t>Sleep</a:t>
            </a:r>
            <a:r>
              <a:rPr lang="ru-RU" sz="2400" dirty="0">
                <a:latin typeface="Bookman Old Style" panose="02050604050505020204" pitchFamily="18" charset="0"/>
              </a:rPr>
              <a:t> останавливает поток на определенное количество </a:t>
            </a:r>
            <a:r>
              <a:rPr lang="ru-RU" sz="2400" dirty="0" smtClean="0">
                <a:latin typeface="Bookman Old Style" panose="02050604050505020204" pitchFamily="18" charset="0"/>
              </a:rPr>
              <a:t>миллисекунд</a:t>
            </a:r>
            <a:r>
              <a:rPr lang="en-US" sz="2400" dirty="0" smtClean="0">
                <a:latin typeface="Bookman Old Style" panose="02050604050505020204" pitchFamily="18" charset="0"/>
              </a:rPr>
              <a:t>;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Bookman Old Style" panose="02050604050505020204" pitchFamily="18" charset="0"/>
              </a:rPr>
              <a:t>Метод </a:t>
            </a:r>
            <a:r>
              <a:rPr lang="ru-RU" sz="2400" b="1" dirty="0" err="1">
                <a:latin typeface="Bookman Old Style" panose="02050604050505020204" pitchFamily="18" charset="0"/>
              </a:rPr>
              <a:t>Interrupt</a:t>
            </a:r>
            <a:r>
              <a:rPr lang="ru-RU" sz="2400" dirty="0">
                <a:latin typeface="Bookman Old Style" panose="02050604050505020204" pitchFamily="18" charset="0"/>
              </a:rPr>
              <a:t> прерывает поток, который находится в состоянии </a:t>
            </a:r>
            <a:r>
              <a:rPr lang="ru-RU" sz="2400" dirty="0" err="1" smtClean="0">
                <a:latin typeface="Bookman Old Style" panose="02050604050505020204" pitchFamily="18" charset="0"/>
              </a:rPr>
              <a:t>WaitSleepJoin</a:t>
            </a:r>
            <a:r>
              <a:rPr lang="en-US" sz="2400" dirty="0" smtClean="0">
                <a:latin typeface="Bookman Old Style" panose="02050604050505020204" pitchFamily="18" charset="0"/>
              </a:rPr>
              <a:t>;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Bookman Old Style" panose="02050604050505020204" pitchFamily="18" charset="0"/>
              </a:rPr>
              <a:t>Метод </a:t>
            </a:r>
            <a:r>
              <a:rPr lang="ru-RU" sz="2400" b="1" dirty="0" err="1">
                <a:latin typeface="Bookman Old Style" panose="02050604050505020204" pitchFamily="18" charset="0"/>
              </a:rPr>
              <a:t>Join</a:t>
            </a:r>
            <a:r>
              <a:rPr lang="ru-RU" sz="2400" dirty="0">
                <a:latin typeface="Bookman Old Style" panose="02050604050505020204" pitchFamily="18" charset="0"/>
              </a:rPr>
              <a:t> блокирует выполнение вызвавшего его потока до тех пор, пока не завершится поток, для которого был вызван данный </a:t>
            </a:r>
            <a:r>
              <a:rPr lang="ru-RU" sz="2400" dirty="0" smtClean="0">
                <a:latin typeface="Bookman Old Style" panose="02050604050505020204" pitchFamily="18" charset="0"/>
              </a:rPr>
              <a:t>метод</a:t>
            </a:r>
            <a:r>
              <a:rPr lang="en-US" sz="2400" dirty="0" smtClean="0">
                <a:latin typeface="Bookman Old Style" panose="02050604050505020204" pitchFamily="18" charset="0"/>
              </a:rPr>
              <a:t>;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Bookman Old Style" panose="02050604050505020204" pitchFamily="18" charset="0"/>
              </a:rPr>
              <a:t>Метод </a:t>
            </a:r>
            <a:r>
              <a:rPr lang="ru-RU" sz="2400" b="1" dirty="0" err="1">
                <a:latin typeface="Bookman Old Style" panose="02050604050505020204" pitchFamily="18" charset="0"/>
              </a:rPr>
              <a:t>Start</a:t>
            </a:r>
            <a:r>
              <a:rPr lang="ru-RU" sz="2400" dirty="0">
                <a:latin typeface="Bookman Old Style" panose="02050604050505020204" pitchFamily="18" charset="0"/>
              </a:rPr>
              <a:t> запускает </a:t>
            </a:r>
            <a:r>
              <a:rPr lang="ru-RU" sz="2400" dirty="0" smtClean="0">
                <a:latin typeface="Bookman Old Style" panose="02050604050505020204" pitchFamily="18" charset="0"/>
              </a:rPr>
              <a:t>поток</a:t>
            </a:r>
            <a:r>
              <a:rPr lang="en-US" sz="2400" dirty="0" smtClean="0">
                <a:latin typeface="Bookman Old Style" panose="020506040505050202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73401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110496"/>
            <a:ext cx="12192000" cy="4339650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Например</a:t>
            </a:r>
            <a:r>
              <a:rPr lang="ru-RU" sz="2400" dirty="0">
                <a:latin typeface="Bookman Old Style" panose="02050604050505020204" pitchFamily="18" charset="0"/>
              </a:rPr>
              <a:t>, применим метод </a:t>
            </a:r>
            <a:r>
              <a:rPr lang="ru-RU" sz="2400" b="1" dirty="0" err="1">
                <a:latin typeface="Bookman Old Style" panose="02050604050505020204" pitchFamily="18" charset="0"/>
              </a:rPr>
              <a:t>Sleep</a:t>
            </a:r>
            <a:r>
              <a:rPr lang="ru-RU" sz="2400" dirty="0">
                <a:latin typeface="Bookman Old Style" panose="02050604050505020204" pitchFamily="18" charset="0"/>
              </a:rPr>
              <a:t> для задания задержки выполнения приложения</a:t>
            </a:r>
            <a:r>
              <a:rPr lang="ru-RU" sz="2400" dirty="0" smtClean="0">
                <a:latin typeface="Bookman Old Style" panose="02050604050505020204" pitchFamily="18" charset="0"/>
              </a:rPr>
              <a:t>: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System.Threading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n-NO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nn-NO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nn-NO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nn-NO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i = 0; i &lt; 10; i++)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ru-RU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Thread.Sleep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(500</a:t>
            </a:r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r>
              <a:rPr lang="ru-RU" sz="24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задержка выполнения на 500 миллисекунд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2400" dirty="0" smtClean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5010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Примеры </a:t>
            </a:r>
            <a:r>
              <a:rPr lang="ru-RU" sz="2400" dirty="0" smtClean="0">
                <a:latin typeface="Bookman Old Style" panose="02050604050505020204" pitchFamily="18" charset="0"/>
              </a:rPr>
              <a:t>создания </a:t>
            </a:r>
            <a:r>
              <a:rPr lang="ru-RU" sz="2400" dirty="0">
                <a:latin typeface="Bookman Old Style" panose="02050604050505020204" pitchFamily="18" charset="0"/>
              </a:rPr>
              <a:t>потоков</a:t>
            </a:r>
            <a:r>
              <a:rPr lang="ru-RU" sz="2400" dirty="0" smtClean="0">
                <a:latin typeface="Bookman Old Style" panose="02050604050505020204" pitchFamily="18" charset="0"/>
              </a:rPr>
              <a:t>: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Thread myThread1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Thread(Print);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Thread myThread2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Thread(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ThreadStart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(Print));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Thread myThread3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Thread(() =&gt;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"Hello Threads"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));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Print()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Thread.Sleep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(2000);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$"Hello Threads </a:t>
            </a:r>
            <a:r>
              <a:rPr lang="ru-RU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    </a:t>
            </a:r>
          </a:p>
          <a:p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 </a:t>
            </a:r>
            <a:r>
              <a:rPr lang="ru-RU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     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Thread.GetCurrentProcessorId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()}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Для </a:t>
            </a:r>
            <a:r>
              <a:rPr lang="ru-RU" sz="2400" dirty="0">
                <a:latin typeface="Bookman Old Style" panose="02050604050505020204" pitchFamily="18" charset="0"/>
              </a:rPr>
              <a:t>запуска нового потока применяется метод </a:t>
            </a:r>
            <a:r>
              <a:rPr lang="ru-RU" sz="2400" b="1" dirty="0" err="1">
                <a:latin typeface="Bookman Old Style" panose="02050604050505020204" pitchFamily="18" charset="0"/>
              </a:rPr>
              <a:t>Start</a:t>
            </a:r>
            <a:r>
              <a:rPr lang="ru-RU" sz="2400" dirty="0">
                <a:latin typeface="Bookman Old Style" panose="02050604050505020204" pitchFamily="18" charset="0"/>
              </a:rPr>
              <a:t> класса </a:t>
            </a:r>
            <a:r>
              <a:rPr lang="ru-RU" sz="2400" b="1" dirty="0" err="1">
                <a:latin typeface="Bookman Old Style" panose="02050604050505020204" pitchFamily="18" charset="0"/>
              </a:rPr>
              <a:t>Thread</a:t>
            </a:r>
            <a:r>
              <a:rPr lang="ru-RU" sz="2400" dirty="0" smtClean="0">
                <a:latin typeface="Bookman Old Style" panose="02050604050505020204" pitchFamily="18" charset="0"/>
              </a:rPr>
              <a:t>:</a:t>
            </a:r>
            <a:endParaRPr lang="en-US" sz="2400" dirty="0">
              <a:latin typeface="Bookman Old Style" panose="02050604050505020204" pitchFamily="18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myThread1.Start();  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запускаем поток 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myThread1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myThread2.Start();  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запускаем поток 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myThread2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myThread3.Start();  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запускаем поток </a:t>
            </a:r>
            <a:r>
              <a:rPr lang="en-US" sz="24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myThread3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8158" y="2057401"/>
            <a:ext cx="4593842" cy="168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611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92497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Запустим потоки в цикле:</a:t>
            </a:r>
            <a:endParaRPr lang="ru-RU" sz="2400" dirty="0">
              <a:latin typeface="Bookman Old Style" panose="02050604050505020204" pitchFamily="18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System.Threading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создаем новый </a:t>
            </a:r>
            <a:r>
              <a:rPr lang="ru-RU" sz="24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поток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Thread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myThread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Thread(Print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 </a:t>
            </a:r>
            <a:endParaRPr lang="ru-RU" sz="2400" dirty="0" smtClean="0">
              <a:solidFill>
                <a:srgbClr val="008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myThread.Start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 // запускаем поток </a:t>
            </a:r>
            <a:r>
              <a:rPr lang="en-US" sz="2400" dirty="0" err="1" smtClean="0">
                <a:solidFill>
                  <a:srgbClr val="008000"/>
                </a:solidFill>
                <a:latin typeface="Cascadia Mono" panose="020B0609020000020004" pitchFamily="49" charset="0"/>
              </a:rPr>
              <a:t>myThread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n-NO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nn-NO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n-NO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n-NO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nn-NO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i = 0; i &lt; 5; i</a:t>
            </a:r>
            <a:r>
              <a:rPr lang="nn-NO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++)</a:t>
            </a:r>
            <a:endParaRPr lang="nn-NO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действия, выполняемые в главном потоке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Главный поток: 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Thread.Sleep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(400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Print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() </a:t>
            </a:r>
          </a:p>
          <a:p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действия, выполняемые во втором потоке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n-NO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nn-NO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nn-NO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nn-NO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nn-NO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i = 0; i &lt; 5; i++)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Второй поток: 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Thread.Sleep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(400);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2400" dirty="0" smtClean="0">
              <a:latin typeface="Bookman Old Style" panose="020506040505050202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306" y="381000"/>
            <a:ext cx="3330491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471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sz="2400" dirty="0" err="1" smtClean="0">
                <a:solidFill>
                  <a:prstClr val="black"/>
                </a:solidFill>
                <a:latin typeface="Bookman Old Style" panose="02050604050505020204" pitchFamily="18" charset="0"/>
              </a:rPr>
              <a:t>Thread.Join</a:t>
            </a:r>
            <a:r>
              <a:rPr lang="en-US" sz="2400" dirty="0" smtClean="0">
                <a:solidFill>
                  <a:prstClr val="black"/>
                </a:solidFill>
                <a:latin typeface="Bookman Old Style" panose="02050604050505020204" pitchFamily="18" charset="0"/>
              </a:rPr>
              <a:t> – </a:t>
            </a:r>
            <a:r>
              <a:rPr lang="ru-RU" sz="2400" dirty="0" smtClean="0">
                <a:solidFill>
                  <a:prstClr val="black"/>
                </a:solidFill>
                <a:latin typeface="Bookman Old Style" panose="02050604050505020204" pitchFamily="18" charset="0"/>
              </a:rPr>
              <a:t>блокирует </a:t>
            </a:r>
            <a:r>
              <a:rPr lang="ru-RU" sz="2400" dirty="0">
                <a:solidFill>
                  <a:prstClr val="black"/>
                </a:solidFill>
                <a:latin typeface="Bookman Old Style" panose="02050604050505020204" pitchFamily="18" charset="0"/>
              </a:rPr>
              <a:t>вызывающий поток до завершения потока, представленного этим экземпляром</a:t>
            </a:r>
            <a:r>
              <a:rPr lang="ru-RU" sz="2400" dirty="0" smtClean="0">
                <a:solidFill>
                  <a:prstClr val="black"/>
                </a:solidFill>
                <a:latin typeface="Bookman Old Style" panose="02050604050505020204" pitchFamily="18" charset="0"/>
              </a:rPr>
              <a:t>.</a:t>
            </a:r>
            <a:endParaRPr lang="en-US" sz="2400" dirty="0">
              <a:solidFill>
                <a:prstClr val="black"/>
              </a:solidFill>
              <a:latin typeface="Bookman Old Style" panose="02050604050505020204" pitchFamily="18" charset="0"/>
            </a:endParaRPr>
          </a:p>
          <a:p>
            <a:endParaRPr lang="en-US" sz="2400" dirty="0" smtClean="0">
              <a:solidFill>
                <a:srgbClr val="0000F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DoWork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$"Поток 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Thread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.CurrentThread.ManagedThreadId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выполняет работу."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Thread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thread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Thread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DoWork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thread.Start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$"Главный поток 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Thread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.CurrentThread.ManagedThreadId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продолжает работу."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thread.Join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Ожидание завершения потока</a:t>
            </a:r>
            <a:endParaRPr lang="en-US" sz="2400" dirty="0" smtClean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3902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654356"/>
            <a:ext cx="12191999" cy="637097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ru-RU" sz="2400" dirty="0" smtClean="0">
                <a:latin typeface="Bookman Old Style" panose="02050604050505020204" pitchFamily="18" charset="0"/>
              </a:rPr>
              <a:t>Пример</a:t>
            </a:r>
            <a:r>
              <a:rPr lang="en-US" sz="2400" dirty="0" smtClean="0">
                <a:latin typeface="Bookman Old Style" panose="02050604050505020204" pitchFamily="18" charset="0"/>
              </a:rPr>
              <a:t> 1</a:t>
            </a:r>
            <a:r>
              <a:rPr lang="ru-RU" sz="2400" dirty="0" smtClean="0">
                <a:latin typeface="Bookman Old Style" panose="02050604050505020204" pitchFamily="18" charset="0"/>
              </a:rPr>
              <a:t>:</a:t>
            </a:r>
            <a:endParaRPr lang="en-US" sz="2400" dirty="0" smtClean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System.Threading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создаем новые потоки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Thread myThread1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Thread(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ParameterizedThreadStart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(Print));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Thread myThread2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Thread(Print);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Thread myThread3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Thread(message =&gt;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(message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));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запускаем потоки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myThread1.Start(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"Hello"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myThread2.Start(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Привет"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myThread3.Start(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Salut</a:t>
            </a:r>
            <a:r>
              <a:rPr lang="en-US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Print(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object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? message)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(message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is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msgText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msgText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2400" dirty="0" smtClean="0">
              <a:latin typeface="Bookman Old Style" panose="02050604050505020204" pitchFamily="18" charset="0"/>
            </a:endParaRPr>
          </a:p>
        </p:txBody>
      </p:sp>
      <p:sp>
        <p:nvSpPr>
          <p:cNvPr id="4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Потоки с параметрами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5569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ru-RU" sz="2400" b="1" dirty="0">
                <a:latin typeface="Bookman Old Style" panose="02050604050505020204" pitchFamily="18" charset="0"/>
              </a:rPr>
              <a:t>Пример</a:t>
            </a:r>
            <a:r>
              <a:rPr lang="en-US" sz="2400" b="1" dirty="0">
                <a:latin typeface="Bookman Old Style" panose="02050604050505020204" pitchFamily="18" charset="0"/>
              </a:rPr>
              <a:t> </a:t>
            </a:r>
            <a:r>
              <a:rPr lang="en-US" sz="2400" b="1" dirty="0" smtClean="0">
                <a:latin typeface="Bookman Old Style" panose="02050604050505020204" pitchFamily="18" charset="0"/>
              </a:rPr>
              <a:t>2</a:t>
            </a:r>
            <a:r>
              <a:rPr lang="ru-RU" sz="2400" b="1" dirty="0" smtClean="0">
                <a:latin typeface="Bookman Old Style" panose="02050604050505020204" pitchFamily="18" charset="0"/>
              </a:rPr>
              <a:t>:</a:t>
            </a:r>
            <a:endParaRPr lang="ru-RU" sz="2400" b="1" dirty="0">
              <a:latin typeface="Bookman Old Style" panose="02050604050505020204" pitchFamily="18" charset="0"/>
            </a:endParaRPr>
          </a:p>
          <a:p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System.Threading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number = 4;</a:t>
            </a:r>
          </a:p>
          <a:p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создаем новый поток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Thread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myThread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Thread(Print);</a:t>
            </a:r>
          </a:p>
          <a:p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myThread.Start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(number);    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n * n = 16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действия, выполняемые во втором </a:t>
            </a:r>
            <a:r>
              <a:rPr lang="ru-RU" sz="2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потокке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Print(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object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?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obj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здесь мы ожидаем получить число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obj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is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n)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Console.WriteLine(</a:t>
            </a:r>
            <a:r>
              <a:rPr lang="pt-BR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$"n * n = </a:t>
            </a:r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{n * n}</a:t>
            </a:r>
            <a:r>
              <a:rPr lang="pt-BR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2400" dirty="0" smtClean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055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117693"/>
            <a:ext cx="12192000" cy="489364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ru-RU" sz="2400" dirty="0">
                <a:latin typeface="Bookman Old Style" panose="02050604050505020204" pitchFamily="18" charset="0"/>
              </a:rPr>
              <a:t>Пример</a:t>
            </a:r>
            <a:r>
              <a:rPr lang="en-US" sz="2400" dirty="0">
                <a:latin typeface="Bookman Old Style" panose="02050604050505020204" pitchFamily="18" charset="0"/>
              </a:rPr>
              <a:t> </a:t>
            </a:r>
            <a:r>
              <a:rPr lang="en-US" sz="2400" dirty="0" smtClean="0">
                <a:latin typeface="Bookman Old Style" panose="02050604050505020204" pitchFamily="18" charset="0"/>
              </a:rPr>
              <a:t>3</a:t>
            </a:r>
            <a:r>
              <a:rPr lang="ru-RU" sz="2400" dirty="0" smtClean="0">
                <a:latin typeface="Bookman Old Style" panose="02050604050505020204" pitchFamily="18" charset="0"/>
              </a:rPr>
              <a:t>:</a:t>
            </a:r>
            <a:endParaRPr lang="en-US" sz="2400" dirty="0">
              <a:latin typeface="Bookman Old Style" panose="02050604050505020204" pitchFamily="18" charset="0"/>
            </a:endParaRPr>
          </a:p>
          <a:p>
            <a:endParaRPr lang="en-US" sz="2400" dirty="0" smtClean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Person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name, 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age)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Name = name;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Age = age;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Name {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Age {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4645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117693"/>
            <a:ext cx="12192000" cy="600164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System.Threading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Person tom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Person(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"Tom"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37);</a:t>
            </a:r>
          </a:p>
          <a:p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создаем новый поток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Thread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myThread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Thread(Print);</a:t>
            </a:r>
          </a:p>
          <a:p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myThread.Start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(tom);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Print(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object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?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obj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здесь мы ожидаем получить объект </a:t>
            </a:r>
            <a:r>
              <a:rPr lang="ru-RU" sz="2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Person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obj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is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Person person)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$"Name =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person.Name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$"Age =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person.Age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717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563231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2. </a:t>
            </a:r>
            <a:r>
              <a:rPr lang="ru-RU" sz="2400" b="1" dirty="0" err="1" smtClean="0">
                <a:latin typeface="Bookman Old Style" panose="02050604050505020204" pitchFamily="18" charset="0"/>
              </a:rPr>
              <a:t>ThreadPool</a:t>
            </a:r>
            <a:r>
              <a:rPr lang="ru-RU" sz="2400" b="1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– </a:t>
            </a:r>
            <a:r>
              <a:rPr lang="ru-RU" sz="2400" dirty="0">
                <a:latin typeface="Bookman Old Style" panose="02050604050505020204" pitchFamily="18" charset="0"/>
              </a:rPr>
              <a:t>это пул управляемых потоков, предоставляемый CLR для выполнения коротких задач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Плюсы</a:t>
            </a:r>
            <a:r>
              <a:rPr lang="ru-RU" sz="2400" b="1" dirty="0">
                <a:latin typeface="Bookman Old Style" panose="02050604050505020204" pitchFamily="18" charset="0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✅ Эффективное использование ресурсов </a:t>
            </a:r>
            <a:r>
              <a:rPr lang="ru-RU" sz="2400" dirty="0" smtClean="0">
                <a:latin typeface="Bookman Old Style" panose="02050604050505020204" pitchFamily="18" charset="0"/>
              </a:rPr>
              <a:t>(потоки </a:t>
            </a:r>
            <a:r>
              <a:rPr lang="ru-RU" sz="2400" dirty="0">
                <a:latin typeface="Bookman Old Style" panose="02050604050505020204" pitchFamily="18" charset="0"/>
              </a:rPr>
              <a:t>создаются заранее и </a:t>
            </a:r>
            <a:r>
              <a:rPr lang="ru-RU" sz="2400" dirty="0" err="1">
                <a:latin typeface="Bookman Old Style" panose="02050604050505020204" pitchFamily="18" charset="0"/>
              </a:rPr>
              <a:t>переиспользуются</a:t>
            </a:r>
            <a:r>
              <a:rPr lang="ru-RU" sz="2400" dirty="0" smtClean="0">
                <a:latin typeface="Bookman Old Style" panose="02050604050505020204" pitchFamily="18" charset="0"/>
              </a:rPr>
              <a:t>).</a:t>
            </a: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✅ Автоматическое управление количеством </a:t>
            </a:r>
            <a:r>
              <a:rPr lang="ru-RU" sz="2400" dirty="0" smtClean="0">
                <a:latin typeface="Bookman Old Style" panose="02050604050505020204" pitchFamily="18" charset="0"/>
              </a:rPr>
              <a:t>потоков.</a:t>
            </a: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✅ Подходит для множества коротких задач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Минусы:</a:t>
            </a:r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❌ Невозможно контролировать поток напрямую (например, приоритет).</a:t>
            </a:r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❌ Не подходит для долгих операций (может забить пул).</a:t>
            </a:r>
            <a:endParaRPr lang="ru-RU" sz="2400" dirty="0" smtClean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6443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97865"/>
            <a:ext cx="12192000" cy="655564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Основные </a:t>
            </a:r>
            <a:r>
              <a:rPr lang="ru-RU" sz="2400" b="1" dirty="0">
                <a:latin typeface="Bookman Old Style" panose="02050604050505020204" pitchFamily="18" charset="0"/>
              </a:rPr>
              <a:t>методы</a:t>
            </a:r>
          </a:p>
          <a:p>
            <a:pPr algn="just">
              <a:lnSpc>
                <a:spcPct val="150000"/>
              </a:lnSpc>
            </a:pPr>
            <a:r>
              <a:rPr lang="en-US" sz="2400" dirty="0" err="1">
                <a:latin typeface="Bookman Old Style" panose="02050604050505020204" pitchFamily="18" charset="0"/>
              </a:rPr>
              <a:t>ThreadPool.QueueUserWorkItem</a:t>
            </a:r>
            <a:r>
              <a:rPr lang="en-US" sz="2400" dirty="0">
                <a:latin typeface="Bookman Old Style" panose="02050604050505020204" pitchFamily="18" charset="0"/>
              </a:rPr>
              <a:t>() – </a:t>
            </a:r>
            <a:r>
              <a:rPr lang="ru-RU" sz="2400" dirty="0">
                <a:latin typeface="Bookman Old Style" panose="02050604050505020204" pitchFamily="18" charset="0"/>
              </a:rPr>
              <a:t>добавляет задачу в очередь пула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ThreadPool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.QueueUserWorkItem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DoWork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"Hello, </a:t>
            </a:r>
            <a:r>
              <a:rPr lang="en-US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ThreadPool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!"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 err="1">
                <a:latin typeface="Bookman Old Style" panose="02050604050505020204" pitchFamily="18" charset="0"/>
              </a:rPr>
              <a:t>ThreadPool.SetMinThreads</a:t>
            </a:r>
            <a:r>
              <a:rPr lang="en-US" sz="2400" dirty="0">
                <a:latin typeface="Bookman Old Style" panose="02050604050505020204" pitchFamily="18" charset="0"/>
              </a:rPr>
              <a:t>() / </a:t>
            </a:r>
            <a:r>
              <a:rPr lang="en-US" sz="2400" dirty="0" err="1">
                <a:latin typeface="Bookman Old Style" panose="02050604050505020204" pitchFamily="18" charset="0"/>
              </a:rPr>
              <a:t>ThreadPool.SetMaxThreads</a:t>
            </a:r>
            <a:r>
              <a:rPr lang="en-US" sz="2400" dirty="0">
                <a:latin typeface="Bookman Old Style" panose="02050604050505020204" pitchFamily="18" charset="0"/>
              </a:rPr>
              <a:t>() – </a:t>
            </a:r>
            <a:r>
              <a:rPr lang="ru-RU" sz="2400" dirty="0">
                <a:latin typeface="Bookman Old Style" panose="02050604050505020204" pitchFamily="18" charset="0"/>
              </a:rPr>
              <a:t>настройка количества потоков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ru-RU" sz="2400" dirty="0">
              <a:latin typeface="Bookman Old Style" panose="02050604050505020204" pitchFamily="18" charset="0"/>
            </a:endParaRPr>
          </a:p>
          <a:p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ThreadPool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.SetMinThreads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(10, 10);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Минимум 10 рабочих и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I/O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потоков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ThreadPool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.SetMaxThreads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(100, 100);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Максимум 100 </a:t>
            </a:r>
            <a:r>
              <a:rPr lang="ru-RU" sz="24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потоков</a:t>
            </a:r>
          </a:p>
          <a:p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👉 </a:t>
            </a:r>
            <a:r>
              <a:rPr lang="ru-RU" sz="2400" dirty="0">
                <a:latin typeface="Bookman Old Style" panose="02050604050505020204" pitchFamily="18" charset="0"/>
              </a:rPr>
              <a:t>По умолчанию (зависит от ядер CPU</a:t>
            </a:r>
            <a:r>
              <a:rPr lang="ru-RU" sz="2400" dirty="0" smtClean="0">
                <a:latin typeface="Bookman Old Style" panose="02050604050505020204" pitchFamily="18" charset="0"/>
              </a:rPr>
              <a:t>):</a:t>
            </a: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err="1">
                <a:latin typeface="Bookman Old Style" panose="02050604050505020204" pitchFamily="18" charset="0"/>
              </a:rPr>
              <a:t>Min</a:t>
            </a:r>
            <a:r>
              <a:rPr lang="ru-RU" sz="2400" dirty="0">
                <a:latin typeface="Bookman Old Style" panose="02050604050505020204" pitchFamily="18" charset="0"/>
              </a:rPr>
              <a:t> ≈ количество </a:t>
            </a:r>
            <a:r>
              <a:rPr lang="ru-RU" sz="2400" dirty="0" smtClean="0">
                <a:latin typeface="Bookman Old Style" panose="02050604050505020204" pitchFamily="18" charset="0"/>
              </a:rPr>
              <a:t>ядер</a:t>
            </a: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err="1">
                <a:latin typeface="Bookman Old Style" panose="02050604050505020204" pitchFamily="18" charset="0"/>
              </a:rPr>
              <a:t>Max</a:t>
            </a:r>
            <a:r>
              <a:rPr lang="ru-RU" sz="2400" dirty="0">
                <a:latin typeface="Bookman Old Style" panose="02050604050505020204" pitchFamily="18" charset="0"/>
              </a:rPr>
              <a:t> ≈ 32 767 (но реально ограничено системой)</a:t>
            </a:r>
            <a:endParaRPr lang="ru-RU" sz="2400" dirty="0" smtClean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7039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531464"/>
            <a:ext cx="12192000" cy="544764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Пример использования пула потоков:</a:t>
            </a:r>
            <a:endParaRPr lang="ru-RU" sz="2400" dirty="0">
              <a:latin typeface="Bookman Old Style" panose="02050604050505020204" pitchFamily="18" charset="0"/>
            </a:endParaRPr>
          </a:p>
          <a:p>
            <a:endParaRPr lang="en-US" sz="2400" dirty="0" smtClean="0">
              <a:solidFill>
                <a:srgbClr val="0000F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DoWork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 state)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Поток из пула 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Thread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.CurrentThread.ManagedThreadId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выполняет задачу."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ThreadPool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.QueueUserWorkItem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DoWork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ru-RU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2400" dirty="0" smtClean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Главный поток 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Thread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.CurrentThread.ManagedThreadId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продолжает работу</a:t>
            </a:r>
            <a:r>
              <a:rPr lang="ru-RU" sz="2400" dirty="0" smtClean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."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Thread</a:t>
            </a:r>
            <a:r>
              <a:rPr lang="ru-RU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.Sleep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(1000);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Даем время потоку из пула завершиться</a:t>
            </a:r>
            <a:endParaRPr lang="ru-RU" sz="2400" dirty="0" smtClean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8998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654356"/>
            <a:ext cx="12192000" cy="618630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Все </a:t>
            </a:r>
            <a:r>
              <a:rPr lang="ru-RU" sz="2400" dirty="0">
                <a:latin typeface="Bookman Old Style" panose="02050604050505020204" pitchFamily="18" charset="0"/>
              </a:rPr>
              <a:t>потоки, принадлежащие одному процессу, разделяют некоторые общие ресурсы (адресное пространство, открытые файлы</a:t>
            </a:r>
            <a:r>
              <a:rPr lang="ru-RU" sz="2400" dirty="0" smtClean="0">
                <a:latin typeface="Bookman Old Style" panose="02050604050505020204" pitchFamily="18" charset="0"/>
              </a:rPr>
              <a:t>).</a:t>
            </a: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Когда </a:t>
            </a:r>
            <a:r>
              <a:rPr lang="ru-RU" sz="2400" dirty="0">
                <a:latin typeface="Bookman Old Style" panose="02050604050505020204" pitchFamily="18" charset="0"/>
              </a:rPr>
              <a:t>два или более потоков имеют доступ к одному разделенному ресурсу, они нуждаются в обеспечении того, что ресурс будет использован только одним потоком одновременно. Процесс, с помощью которого это достигается, называется </a:t>
            </a:r>
            <a:r>
              <a:rPr lang="ru-RU" sz="2400" b="1" dirty="0">
                <a:latin typeface="Bookman Old Style" panose="02050604050505020204" pitchFamily="18" charset="0"/>
              </a:rPr>
              <a:t>синхронизацией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Проблема: </a:t>
            </a:r>
            <a:r>
              <a:rPr lang="ru-RU" sz="2400" dirty="0">
                <a:latin typeface="Bookman Old Style" panose="02050604050505020204" pitchFamily="18" charset="0"/>
              </a:rPr>
              <a:t>Гонка данных (</a:t>
            </a:r>
            <a:r>
              <a:rPr lang="ru-RU" sz="2400" dirty="0" err="1">
                <a:latin typeface="Bookman Old Style" panose="02050604050505020204" pitchFamily="18" charset="0"/>
              </a:rPr>
              <a:t>Race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Condition</a:t>
            </a:r>
            <a:r>
              <a:rPr lang="ru-RU" sz="2400" dirty="0">
                <a:latin typeface="Bookman Old Style" panose="02050604050505020204" pitchFamily="18" charset="0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Допустим, у нас есть общий счетчик, который увеличивается из нескольких потоков. Без синхронизации возможна потеря данных.</a:t>
            </a:r>
            <a:endParaRPr lang="ru-RU" sz="2400" dirty="0" smtClean="0">
              <a:latin typeface="Bookman Old Style" panose="02050604050505020204" pitchFamily="18" charset="0"/>
            </a:endParaRPr>
          </a:p>
        </p:txBody>
      </p:sp>
      <p:sp>
        <p:nvSpPr>
          <p:cNvPr id="4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Синхронизация потоков. </a:t>
            </a:r>
            <a:r>
              <a:rPr lang="en-US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lock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6855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counter = 0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IncrementCounter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nn-NO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nn-NO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</a:t>
            </a:r>
            <a:r>
              <a:rPr lang="nn-NO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nn-NO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nn-NO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 = 0; i &lt; 10000; i++)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counter++;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Небезопасно!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Thread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thread1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Thread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IncrementCounter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Thread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thread2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Thread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IncrementCounter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thread1.Start();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thread2.Start();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thread1.Join();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thread2.Join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Итоговое значение: 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counter}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Может быть меньше 20000 из-за гонки данных!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7435" y="5270500"/>
            <a:ext cx="6657210" cy="539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301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92497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Решение: </a:t>
            </a:r>
            <a:r>
              <a:rPr lang="ru-RU" sz="2400" dirty="0" smtClean="0">
                <a:latin typeface="Bookman Old Style" panose="02050604050505020204" pitchFamily="18" charset="0"/>
              </a:rPr>
              <a:t>Создание </a:t>
            </a:r>
            <a:r>
              <a:rPr lang="ru-RU" sz="2400" b="1" dirty="0" smtClean="0">
                <a:latin typeface="Bookman Old Style" panose="02050604050505020204" pitchFamily="18" charset="0"/>
              </a:rPr>
              <a:t>критической секции </a:t>
            </a:r>
            <a:r>
              <a:rPr lang="ru-RU" sz="2400" dirty="0" smtClean="0">
                <a:latin typeface="Bookman Old Style" panose="02050604050505020204" pitchFamily="18" charset="0"/>
              </a:rPr>
              <a:t>– участка кода, который выполняется только одним потоком в момент времени.</a:t>
            </a: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</a:rPr>
              <a:t>lock</a:t>
            </a:r>
            <a:r>
              <a:rPr lang="ru-RU" sz="2400" dirty="0">
                <a:latin typeface="Bookman Old Style" panose="02050604050505020204" pitchFamily="18" charset="0"/>
              </a:rPr>
              <a:t> — это механизм синхронизации в C#, который обеспечивает безопасный доступ к общим ресурсам из нескольких потоков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locker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 </a:t>
            </a:r>
            <a:r>
              <a:rPr lang="en-US" sz="2400" dirty="0" smtClean="0">
                <a:solidFill>
                  <a:srgbClr val="00B05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400" dirty="0" smtClean="0">
                <a:solidFill>
                  <a:srgbClr val="00B05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Объект-</a:t>
            </a:r>
            <a:r>
              <a:rPr lang="ru-RU" sz="2400" dirty="0">
                <a:solidFill>
                  <a:srgbClr val="00B05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з</a:t>
            </a:r>
            <a:r>
              <a:rPr lang="ru-RU" sz="2400" dirty="0" smtClean="0">
                <a:solidFill>
                  <a:srgbClr val="00B05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аглушка</a:t>
            </a:r>
            <a:endParaRPr lang="en-US" sz="2400" dirty="0">
              <a:solidFill>
                <a:srgbClr val="00B05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counter = 0;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IncrementCounter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nn-NO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nn-NO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</a:t>
            </a:r>
            <a:r>
              <a:rPr lang="nn-NO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nn-NO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nn-NO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 = 0; i &lt; 10000; i++)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lock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(locker)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counter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++;</a:t>
            </a:r>
          </a:p>
          <a:p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637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127000"/>
            <a:ext cx="12192000" cy="655564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Пример </a:t>
            </a:r>
            <a:r>
              <a:rPr lang="en-US" sz="2400" b="1" dirty="0">
                <a:latin typeface="Bookman Old Style" panose="02050604050505020204" pitchFamily="18" charset="0"/>
              </a:rPr>
              <a:t>Deadlock (</a:t>
            </a:r>
            <a:r>
              <a:rPr lang="ru-RU" sz="2400" b="1" dirty="0">
                <a:latin typeface="Bookman Old Style" panose="02050604050505020204" pitchFamily="18" charset="0"/>
              </a:rPr>
              <a:t>взаимная блокировка</a:t>
            </a:r>
            <a:r>
              <a:rPr lang="ru-RU" sz="2400" b="1" dirty="0" smtClean="0">
                <a:latin typeface="Bookman Old Style" panose="02050604050505020204" pitchFamily="18" charset="0"/>
              </a:rPr>
              <a:t>)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Thread1()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lock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(lock1)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</a:t>
            </a:r>
            <a:r>
              <a:rPr lang="en-US" sz="2400" dirty="0" err="1" smtClean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Thread</a:t>
            </a:r>
            <a:r>
              <a:rPr lang="en-US" sz="24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.Sleep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(100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lock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(lock2) { 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Будет ждать, пока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Thread2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освободит </a:t>
            </a:r>
            <a:r>
              <a:rPr lang="en-US" sz="24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lock2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Thread2()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lock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(lock2)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Thread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.Sleep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(100);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lock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(lock1) { 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}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Будет ждать, пока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Thread1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освободит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lock1  </a:t>
            </a:r>
            <a:endParaRPr lang="ru-RU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2400" b="1" dirty="0" smtClean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451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92497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Напишем код для многопоточного расчета числа Пи.</a:t>
            </a:r>
          </a:p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iterations = (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long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)1e10;</a:t>
            </a:r>
          </a:p>
          <a:p>
            <a:endParaRPr lang="ru-RU" sz="2400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object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locker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pi =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CalculatePiMultithread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(iterations);</a:t>
            </a:r>
          </a:p>
          <a:p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(pi);</a:t>
            </a: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CalculatePiThread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long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from,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long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to,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ref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double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pi)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subSum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0.0;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long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from;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&lt; to;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++)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sign =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% 2 == 0 ? 1 : -1;</a:t>
            </a:r>
          </a:p>
          <a:p>
            <a:r>
              <a:rPr lang="nn-NO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subSum += sign / (2 * i + 1.0);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Thread.CurrentThread.Name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 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Готово!"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lock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(locker)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pi += 4 *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subSum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2271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37866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en-US" sz="2150" dirty="0">
                <a:solidFill>
                  <a:srgbClr val="0000FF"/>
                </a:solidFill>
                <a:latin typeface="Cascadia Mono" panose="020B0609020000020004" pitchFamily="49" charset="0"/>
              </a:rPr>
              <a:t>double</a:t>
            </a:r>
            <a:r>
              <a:rPr lang="en-US" sz="215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1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CalculatePiMultithread</a:t>
            </a:r>
            <a:r>
              <a:rPr lang="en-US" sz="215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150" dirty="0">
                <a:solidFill>
                  <a:srgbClr val="0000FF"/>
                </a:solidFill>
                <a:latin typeface="Cascadia Mono" panose="020B0609020000020004" pitchFamily="49" charset="0"/>
              </a:rPr>
              <a:t>long</a:t>
            </a:r>
            <a:r>
              <a:rPr lang="en-US" sz="2150" dirty="0">
                <a:solidFill>
                  <a:srgbClr val="000000"/>
                </a:solidFill>
                <a:latin typeface="Cascadia Mono" panose="020B0609020000020004" pitchFamily="49" charset="0"/>
              </a:rPr>
              <a:t> n)</a:t>
            </a:r>
          </a:p>
          <a:p>
            <a:r>
              <a:rPr lang="ru-RU" sz="215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15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15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150" dirty="0">
                <a:solidFill>
                  <a:srgbClr val="000000"/>
                </a:solidFill>
                <a:latin typeface="Cascadia Mono" panose="020B0609020000020004" pitchFamily="49" charset="0"/>
              </a:rPr>
              <a:t> pi = 0.0;</a:t>
            </a:r>
          </a:p>
          <a:p>
            <a:r>
              <a:rPr lang="en-US" sz="215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15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15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1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threadsCount</a:t>
            </a:r>
            <a:r>
              <a:rPr lang="en-US" sz="215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21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Environment.ProcessorCount</a:t>
            </a:r>
            <a:r>
              <a:rPr lang="en-US" sz="215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215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15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150" dirty="0">
                <a:solidFill>
                  <a:srgbClr val="000000"/>
                </a:solidFill>
                <a:latin typeface="Cascadia Mono" panose="020B0609020000020004" pitchFamily="49" charset="0"/>
              </a:rPr>
              <a:t> threads = </a:t>
            </a:r>
            <a:r>
              <a:rPr lang="en-US" sz="215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150" dirty="0">
                <a:solidFill>
                  <a:srgbClr val="000000"/>
                </a:solidFill>
                <a:latin typeface="Cascadia Mono" panose="020B0609020000020004" pitchFamily="49" charset="0"/>
              </a:rPr>
              <a:t> Thread[</a:t>
            </a:r>
            <a:r>
              <a:rPr lang="en-US" sz="21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threadsCount</a:t>
            </a:r>
            <a:r>
              <a:rPr lang="en-US" sz="2150" dirty="0">
                <a:solidFill>
                  <a:srgbClr val="000000"/>
                </a:solidFill>
                <a:latin typeface="Cascadia Mono" panose="020B0609020000020004" pitchFamily="49" charset="0"/>
              </a:rPr>
              <a:t>];</a:t>
            </a:r>
          </a:p>
          <a:p>
            <a:r>
              <a:rPr lang="en-US" sz="215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15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15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1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iterationsOnThread</a:t>
            </a:r>
            <a:r>
              <a:rPr lang="en-US" sz="2150" dirty="0">
                <a:solidFill>
                  <a:srgbClr val="000000"/>
                </a:solidFill>
                <a:latin typeface="Cascadia Mono" panose="020B0609020000020004" pitchFamily="49" charset="0"/>
              </a:rPr>
              <a:t> = (</a:t>
            </a:r>
            <a:r>
              <a:rPr lang="en-US" sz="2150" dirty="0">
                <a:solidFill>
                  <a:srgbClr val="0000FF"/>
                </a:solidFill>
                <a:latin typeface="Cascadia Mono" panose="020B0609020000020004" pitchFamily="49" charset="0"/>
              </a:rPr>
              <a:t>double</a:t>
            </a:r>
            <a:r>
              <a:rPr lang="en-US" sz="2150" dirty="0">
                <a:solidFill>
                  <a:srgbClr val="000000"/>
                </a:solidFill>
                <a:latin typeface="Cascadia Mono" panose="020B0609020000020004" pitchFamily="49" charset="0"/>
              </a:rPr>
              <a:t>)n / </a:t>
            </a:r>
            <a:r>
              <a:rPr lang="en-US" sz="21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threadsCount</a:t>
            </a:r>
            <a:r>
              <a:rPr lang="en-US" sz="21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  <a:endParaRPr lang="ru-RU" sz="215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15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15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en-US" sz="215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215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15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1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150" dirty="0">
                <a:solidFill>
                  <a:srgbClr val="000000"/>
                </a:solidFill>
                <a:latin typeface="Cascadia Mono" panose="020B0609020000020004" pitchFamily="49" charset="0"/>
              </a:rPr>
              <a:t> = 0; </a:t>
            </a:r>
            <a:r>
              <a:rPr lang="en-US" sz="21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150" dirty="0">
                <a:solidFill>
                  <a:srgbClr val="000000"/>
                </a:solidFill>
                <a:latin typeface="Cascadia Mono" panose="020B0609020000020004" pitchFamily="49" charset="0"/>
              </a:rPr>
              <a:t> &lt; </a:t>
            </a:r>
            <a:r>
              <a:rPr lang="en-US" sz="21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threadsCount</a:t>
            </a:r>
            <a:r>
              <a:rPr lang="en-US" sz="215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21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150" dirty="0">
                <a:solidFill>
                  <a:srgbClr val="000000"/>
                </a:solidFill>
                <a:latin typeface="Cascadia Mono" panose="020B0609020000020004" pitchFamily="49" charset="0"/>
              </a:rPr>
              <a:t>++)</a:t>
            </a:r>
          </a:p>
          <a:p>
            <a:r>
              <a:rPr lang="ru-RU" sz="215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21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215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150" dirty="0">
                <a:solidFill>
                  <a:srgbClr val="000000"/>
                </a:solidFill>
                <a:latin typeface="Cascadia Mono" panose="020B0609020000020004" pitchFamily="49" charset="0"/>
              </a:rPr>
              <a:t> from = (</a:t>
            </a:r>
            <a:r>
              <a:rPr lang="en-US" sz="2150" dirty="0">
                <a:solidFill>
                  <a:srgbClr val="0000FF"/>
                </a:solidFill>
                <a:latin typeface="Cascadia Mono" panose="020B0609020000020004" pitchFamily="49" charset="0"/>
              </a:rPr>
              <a:t>long</a:t>
            </a:r>
            <a:r>
              <a:rPr lang="en-US" sz="2150" dirty="0">
                <a:solidFill>
                  <a:srgbClr val="000000"/>
                </a:solidFill>
                <a:latin typeface="Cascadia Mono" panose="020B0609020000020004" pitchFamily="49" charset="0"/>
              </a:rPr>
              <a:t>)(</a:t>
            </a:r>
            <a:r>
              <a:rPr lang="en-US" sz="21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150" dirty="0">
                <a:solidFill>
                  <a:srgbClr val="000000"/>
                </a:solidFill>
                <a:latin typeface="Cascadia Mono" panose="020B0609020000020004" pitchFamily="49" charset="0"/>
              </a:rPr>
              <a:t> * </a:t>
            </a:r>
            <a:r>
              <a:rPr lang="en-US" sz="21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iterationsOnThread</a:t>
            </a:r>
            <a:r>
              <a:rPr lang="en-US" sz="215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1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215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150" dirty="0">
                <a:solidFill>
                  <a:srgbClr val="000000"/>
                </a:solidFill>
                <a:latin typeface="Cascadia Mono" panose="020B0609020000020004" pitchFamily="49" charset="0"/>
              </a:rPr>
              <a:t> to = (</a:t>
            </a:r>
            <a:r>
              <a:rPr lang="en-US" sz="2150" dirty="0">
                <a:solidFill>
                  <a:srgbClr val="0000FF"/>
                </a:solidFill>
                <a:latin typeface="Cascadia Mono" panose="020B0609020000020004" pitchFamily="49" charset="0"/>
              </a:rPr>
              <a:t>long</a:t>
            </a:r>
            <a:r>
              <a:rPr lang="en-US" sz="2150" dirty="0">
                <a:solidFill>
                  <a:srgbClr val="000000"/>
                </a:solidFill>
                <a:latin typeface="Cascadia Mono" panose="020B0609020000020004" pitchFamily="49" charset="0"/>
              </a:rPr>
              <a:t>)((</a:t>
            </a:r>
            <a:r>
              <a:rPr lang="en-US" sz="21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150" dirty="0">
                <a:solidFill>
                  <a:srgbClr val="000000"/>
                </a:solidFill>
                <a:latin typeface="Cascadia Mono" panose="020B0609020000020004" pitchFamily="49" charset="0"/>
              </a:rPr>
              <a:t> + 1) * </a:t>
            </a:r>
            <a:r>
              <a:rPr lang="en-US" sz="21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iterationsOnThread</a:t>
            </a:r>
            <a:r>
              <a:rPr lang="en-US" sz="21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ru-RU" sz="215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1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Thread </a:t>
            </a:r>
            <a:r>
              <a:rPr lang="en-US" sz="215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myThread</a:t>
            </a:r>
            <a:r>
              <a:rPr lang="en-US" sz="21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=</a:t>
            </a:r>
            <a:r>
              <a:rPr lang="en-US" sz="215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1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(()</a:t>
            </a:r>
            <a:r>
              <a:rPr lang="ru-RU" sz="21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1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=&gt;</a:t>
            </a:r>
            <a:r>
              <a:rPr lang="ru-RU" sz="21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15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CalculatePiThread</a:t>
            </a:r>
            <a:r>
              <a:rPr lang="en-US" sz="21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(from,</a:t>
            </a:r>
            <a:r>
              <a:rPr lang="ru-RU" sz="21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1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to,</a:t>
            </a:r>
            <a:r>
              <a:rPr lang="ru-RU" sz="21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15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ref</a:t>
            </a:r>
            <a:r>
              <a:rPr lang="en-US" sz="21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150" dirty="0">
                <a:solidFill>
                  <a:srgbClr val="000000"/>
                </a:solidFill>
                <a:latin typeface="Cascadia Mono" panose="020B0609020000020004" pitchFamily="49" charset="0"/>
              </a:rPr>
              <a:t>pi));</a:t>
            </a:r>
          </a:p>
          <a:p>
            <a:r>
              <a:rPr lang="en-US" sz="21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21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myThread.Name</a:t>
            </a:r>
            <a:r>
              <a:rPr lang="en-US" sz="215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215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ru-RU" sz="2150" dirty="0">
                <a:solidFill>
                  <a:srgbClr val="A31515"/>
                </a:solidFill>
                <a:latin typeface="Cascadia Mono" panose="020B0609020000020004" pitchFamily="49" charset="0"/>
              </a:rPr>
              <a:t>Поток </a:t>
            </a:r>
            <a:r>
              <a:rPr lang="ru-RU" sz="215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1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15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15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15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21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threads[</a:t>
            </a:r>
            <a:r>
              <a:rPr lang="en-US" sz="21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150" dirty="0">
                <a:solidFill>
                  <a:srgbClr val="000000"/>
                </a:solidFill>
                <a:latin typeface="Cascadia Mono" panose="020B0609020000020004" pitchFamily="49" charset="0"/>
              </a:rPr>
              <a:t>] = </a:t>
            </a:r>
            <a:r>
              <a:rPr lang="en-US" sz="21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myThread</a:t>
            </a:r>
            <a:r>
              <a:rPr lang="en-US" sz="215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21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21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myThread.Start</a:t>
            </a:r>
            <a:r>
              <a:rPr lang="en-US" sz="215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ru-RU" sz="215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ru-RU" sz="21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ru-RU" sz="215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15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ru-RU" sz="2150" dirty="0">
                <a:solidFill>
                  <a:srgbClr val="008000"/>
                </a:solidFill>
                <a:latin typeface="Cascadia Mono" panose="020B0609020000020004" pitchFamily="49" charset="0"/>
              </a:rPr>
              <a:t>//Ждем пока потоки досчитают</a:t>
            </a:r>
            <a:endParaRPr lang="ru-RU" sz="215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15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15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en-US" sz="215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21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var</a:t>
            </a:r>
            <a:r>
              <a:rPr lang="en-US" sz="2150" dirty="0">
                <a:solidFill>
                  <a:srgbClr val="000000"/>
                </a:solidFill>
                <a:latin typeface="Cascadia Mono" panose="020B0609020000020004" pitchFamily="49" charset="0"/>
              </a:rPr>
              <a:t> thread </a:t>
            </a:r>
            <a:r>
              <a:rPr lang="en-US" sz="215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en-US" sz="2150" dirty="0">
                <a:solidFill>
                  <a:srgbClr val="000000"/>
                </a:solidFill>
                <a:latin typeface="Cascadia Mono" panose="020B0609020000020004" pitchFamily="49" charset="0"/>
              </a:rPr>
              <a:t> threads</a:t>
            </a:r>
            <a:r>
              <a:rPr lang="en-US" sz="21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 </a:t>
            </a:r>
            <a:r>
              <a:rPr lang="en-US" sz="215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thread.Join</a:t>
            </a:r>
            <a:r>
              <a:rPr lang="en-US" sz="215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ru-RU" sz="215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15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15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2150" dirty="0">
                <a:solidFill>
                  <a:srgbClr val="000000"/>
                </a:solidFill>
                <a:latin typeface="Cascadia Mono" panose="020B0609020000020004" pitchFamily="49" charset="0"/>
              </a:rPr>
              <a:t> pi;</a:t>
            </a:r>
          </a:p>
          <a:p>
            <a:r>
              <a:rPr lang="ru-RU" sz="215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2150" dirty="0">
              <a:solidFill>
                <a:srgbClr val="00000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6584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4633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Результат многопоточного расчета числа Пи.</a:t>
            </a:r>
            <a:endParaRPr lang="en-US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r="10801"/>
          <a:stretch/>
        </p:blipFill>
        <p:spPr>
          <a:xfrm>
            <a:off x="392536" y="646331"/>
            <a:ext cx="3903489" cy="5932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86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654356"/>
            <a:ext cx="12192000" cy="618630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Monitor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— это механизм синхронизации в .NET, обеспечивающий взаимное исключение (</a:t>
            </a: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mutual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exclusion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) при работе с многопоточными приложениями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.</a:t>
            </a:r>
            <a:endParaRPr lang="ru-RU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🔹 Основные возможности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:</a:t>
            </a:r>
            <a:endParaRPr lang="ru-RU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Блокировка критических секций (аналогично </a:t>
            </a: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lock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).</a:t>
            </a:r>
            <a:endParaRPr lang="ru-RU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Возможность ожидания с таймаутом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.</a:t>
            </a:r>
            <a:endParaRPr lang="ru-RU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Гибкое управление потоками через сигналы (</a:t>
            </a: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Pulse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PulseAll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Wait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).</a:t>
            </a:r>
            <a:endParaRPr lang="ru-RU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🔹 Отличие от </a:t>
            </a: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lock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:</a:t>
            </a:r>
            <a:endParaRPr lang="ru-RU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lock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— это синтаксический сахар над </a:t>
            </a: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Monitor.Enter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и </a:t>
            </a: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Monitor.Exit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.</a:t>
            </a:r>
            <a:endParaRPr lang="ru-RU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Monitor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предоставляет больше контроля (например, таймауты, условные блокировки).</a:t>
            </a:r>
            <a:endParaRPr lang="en-US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Monitor 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9735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6647460"/>
              </p:ext>
            </p:extLst>
          </p:nvPr>
        </p:nvGraphicFramePr>
        <p:xfrm>
          <a:off x="301625" y="361950"/>
          <a:ext cx="11607800" cy="5029200"/>
        </p:xfrm>
        <a:graphic>
          <a:graphicData uri="http://schemas.openxmlformats.org/drawingml/2006/table">
            <a:tbl>
              <a:tblPr/>
              <a:tblGrid>
                <a:gridCol w="516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3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ru-RU" sz="2400" b="1" dirty="0">
                          <a:effectLst/>
                          <a:latin typeface="Bookman Old Style" panose="02050604050505020204" pitchFamily="18" charset="0"/>
                        </a:rPr>
                        <a:t>Метод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ru-RU" sz="2400" b="1">
                          <a:effectLst/>
                          <a:latin typeface="Bookman Old Style" panose="02050604050505020204" pitchFamily="18" charset="0"/>
                        </a:rPr>
                        <a:t>Описание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2400" b="1" dirty="0" err="1">
                          <a:effectLst/>
                          <a:latin typeface="Bookman Old Style" panose="02050604050505020204" pitchFamily="18" charset="0"/>
                        </a:rPr>
                        <a:t>Monitor.Enter</a:t>
                      </a:r>
                      <a:r>
                        <a:rPr lang="en-US" sz="2400" b="1" dirty="0">
                          <a:effectLst/>
                          <a:latin typeface="Bookman Old Style" panose="02050604050505020204" pitchFamily="18" charset="0"/>
                        </a:rPr>
                        <a:t>(</a:t>
                      </a:r>
                      <a:r>
                        <a:rPr lang="en-US" sz="2400" b="1" dirty="0" err="1">
                          <a:effectLst/>
                          <a:latin typeface="Bookman Old Style" panose="02050604050505020204" pitchFamily="18" charset="0"/>
                        </a:rPr>
                        <a:t>obj</a:t>
                      </a:r>
                      <a:r>
                        <a:rPr lang="en-US" sz="2400" b="1" dirty="0">
                          <a:effectLst/>
                          <a:latin typeface="Bookman Old Style" panose="02050604050505020204" pitchFamily="18" charset="0"/>
                        </a:rPr>
                        <a:t>)</a:t>
                      </a:r>
                      <a:endParaRPr lang="en-US" sz="2400" dirty="0"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ru-RU" sz="2400" dirty="0">
                          <a:effectLst/>
                          <a:latin typeface="Bookman Old Style" panose="02050604050505020204" pitchFamily="18" charset="0"/>
                        </a:rPr>
                        <a:t>Захватывает блокировку объекта (если возможно).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2400" b="1">
                          <a:effectLst/>
                          <a:latin typeface="Bookman Old Style" panose="02050604050505020204" pitchFamily="18" charset="0"/>
                        </a:rPr>
                        <a:t>Monitor.Exit(obj)</a:t>
                      </a:r>
                      <a:endParaRPr lang="en-US" sz="2400"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ru-RU" sz="2400">
                          <a:effectLst/>
                          <a:latin typeface="Bookman Old Style" panose="02050604050505020204" pitchFamily="18" charset="0"/>
                        </a:rPr>
                        <a:t>Освобождает блокировку объекта.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2400" b="1" dirty="0" err="1">
                          <a:effectLst/>
                          <a:latin typeface="Bookman Old Style" panose="02050604050505020204" pitchFamily="18" charset="0"/>
                        </a:rPr>
                        <a:t>Monitor.TryEnter</a:t>
                      </a:r>
                      <a:r>
                        <a:rPr lang="en-US" sz="2400" b="1" dirty="0">
                          <a:effectLst/>
                          <a:latin typeface="Bookman Old Style" panose="02050604050505020204" pitchFamily="18" charset="0"/>
                        </a:rPr>
                        <a:t>(</a:t>
                      </a:r>
                      <a:r>
                        <a:rPr lang="en-US" sz="2400" b="1" dirty="0" err="1">
                          <a:effectLst/>
                          <a:latin typeface="Bookman Old Style" panose="02050604050505020204" pitchFamily="18" charset="0"/>
                        </a:rPr>
                        <a:t>obj</a:t>
                      </a:r>
                      <a:r>
                        <a:rPr lang="en-US" sz="2400" b="1" dirty="0">
                          <a:effectLst/>
                          <a:latin typeface="Bookman Old Style" panose="02050604050505020204" pitchFamily="18" charset="0"/>
                        </a:rPr>
                        <a:t>, timeout)</a:t>
                      </a:r>
                      <a:endParaRPr lang="en-US" sz="2400" dirty="0"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ru-RU" sz="2400" dirty="0">
                          <a:effectLst/>
                          <a:latin typeface="Bookman Old Style" panose="02050604050505020204" pitchFamily="18" charset="0"/>
                        </a:rPr>
                        <a:t>Пытается захватить блокировку с таймаутом (избегает </a:t>
                      </a:r>
                      <a:r>
                        <a:rPr lang="ru-RU" sz="2400" dirty="0" err="1">
                          <a:effectLst/>
                          <a:latin typeface="Bookman Old Style" panose="02050604050505020204" pitchFamily="18" charset="0"/>
                        </a:rPr>
                        <a:t>deadlock</a:t>
                      </a:r>
                      <a:r>
                        <a:rPr lang="ru-RU" sz="2400" dirty="0">
                          <a:effectLst/>
                          <a:latin typeface="Bookman Old Style" panose="02050604050505020204" pitchFamily="18" charset="0"/>
                        </a:rPr>
                        <a:t>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2400" b="1">
                          <a:effectLst/>
                          <a:latin typeface="Bookman Old Style" panose="02050604050505020204" pitchFamily="18" charset="0"/>
                        </a:rPr>
                        <a:t>Monitor.Wait(obj)</a:t>
                      </a:r>
                      <a:endParaRPr lang="en-US" sz="2400"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ru-RU" sz="2400">
                          <a:effectLst/>
                          <a:latin typeface="Bookman Old Style" panose="02050604050505020204" pitchFamily="18" charset="0"/>
                        </a:rPr>
                        <a:t>Временно освобождает блокировку и ждет сигнала (Pulse/PulseAll).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2400" b="1" dirty="0" err="1">
                          <a:effectLst/>
                          <a:latin typeface="Bookman Old Style" panose="02050604050505020204" pitchFamily="18" charset="0"/>
                        </a:rPr>
                        <a:t>Monitor.Pulse</a:t>
                      </a:r>
                      <a:r>
                        <a:rPr lang="en-US" sz="2400" b="1" dirty="0">
                          <a:effectLst/>
                          <a:latin typeface="Bookman Old Style" panose="02050604050505020204" pitchFamily="18" charset="0"/>
                        </a:rPr>
                        <a:t>(</a:t>
                      </a:r>
                      <a:r>
                        <a:rPr lang="en-US" sz="2400" b="1" dirty="0" err="1">
                          <a:effectLst/>
                          <a:latin typeface="Bookman Old Style" panose="02050604050505020204" pitchFamily="18" charset="0"/>
                        </a:rPr>
                        <a:t>obj</a:t>
                      </a:r>
                      <a:r>
                        <a:rPr lang="en-US" sz="2400" b="1" dirty="0">
                          <a:effectLst/>
                          <a:latin typeface="Bookman Old Style" panose="02050604050505020204" pitchFamily="18" charset="0"/>
                        </a:rPr>
                        <a:t>)</a:t>
                      </a:r>
                      <a:endParaRPr lang="en-US" sz="2400" dirty="0"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ru-RU" sz="2400">
                          <a:effectLst/>
                          <a:latin typeface="Bookman Old Style" panose="02050604050505020204" pitchFamily="18" charset="0"/>
                        </a:rPr>
                        <a:t>Пробуждает </a:t>
                      </a:r>
                      <a:r>
                        <a:rPr lang="ru-RU" sz="2400" b="1">
                          <a:effectLst/>
                          <a:latin typeface="Bookman Old Style" panose="02050604050505020204" pitchFamily="18" charset="0"/>
                        </a:rPr>
                        <a:t>один</a:t>
                      </a:r>
                      <a:r>
                        <a:rPr lang="ru-RU" sz="2400">
                          <a:effectLst/>
                          <a:latin typeface="Bookman Old Style" panose="02050604050505020204" pitchFamily="18" charset="0"/>
                        </a:rPr>
                        <a:t> поток из ожидающих (Wait).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2400" b="1">
                          <a:effectLst/>
                          <a:latin typeface="Bookman Old Style" panose="02050604050505020204" pitchFamily="18" charset="0"/>
                        </a:rPr>
                        <a:t>Monitor.PulseAll(obj)</a:t>
                      </a:r>
                      <a:endParaRPr lang="en-US" sz="2400"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ru-RU" sz="2400" dirty="0">
                          <a:effectLst/>
                          <a:latin typeface="Bookman Old Style" panose="02050604050505020204" pitchFamily="18" charset="0"/>
                        </a:rPr>
                        <a:t>Пробуждает </a:t>
                      </a:r>
                      <a:r>
                        <a:rPr lang="ru-RU" sz="2400" b="1" dirty="0">
                          <a:effectLst/>
                          <a:latin typeface="Bookman Old Style" panose="02050604050505020204" pitchFamily="18" charset="0"/>
                        </a:rPr>
                        <a:t>все</a:t>
                      </a:r>
                      <a:r>
                        <a:rPr lang="ru-RU" sz="2400" dirty="0">
                          <a:effectLst/>
                          <a:latin typeface="Bookman Old Style" panose="02050604050505020204" pitchFamily="18" charset="0"/>
                        </a:rPr>
                        <a:t> потоки из ожидающих (</a:t>
                      </a:r>
                      <a:r>
                        <a:rPr lang="ru-RU" sz="2400" dirty="0" err="1">
                          <a:effectLst/>
                          <a:latin typeface="Bookman Old Style" panose="02050604050505020204" pitchFamily="18" charset="0"/>
                        </a:rPr>
                        <a:t>Wait</a:t>
                      </a:r>
                      <a:r>
                        <a:rPr lang="ru-RU" sz="2400" dirty="0">
                          <a:effectLst/>
                          <a:latin typeface="Bookman Old Style" panose="02050604050505020204" pitchFamily="18" charset="0"/>
                        </a:rPr>
                        <a:t>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3845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92497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Пример использования </a:t>
            </a:r>
            <a:r>
              <a:rPr lang="en-US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Monitor</a:t>
            </a:r>
            <a:endParaRPr lang="ru-RU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endParaRPr lang="en-US" sz="2400" dirty="0" smtClean="0">
              <a:solidFill>
                <a:srgbClr val="0000F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System.Diagnostics.Metrics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lockObj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counter = 0;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SafeIncrement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Monitor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.Enter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lockObj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Критическая секция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counter++;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finally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Monitor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.Exit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lockObj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Важно освободить блокировку!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959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55564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Пример использования </a:t>
            </a:r>
            <a:r>
              <a:rPr lang="en-US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TryEnter</a:t>
            </a:r>
            <a:r>
              <a:rPr lang="en-US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(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избегаем </a:t>
            </a:r>
            <a:r>
              <a:rPr lang="en-US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deadlock)</a:t>
            </a:r>
            <a:endParaRPr lang="ru-RU" sz="2400" dirty="0" smtClean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endParaRPr lang="en-US" sz="2400" dirty="0" smtClean="0">
              <a:solidFill>
                <a:srgbClr val="0000F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lockObj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Monitor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.TryEnter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lockObj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1000))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Ждем 1 секунду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Критическая секция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finally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Monitor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.Exit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lockObj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ru-RU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"Не удалось захватить блокировку!"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US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5700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241300"/>
            <a:ext cx="12192000" cy="452431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✅ Ситуации, где </a:t>
            </a: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Monitor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предпочтительнее </a:t>
            </a: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lock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:</a:t>
            </a:r>
            <a:endParaRPr lang="ru-RU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Нужен таймаут при захвате блокировки (</a:t>
            </a: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TryEnter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).</a:t>
            </a:r>
            <a:endParaRPr lang="ru-RU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Требуется условная синхронизация (</a:t>
            </a: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Wait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/</a:t>
            </a: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Pulse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).</a:t>
            </a:r>
            <a:endParaRPr lang="ru-RU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Важен более тонкий контроль над блокировками.</a:t>
            </a:r>
          </a:p>
          <a:p>
            <a:pPr algn="just">
              <a:lnSpc>
                <a:spcPct val="150000"/>
              </a:lnSpc>
            </a:pPr>
            <a:endParaRPr lang="ru-RU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❌ Когда не стоит использовать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:</a:t>
            </a:r>
            <a:endParaRPr lang="ru-RU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Для простых сценариев (лучше </a:t>
            </a: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lock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).</a:t>
            </a:r>
            <a:endParaRPr lang="ru-RU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Для </a:t>
            </a: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межпроцессной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синхронизации (нужен </a:t>
            </a: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Mutex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).</a:t>
            </a:r>
            <a:endParaRPr lang="en-US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2116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654356"/>
            <a:ext cx="12192000" cy="563231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Mutex</a:t>
            </a:r>
            <a:r>
              <a:rPr lang="ru-RU" sz="24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 (</a:t>
            </a:r>
            <a:r>
              <a:rPr lang="ru-RU" sz="2400" b="1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Mutual</a:t>
            </a:r>
            <a:r>
              <a:rPr lang="ru-RU" sz="24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 </a:t>
            </a:r>
            <a:r>
              <a:rPr lang="ru-RU" sz="2400" b="1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Exclusion</a:t>
            </a:r>
            <a:r>
              <a:rPr lang="ru-RU" sz="24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) 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- это примитив синхронизации, который позволяет организовать взаимоисключающий доступ к общему ресурсу между потоками в рамках одного процесса или между разными процессами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.</a:t>
            </a:r>
            <a:endParaRPr lang="en-US" sz="2400" dirty="0" smtClean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Особенности </a:t>
            </a:r>
            <a:r>
              <a:rPr lang="ru-RU" sz="2400" b="1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Mutex</a:t>
            </a:r>
            <a:endParaRPr lang="ru-RU" sz="2400" b="1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✅ Преимущества: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Поддержка </a:t>
            </a: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межпроцессной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синхронизации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Возможность рекурсивных блокировок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Поддержка таймаутов при ожидании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Системное имя позволяет синхронизировать разные 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приложения</a:t>
            </a:r>
            <a:endParaRPr lang="ru-RU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 b="1" dirty="0" err="1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Mutex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8343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2862322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❌ </a:t>
            </a:r>
            <a:r>
              <a:rPr lang="ru-RU" sz="24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Недостатки</a:t>
            </a:r>
            <a:r>
              <a:rPr lang="ru-RU" sz="2400" b="1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:</a:t>
            </a:r>
            <a:endParaRPr lang="ru-RU" sz="2400" b="1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Более медленный, чем </a:t>
            </a: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lock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или </a:t>
            </a: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Monitor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(работает на уровне ядра ОС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)</a:t>
            </a:r>
            <a:endParaRPr lang="ru-RU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Требует явного освобождения (в отличие от </a:t>
            </a: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lock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)</a:t>
            </a:r>
            <a:endParaRPr lang="ru-RU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Необходимость обработки исключений (например, при аварийном завершении потока)</a:t>
            </a:r>
            <a:endParaRPr lang="en-US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184031" y="3429000"/>
            <a:ext cx="5709519" cy="3213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237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1284348"/>
              </p:ext>
            </p:extLst>
          </p:nvPr>
        </p:nvGraphicFramePr>
        <p:xfrm>
          <a:off x="838200" y="320834"/>
          <a:ext cx="10515600" cy="48463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2400" b="1" dirty="0">
                          <a:effectLst/>
                          <a:latin typeface="Bookman Old Style" panose="02050604050505020204" pitchFamily="18" charset="0"/>
                        </a:rPr>
                        <a:t>Метод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2400" b="1">
                          <a:effectLst/>
                          <a:latin typeface="Bookman Old Style" panose="02050604050505020204" pitchFamily="18" charset="0"/>
                        </a:rPr>
                        <a:t>Описание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400" b="1">
                          <a:effectLst/>
                          <a:latin typeface="Bookman Old Style" panose="02050604050505020204" pitchFamily="18" charset="0"/>
                        </a:rPr>
                        <a:t>WaitOne()</a:t>
                      </a:r>
                      <a:endParaRPr lang="en-US" sz="2400"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2400" dirty="0">
                          <a:effectLst/>
                          <a:latin typeface="Bookman Old Style" panose="02050604050505020204" pitchFamily="18" charset="0"/>
                        </a:rPr>
                        <a:t>Блокирует </a:t>
                      </a:r>
                      <a:r>
                        <a:rPr lang="ru-RU" sz="2400" dirty="0" err="1">
                          <a:effectLst/>
                          <a:latin typeface="Bookman Old Style" panose="02050604050505020204" pitchFamily="18" charset="0"/>
                        </a:rPr>
                        <a:t>мьютекс</a:t>
                      </a:r>
                      <a:r>
                        <a:rPr lang="ru-RU" sz="2400" dirty="0">
                          <a:effectLst/>
                          <a:latin typeface="Bookman Old Style" panose="02050604050505020204" pitchFamily="18" charset="0"/>
                        </a:rPr>
                        <a:t> (если он свободен)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400" b="1" dirty="0" err="1">
                          <a:effectLst/>
                          <a:latin typeface="Bookman Old Style" panose="02050604050505020204" pitchFamily="18" charset="0"/>
                        </a:rPr>
                        <a:t>ReleaseMutex</a:t>
                      </a:r>
                      <a:r>
                        <a:rPr lang="en-US" sz="2400" b="1" dirty="0">
                          <a:effectLst/>
                          <a:latin typeface="Bookman Old Style" panose="02050604050505020204" pitchFamily="18" charset="0"/>
                        </a:rPr>
                        <a:t>()</a:t>
                      </a:r>
                      <a:endParaRPr lang="en-US" sz="2400" dirty="0"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2400">
                          <a:effectLst/>
                          <a:latin typeface="Bookman Old Style" panose="02050604050505020204" pitchFamily="18" charset="0"/>
                        </a:rPr>
                        <a:t>Освобождает мьютекс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400" b="1">
                          <a:effectLst/>
                          <a:latin typeface="Bookman Old Style" panose="02050604050505020204" pitchFamily="18" charset="0"/>
                        </a:rPr>
                        <a:t>WaitOne(</a:t>
                      </a:r>
                      <a:r>
                        <a:rPr lang="ru-RU" sz="2400" b="1">
                          <a:effectLst/>
                          <a:latin typeface="Bookman Old Style" panose="02050604050505020204" pitchFamily="18" charset="0"/>
                        </a:rPr>
                        <a:t>таймаут)</a:t>
                      </a:r>
                      <a:endParaRPr lang="ru-RU" sz="2400"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2400">
                          <a:effectLst/>
                          <a:latin typeface="Bookman Old Style" panose="02050604050505020204" pitchFamily="18" charset="0"/>
                        </a:rPr>
                        <a:t>Попытка захвата с ожиданием в течение указанного времени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400" b="1">
                          <a:effectLst/>
                          <a:latin typeface="Bookman Old Style" panose="02050604050505020204" pitchFamily="18" charset="0"/>
                        </a:rPr>
                        <a:t>Close()/Dispose()</a:t>
                      </a:r>
                      <a:endParaRPr lang="en-US" sz="2400"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2400" dirty="0">
                          <a:effectLst/>
                          <a:latin typeface="Bookman Old Style" panose="02050604050505020204" pitchFamily="18" charset="0"/>
                        </a:rPr>
                        <a:t>Освобождение системных ресурсов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6944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55564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Базовый пример (</a:t>
            </a:r>
            <a:r>
              <a:rPr lang="ru-RU" sz="2400" b="1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внутрипроцессная</a:t>
            </a:r>
            <a:r>
              <a:rPr lang="ru-RU" sz="24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 синхронизация</a:t>
            </a:r>
            <a:r>
              <a:rPr lang="ru-RU" sz="2400" b="1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)</a:t>
            </a:r>
          </a:p>
          <a:p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Mutex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mutex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Mutex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counter = 0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nn-NO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</a:t>
            </a:r>
            <a:r>
              <a:rPr lang="nn-NO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nn-NO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nn-NO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 = 0; i &lt; 5; i</a:t>
            </a:r>
            <a:r>
              <a:rPr lang="nn-NO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++)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Thread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(Increment).Start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Increment()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mutex.WaitOne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Захватываем </a:t>
            </a:r>
            <a:r>
              <a:rPr lang="ru-RU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мьютекс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nn-NO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nn-NO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</a:t>
            </a:r>
            <a:r>
              <a:rPr lang="nn-NO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nn-NO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nn-NO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 = 0; i &lt; 10000; i++)</a:t>
            </a:r>
          </a:p>
          <a:p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counter++;</a:t>
            </a:r>
          </a:p>
          <a:p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 err="1" smtClean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4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smtClean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$"Counter = 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{counter}</a:t>
            </a:r>
            <a:r>
              <a:rPr lang="en-US" sz="2400" dirty="0" smtClean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finally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mutex.ReleaseMutex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Освобождаем </a:t>
            </a:r>
            <a:r>
              <a:rPr lang="ru-RU" sz="2400" dirty="0" err="1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мьютекс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4388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017032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200" b="1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Межпроцессная</a:t>
            </a:r>
            <a:r>
              <a:rPr lang="ru-RU" sz="22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 </a:t>
            </a:r>
            <a:r>
              <a:rPr lang="ru-RU" sz="2200" b="1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синхронизация</a:t>
            </a:r>
          </a:p>
          <a:p>
            <a:r>
              <a:rPr lang="ru-RU" sz="2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Создаем именованный </a:t>
            </a:r>
            <a:r>
              <a:rPr lang="ru-RU" sz="22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мьютекс</a:t>
            </a:r>
            <a:r>
              <a:rPr lang="ru-RU" sz="2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(видимый другим процессам)</a:t>
            </a:r>
            <a:endParaRPr lang="ru-RU" sz="2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2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mutex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Mutex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"Global</a:t>
            </a:r>
            <a:r>
              <a:rPr lang="en-US" sz="2200" dirty="0">
                <a:solidFill>
                  <a:srgbClr val="9E5B71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\\</a:t>
            </a:r>
            <a:r>
              <a:rPr lang="en-US" sz="22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MyAppMutex</a:t>
            </a:r>
            <a:r>
              <a:rPr lang="en-US" sz="2200" dirty="0" smtClean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 </a:t>
            </a:r>
            <a:r>
              <a:rPr lang="ru-RU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endParaRPr lang="ru-RU" sz="2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2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Пытаемся захватить </a:t>
            </a:r>
            <a:r>
              <a:rPr lang="ru-RU" sz="22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мьютекс</a:t>
            </a:r>
            <a:r>
              <a:rPr lang="ru-RU" sz="2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(ждем 5 секунд)</a:t>
            </a:r>
            <a:endParaRPr lang="ru-RU" sz="2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(!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mutex.WaitOne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(5000))</a:t>
            </a:r>
          </a:p>
          <a:p>
            <a:r>
              <a:rPr lang="ru-RU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ru-RU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ru-RU" sz="2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ru-RU" sz="2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ru-RU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ru-RU" sz="2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"Другая копия приложения уже запущена!"</a:t>
            </a:r>
            <a:r>
              <a:rPr lang="ru-RU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ru-RU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2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endParaRPr lang="ru-RU" sz="2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ru-RU" sz="2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Приложение работает..."</a:t>
            </a:r>
            <a:r>
              <a:rPr lang="ru-RU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.ReadLine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ru-RU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2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finally</a:t>
            </a:r>
            <a:r>
              <a:rPr lang="en-US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en-US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2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mutex.ReleaseMutex</a:t>
            </a:r>
            <a:r>
              <a:rPr lang="en-US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US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  <a:endParaRPr lang="ru-RU" sz="2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22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056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654356"/>
            <a:ext cx="12192000" cy="618630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err="1" smtClean="0">
                <a:solidFill>
                  <a:srgbClr val="000000"/>
                </a:solidFill>
                <a:latin typeface="Bookman Old Style" panose="02050604050505020204" pitchFamily="18" charset="0"/>
              </a:rPr>
              <a:t>Semaphore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 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— это примитив синхронизации, который ограничивает количество потоков, одновременно имеющих доступ к ресурсу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.</a:t>
            </a:r>
            <a:endParaRPr lang="ru-RU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🔹 Основные характеристики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:</a:t>
            </a:r>
            <a:endParaRPr lang="ru-RU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Поддерживает заданное максимальное число потоков в критической секции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.</a:t>
            </a:r>
            <a:endParaRPr lang="ru-RU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Может быть именованным (для </a:t>
            </a: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межпроцессной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синхронизации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).</a:t>
            </a:r>
            <a:endParaRPr lang="ru-RU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Использует счетчик, уменьшающийся при захвате (</a:t>
            </a: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WaitOne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) и увеличивающийся при освобождении (</a:t>
            </a: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Release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).</a:t>
            </a:r>
            <a:endParaRPr lang="ru-RU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📌 Отличие от </a:t>
            </a: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Mutex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:</a:t>
            </a:r>
            <a:endParaRPr lang="ru-RU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Mutex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разрешает доступ только одному потоку (как </a:t>
            </a: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lock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).</a:t>
            </a:r>
            <a:endParaRPr lang="ru-RU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 err="1" smtClean="0">
                <a:solidFill>
                  <a:srgbClr val="000000"/>
                </a:solidFill>
                <a:latin typeface="Bookman Old Style" panose="02050604050505020204" pitchFamily="18" charset="0"/>
              </a:rPr>
              <a:t>Semaphore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 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разрешает доступ N потокам одновременно.</a:t>
            </a:r>
          </a:p>
        </p:txBody>
      </p:sp>
      <p:sp>
        <p:nvSpPr>
          <p:cNvPr id="3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Semaphore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82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2486080"/>
              </p:ext>
            </p:extLst>
          </p:nvPr>
        </p:nvGraphicFramePr>
        <p:xfrm>
          <a:off x="444499" y="333375"/>
          <a:ext cx="11328401" cy="5394960"/>
        </p:xfrm>
        <a:graphic>
          <a:graphicData uri="http://schemas.openxmlformats.org/drawingml/2006/table">
            <a:tbl>
              <a:tblPr/>
              <a:tblGrid>
                <a:gridCol w="3514756">
                  <a:extLst>
                    <a:ext uri="{9D8B030D-6E8A-4147-A177-3AD203B41FA5}">
                      <a16:colId xmlns:a16="http://schemas.microsoft.com/office/drawing/2014/main" val="1316415174"/>
                    </a:ext>
                  </a:extLst>
                </a:gridCol>
                <a:gridCol w="7813645">
                  <a:extLst>
                    <a:ext uri="{9D8B030D-6E8A-4147-A177-3AD203B41FA5}">
                      <a16:colId xmlns:a16="http://schemas.microsoft.com/office/drawing/2014/main" val="2631688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2400" b="1" dirty="0">
                          <a:effectLst/>
                          <a:latin typeface="Bookman Old Style" panose="02050604050505020204" pitchFamily="18" charset="0"/>
                        </a:rPr>
                        <a:t>Метод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2400" b="1">
                          <a:effectLst/>
                          <a:latin typeface="Bookman Old Style" panose="02050604050505020204" pitchFamily="18" charset="0"/>
                        </a:rPr>
                        <a:t>Описание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9705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b="1">
                          <a:effectLst/>
                          <a:latin typeface="Bookman Old Style" panose="02050604050505020204" pitchFamily="18" charset="0"/>
                        </a:rPr>
                        <a:t>WaitOne()</a:t>
                      </a:r>
                      <a:endParaRPr lang="en-US" sz="2400"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2400" dirty="0">
                          <a:effectLst/>
                          <a:latin typeface="Bookman Old Style" panose="02050604050505020204" pitchFamily="18" charset="0"/>
                        </a:rPr>
                        <a:t>Захватывает семафор (уменьшает счетчик). Если счетчик = 0 — блокирует поток.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05182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b="1">
                          <a:effectLst/>
                          <a:latin typeface="Bookman Old Style" panose="02050604050505020204" pitchFamily="18" charset="0"/>
                        </a:rPr>
                        <a:t>Release()</a:t>
                      </a:r>
                      <a:endParaRPr lang="en-US" sz="2400"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2400">
                          <a:effectLst/>
                          <a:latin typeface="Bookman Old Style" panose="02050604050505020204" pitchFamily="18" charset="0"/>
                        </a:rPr>
                        <a:t>Освобождает семафор (увеличивает счетчик), разрешая доступ другому потоку.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52137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b="1" dirty="0" err="1">
                          <a:effectLst/>
                          <a:latin typeface="Bookman Old Style" panose="02050604050505020204" pitchFamily="18" charset="0"/>
                        </a:rPr>
                        <a:t>WaitOne</a:t>
                      </a:r>
                      <a:r>
                        <a:rPr lang="en-US" sz="2400" b="1" dirty="0">
                          <a:effectLst/>
                          <a:latin typeface="Bookman Old Style" panose="02050604050505020204" pitchFamily="18" charset="0"/>
                        </a:rPr>
                        <a:t>(</a:t>
                      </a:r>
                      <a:r>
                        <a:rPr lang="ru-RU" sz="2400" b="1" dirty="0">
                          <a:effectLst/>
                          <a:latin typeface="Bookman Old Style" panose="02050604050505020204" pitchFamily="18" charset="0"/>
                        </a:rPr>
                        <a:t>таймаут)</a:t>
                      </a:r>
                      <a:endParaRPr lang="ru-RU" sz="2400" dirty="0"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2400">
                          <a:effectLst/>
                          <a:latin typeface="Bookman Old Style" panose="02050604050505020204" pitchFamily="18" charset="0"/>
                        </a:rPr>
                        <a:t>Пытается захватить семафор с ожиданием (возвращает false, если не удалось).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6934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b="1">
                          <a:effectLst/>
                          <a:latin typeface="Bookman Old Style" panose="02050604050505020204" pitchFamily="18" charset="0"/>
                        </a:rPr>
                        <a:t>Dispose()</a:t>
                      </a:r>
                      <a:endParaRPr lang="en-US" sz="2400"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2400" dirty="0">
                          <a:effectLst/>
                          <a:latin typeface="Bookman Old Style" panose="02050604050505020204" pitchFamily="18" charset="0"/>
                        </a:rPr>
                        <a:t>Освобождает системные ресурсы (рекомендуется использовать </a:t>
                      </a:r>
                      <a:r>
                        <a:rPr lang="ru-RU" sz="2400" dirty="0" err="1">
                          <a:effectLst/>
                          <a:latin typeface="Bookman Old Style" panose="02050604050505020204" pitchFamily="18" charset="0"/>
                        </a:rPr>
                        <a:t>using</a:t>
                      </a:r>
                      <a:r>
                        <a:rPr lang="ru-RU" sz="2400" dirty="0">
                          <a:effectLst/>
                          <a:latin typeface="Bookman Old Style" panose="02050604050505020204" pitchFamily="18" charset="0"/>
                        </a:rPr>
                        <a:t>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52938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8498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120956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Semaphore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semaphore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Semaphore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(3, 3);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Максимум 3 </a:t>
            </a:r>
            <a:r>
              <a:rPr lang="ru-RU" sz="24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потока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nn-NO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</a:t>
            </a:r>
            <a:r>
              <a:rPr lang="nn-NO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nn-NO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nn-NO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 = 1; i &lt;= 10; i</a:t>
            </a:r>
            <a:r>
              <a:rPr lang="nn-NO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++) </a:t>
            </a: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Thread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DoWork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).Start(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DoWork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 id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Поток 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id}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ждет доступа..."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semaphore.WaitOne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Захватываем семафор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 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ru-RU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ru-RU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$"Поток 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ru-RU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вошел в </a:t>
            </a:r>
            <a:r>
              <a:rPr lang="ru-RU" sz="2400" dirty="0" err="1" smtClean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крит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ru-RU" sz="2400" dirty="0" smtClean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с</a:t>
            </a:r>
            <a:r>
              <a:rPr lang="en-US" sz="2400" dirty="0" smtClean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ru-RU" sz="2400" dirty="0" smtClean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Thread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.Sleep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(2000);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Имитация работы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finally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semaphore.Release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Освобождаем семафор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Поток 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id}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вышел."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9503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161925"/>
            <a:ext cx="12192000" cy="563231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Когда использовать </a:t>
            </a: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Semaphore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?</a:t>
            </a:r>
          </a:p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✅ Популярные сценарии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:</a:t>
            </a:r>
            <a:endParaRPr lang="ru-RU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Ограничение подключений к БД/API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.</a:t>
            </a:r>
            <a:endParaRPr lang="ru-RU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Управление доступом к общему файлу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.</a:t>
            </a:r>
            <a:endParaRPr lang="en-US" sz="2400" dirty="0" smtClean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Реализация 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пула потоков (например, ограничение параллельных задач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).</a:t>
            </a:r>
            <a:endParaRPr lang="en-US" sz="2400" dirty="0" smtClean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Для высоконагруженных приложений используйте </a:t>
            </a:r>
            <a:r>
              <a:rPr lang="ru-RU" sz="2400" dirty="0" err="1" smtClean="0">
                <a:solidFill>
                  <a:srgbClr val="000000"/>
                </a:solidFill>
                <a:latin typeface="Bookman Old Style" panose="02050604050505020204" pitchFamily="18" charset="0"/>
              </a:rPr>
              <a:t>SemaphoreSlim</a:t>
            </a:r>
            <a:r>
              <a:rPr lang="en-US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.</a:t>
            </a:r>
            <a:endParaRPr lang="ru-RU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❌ 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Когда не стоит использовать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:</a:t>
            </a:r>
            <a:endParaRPr lang="ru-RU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Если нужна эксклюзивная блокировка (лучше </a:t>
            </a: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Mutex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).</a:t>
            </a:r>
            <a:endParaRPr lang="ru-RU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Для простых сценариев (иногда хватает </a:t>
            </a: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lock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).</a:t>
            </a:r>
            <a:endParaRPr lang="en-US" sz="2400" dirty="0" smtClean="0">
              <a:solidFill>
                <a:srgbClr val="00000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268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14777</TotalTime>
  <Words>2590</Words>
  <Application>Microsoft Office PowerPoint</Application>
  <PresentationFormat>Широкоэкранный</PresentationFormat>
  <Paragraphs>541</Paragraphs>
  <Slides>41</Slides>
  <Notes>41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41</vt:i4>
      </vt:variant>
    </vt:vector>
  </HeadingPairs>
  <TitlesOfParts>
    <vt:vector size="48" baseType="lpstr">
      <vt:lpstr>Arial</vt:lpstr>
      <vt:lpstr>Bookman Old Style</vt:lpstr>
      <vt:lpstr>Calibri</vt:lpstr>
      <vt:lpstr>Calibri Light</vt:lpstr>
      <vt:lpstr>Cascadia Mono</vt:lpstr>
      <vt:lpstr>Times New Roman</vt:lpstr>
      <vt:lpstr>Тема Office</vt:lpstr>
      <vt:lpstr>4 семестр Лекция 4.   Содержание лекции: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 семестр Лекция 4.   Содержание лекции:</dc:title>
  <dc:subject/>
  <dc:creator/>
  <cp:keywords/>
  <dc:description/>
  <cp:lastModifiedBy>Daniil Kljukin</cp:lastModifiedBy>
  <cp:revision>857</cp:revision>
  <dcterms:modified xsi:type="dcterms:W3CDTF">2026-04-28T06:23:04Z</dcterms:modified>
  <cp:category/>
  <cp:contentStatus/>
</cp:coreProperties>
</file>