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56"/>
  </p:notesMasterIdLst>
  <p:sldIdLst>
    <p:sldId id="273" r:id="rId2"/>
    <p:sldId id="969" r:id="rId3"/>
    <p:sldId id="1099" r:id="rId4"/>
    <p:sldId id="1068" r:id="rId5"/>
    <p:sldId id="1069" r:id="rId6"/>
    <p:sldId id="1052" r:id="rId7"/>
    <p:sldId id="995" r:id="rId8"/>
    <p:sldId id="1053" r:id="rId9"/>
    <p:sldId id="1054" r:id="rId10"/>
    <p:sldId id="997" r:id="rId11"/>
    <p:sldId id="1071" r:id="rId12"/>
    <p:sldId id="1079" r:id="rId13"/>
    <p:sldId id="1072" r:id="rId14"/>
    <p:sldId id="1073" r:id="rId15"/>
    <p:sldId id="1082" r:id="rId16"/>
    <p:sldId id="1075" r:id="rId17"/>
    <p:sldId id="1084" r:id="rId18"/>
    <p:sldId id="1085" r:id="rId19"/>
    <p:sldId id="1087" r:id="rId20"/>
    <p:sldId id="1088" r:id="rId21"/>
    <p:sldId id="1089" r:id="rId22"/>
    <p:sldId id="1090" r:id="rId23"/>
    <p:sldId id="1091" r:id="rId24"/>
    <p:sldId id="1092" r:id="rId25"/>
    <p:sldId id="1093" r:id="rId26"/>
    <p:sldId id="1094" r:id="rId27"/>
    <p:sldId id="1095" r:id="rId28"/>
    <p:sldId id="999" r:id="rId29"/>
    <p:sldId id="1096" r:id="rId30"/>
    <p:sldId id="1097" r:id="rId31"/>
    <p:sldId id="1062" r:id="rId32"/>
    <p:sldId id="1004" r:id="rId33"/>
    <p:sldId id="1007" r:id="rId34"/>
    <p:sldId id="1063" r:id="rId35"/>
    <p:sldId id="1008" r:id="rId36"/>
    <p:sldId id="1064" r:id="rId37"/>
    <p:sldId id="1009" r:id="rId38"/>
    <p:sldId id="1010" r:id="rId39"/>
    <p:sldId id="1011" r:id="rId40"/>
    <p:sldId id="1012" r:id="rId41"/>
    <p:sldId id="1065" r:id="rId42"/>
    <p:sldId id="1066" r:id="rId43"/>
    <p:sldId id="1013" r:id="rId44"/>
    <p:sldId id="1014" r:id="rId45"/>
    <p:sldId id="1067" r:id="rId46"/>
    <p:sldId id="1015" r:id="rId47"/>
    <p:sldId id="1016" r:id="rId48"/>
    <p:sldId id="1017" r:id="rId49"/>
    <p:sldId id="1098" r:id="rId50"/>
    <p:sldId id="1100" r:id="rId51"/>
    <p:sldId id="1101" r:id="rId52"/>
    <p:sldId id="1102" r:id="rId53"/>
    <p:sldId id="1103" r:id="rId54"/>
    <p:sldId id="1104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92929"/>
    <a:srgbClr val="BFEFC9"/>
    <a:srgbClr val="5A5A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67" autoAdjust="0"/>
    <p:restoredTop sz="95343" autoAdjust="0"/>
  </p:normalViewPr>
  <p:slideViewPr>
    <p:cSldViewPr snapToGrid="0">
      <p:cViewPr varScale="1">
        <p:scale>
          <a:sx n="113" d="100"/>
          <a:sy n="113" d="100"/>
        </p:scale>
        <p:origin x="336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654"/>
    </p:cViewPr>
  </p:sorterViewPr>
  <p:notesViewPr>
    <p:cSldViewPr snapToGrid="0">
      <p:cViewPr varScale="1">
        <p:scale>
          <a:sx n="86" d="100"/>
          <a:sy n="86" d="100"/>
        </p:scale>
        <p:origin x="3786" y="7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F9473-F066-431E-A6E8-1D478C995A6B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4E2F1-1521-4C3A-A563-2F7D19AB6E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75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81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365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158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3678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1397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4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659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5750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3029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054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4718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4761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1053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4733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3695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8140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211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7662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5865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5162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3754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7813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5539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7226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299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3657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9824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8753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7841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4159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4163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165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08721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8249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30673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7264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3648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16440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29517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03421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70293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21618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73544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61434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4173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92818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48309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1067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3647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12767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2750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72536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44768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71288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xmlns="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736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5897"/>
            <a:ext cx="12192000" cy="949324"/>
          </a:xfrm>
        </p:spPr>
        <p:txBody>
          <a:bodyPr/>
          <a:lstStyle>
            <a:lvl1pPr algn="ctr">
              <a:defRPr sz="27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xmlns="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2147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xmlns="" id="{3DF48714-7FE4-4364-BF9D-28B9C9E29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89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86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DaniilKlyukin/OOP-4" TargetMode="External"/><Relationship Id="rId4" Type="http://schemas.openxmlformats.org/officeDocument/2006/relationships/hyperlink" Target="https://github.com/DaniilKlyukin/OOP-6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-scm.com/" TargetMode="External"/><Relationship Id="rId4" Type="http://schemas.openxmlformats.org/officeDocument/2006/relationships/hyperlink" Target="https://ru.hexlet.io/courses/intro_to_git" TargetMode="External"/><Relationship Id="rId5" Type="http://schemas.openxmlformats.org/officeDocument/2006/relationships/hyperlink" Target="https://githowto.com/ru/setup" TargetMode="External"/><Relationship Id="rId6" Type="http://schemas.openxmlformats.org/officeDocument/2006/relationships/hyperlink" Target="https://learngitbranching.js.org/?locale=ru_RU" TargetMode="External"/><Relationship Id="rId7" Type="http://schemas.openxmlformats.org/officeDocument/2006/relationships/hyperlink" Target="https://www.youtube.com/watch?v=zZBiln_2Fh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github.com/github/gitignore/blob/main/VisualStudio.gitignore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github.com/" TargetMode="External"/><Relationship Id="rId4" Type="http://schemas.openxmlformats.org/officeDocument/2006/relationships/hyperlink" Target="https://desktop.github.com/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4.png"/><Relationship Id="rId4" Type="http://schemas.openxmlformats.org/officeDocument/2006/relationships/image" Target="../media/image3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8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801560"/>
            <a:ext cx="12192000" cy="156965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indent="254000" algn="ctr">
              <a:spcBef>
                <a:spcPct val="20000"/>
              </a:spcBef>
            </a:pPr>
            <a:r>
              <a:rPr lang="ru-RU" sz="4800" b="1" dirty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  <a:t>Объектно-ориентированное программирование</a:t>
            </a:r>
            <a:endParaRPr lang="ru-RU" altLang="ru-RU" sz="4800" b="1" dirty="0">
              <a:solidFill>
                <a:schemeClr val="accent1">
                  <a:lumMod val="50000"/>
                </a:schemeClr>
              </a:solidFill>
              <a:latin typeface="Bookman Old Style" pitchFamily="18" charset="0"/>
            </a:endParaRP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xmlns="" id="{D630362D-1F09-46B4-9DE4-AEA483AC8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032" y="2810934"/>
            <a:ext cx="9638568" cy="1679920"/>
          </a:xfrm>
        </p:spPr>
        <p:txBody>
          <a:bodyPr>
            <a:noAutofit/>
          </a:bodyPr>
          <a:lstStyle/>
          <a:p>
            <a:pPr algn="l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4 семестр</a:t>
            </a:r>
            <a:b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Лекция </a:t>
            </a: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1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.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Содержание лекции:</a:t>
            </a:r>
            <a:endParaRPr lang="ru-RU" sz="2800" dirty="0">
              <a:latin typeface="Bookman Old Style" panose="02050604050505020204" pitchFamily="18" charset="0"/>
            </a:endParaRPr>
          </a:p>
        </p:txBody>
      </p:sp>
      <p:sp>
        <p:nvSpPr>
          <p:cNvPr id="10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6336807"/>
            <a:ext cx="12192000" cy="521193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905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indent="723900" algn="just"/>
            <a:r>
              <a:rPr lang="ru-RU" b="1" dirty="0">
                <a:solidFill>
                  <a:srgbClr val="292929"/>
                </a:solidFill>
                <a:latin typeface="Bookman Old Style" pitchFamily="18" charset="0"/>
              </a:rPr>
              <a:t>Преподаватель курса: Клюкин Даниил Анатольевич, ст. преподаватель каф. </a:t>
            </a:r>
            <a:r>
              <a:rPr lang="ru-RU" b="1">
                <a:solidFill>
                  <a:srgbClr val="292929"/>
                </a:solidFill>
                <a:latin typeface="Bookman Old Style" pitchFamily="18" charset="0"/>
              </a:rPr>
              <a:t>ПМиИТ</a:t>
            </a:r>
            <a:endParaRPr lang="ru-RU" b="1" dirty="0">
              <a:solidFill>
                <a:srgbClr val="292929"/>
              </a:solidFill>
              <a:latin typeface="Bookman Old Style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F7B00361-5492-4290-B470-295172C16526}"/>
              </a:ext>
            </a:extLst>
          </p:cNvPr>
          <p:cNvSpPr txBox="1"/>
          <p:nvPr/>
        </p:nvSpPr>
        <p:spPr>
          <a:xfrm>
            <a:off x="877031" y="4490853"/>
            <a:ext cx="1104134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История создания </a:t>
            </a:r>
            <a:r>
              <a:rPr lang="en-US" sz="2800" dirty="0" err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Git</a:t>
            </a:r>
            <a:endParaRPr lang="en-US" sz="28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Работа в </a:t>
            </a:r>
            <a:r>
              <a:rPr lang="en-US" sz="2800" dirty="0" err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Git</a:t>
            </a:r>
            <a:endParaRPr lang="en-US" sz="28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Конфликт слияния веток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GitHub</a:t>
            </a:r>
            <a:endParaRPr lang="ru-RU" sz="2800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" y="654355"/>
            <a:ext cx="12192000" cy="3416320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Все материалы по ИТиП1-3, ООП1, ООП2 размещены на </a:t>
            </a:r>
            <a:r>
              <a:rPr lang="en-US" sz="2400" b="1" dirty="0" smtClean="0">
                <a:latin typeface="Bookman Old Style" panose="02050604050505020204" pitchFamily="18" charset="0"/>
              </a:rPr>
              <a:t>GitHub:</a:t>
            </a:r>
            <a:endParaRPr lang="en-US" sz="2400" b="1" dirty="0" smtClean="0">
              <a:latin typeface="Bookman Old Style" panose="02050604050505020204" pitchFamily="18" charset="0"/>
              <a:hlinkClick r:id="rId3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  <a:hlinkClick r:id="rId3"/>
              </a:rPr>
              <a:t>https://</a:t>
            </a:r>
            <a:r>
              <a:rPr lang="en-US" sz="2400" b="1" dirty="0" smtClean="0">
                <a:latin typeface="Bookman Old Style" panose="02050604050505020204" pitchFamily="18" charset="0"/>
                <a:hlinkClick r:id="rId3"/>
              </a:rPr>
              <a:t>github.com/DaniilKlyukin/ITiP-1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  <a:hlinkClick r:id="rId3"/>
              </a:rPr>
              <a:t>https://</a:t>
            </a:r>
            <a:r>
              <a:rPr lang="en-US" sz="2400" b="1" dirty="0" smtClean="0">
                <a:latin typeface="Bookman Old Style" panose="02050604050505020204" pitchFamily="18" charset="0"/>
                <a:hlinkClick r:id="rId3"/>
              </a:rPr>
              <a:t>github.com/DaniilKlyukin/ITiP-2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  <a:hlinkClick r:id="rId3"/>
              </a:rPr>
              <a:t>https://github.com/DaniilKlyukin/ITiP-3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Bookman Old Style" panose="02050604050505020204" pitchFamily="18" charset="0"/>
                <a:hlinkClick r:id="rId3"/>
              </a:rPr>
              <a:t>https</a:t>
            </a:r>
            <a:r>
              <a:rPr lang="en-US" sz="2400" b="1" dirty="0">
                <a:latin typeface="Bookman Old Style" panose="02050604050505020204" pitchFamily="18" charset="0"/>
                <a:hlinkClick r:id="rId3"/>
              </a:rPr>
              <a:t>://</a:t>
            </a:r>
            <a:r>
              <a:rPr lang="en-US" sz="2400" b="1" dirty="0" smtClean="0">
                <a:latin typeface="Bookman Old Style" panose="02050604050505020204" pitchFamily="18" charset="0"/>
                <a:hlinkClick r:id="rId3"/>
              </a:rPr>
              <a:t>github.com/DaniilKlyukin/OOP-4</a:t>
            </a: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  <a:hlinkClick r:id="rId4"/>
              </a:rPr>
              <a:t>https://</a:t>
            </a:r>
            <a:r>
              <a:rPr lang="en-US" sz="2400" b="1" dirty="0" smtClean="0">
                <a:latin typeface="Bookman Old Style" panose="02050604050505020204" pitchFamily="18" charset="0"/>
                <a:hlinkClick r:id="rId4"/>
              </a:rPr>
              <a:t>github.com/DaniilKlyukin/OOP-6</a:t>
            </a:r>
            <a:endParaRPr lang="en-US" sz="2400" b="1" dirty="0" smtClean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555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 err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Git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" y="654355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Git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– </a:t>
            </a:r>
            <a:r>
              <a:rPr lang="ru-RU" sz="2400" dirty="0">
                <a:latin typeface="Bookman Old Style" panose="02050604050505020204" pitchFamily="18" charset="0"/>
              </a:rPr>
              <a:t>это бесплатная распределенная система контроля версий с открытым исходным кодом, предназначенная для быстрой и эффективной работы со всеми проектами, от небольших до очень крупных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Применение: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Bookman Old Style" panose="02050604050505020204" pitchFamily="18" charset="0"/>
              </a:rPr>
              <a:t>Командная разработка отдельных модулей</a:t>
            </a:r>
            <a:r>
              <a:rPr lang="en-US" sz="2400" dirty="0" smtClean="0">
                <a:latin typeface="Bookman Old Style" panose="02050604050505020204" pitchFamily="18" charset="0"/>
              </a:rPr>
              <a:t>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Bookman Old Style" panose="02050604050505020204" pitchFamily="18" charset="0"/>
              </a:rPr>
              <a:t>Возможность отката к любой из предыдущих версий программы</a:t>
            </a:r>
            <a:r>
              <a:rPr lang="en-US" sz="2400" dirty="0" smtClean="0">
                <a:latin typeface="Bookman Old Style" panose="02050604050505020204" pitchFamily="18" charset="0"/>
              </a:rPr>
              <a:t>. </a:t>
            </a:r>
            <a:r>
              <a:rPr lang="ru-RU" sz="2400" dirty="0" smtClean="0">
                <a:latin typeface="Bookman Old Style" panose="02050604050505020204" pitchFamily="18" charset="0"/>
              </a:rPr>
              <a:t>При этом важно знать, что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хранит только изменения файлов, а не сами версии файлов, что существенно экономит ресурсы ПК</a:t>
            </a:r>
            <a:r>
              <a:rPr lang="ru-RU" sz="2400" dirty="0">
                <a:latin typeface="Bookman Old Style" panose="02050604050505020204" pitchFamily="18" charset="0"/>
              </a:rPr>
              <a:t>.</a:t>
            </a:r>
            <a:endParaRPr lang="en-US" sz="2400" dirty="0" smtClean="0">
              <a:latin typeface="Bookman Old Style" panose="02050604050505020204" pitchFamily="18" charset="0"/>
            </a:endParaRPr>
          </a:p>
        </p:txBody>
      </p:sp>
      <p:pic>
        <p:nvPicPr>
          <p:cNvPr id="1028" name="Picture 4" descr="upload.wikimedia.org/wikipedia/commons/thumb/e/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67" y="35077"/>
            <a:ext cx="1397712" cy="58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896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71691"/>
            <a:ext cx="12192000" cy="5872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300" dirty="0" smtClean="0">
                <a:latin typeface="Bookman Old Style" panose="02050604050505020204" pitchFamily="18" charset="0"/>
              </a:rPr>
              <a:t>Ядро </a:t>
            </a:r>
            <a:r>
              <a:rPr lang="ru-RU" sz="2300" dirty="0" err="1">
                <a:latin typeface="Bookman Old Style" panose="02050604050505020204" pitchFamily="18" charset="0"/>
              </a:rPr>
              <a:t>Linux</a:t>
            </a:r>
            <a:r>
              <a:rPr lang="ru-RU" sz="2300" dirty="0">
                <a:latin typeface="Bookman Old Style" panose="02050604050505020204" pitchFamily="18" charset="0"/>
              </a:rPr>
              <a:t> </a:t>
            </a:r>
            <a:r>
              <a:rPr lang="en-US" sz="2300" dirty="0" smtClean="0">
                <a:latin typeface="Bookman Old Style" panose="02050604050505020204" pitchFamily="18" charset="0"/>
              </a:rPr>
              <a:t>-</a:t>
            </a:r>
            <a:r>
              <a:rPr lang="ru-RU" sz="2300" dirty="0">
                <a:latin typeface="Bookman Old Style" panose="02050604050505020204" pitchFamily="18" charset="0"/>
              </a:rPr>
              <a:t> это достаточно большой проект с открытым исходным кодом. Большую часть времени разработки ядра </a:t>
            </a:r>
            <a:r>
              <a:rPr lang="ru-RU" sz="2300" dirty="0" err="1">
                <a:latin typeface="Bookman Old Style" panose="02050604050505020204" pitchFamily="18" charset="0"/>
              </a:rPr>
              <a:t>Linux</a:t>
            </a:r>
            <a:r>
              <a:rPr lang="ru-RU" sz="2300" dirty="0">
                <a:latin typeface="Bookman Old Style" panose="02050604050505020204" pitchFamily="18" charset="0"/>
              </a:rPr>
              <a:t> (1991–2002 гг.) изменения передавались между разработчиками в виде </a:t>
            </a:r>
            <a:r>
              <a:rPr lang="ru-RU" sz="2300" dirty="0" err="1">
                <a:latin typeface="Bookman Old Style" panose="02050604050505020204" pitchFamily="18" charset="0"/>
              </a:rPr>
              <a:t>патчей</a:t>
            </a:r>
            <a:r>
              <a:rPr lang="ru-RU" sz="2300" dirty="0">
                <a:latin typeface="Bookman Old Style" panose="02050604050505020204" pitchFamily="18" charset="0"/>
              </a:rPr>
              <a:t> и архивов. В 2002 году проект ядра </a:t>
            </a:r>
            <a:r>
              <a:rPr lang="ru-RU" sz="2300" dirty="0" err="1">
                <a:latin typeface="Bookman Old Style" panose="02050604050505020204" pitchFamily="18" charset="0"/>
              </a:rPr>
              <a:t>Linux</a:t>
            </a:r>
            <a:r>
              <a:rPr lang="ru-RU" sz="2300" dirty="0">
                <a:latin typeface="Bookman Old Style" panose="02050604050505020204" pitchFamily="18" charset="0"/>
              </a:rPr>
              <a:t> начал использовать </a:t>
            </a:r>
            <a:r>
              <a:rPr lang="ru-RU" sz="2300" dirty="0" err="1">
                <a:latin typeface="Bookman Old Style" panose="02050604050505020204" pitchFamily="18" charset="0"/>
              </a:rPr>
              <a:t>проприетарную</a:t>
            </a:r>
            <a:r>
              <a:rPr lang="ru-RU" sz="2300" dirty="0">
                <a:latin typeface="Bookman Old Style" panose="02050604050505020204" pitchFamily="18" charset="0"/>
              </a:rPr>
              <a:t> децентрализованную систему контроля версий </a:t>
            </a:r>
            <a:r>
              <a:rPr lang="ru-RU" sz="2300" dirty="0" err="1">
                <a:latin typeface="Bookman Old Style" panose="02050604050505020204" pitchFamily="18" charset="0"/>
              </a:rPr>
              <a:t>BitKeeper</a:t>
            </a:r>
            <a:r>
              <a:rPr lang="ru-RU" sz="2300" dirty="0" smtClean="0">
                <a:latin typeface="Bookman Old Style" panose="02050604050505020204" pitchFamily="18" charset="0"/>
              </a:rPr>
              <a:t>.</a:t>
            </a:r>
            <a:endParaRPr lang="ru-RU" sz="23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300" dirty="0">
                <a:latin typeface="Bookman Old Style" panose="02050604050505020204" pitchFamily="18" charset="0"/>
              </a:rPr>
              <a:t>В 2005 году отношения между сообществом разработчиков ядра </a:t>
            </a:r>
            <a:r>
              <a:rPr lang="ru-RU" sz="2300" dirty="0" err="1">
                <a:latin typeface="Bookman Old Style" panose="02050604050505020204" pitchFamily="18" charset="0"/>
              </a:rPr>
              <a:t>Linux</a:t>
            </a:r>
            <a:r>
              <a:rPr lang="ru-RU" sz="2300" dirty="0">
                <a:latin typeface="Bookman Old Style" panose="02050604050505020204" pitchFamily="18" charset="0"/>
              </a:rPr>
              <a:t> и коммерческой компанией, которая разрабатывала </a:t>
            </a:r>
            <a:r>
              <a:rPr lang="ru-RU" sz="2300" dirty="0" err="1">
                <a:latin typeface="Bookman Old Style" panose="02050604050505020204" pitchFamily="18" charset="0"/>
              </a:rPr>
              <a:t>BitKeeper</a:t>
            </a:r>
            <a:r>
              <a:rPr lang="ru-RU" sz="2300" dirty="0">
                <a:latin typeface="Bookman Old Style" panose="02050604050505020204" pitchFamily="18" charset="0"/>
              </a:rPr>
              <a:t>, прекратились, и бесплатное использование утилиты стало невозможным. Это </a:t>
            </a:r>
            <a:r>
              <a:rPr lang="ru-RU" sz="2300" dirty="0" err="1">
                <a:latin typeface="Bookman Old Style" panose="02050604050505020204" pitchFamily="18" charset="0"/>
              </a:rPr>
              <a:t>сподвигло</a:t>
            </a:r>
            <a:r>
              <a:rPr lang="ru-RU" sz="2300" dirty="0">
                <a:latin typeface="Bookman Old Style" panose="02050604050505020204" pitchFamily="18" charset="0"/>
              </a:rPr>
              <a:t> сообщество разработчиков ядра </a:t>
            </a:r>
            <a:r>
              <a:rPr lang="ru-RU" sz="2300" dirty="0" err="1">
                <a:latin typeface="Bookman Old Style" panose="02050604050505020204" pitchFamily="18" charset="0"/>
              </a:rPr>
              <a:t>Linux</a:t>
            </a:r>
            <a:r>
              <a:rPr lang="ru-RU" sz="2300" dirty="0">
                <a:latin typeface="Bookman Old Style" panose="02050604050505020204" pitchFamily="18" charset="0"/>
              </a:rPr>
              <a:t> (а в частности </a:t>
            </a:r>
            <a:r>
              <a:rPr lang="ru-RU" sz="2300" dirty="0" err="1">
                <a:latin typeface="Bookman Old Style" panose="02050604050505020204" pitchFamily="18" charset="0"/>
              </a:rPr>
              <a:t>Линуса</a:t>
            </a:r>
            <a:r>
              <a:rPr lang="ru-RU" sz="2300" dirty="0">
                <a:latin typeface="Bookman Old Style" panose="02050604050505020204" pitchFamily="18" charset="0"/>
              </a:rPr>
              <a:t> </a:t>
            </a:r>
            <a:r>
              <a:rPr lang="ru-RU" sz="2300" dirty="0" err="1">
                <a:latin typeface="Bookman Old Style" panose="02050604050505020204" pitchFamily="18" charset="0"/>
              </a:rPr>
              <a:t>Торвальдса</a:t>
            </a:r>
            <a:r>
              <a:rPr lang="ru-RU" sz="2300" dirty="0">
                <a:latin typeface="Bookman Old Style" panose="02050604050505020204" pitchFamily="18" charset="0"/>
              </a:rPr>
              <a:t> — создателя </a:t>
            </a:r>
            <a:r>
              <a:rPr lang="ru-RU" sz="2300" dirty="0" err="1">
                <a:latin typeface="Bookman Old Style" panose="02050604050505020204" pitchFamily="18" charset="0"/>
              </a:rPr>
              <a:t>Linux</a:t>
            </a:r>
            <a:r>
              <a:rPr lang="ru-RU" sz="2300" dirty="0">
                <a:latin typeface="Bookman Old Style" panose="02050604050505020204" pitchFamily="18" charset="0"/>
              </a:rPr>
              <a:t>) разработать свою собственную утилиту, учитывая уроки, полученные при работе с </a:t>
            </a:r>
            <a:r>
              <a:rPr lang="ru-RU" sz="2300" dirty="0" err="1">
                <a:latin typeface="Bookman Old Style" panose="02050604050505020204" pitchFamily="18" charset="0"/>
              </a:rPr>
              <a:t>BitKeeper</a:t>
            </a:r>
            <a:r>
              <a:rPr lang="ru-RU" sz="2300" dirty="0">
                <a:latin typeface="Bookman Old Style" panose="02050604050505020204" pitchFamily="18" charset="0"/>
              </a:rPr>
              <a:t>. </a:t>
            </a:r>
            <a:endParaRPr lang="en-US" sz="2300" dirty="0" smtClean="0">
              <a:latin typeface="Bookman Old Style" panose="02050604050505020204" pitchFamily="18" charset="0"/>
            </a:endParaRPr>
          </a:p>
        </p:txBody>
      </p:sp>
      <p:sp>
        <p:nvSpPr>
          <p:cNvPr id="5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0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История создания </a:t>
            </a:r>
            <a:r>
              <a:rPr lang="en-US" sz="2800" b="1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Git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854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Некоторыми </a:t>
            </a:r>
            <a:r>
              <a:rPr lang="ru-RU" sz="2400" dirty="0">
                <a:latin typeface="Bookman Old Style" panose="02050604050505020204" pitchFamily="18" charset="0"/>
              </a:rPr>
              <a:t>целями, которые преследовала новая система, были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  <a:endParaRPr lang="ru-RU" sz="2400" dirty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Bookman Old Style" panose="02050604050505020204" pitchFamily="18" charset="0"/>
              </a:rPr>
              <a:t>Скорость</a:t>
            </a:r>
            <a:endParaRPr lang="ru-RU" sz="2400" dirty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Bookman Old Style" panose="02050604050505020204" pitchFamily="18" charset="0"/>
              </a:rPr>
              <a:t>Простая </a:t>
            </a:r>
            <a:r>
              <a:rPr lang="ru-RU" sz="2400" dirty="0" smtClean="0">
                <a:latin typeface="Bookman Old Style" panose="02050604050505020204" pitchFamily="18" charset="0"/>
              </a:rPr>
              <a:t>архитектура</a:t>
            </a:r>
            <a:endParaRPr lang="ru-RU" sz="2400" dirty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Bookman Old Style" panose="02050604050505020204" pitchFamily="18" charset="0"/>
              </a:rPr>
              <a:t>Хорошая поддержка нелинейной разработки (тысячи параллельных веток</a:t>
            </a:r>
            <a:r>
              <a:rPr lang="ru-RU" sz="2400" dirty="0" smtClean="0">
                <a:latin typeface="Bookman Old Style" panose="02050604050505020204" pitchFamily="18" charset="0"/>
              </a:rPr>
              <a:t>)</a:t>
            </a:r>
            <a:endParaRPr lang="ru-RU" sz="2400" dirty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Bookman Old Style" panose="02050604050505020204" pitchFamily="18" charset="0"/>
              </a:rPr>
              <a:t>Полная </a:t>
            </a:r>
            <a:r>
              <a:rPr lang="ru-RU" sz="2400" dirty="0" smtClean="0">
                <a:latin typeface="Bookman Old Style" panose="02050604050505020204" pitchFamily="18" charset="0"/>
              </a:rPr>
              <a:t>децентрализация</a:t>
            </a:r>
            <a:endParaRPr lang="ru-RU" sz="2400" dirty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Bookman Old Style" panose="02050604050505020204" pitchFamily="18" charset="0"/>
              </a:rPr>
              <a:t>Возможность эффективного управления большими проектами, такими как ядро </a:t>
            </a:r>
            <a:r>
              <a:rPr lang="ru-RU" sz="2400" dirty="0" err="1">
                <a:latin typeface="Bookman Old Style" panose="02050604050505020204" pitchFamily="18" charset="0"/>
              </a:rPr>
              <a:t>Linux</a:t>
            </a:r>
            <a:r>
              <a:rPr lang="ru-RU" sz="2400" dirty="0">
                <a:latin typeface="Bookman Old Style" panose="02050604050505020204" pitchFamily="18" charset="0"/>
              </a:rPr>
              <a:t> (скорость работы и разумное использование дискового пространства)</a:t>
            </a:r>
            <a:endParaRPr lang="en-US" sz="2400" dirty="0" smtClean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1736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07333" cy="3416320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Официальный сайт </a:t>
            </a:r>
            <a:r>
              <a:rPr lang="ru-RU" sz="2400" dirty="0" smtClean="0">
                <a:latin typeface="Bookman Old Style" panose="02050604050505020204" pitchFamily="18" charset="0"/>
              </a:rPr>
              <a:t>программы: </a:t>
            </a:r>
            <a:r>
              <a:rPr lang="en-US" sz="2400" dirty="0">
                <a:latin typeface="Bookman Old Style" panose="02050604050505020204" pitchFamily="18" charset="0"/>
                <a:hlinkClick r:id="rId3"/>
              </a:rPr>
              <a:t>https://git-scm.com</a:t>
            </a:r>
            <a:r>
              <a:rPr lang="en-US" sz="2400" dirty="0" smtClean="0">
                <a:latin typeface="Bookman Old Style" panose="02050604050505020204" pitchFamily="18" charset="0"/>
                <a:hlinkClick r:id="rId3"/>
              </a:rPr>
              <a:t>/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Литература</a:t>
            </a:r>
            <a:r>
              <a:rPr lang="ru-RU" sz="2400" dirty="0" smtClean="0">
                <a:latin typeface="Bookman Old Style" panose="02050604050505020204" pitchFamily="18" charset="0"/>
              </a:rPr>
              <a:t> (полезные ссылки):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Bookman Old Style" panose="02050604050505020204" pitchFamily="18" charset="0"/>
                <a:hlinkClick r:id="rId4"/>
              </a:rPr>
              <a:t>https://</a:t>
            </a:r>
            <a:r>
              <a:rPr lang="en-US" sz="2400" dirty="0" smtClean="0">
                <a:latin typeface="Bookman Old Style" panose="02050604050505020204" pitchFamily="18" charset="0"/>
                <a:hlinkClick r:id="rId4"/>
              </a:rPr>
              <a:t>ru.hexlet.io/courses/intro_to_git</a:t>
            </a:r>
            <a:r>
              <a:rPr lang="ru-RU" sz="2400" dirty="0" smtClean="0">
                <a:latin typeface="Bookman Old Style" panose="02050604050505020204" pitchFamily="18" charset="0"/>
              </a:rPr>
              <a:t> 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Bookman Old Style" panose="02050604050505020204" pitchFamily="18" charset="0"/>
                <a:hlinkClick r:id="rId5"/>
              </a:rPr>
              <a:t>https://</a:t>
            </a:r>
            <a:r>
              <a:rPr lang="en-US" sz="2400" dirty="0" smtClean="0">
                <a:latin typeface="Bookman Old Style" panose="02050604050505020204" pitchFamily="18" charset="0"/>
                <a:hlinkClick r:id="rId5"/>
              </a:rPr>
              <a:t>githowto.com/ru/setup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Bookman Old Style" panose="02050604050505020204" pitchFamily="18" charset="0"/>
                <a:hlinkClick r:id="rId6"/>
              </a:rPr>
              <a:t>https://learngitbranching.js.org/?</a:t>
            </a:r>
            <a:r>
              <a:rPr lang="en-US" sz="2400" dirty="0" smtClean="0">
                <a:latin typeface="Bookman Old Style" panose="02050604050505020204" pitchFamily="18" charset="0"/>
                <a:hlinkClick r:id="rId6"/>
              </a:rPr>
              <a:t>locale=ru_RU</a:t>
            </a:r>
            <a:r>
              <a:rPr lang="ru-RU" sz="2400" dirty="0" smtClean="0">
                <a:latin typeface="Bookman Old Style" panose="02050604050505020204" pitchFamily="18" charset="0"/>
              </a:rPr>
              <a:t> (тренажер по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</a:t>
            </a:r>
            <a:r>
              <a:rPr lang="ru-RU" sz="2400" dirty="0" smtClean="0">
                <a:latin typeface="Bookman Old Style" panose="02050604050505020204" pitchFamily="18" charset="0"/>
              </a:rPr>
              <a:t>)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Bookman Old Style" panose="02050604050505020204" pitchFamily="18" charset="0"/>
                <a:hlinkClick r:id="rId7"/>
              </a:rPr>
              <a:t>https://</a:t>
            </a:r>
            <a:r>
              <a:rPr lang="en-US" sz="2400" dirty="0" smtClean="0">
                <a:latin typeface="Bookman Old Style" panose="02050604050505020204" pitchFamily="18" charset="0"/>
                <a:hlinkClick r:id="rId7"/>
              </a:rPr>
              <a:t>www.youtube.com/watch?v=zZBiln_2FhM</a:t>
            </a:r>
            <a:r>
              <a:rPr lang="ru-RU" sz="2400" dirty="0" smtClean="0">
                <a:latin typeface="Bookman Old Style" panose="02050604050505020204" pitchFamily="18" charset="0"/>
              </a:rPr>
              <a:t> (видео-урок)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777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Термины:</a:t>
            </a:r>
          </a:p>
          <a:p>
            <a:pPr algn="just">
              <a:lnSpc>
                <a:spcPct val="150000"/>
              </a:lnSpc>
            </a:pP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 – любая папка, в которой, например, находится наш проект.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Ветка (</a:t>
            </a:r>
            <a:r>
              <a:rPr lang="en-US" sz="2400" dirty="0" smtClean="0">
                <a:latin typeface="Bookman Old Style" panose="02050604050505020204" pitchFamily="18" charset="0"/>
              </a:rPr>
              <a:t>Branch</a:t>
            </a:r>
            <a:r>
              <a:rPr lang="ru-RU" sz="2400" dirty="0" smtClean="0">
                <a:latin typeface="Bookman Old Style" panose="02050604050505020204" pitchFamily="18" charset="0"/>
              </a:rPr>
              <a:t>)</a:t>
            </a:r>
            <a:r>
              <a:rPr lang="en-US" sz="2400" dirty="0" smtClean="0">
                <a:latin typeface="Bookman Old Style" panose="02050604050505020204" pitchFamily="18" charset="0"/>
              </a:rPr>
              <a:t> – </a:t>
            </a:r>
            <a:r>
              <a:rPr lang="ru-RU" sz="2400" dirty="0" smtClean="0">
                <a:latin typeface="Bookman Old Style" panose="02050604050505020204" pitchFamily="18" charset="0"/>
              </a:rPr>
              <a:t>представляет собой какую-то версию нашего проекта (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репозитория</a:t>
            </a:r>
            <a:r>
              <a:rPr lang="ru-RU" sz="2400" dirty="0" smtClean="0">
                <a:latin typeface="Bookman Old Style" panose="02050604050505020204" pitchFamily="18" charset="0"/>
              </a:rPr>
              <a:t>).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Шаги по работе с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b="1" dirty="0">
                <a:latin typeface="Bookman Old Style" panose="02050604050505020204" pitchFamily="18" charset="0"/>
              </a:rPr>
              <a:t>:</a:t>
            </a:r>
            <a:endParaRPr lang="ru-RU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Устанавливаем </a:t>
            </a:r>
            <a:r>
              <a:rPr lang="en-US" sz="2400" dirty="0" err="1">
                <a:latin typeface="Bookman Old Style" panose="02050604050505020204" pitchFamily="18" charset="0"/>
              </a:rPr>
              <a:t>Git</a:t>
            </a:r>
            <a:r>
              <a:rPr lang="en-US" sz="2400" dirty="0">
                <a:latin typeface="Bookman Old Style" panose="02050604050505020204" pitchFamily="18" charset="0"/>
              </a:rPr>
              <a:t> (</a:t>
            </a:r>
            <a:r>
              <a:rPr lang="ru-RU" sz="2400" dirty="0">
                <a:latin typeface="Bookman Old Style" panose="02050604050505020204" pitchFamily="18" charset="0"/>
              </a:rPr>
              <a:t>все опции оставляем по умолчанию</a:t>
            </a:r>
            <a:r>
              <a:rPr lang="en-US" sz="2400" dirty="0" smtClean="0">
                <a:latin typeface="Bookman Old Style" panose="02050604050505020204" pitchFamily="18" charset="0"/>
              </a:rPr>
              <a:t>).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Создаем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 (папку).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l="14250" t="5543" r="12151" b="13872"/>
          <a:stretch/>
        </p:blipFill>
        <p:spPr>
          <a:xfrm>
            <a:off x="5902036" y="3917487"/>
            <a:ext cx="2909455" cy="2776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377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392400"/>
            <a:ext cx="12192000" cy="64633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Заходим в папку, нажимаем ПКМ и выбираем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b="1" dirty="0" smtClean="0">
                <a:latin typeface="Bookman Old Style" panose="02050604050505020204" pitchFamily="18" charset="0"/>
              </a:rPr>
              <a:t> Bash Here</a:t>
            </a:r>
            <a:r>
              <a:rPr lang="en-US" sz="2400" dirty="0" smtClean="0">
                <a:latin typeface="Bookman Old Style" panose="02050604050505020204" pitchFamily="18" charset="0"/>
              </a:rPr>
              <a:t>.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3"/>
          <a:srcRect l="18211" t="66698" r="16830"/>
          <a:stretch/>
        </p:blipFill>
        <p:spPr>
          <a:xfrm>
            <a:off x="3106417" y="1277256"/>
            <a:ext cx="8197431" cy="3973286"/>
          </a:xfrm>
          <a:prstGeom prst="rect">
            <a:avLst/>
          </a:prstGeom>
        </p:spPr>
      </p:pic>
      <p:cxnSp>
        <p:nvCxnSpPr>
          <p:cNvPr id="12" name="Прямая со стрелкой 11"/>
          <p:cNvCxnSpPr/>
          <p:nvPr/>
        </p:nvCxnSpPr>
        <p:spPr>
          <a:xfrm>
            <a:off x="1669143" y="4934858"/>
            <a:ext cx="1666817" cy="1451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3246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2476337"/>
            <a:ext cx="12192000" cy="64633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Для инициализации </a:t>
            </a:r>
            <a:r>
              <a:rPr lang="ru-RU" sz="2400" dirty="0" err="1">
                <a:latin typeface="Bookman Old Style" panose="02050604050505020204" pitchFamily="18" charset="0"/>
              </a:rPr>
              <a:t>репозитория</a:t>
            </a:r>
            <a:r>
              <a:rPr lang="ru-RU" sz="2400" dirty="0">
                <a:latin typeface="Bookman Old Style" panose="02050604050505020204" pitchFamily="18" charset="0"/>
              </a:rPr>
              <a:t> пишем команду </a:t>
            </a:r>
            <a:r>
              <a:rPr lang="en-US" sz="2400" b="1" dirty="0" err="1">
                <a:latin typeface="Bookman Old Style" panose="02050604050505020204" pitchFamily="18" charset="0"/>
              </a:rPr>
              <a:t>git</a:t>
            </a:r>
            <a:r>
              <a:rPr lang="en-US" sz="2400" b="1" dirty="0">
                <a:latin typeface="Bookman Old Style" panose="02050604050505020204" pitchFamily="18" charset="0"/>
              </a:rPr>
              <a:t>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init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l="-1" r="39359" b="74168"/>
          <a:stretch/>
        </p:blipFill>
        <p:spPr>
          <a:xfrm>
            <a:off x="498764" y="0"/>
            <a:ext cx="11074399" cy="122056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l="60503" t="6988" b="74168"/>
          <a:stretch/>
        </p:blipFill>
        <p:spPr>
          <a:xfrm>
            <a:off x="498764" y="1202248"/>
            <a:ext cx="7212975" cy="89036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3"/>
          <a:srcRect l="-1" t="25924" r="30805" b="254"/>
          <a:stretch/>
        </p:blipFill>
        <p:spPr>
          <a:xfrm>
            <a:off x="498764" y="3348385"/>
            <a:ext cx="11205556" cy="309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315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3970318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 можно поместить абсолютно любой файл или папку.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Создадим в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репозитории</a:t>
            </a:r>
            <a:r>
              <a:rPr lang="ru-RU" sz="2400" dirty="0" smtClean="0">
                <a:latin typeface="Bookman Old Style" panose="02050604050505020204" pitchFamily="18" charset="0"/>
              </a:rPr>
              <a:t> текстовый файл (</a:t>
            </a:r>
            <a:r>
              <a:rPr lang="en-US" sz="2400" dirty="0" smtClean="0">
                <a:latin typeface="Bookman Old Style" panose="02050604050505020204" pitchFamily="18" charset="0"/>
              </a:rPr>
              <a:t>file</a:t>
            </a:r>
            <a:r>
              <a:rPr lang="ru-RU" sz="2400" dirty="0" smtClean="0">
                <a:latin typeface="Bookman Old Style" panose="02050604050505020204" pitchFamily="18" charset="0"/>
              </a:rPr>
              <a:t> 1.</a:t>
            </a:r>
            <a:r>
              <a:rPr lang="en-US" sz="2400" dirty="0" smtClean="0">
                <a:latin typeface="Bookman Old Style" panose="02050604050505020204" pitchFamily="18" charset="0"/>
              </a:rPr>
              <a:t>txt</a:t>
            </a:r>
            <a:r>
              <a:rPr lang="ru-RU" sz="2400" dirty="0" smtClean="0">
                <a:latin typeface="Bookman Old Style" panose="02050604050505020204" pitchFamily="18" charset="0"/>
              </a:rPr>
              <a:t>):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Закроем файл и с помощью команды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b="1" dirty="0" smtClean="0">
                <a:latin typeface="Bookman Old Style" panose="02050604050505020204" pitchFamily="18" charset="0"/>
              </a:rPr>
              <a:t> status </a:t>
            </a:r>
            <a:r>
              <a:rPr lang="ru-RU" sz="2400" dirty="0" smtClean="0">
                <a:latin typeface="Bookman Old Style" panose="02050604050505020204" pitchFamily="18" charset="0"/>
              </a:rPr>
              <a:t>посмотрим на состояние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репозитория</a:t>
            </a:r>
            <a:r>
              <a:rPr lang="ru-RU" sz="2400" dirty="0">
                <a:latin typeface="Bookman Old Style" panose="02050604050505020204" pitchFamily="18" charset="0"/>
              </a:rPr>
              <a:t>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567" y="1294500"/>
            <a:ext cx="6468378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662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64633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Введем команду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b="1" dirty="0" smtClean="0">
                <a:latin typeface="Bookman Old Style" panose="02050604050505020204" pitchFamily="18" charset="0"/>
              </a:rPr>
              <a:t> status</a:t>
            </a:r>
            <a:endParaRPr lang="ru-RU" sz="2400" b="1" dirty="0" smtClean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61" y="583686"/>
            <a:ext cx="10655079" cy="567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16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Bookman Old Style" panose="02050604050505020204" pitchFamily="18" charset="0"/>
              </a:rPr>
              <a:t>On branch master </a:t>
            </a:r>
            <a:r>
              <a:rPr lang="ru-RU" sz="2400" dirty="0" smtClean="0">
                <a:latin typeface="Bookman Old Style" panose="02050604050505020204" pitchFamily="18" charset="0"/>
              </a:rPr>
              <a:t>говорит о том на какой ветке мы находимся (</a:t>
            </a:r>
            <a:r>
              <a:rPr lang="en-US" sz="2400" dirty="0" smtClean="0">
                <a:latin typeface="Bookman Old Style" panose="02050604050505020204" pitchFamily="18" charset="0"/>
              </a:rPr>
              <a:t>master</a:t>
            </a:r>
            <a:r>
              <a:rPr lang="ru-RU" sz="2400" dirty="0" smtClean="0">
                <a:latin typeface="Bookman Old Style" panose="02050604050505020204" pitchFamily="18" charset="0"/>
              </a:rPr>
              <a:t>).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Bookman Old Style" panose="02050604050505020204" pitchFamily="18" charset="0"/>
              </a:rPr>
              <a:t>No commits yet </a:t>
            </a:r>
            <a:r>
              <a:rPr lang="ru-RU" sz="2400" dirty="0" smtClean="0">
                <a:latin typeface="Bookman Old Style" panose="02050604050505020204" pitchFamily="18" charset="0"/>
              </a:rPr>
              <a:t>означает, что мы ещё не фиксировали изменения в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репозитории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Bookman Old Style" panose="02050604050505020204" pitchFamily="18" charset="0"/>
              </a:rPr>
              <a:t>Untracked files </a:t>
            </a:r>
            <a:r>
              <a:rPr lang="ru-RU" sz="2400" dirty="0" smtClean="0">
                <a:latin typeface="Bookman Old Style" panose="02050604050505020204" pitchFamily="18" charset="0"/>
              </a:rPr>
              <a:t>содержит список файлов, которые были изменены или добавлены, но эти действия ещё не добавлены в список для фиксации.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данном случае это файл </a:t>
            </a:r>
            <a:r>
              <a:rPr lang="en-US" sz="2400" b="1" dirty="0" smtClean="0">
                <a:latin typeface="Bookman Old Style" panose="02050604050505020204" pitchFamily="18" charset="0"/>
              </a:rPr>
              <a:t>file 1.txt</a:t>
            </a:r>
            <a:endParaRPr lang="ru-RU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Bookman Old Style" panose="02050604050505020204" pitchFamily="18" charset="0"/>
              </a:rPr>
              <a:t>Nothing added to commit </a:t>
            </a:r>
            <a:r>
              <a:rPr lang="ru-RU" sz="2400" dirty="0" smtClean="0">
                <a:latin typeface="Bookman Old Style" panose="02050604050505020204" pitchFamily="18" charset="0"/>
              </a:rPr>
              <a:t>говорит о том, что мы ничего не добавили для фиксации изменений в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репозитории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3039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3970318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Добавим </a:t>
            </a:r>
            <a:r>
              <a:rPr lang="ru-RU" sz="2400" dirty="0">
                <a:latin typeface="Bookman Old Style" panose="02050604050505020204" pitchFamily="18" charset="0"/>
              </a:rPr>
              <a:t>изменения командой </a:t>
            </a:r>
            <a:r>
              <a:rPr lang="en-US" sz="2400" b="1" dirty="0" err="1">
                <a:latin typeface="Bookman Old Style" panose="02050604050505020204" pitchFamily="18" charset="0"/>
              </a:rPr>
              <a:t>git</a:t>
            </a:r>
            <a:r>
              <a:rPr lang="en-US" sz="2400" b="1" dirty="0">
                <a:latin typeface="Bookman Old Style" panose="02050604050505020204" pitchFamily="18" charset="0"/>
              </a:rPr>
              <a:t> add</a:t>
            </a:r>
            <a:r>
              <a:rPr lang="ru-RU" sz="2400" b="1" dirty="0">
                <a:latin typeface="Bookman Old Style" panose="02050604050505020204" pitchFamily="18" charset="0"/>
              </a:rPr>
              <a:t> «название файла или папки»</a:t>
            </a:r>
            <a:r>
              <a:rPr lang="ru-RU" sz="2400" dirty="0">
                <a:latin typeface="Bookman Old Style" panose="02050604050505020204" pitchFamily="18" charset="0"/>
              </a:rPr>
              <a:t>, чтобы добавить все изменения необходимо ввести </a:t>
            </a:r>
            <a:r>
              <a:rPr lang="ru-RU" sz="2400" b="1" dirty="0">
                <a:latin typeface="Bookman Old Style" panose="02050604050505020204" pitchFamily="18" charset="0"/>
              </a:rPr>
              <a:t>«</a:t>
            </a:r>
            <a:r>
              <a:rPr lang="en-US" sz="2400" b="1" dirty="0" err="1">
                <a:latin typeface="Bookman Old Style" panose="02050604050505020204" pitchFamily="18" charset="0"/>
              </a:rPr>
              <a:t>git</a:t>
            </a:r>
            <a:r>
              <a:rPr lang="en-US" sz="2400" b="1" dirty="0">
                <a:latin typeface="Bookman Old Style" panose="02050604050505020204" pitchFamily="18" charset="0"/>
              </a:rPr>
              <a:t> add .</a:t>
            </a:r>
            <a:r>
              <a:rPr lang="ru-RU" sz="2400" b="1" dirty="0" smtClean="0">
                <a:latin typeface="Bookman Old Style" panose="02050604050505020204" pitchFamily="18" charset="0"/>
              </a:rPr>
              <a:t>»</a:t>
            </a: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Если </a:t>
            </a:r>
            <a:r>
              <a:rPr lang="ru-RU" sz="2400" dirty="0">
                <a:latin typeface="Bookman Old Style" panose="02050604050505020204" pitchFamily="18" charset="0"/>
              </a:rPr>
              <a:t>ввести </a:t>
            </a:r>
            <a:r>
              <a:rPr lang="en-US" sz="2400" b="1" dirty="0" err="1">
                <a:latin typeface="Bookman Old Style" panose="02050604050505020204" pitchFamily="18" charset="0"/>
              </a:rPr>
              <a:t>git</a:t>
            </a:r>
            <a:r>
              <a:rPr lang="en-US" sz="2400" b="1" dirty="0">
                <a:latin typeface="Bookman Old Style" panose="02050604050505020204" pitchFamily="18" charset="0"/>
              </a:rPr>
              <a:t> status</a:t>
            </a:r>
            <a:r>
              <a:rPr lang="en-US" sz="2400" dirty="0">
                <a:latin typeface="Bookman Old Style" panose="02050604050505020204" pitchFamily="18" charset="0"/>
              </a:rPr>
              <a:t>, </a:t>
            </a:r>
            <a:r>
              <a:rPr lang="ru-RU" sz="2400" dirty="0">
                <a:latin typeface="Bookman Old Style" panose="02050604050505020204" pitchFamily="18" charset="0"/>
              </a:rPr>
              <a:t>то можно увидеть какие файлы ожидают фиксации (сейчас они ещё не сохранены</a:t>
            </a:r>
            <a:r>
              <a:rPr lang="ru-RU" sz="2400" dirty="0" smtClean="0">
                <a:latin typeface="Bookman Old Style" panose="02050604050505020204" pitchFamily="18" charset="0"/>
              </a:rPr>
              <a:t>).</a:t>
            </a:r>
            <a:endParaRPr lang="ru-RU" sz="2400" dirty="0" smtClean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t="51837" b="26192"/>
          <a:stretch/>
        </p:blipFill>
        <p:spPr>
          <a:xfrm>
            <a:off x="475465" y="1288963"/>
            <a:ext cx="11441257" cy="1337859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4"/>
          <a:srcRect t="16567" b="33441"/>
          <a:stretch/>
        </p:blipFill>
        <p:spPr>
          <a:xfrm>
            <a:off x="475465" y="3867150"/>
            <a:ext cx="11241069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91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Зафиксируем изменения (сохраним) с помощью команды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b="1" dirty="0" smtClean="0">
                <a:latin typeface="Bookman Old Style" panose="02050604050505020204" pitchFamily="18" charset="0"/>
              </a:rPr>
              <a:t> commit –m </a:t>
            </a:r>
            <a:r>
              <a:rPr lang="ru-RU" sz="2400" b="1" dirty="0" smtClean="0">
                <a:latin typeface="Bookman Old Style" panose="02050604050505020204" pitchFamily="18" charset="0"/>
              </a:rPr>
              <a:t>«Любой текст, описание </a:t>
            </a:r>
            <a:r>
              <a:rPr lang="ru-RU" sz="2400" b="1" dirty="0" err="1" smtClean="0">
                <a:latin typeface="Bookman Old Style" panose="02050604050505020204" pitchFamily="18" charset="0"/>
              </a:rPr>
              <a:t>комита</a:t>
            </a:r>
            <a:r>
              <a:rPr lang="ru-RU" sz="2400" b="1" dirty="0" smtClean="0">
                <a:latin typeface="Bookman Old Style" panose="02050604050505020204" pitchFamily="18" charset="0"/>
              </a:rPr>
              <a:t>»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Фиксация изменений выполнена успешно, 1 файл изменен.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Можно делать множество изменений, удалять, добавлять, изменять файлы.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t="34387" b="26128"/>
          <a:stretch/>
        </p:blipFill>
        <p:spPr>
          <a:xfrm>
            <a:off x="360219" y="1200329"/>
            <a:ext cx="11471564" cy="2410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184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7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Чтобы не отслеживать изменения некоторых файлов, необходимо создать специальный файл с расширением </a:t>
            </a:r>
            <a:r>
              <a:rPr lang="en-US" sz="2400" dirty="0" smtClean="0">
                <a:latin typeface="Bookman Old Style" panose="02050604050505020204" pitchFamily="18" charset="0"/>
              </a:rPr>
              <a:t>.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gitignore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данном файле перечисляются шаблоны (или конкретные названия) файлов, которые не будут отслеживаться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dirty="0" smtClean="0">
                <a:latin typeface="Bookman Old Style" panose="02050604050505020204" pitchFamily="18" charset="0"/>
              </a:rPr>
              <a:t>.</a:t>
            </a:r>
            <a:r>
              <a:rPr lang="ru-RU" sz="2400" dirty="0" smtClean="0">
                <a:latin typeface="Bookman Old Style" panose="02050604050505020204" pitchFamily="18" charset="0"/>
              </a:rPr>
              <a:t> 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Создадим такой файл со следующим содержимым: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 не попадет файл с именем </a:t>
            </a:r>
            <a:r>
              <a:rPr lang="en-US" sz="2400" dirty="0" smtClean="0">
                <a:latin typeface="Bookman Old Style" panose="02050604050505020204" pitchFamily="18" charset="0"/>
              </a:rPr>
              <a:t>file 2.txt</a:t>
            </a:r>
            <a:r>
              <a:rPr lang="ru-RU" sz="2400" dirty="0" smtClean="0">
                <a:latin typeface="Bookman Old Style" panose="02050604050505020204" pitchFamily="18" charset="0"/>
              </a:rPr>
              <a:t>, а также файлы с расширением </a:t>
            </a:r>
            <a:r>
              <a:rPr lang="en-US" sz="2400" dirty="0" smtClean="0">
                <a:latin typeface="Bookman Old Style" panose="02050604050505020204" pitchFamily="18" charset="0"/>
              </a:rPr>
              <a:t>.csv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ОБЯЗАТЕЛЬНО</a:t>
            </a:r>
            <a:r>
              <a:rPr lang="ru-RU" sz="2400" dirty="0" smtClean="0">
                <a:latin typeface="Bookman Old Style" panose="02050604050505020204" pitchFamily="18" charset="0"/>
              </a:rPr>
              <a:t> нужно зафиксировать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gitignore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файл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отдельным </a:t>
            </a:r>
            <a:r>
              <a:rPr lang="ru-RU" sz="2400" dirty="0" err="1" smtClean="0">
                <a:latin typeface="Bookman Old Style" panose="02050604050505020204" pitchFamily="18" charset="0"/>
              </a:rPr>
              <a:t>комитом</a:t>
            </a:r>
            <a:r>
              <a:rPr lang="ru-RU" sz="2400" dirty="0" smtClean="0">
                <a:latin typeface="Bookman Old Style" panose="02050604050505020204" pitchFamily="18" charset="0"/>
              </a:rPr>
              <a:t> ДО добавления файлов, 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которые нужно игнорировать.</a:t>
            </a:r>
            <a:endParaRPr lang="en-US" sz="2400" dirty="0" smtClean="0">
              <a:latin typeface="Bookman Old Style" panose="02050604050505020204" pitchFamily="18" charset="0"/>
            </a:endParaRPr>
          </a:p>
        </p:txBody>
      </p:sp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0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Игнорирование файлов, файл </a:t>
            </a:r>
            <a:r>
              <a:rPr lang="en-US" sz="2800" b="1" dirty="0" err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gitignore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4782" y="4086051"/>
            <a:ext cx="3009243" cy="22006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90653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Зафиксируем изменения с помощью команд </a:t>
            </a:r>
            <a:r>
              <a:rPr lang="en-US" sz="2400" dirty="0" smtClean="0">
                <a:latin typeface="Bookman Old Style" panose="02050604050505020204" pitchFamily="18" charset="0"/>
              </a:rPr>
              <a:t>add</a:t>
            </a:r>
            <a:r>
              <a:rPr lang="ru-RU" sz="2400" dirty="0" smtClean="0">
                <a:latin typeface="Bookman Old Style" panose="02050604050505020204" pitchFamily="18" charset="0"/>
              </a:rPr>
              <a:t> и</a:t>
            </a:r>
            <a:r>
              <a:rPr lang="en-US" sz="2400" dirty="0" smtClean="0">
                <a:latin typeface="Bookman Old Style" panose="02050604050505020204" pitchFamily="18" charset="0"/>
              </a:rPr>
              <a:t> commit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Далее эти команды можно совмещать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с помощью одной команды: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b="1" dirty="0" smtClean="0">
                <a:latin typeface="Bookman Old Style" panose="02050604050505020204" pitchFamily="18" charset="0"/>
              </a:rPr>
              <a:t> </a:t>
            </a:r>
            <a:r>
              <a:rPr lang="en-US" sz="2400" b="1" dirty="0">
                <a:latin typeface="Bookman Old Style" panose="02050604050505020204" pitchFamily="18" charset="0"/>
              </a:rPr>
              <a:t>commit </a:t>
            </a:r>
            <a:r>
              <a:rPr lang="en-US" sz="2400" b="1" dirty="0" smtClean="0">
                <a:latin typeface="Bookman Old Style" panose="02050604050505020204" pitchFamily="18" charset="0"/>
              </a:rPr>
              <a:t>-am </a:t>
            </a:r>
            <a:r>
              <a:rPr lang="ru-RU" sz="2400" b="1" dirty="0" smtClean="0">
                <a:latin typeface="Bookman Old Style" panose="02050604050505020204" pitchFamily="18" charset="0"/>
              </a:rPr>
              <a:t>«</a:t>
            </a:r>
            <a:r>
              <a:rPr lang="en-US" sz="2400" b="1" dirty="0" smtClean="0">
                <a:latin typeface="Bookman Old Style" panose="02050604050505020204" pitchFamily="18" charset="0"/>
              </a:rPr>
              <a:t>add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gitignore</a:t>
            </a:r>
            <a:r>
              <a:rPr lang="ru-RU" sz="2400" b="1" dirty="0" smtClean="0">
                <a:latin typeface="Bookman Old Style" panose="02050604050505020204" pitchFamily="18" charset="0"/>
              </a:rPr>
              <a:t>»</a:t>
            </a:r>
            <a:endParaRPr lang="en-US" sz="2400" b="1" dirty="0" smtClean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t="33867" b="26967"/>
          <a:stretch/>
        </p:blipFill>
        <p:spPr>
          <a:xfrm>
            <a:off x="352426" y="647329"/>
            <a:ext cx="11490440" cy="239513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4"/>
          <a:srcRect l="10859" t="11064" b="9151"/>
          <a:stretch/>
        </p:blipFill>
        <p:spPr>
          <a:xfrm>
            <a:off x="7777249" y="2330225"/>
            <a:ext cx="3467100" cy="2440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75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Теперь попробуем добавить файлы, которые должны </a:t>
            </a:r>
            <a:r>
              <a:rPr lang="ru-RU" sz="2400" dirty="0" smtClean="0">
                <a:latin typeface="Bookman Old Style" panose="02050604050505020204" pitchFamily="18" charset="0"/>
              </a:rPr>
              <a:t>игнорироваться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Видим, что изменения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репозитория</a:t>
            </a:r>
            <a:r>
              <a:rPr lang="ru-RU" sz="2400" dirty="0" smtClean="0">
                <a:latin typeface="Bookman Old Style" panose="02050604050505020204" pitchFamily="18" charset="0"/>
              </a:rPr>
              <a:t> не найдены. </a:t>
            </a:r>
            <a:r>
              <a:rPr lang="en-US" sz="2400" dirty="0" smtClean="0">
                <a:latin typeface="Bookman Old Style" panose="02050604050505020204" pitchFamily="18" charset="0"/>
              </a:rPr>
              <a:t>file 2.txt </a:t>
            </a:r>
            <a:r>
              <a:rPr lang="ru-RU" sz="2400" dirty="0" smtClean="0">
                <a:latin typeface="Bookman Old Style" panose="02050604050505020204" pitchFamily="18" charset="0"/>
              </a:rPr>
              <a:t>и </a:t>
            </a:r>
            <a:r>
              <a:rPr lang="en-US" sz="2400" dirty="0" smtClean="0">
                <a:latin typeface="Bookman Old Style" panose="02050604050505020204" pitchFamily="18" charset="0"/>
              </a:rPr>
              <a:t>file 3.csv </a:t>
            </a:r>
            <a:r>
              <a:rPr lang="ru-RU" sz="2400" dirty="0" smtClean="0">
                <a:latin typeface="Bookman Old Style" panose="02050604050505020204" pitchFamily="18" charset="0"/>
              </a:rPr>
              <a:t>не обнаруживаются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</a:t>
            </a:r>
            <a:r>
              <a:rPr lang="ru-RU" sz="2400" dirty="0" smtClean="0">
                <a:latin typeface="Bookman Old Style" panose="02050604050505020204" pitchFamily="18" charset="0"/>
              </a:rPr>
              <a:t>-ом</a:t>
            </a:r>
            <a:r>
              <a:rPr lang="en-US" sz="2400" dirty="0">
                <a:latin typeface="Bookman Old Style" panose="02050604050505020204" pitchFamily="18" charset="0"/>
              </a:rPr>
              <a:t>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583686"/>
            <a:ext cx="3443354" cy="4243323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4"/>
          <a:srcRect t="39492" r="30928" b="27391"/>
          <a:stretch/>
        </p:blipFill>
        <p:spPr>
          <a:xfrm>
            <a:off x="3443356" y="2607840"/>
            <a:ext cx="7928455" cy="201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99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7"/>
            <a:ext cx="12192000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Ветка</a:t>
            </a:r>
            <a:r>
              <a:rPr lang="ru-RU" sz="2400" dirty="0">
                <a:latin typeface="Bookman Old Style" panose="02050604050505020204" pitchFamily="18" charset="0"/>
              </a:rPr>
              <a:t> представляет собой независимое направление </a:t>
            </a:r>
            <a:r>
              <a:rPr lang="ru-RU" sz="2400" dirty="0" smtClean="0">
                <a:latin typeface="Bookman Old Style" panose="02050604050505020204" pitchFamily="18" charset="0"/>
              </a:rPr>
              <a:t>разработки.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Допустим </a:t>
            </a:r>
            <a:r>
              <a:rPr lang="ru-RU" sz="2400" dirty="0">
                <a:latin typeface="Bookman Old Style" panose="02050604050505020204" pitchFamily="18" charset="0"/>
              </a:rPr>
              <a:t>мы хотим добавить новый функционал в </a:t>
            </a:r>
            <a:r>
              <a:rPr lang="ru-RU" sz="2400" dirty="0" smtClean="0">
                <a:latin typeface="Bookman Old Style" panose="02050604050505020204" pitchFamily="18" charset="0"/>
              </a:rPr>
              <a:t>наш проект (программу), </a:t>
            </a:r>
            <a:r>
              <a:rPr lang="ru-RU" sz="2400" dirty="0">
                <a:latin typeface="Bookman Old Style" panose="02050604050505020204" pitchFamily="18" charset="0"/>
              </a:rPr>
              <a:t>но не уверены, понравится ли он заказчику, поэтому в случае чего хотим отменить изменения</a:t>
            </a:r>
            <a:r>
              <a:rPr lang="ru-RU" sz="2400" dirty="0" smtClean="0">
                <a:latin typeface="Bookman Old Style" panose="02050604050505020204" pitchFamily="18" charset="0"/>
              </a:rPr>
              <a:t>. Для этого существуют ветки, обычно основная версия программа хранится в ветке </a:t>
            </a:r>
            <a:r>
              <a:rPr lang="en-US" sz="2400" dirty="0" smtClean="0">
                <a:latin typeface="Bookman Old Style" panose="02050604050505020204" pitchFamily="18" charset="0"/>
              </a:rPr>
              <a:t>main </a:t>
            </a:r>
            <a:r>
              <a:rPr lang="ru-RU" sz="2400" dirty="0" smtClean="0">
                <a:latin typeface="Bookman Old Style" panose="02050604050505020204" pitchFamily="18" charset="0"/>
              </a:rPr>
              <a:t>или </a:t>
            </a:r>
            <a:r>
              <a:rPr lang="en-US" sz="2400" dirty="0" smtClean="0">
                <a:latin typeface="Bookman Old Style" panose="02050604050505020204" pitchFamily="18" charset="0"/>
              </a:rPr>
              <a:t>master, </a:t>
            </a:r>
            <a:r>
              <a:rPr lang="ru-RU" sz="2400" dirty="0" smtClean="0">
                <a:latin typeface="Bookman Old Style" panose="02050604050505020204" pitchFamily="18" charset="0"/>
              </a:rPr>
              <a:t>а разработчики создают отдельные ветки, в которых работают над программой, добавляют функционал, изменяют программу, что-то тестируют.</a:t>
            </a:r>
          </a:p>
        </p:txBody>
      </p:sp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0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Ветки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727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Чтобы создать ветку напишем команду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b="1" dirty="0" smtClean="0">
                <a:latin typeface="Bookman Old Style" panose="02050604050505020204" pitchFamily="18" charset="0"/>
              </a:rPr>
              <a:t> branch test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и перейдем на данную ветку командой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b="1" dirty="0" smtClean="0">
                <a:latin typeface="Bookman Old Style" panose="02050604050505020204" pitchFamily="18" charset="0"/>
              </a:rPr>
              <a:t> checkout test</a:t>
            </a:r>
          </a:p>
          <a:p>
            <a:pPr algn="just">
              <a:lnSpc>
                <a:spcPct val="150000"/>
              </a:lnSpc>
            </a:pPr>
            <a:endParaRPr lang="en-US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Заметим, что теперь в скобках отображается </a:t>
            </a:r>
            <a:r>
              <a:rPr lang="en-US" sz="2400" b="1" dirty="0" smtClean="0">
                <a:latin typeface="Bookman Old Style" panose="02050604050505020204" pitchFamily="18" charset="0"/>
              </a:rPr>
              <a:t>test </a:t>
            </a:r>
            <a:r>
              <a:rPr lang="en-US" sz="2400" dirty="0" smtClean="0">
                <a:latin typeface="Bookman Old Style" panose="02050604050505020204" pitchFamily="18" charset="0"/>
              </a:rPr>
              <a:t>– </a:t>
            </a:r>
            <a:r>
              <a:rPr lang="ru-RU" sz="2400" dirty="0" smtClean="0">
                <a:latin typeface="Bookman Old Style" panose="02050604050505020204" pitchFamily="18" charset="0"/>
              </a:rPr>
              <a:t>текущая ветка.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t="45231"/>
          <a:stretch/>
        </p:blipFill>
        <p:spPr>
          <a:xfrm>
            <a:off x="442123" y="1186919"/>
            <a:ext cx="11307753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09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3416320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Изменим наш файл </a:t>
            </a:r>
            <a:r>
              <a:rPr lang="en-US" sz="2400" dirty="0" smtClean="0">
                <a:latin typeface="Bookman Old Style" panose="02050604050505020204" pitchFamily="18" charset="0"/>
              </a:rPr>
              <a:t>file 1.txt</a:t>
            </a: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Фиксируем изменения </a:t>
            </a:r>
            <a:r>
              <a:rPr lang="en-US" sz="2400" b="1" dirty="0" err="1">
                <a:latin typeface="Bookman Old Style" panose="02050604050505020204" pitchFamily="18" charset="0"/>
              </a:rPr>
              <a:t>git</a:t>
            </a:r>
            <a:r>
              <a:rPr lang="en-US" sz="2400" b="1" dirty="0">
                <a:latin typeface="Bookman Old Style" panose="02050604050505020204" pitchFamily="18" charset="0"/>
              </a:rPr>
              <a:t> commit -am </a:t>
            </a:r>
            <a:r>
              <a:rPr lang="ru-RU" sz="2400" b="1" dirty="0" smtClean="0">
                <a:latin typeface="Bookman Old Style" panose="02050604050505020204" pitchFamily="18" charset="0"/>
              </a:rPr>
              <a:t>«</a:t>
            </a:r>
            <a:r>
              <a:rPr lang="en-US" sz="2400" b="1" dirty="0" smtClean="0">
                <a:latin typeface="Bookman Old Style" panose="02050604050505020204" pitchFamily="18" charset="0"/>
              </a:rPr>
              <a:t>edit file2</a:t>
            </a:r>
            <a:r>
              <a:rPr lang="ru-RU" sz="2400" b="1" dirty="0" smtClean="0">
                <a:latin typeface="Bookman Old Style" panose="02050604050505020204" pitchFamily="18" charset="0"/>
              </a:rPr>
              <a:t>»</a:t>
            </a:r>
            <a:endParaRPr lang="en-US" sz="2400" b="1" dirty="0">
              <a:latin typeface="Bookman Old Style" panose="020506040505050202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225" y="703975"/>
            <a:ext cx="7067550" cy="200837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4"/>
          <a:srcRect t="40333" b="4140"/>
          <a:stretch/>
        </p:blipFill>
        <p:spPr>
          <a:xfrm>
            <a:off x="442123" y="3416320"/>
            <a:ext cx="11307753" cy="332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40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Чтобы наши изменения перешли в ветку </a:t>
            </a:r>
            <a:r>
              <a:rPr lang="en-US" sz="2400" dirty="0" smtClean="0">
                <a:latin typeface="Bookman Old Style" panose="02050604050505020204" pitchFamily="18" charset="0"/>
              </a:rPr>
              <a:t>master </a:t>
            </a:r>
            <a:r>
              <a:rPr lang="ru-RU" sz="2400" dirty="0" smtClean="0">
                <a:latin typeface="Bookman Old Style" panose="02050604050505020204" pitchFamily="18" charset="0"/>
              </a:rPr>
              <a:t>необходимо перейти в </a:t>
            </a:r>
            <a:r>
              <a:rPr lang="en-US" sz="2400" dirty="0" smtClean="0">
                <a:latin typeface="Bookman Old Style" panose="02050604050505020204" pitchFamily="18" charset="0"/>
              </a:rPr>
              <a:t>master </a:t>
            </a:r>
            <a:r>
              <a:rPr lang="ru-RU" sz="2400" dirty="0" smtClean="0">
                <a:latin typeface="Bookman Old Style" panose="02050604050505020204" pitchFamily="18" charset="0"/>
              </a:rPr>
              <a:t>и выполнить слияние с веткой </a:t>
            </a:r>
            <a:r>
              <a:rPr lang="en-US" sz="2400" dirty="0" smtClean="0">
                <a:latin typeface="Bookman Old Style" panose="02050604050505020204" pitchFamily="18" charset="0"/>
              </a:rPr>
              <a:t>test: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err="1">
                <a:latin typeface="Bookman Old Style" panose="02050604050505020204" pitchFamily="18" charset="0"/>
              </a:rPr>
              <a:t>git</a:t>
            </a:r>
            <a:r>
              <a:rPr lang="en-US" sz="2400" b="1" dirty="0">
                <a:latin typeface="Bookman Old Style" panose="02050604050505020204" pitchFamily="18" charset="0"/>
              </a:rPr>
              <a:t> </a:t>
            </a:r>
            <a:r>
              <a:rPr lang="en-US" sz="2400" b="1" dirty="0" smtClean="0">
                <a:latin typeface="Bookman Old Style" panose="02050604050505020204" pitchFamily="18" charset="0"/>
              </a:rPr>
              <a:t>checkout master</a:t>
            </a:r>
            <a:endParaRPr lang="en-US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b="1" dirty="0" smtClean="0">
                <a:latin typeface="Bookman Old Style" panose="02050604050505020204" pitchFamily="18" charset="0"/>
              </a:rPr>
              <a:t> merge test</a:t>
            </a:r>
            <a:endParaRPr lang="ru-RU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Теперь ветка </a:t>
            </a:r>
            <a:r>
              <a:rPr lang="en-US" sz="2400" dirty="0" smtClean="0">
                <a:latin typeface="Bookman Old Style" panose="02050604050505020204" pitchFamily="18" charset="0"/>
              </a:rPr>
              <a:t>master </a:t>
            </a:r>
            <a:r>
              <a:rPr lang="ru-RU" sz="2400" dirty="0" smtClean="0">
                <a:latin typeface="Bookman Old Style" panose="02050604050505020204" pitchFamily="18" charset="0"/>
              </a:rPr>
              <a:t>содержит изменения из </a:t>
            </a:r>
            <a:r>
              <a:rPr lang="en-US" sz="2400" dirty="0" smtClean="0">
                <a:latin typeface="Bookman Old Style" panose="02050604050505020204" pitchFamily="18" charset="0"/>
              </a:rPr>
              <a:t>test. </a:t>
            </a:r>
            <a:r>
              <a:rPr lang="ru-RU" sz="2400" dirty="0" smtClean="0">
                <a:latin typeface="Bookman Old Style" panose="02050604050505020204" pitchFamily="18" charset="0"/>
              </a:rPr>
              <a:t>Если бы мы решили, что изменения из </a:t>
            </a:r>
            <a:r>
              <a:rPr lang="en-US" sz="2400" dirty="0" smtClean="0">
                <a:latin typeface="Bookman Old Style" panose="02050604050505020204" pitchFamily="18" charset="0"/>
              </a:rPr>
              <a:t>test </a:t>
            </a:r>
            <a:r>
              <a:rPr lang="ru-RU" sz="2400" dirty="0" smtClean="0">
                <a:latin typeface="Bookman Old Style" panose="02050604050505020204" pitchFamily="18" charset="0"/>
              </a:rPr>
              <a:t>нам не нужны (неудачная версия проекта), то мы бы не делали слияние.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t="28028" b="26755"/>
          <a:stretch/>
        </p:blipFill>
        <p:spPr>
          <a:xfrm>
            <a:off x="442123" y="2275073"/>
            <a:ext cx="11307753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353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0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Конфликт слияния веток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654357"/>
            <a:ext cx="12192000" cy="3416320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Конфликт слияния веток возникает только тогда, когда был изменен </a:t>
            </a:r>
            <a:r>
              <a:rPr lang="ru-RU" sz="2400" dirty="0">
                <a:latin typeface="Bookman Old Style" panose="02050604050505020204" pitchFamily="18" charset="0"/>
              </a:rPr>
              <a:t>разным способом</a:t>
            </a:r>
            <a:r>
              <a:rPr lang="ru-RU" sz="2400" dirty="0" smtClean="0">
                <a:latin typeface="Bookman Old Style" panose="02050604050505020204" pitchFamily="18" charset="0"/>
              </a:rPr>
              <a:t> один и тот же файл в одной и той же ветке, либо когда производится слияние веток с разными изменениями одного и того же файла.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Смоделируем конфликт слияния: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ветке </a:t>
            </a:r>
            <a:r>
              <a:rPr lang="en-US" sz="2400" dirty="0" smtClean="0">
                <a:latin typeface="Bookman Old Style" panose="02050604050505020204" pitchFamily="18" charset="0"/>
              </a:rPr>
              <a:t>master </a:t>
            </a:r>
            <a:r>
              <a:rPr lang="ru-RU" sz="2400" dirty="0" smtClean="0">
                <a:latin typeface="Bookman Old Style" panose="02050604050505020204" pitchFamily="18" charset="0"/>
              </a:rPr>
              <a:t>изменим </a:t>
            </a:r>
            <a:r>
              <a:rPr lang="en-US" sz="2400" dirty="0" smtClean="0">
                <a:latin typeface="Bookman Old Style" panose="02050604050505020204" pitchFamily="18" charset="0"/>
              </a:rPr>
              <a:t>file 1.txt </a:t>
            </a:r>
            <a:r>
              <a:rPr lang="ru-RU" sz="2400" dirty="0" smtClean="0">
                <a:latin typeface="Bookman Old Style" panose="02050604050505020204" pitchFamily="18" charset="0"/>
              </a:rPr>
              <a:t>и зафиксируем изменения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070678"/>
            <a:ext cx="6131197" cy="231942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4"/>
          <a:srcRect t="52111" r="50647" b="13499"/>
          <a:stretch/>
        </p:blipFill>
        <p:spPr>
          <a:xfrm>
            <a:off x="6496958" y="4070677"/>
            <a:ext cx="5240614" cy="193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537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4633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ветке </a:t>
            </a:r>
            <a:r>
              <a:rPr lang="en-US" sz="2400" dirty="0" smtClean="0">
                <a:latin typeface="Bookman Old Style" panose="02050604050505020204" pitchFamily="18" charset="0"/>
              </a:rPr>
              <a:t>test </a:t>
            </a:r>
            <a:r>
              <a:rPr lang="ru-RU" sz="2400" dirty="0" smtClean="0">
                <a:latin typeface="Bookman Old Style" panose="02050604050505020204" pitchFamily="18" charset="0"/>
              </a:rPr>
              <a:t>изменим </a:t>
            </a:r>
            <a:r>
              <a:rPr lang="en-US" sz="2400" dirty="0" smtClean="0">
                <a:latin typeface="Bookman Old Style" panose="02050604050505020204" pitchFamily="18" charset="0"/>
              </a:rPr>
              <a:t>file 1.txt </a:t>
            </a:r>
            <a:r>
              <a:rPr lang="ru-RU" sz="2400" dirty="0" smtClean="0">
                <a:latin typeface="Bookman Old Style" panose="02050604050505020204" pitchFamily="18" charset="0"/>
              </a:rPr>
              <a:t>другим образом и зафиксируем изменения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2732" y="646331"/>
            <a:ext cx="6706536" cy="2591162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4"/>
          <a:srcRect l="-2" t="38326" r="-743" b="25692"/>
          <a:stretch/>
        </p:blipFill>
        <p:spPr>
          <a:xfrm>
            <a:off x="400050" y="3237493"/>
            <a:ext cx="1139190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137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Теперь перенесем изменения из </a:t>
            </a:r>
            <a:r>
              <a:rPr lang="en-US" sz="2400" dirty="0" smtClean="0">
                <a:latin typeface="Bookman Old Style" panose="02050604050505020204" pitchFamily="18" charset="0"/>
              </a:rPr>
              <a:t>test </a:t>
            </a:r>
            <a:r>
              <a:rPr lang="ru-RU" sz="2400" dirty="0" smtClean="0">
                <a:latin typeface="Bookman Old Style" panose="02050604050505020204" pitchFamily="18" charset="0"/>
              </a:rPr>
              <a:t>в </a:t>
            </a:r>
            <a:r>
              <a:rPr lang="en-US" sz="2400" dirty="0" smtClean="0">
                <a:latin typeface="Bookman Old Style" panose="02050604050505020204" pitchFamily="18" charset="0"/>
              </a:rPr>
              <a:t>master. </a:t>
            </a:r>
            <a:r>
              <a:rPr lang="ru-RU" sz="2400" dirty="0" smtClean="0">
                <a:latin typeface="Bookman Old Style" panose="02050604050505020204" pitchFamily="18" charset="0"/>
              </a:rPr>
              <a:t>Для этого переходим в ветку </a:t>
            </a:r>
            <a:r>
              <a:rPr lang="en-US" sz="2400" dirty="0" smtClean="0">
                <a:latin typeface="Bookman Old Style" panose="02050604050505020204" pitchFamily="18" charset="0"/>
              </a:rPr>
              <a:t>master </a:t>
            </a:r>
            <a:r>
              <a:rPr lang="ru-RU" sz="2400" dirty="0" smtClean="0">
                <a:latin typeface="Bookman Old Style" panose="02050604050505020204" pitchFamily="18" charset="0"/>
              </a:rPr>
              <a:t>и делаем слияние: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b="1" dirty="0" smtClean="0">
                <a:latin typeface="Bookman Old Style" panose="02050604050505020204" pitchFamily="18" charset="0"/>
              </a:rPr>
              <a:t> checkout master       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b="1" dirty="0" smtClean="0">
                <a:latin typeface="Bookman Old Style" panose="02050604050505020204" pitchFamily="18" charset="0"/>
              </a:rPr>
              <a:t> merge test</a:t>
            </a:r>
          </a:p>
          <a:p>
            <a:pPr algn="just">
              <a:lnSpc>
                <a:spcPct val="150000"/>
              </a:lnSpc>
            </a:pPr>
            <a:endParaRPr lang="en-US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Сейчас мы находимся в процессе слияния, нужно вручную выполнить слияние веток. Из текста видно, что конфликтует файл </a:t>
            </a:r>
            <a:r>
              <a:rPr lang="en-US" sz="2400" dirty="0" smtClean="0">
                <a:latin typeface="Bookman Old Style" panose="02050604050505020204" pitchFamily="18" charset="0"/>
              </a:rPr>
              <a:t>file 1.txt</a:t>
            </a:r>
            <a:endParaRPr lang="ru-RU" sz="2400" dirty="0" smtClean="0">
              <a:latin typeface="Bookman Old Style" panose="020506040505050202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t="27710" b="9560"/>
          <a:stretch/>
        </p:blipFill>
        <p:spPr>
          <a:xfrm>
            <a:off x="442123" y="1216729"/>
            <a:ext cx="11307753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658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Заходим в конфликтующий файл</a:t>
            </a:r>
            <a:r>
              <a:rPr lang="en-US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Видим, что в файле отображаются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изменения из обеих веток,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нам исправить файл так как мы считаем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нужным. Конфликт считается решенным,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если в файле нет спец. строк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&lt;&lt;&lt;&lt;&lt;&lt;&lt; HEAD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=======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&gt;&gt;&gt;&gt;&gt;&gt;&gt; </a:t>
            </a:r>
            <a:r>
              <a:rPr lang="ru-RU" sz="2400" dirty="0" err="1" smtClean="0">
                <a:latin typeface="Bookman Old Style" panose="02050604050505020204" pitchFamily="18" charset="0"/>
              </a:rPr>
              <a:t>test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Допустим, что мы хотим оставить и те и другие изменения, просто сотрем эти спец. строки.</a:t>
            </a:r>
            <a:endParaRPr lang="en-US" sz="2400" dirty="0" smtClean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r="2024"/>
          <a:stretch/>
        </p:blipFill>
        <p:spPr>
          <a:xfrm>
            <a:off x="6989697" y="332511"/>
            <a:ext cx="4840137" cy="385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862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После редактирования файла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получили следующее:</a:t>
            </a: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Далее сохраняем файл и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завершаем слияние командой </a:t>
            </a:r>
            <a:r>
              <a:rPr lang="en-US" sz="2400" dirty="0" err="1" smtClean="0">
                <a:latin typeface="Bookman Old Style" panose="02050604050505020204" pitchFamily="18" charset="0"/>
              </a:rPr>
              <a:t>add+commit</a:t>
            </a:r>
            <a:r>
              <a:rPr lang="en-US" sz="2400" dirty="0" smtClean="0">
                <a:latin typeface="Bookman Old Style" panose="02050604050505020204" pitchFamily="18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err="1">
                <a:latin typeface="Bookman Old Style" panose="02050604050505020204" pitchFamily="18" charset="0"/>
              </a:rPr>
              <a:t>git</a:t>
            </a:r>
            <a:r>
              <a:rPr lang="en-US" sz="2400" b="1" dirty="0">
                <a:latin typeface="Bookman Old Style" panose="02050604050505020204" pitchFamily="18" charset="0"/>
              </a:rPr>
              <a:t> commit -am "merged"</a:t>
            </a:r>
            <a:endParaRPr lang="en-US" sz="2400" b="1" dirty="0" smtClean="0">
              <a:latin typeface="Bookman Old Style" panose="020506040505050202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2516" y="339773"/>
            <a:ext cx="6329048" cy="298491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4"/>
          <a:srcRect t="21979" b="51592"/>
          <a:stretch/>
        </p:blipFill>
        <p:spPr>
          <a:xfrm>
            <a:off x="457200" y="4524315"/>
            <a:ext cx="11277600" cy="157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861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0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Программирование и </a:t>
            </a:r>
            <a:r>
              <a:rPr lang="en-US" sz="2800" b="1" dirty="0" err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git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654357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Рассмотрим этапы работы с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при написании программ.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Ещё раз отметим, что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 это обычная папка, в которой может храниться все что угодно.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Однако при написании программ, например, на </a:t>
            </a:r>
            <a:r>
              <a:rPr lang="en-US" sz="2400" dirty="0" smtClean="0">
                <a:latin typeface="Bookman Old Style" panose="02050604050505020204" pitchFamily="18" charset="0"/>
              </a:rPr>
              <a:t>C#</a:t>
            </a:r>
            <a:r>
              <a:rPr lang="ru-RU" sz="2400" dirty="0" smtClean="0">
                <a:latin typeface="Bookman Old Style" panose="02050604050505020204" pitchFamily="18" charset="0"/>
              </a:rPr>
              <a:t> в папке с проектом создается огромное количество вспомогательных файлов, которые пересоздаются при компиляции и которые не нужно сохранять в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репозитории</a:t>
            </a:r>
            <a:r>
              <a:rPr lang="ru-RU" sz="2400" dirty="0" smtClean="0">
                <a:latin typeface="Bookman Old Style" panose="020506040505050202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Поэтому</a:t>
            </a:r>
            <a:r>
              <a:rPr lang="ru-RU" sz="2400" b="1" dirty="0" smtClean="0">
                <a:latin typeface="Bookman Old Style" panose="02050604050505020204" pitchFamily="18" charset="0"/>
              </a:rPr>
              <a:t> важнейшим этапом </a:t>
            </a:r>
            <a:r>
              <a:rPr lang="ru-RU" sz="2400" dirty="0" smtClean="0">
                <a:latin typeface="Bookman Old Style" panose="02050604050505020204" pitchFamily="18" charset="0"/>
              </a:rPr>
              <a:t>здесь является добавление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gitignore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файла с правильным содержимым. Добавить его нужно </a:t>
            </a:r>
            <a:r>
              <a:rPr lang="ru-RU" sz="2400" b="1" dirty="0" smtClean="0">
                <a:latin typeface="Bookman Old Style" panose="02050604050505020204" pitchFamily="18" charset="0"/>
              </a:rPr>
              <a:t>ДО</a:t>
            </a:r>
            <a:r>
              <a:rPr lang="ru-RU" sz="2400" dirty="0" smtClean="0">
                <a:latin typeface="Bookman Old Style" panose="02050604050505020204" pitchFamily="18" charset="0"/>
              </a:rPr>
              <a:t> создания программы в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репозитории</a:t>
            </a:r>
            <a:r>
              <a:rPr lang="ru-RU" sz="2400" dirty="0" smtClean="0">
                <a:latin typeface="Bookman Old Style" panose="02050604050505020204" pitchFamily="18" charset="0"/>
              </a:rPr>
              <a:t>. </a:t>
            </a:r>
            <a:r>
              <a:rPr lang="ru-RU" sz="2400" dirty="0">
                <a:latin typeface="Bookman Old Style" panose="02050604050505020204" pitchFamily="18" charset="0"/>
              </a:rPr>
              <a:t>Данный файл для </a:t>
            </a:r>
            <a:r>
              <a:rPr lang="en-US" sz="2400" dirty="0">
                <a:latin typeface="Bookman Old Style" panose="02050604050505020204" pitchFamily="18" charset="0"/>
              </a:rPr>
              <a:t>C# </a:t>
            </a:r>
            <a:r>
              <a:rPr lang="ru-RU" sz="2400" dirty="0">
                <a:latin typeface="Bookman Old Style" panose="02050604050505020204" pitchFamily="18" charset="0"/>
              </a:rPr>
              <a:t>можно скачать по ссылке </a:t>
            </a:r>
            <a:r>
              <a:rPr lang="en-US" sz="2200" dirty="0" smtClean="0">
                <a:latin typeface="Bookman Old Style" panose="02050604050505020204" pitchFamily="18" charset="0"/>
                <a:hlinkClick r:id="rId3"/>
              </a:rPr>
              <a:t>https</a:t>
            </a:r>
            <a:r>
              <a:rPr lang="en-US" sz="2200" dirty="0">
                <a:latin typeface="Bookman Old Style" panose="02050604050505020204" pitchFamily="18" charset="0"/>
                <a:hlinkClick r:id="rId3"/>
              </a:rPr>
              <a:t>://</a:t>
            </a:r>
            <a:r>
              <a:rPr lang="en-US" sz="2200" dirty="0" smtClean="0">
                <a:latin typeface="Bookman Old Style" panose="02050604050505020204" pitchFamily="18" charset="0"/>
                <a:hlinkClick r:id="rId3"/>
              </a:rPr>
              <a:t>github.com/github/gitignore/blob/main/VisualStudio.gitignore</a:t>
            </a:r>
            <a:endParaRPr lang="en-US" sz="22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995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Очистим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>
                <a:latin typeface="Bookman Old Style" panose="02050604050505020204" pitchFamily="18" charset="0"/>
              </a:rPr>
              <a:t>,</a:t>
            </a:r>
            <a:r>
              <a:rPr lang="ru-RU" sz="2400" dirty="0" smtClean="0">
                <a:latin typeface="Bookman Old Style" panose="02050604050505020204" pitchFamily="18" charset="0"/>
              </a:rPr>
              <a:t> добавим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gitignore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файл и зафиксируем изменения.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Далее создадим проект, в качестве местоположения проекта выберем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Зеленая полоска слева означает, что этой строки не было и она добавлена.</a:t>
            </a:r>
            <a:endParaRPr lang="en-US" sz="2400" dirty="0" smtClean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t="27818" b="26329"/>
          <a:stretch/>
        </p:blipFill>
        <p:spPr>
          <a:xfrm>
            <a:off x="581891" y="1182202"/>
            <a:ext cx="11307753" cy="27432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4"/>
          <a:srcRect t="17649" b="40465"/>
          <a:stretch/>
        </p:blipFill>
        <p:spPr>
          <a:xfrm>
            <a:off x="1877078" y="4994815"/>
            <a:ext cx="9269119" cy="59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335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</a:t>
            </a:r>
            <a:r>
              <a:rPr lang="en-US" sz="2400" dirty="0" smtClean="0">
                <a:latin typeface="Bookman Old Style" panose="02050604050505020204" pitchFamily="18" charset="0"/>
              </a:rPr>
              <a:t>Visual Studio </a:t>
            </a:r>
            <a:r>
              <a:rPr lang="ru-RU" sz="2400" dirty="0" smtClean="0">
                <a:latin typeface="Bookman Old Style" panose="02050604050505020204" pitchFamily="18" charset="0"/>
              </a:rPr>
              <a:t>есть интерфейс для работы с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правой нижней части экрана отображается: номер фиксации, количество изменений, текущая ветка, имя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репозитория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Также есть вкладка Изменения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dirty="0" smtClean="0">
                <a:latin typeface="Bookman Old Style" panose="02050604050505020204" pitchFamily="18" charset="0"/>
              </a:rPr>
              <a:t> (</a:t>
            </a:r>
            <a:r>
              <a:rPr lang="ru-RU" sz="2400" dirty="0" smtClean="0">
                <a:latin typeface="Bookman Old Style" panose="02050604050505020204" pitchFamily="18" charset="0"/>
              </a:rPr>
              <a:t>находится в панели «Вид»</a:t>
            </a:r>
            <a:r>
              <a:rPr lang="en-US" sz="2400" dirty="0" smtClean="0">
                <a:latin typeface="Bookman Old Style" panose="02050604050505020204" pitchFamily="18" charset="0"/>
              </a:rPr>
              <a:t>)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23" y="1854079"/>
            <a:ext cx="11205555" cy="121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996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Откроем вкладку Изменения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Здесь с помощью графического интерфейса можно сменить ветку и зафиксировать изменения.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Далее рассмотрим другие способы работы с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dirty="0" smtClean="0">
                <a:latin typeface="Bookman Old Style" panose="02050604050505020204" pitchFamily="18" charset="0"/>
              </a:rPr>
              <a:t>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72" y="633562"/>
            <a:ext cx="11272057" cy="358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724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Для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существует графический интерфейс, который можно вызвать выбрав пункт</a:t>
            </a:r>
            <a:r>
              <a:rPr lang="en-US" sz="2400" dirty="0" smtClean="0">
                <a:latin typeface="Bookman Old Style" panose="02050604050505020204" pitchFamily="18" charset="0"/>
              </a:rPr>
              <a:t> (</a:t>
            </a:r>
            <a:r>
              <a:rPr lang="ru-RU" sz="2400" dirty="0" smtClean="0">
                <a:latin typeface="Bookman Old Style" panose="02050604050505020204" pitchFamily="18" charset="0"/>
              </a:rPr>
              <a:t>при нажатии ПКМ, см. пункты ранее</a:t>
            </a:r>
            <a:r>
              <a:rPr lang="en-US" sz="2400" dirty="0" smtClean="0">
                <a:latin typeface="Bookman Old Style" panose="02050604050505020204" pitchFamily="18" charset="0"/>
              </a:rPr>
              <a:t>)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Также существует отдельное приложение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GitHub</a:t>
            </a:r>
            <a:r>
              <a:rPr lang="ru-RU" sz="2400" dirty="0" smtClean="0">
                <a:latin typeface="Bookman Old Style" panose="02050604050505020204" pitchFamily="18" charset="0"/>
              </a:rPr>
              <a:t>, которое позволяет сохранять проекты в удаленном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репозитории</a:t>
            </a:r>
            <a:r>
              <a:rPr lang="ru-RU" sz="2400" dirty="0" smtClean="0">
                <a:latin typeface="Bookman Old Style" panose="02050604050505020204" pitchFamily="18" charset="0"/>
              </a:rPr>
              <a:t> (облачно), отображать статистику вашей работы, делиться проектами с другими людьми, оно позволяет работать в команде удаленно (каждый загружает свои изменения в удаленный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 и загружает в свой локальный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 чужие изменения).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t="13246"/>
          <a:stretch/>
        </p:blipFill>
        <p:spPr>
          <a:xfrm>
            <a:off x="5254051" y="1859038"/>
            <a:ext cx="5907434" cy="1305415"/>
          </a:xfrm>
          <a:prstGeom prst="rect">
            <a:avLst/>
          </a:prstGeom>
        </p:spPr>
      </p:pic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 err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git</a:t>
            </a: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GUI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924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6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GitHub</a:t>
            </a:r>
            <a:r>
              <a:rPr lang="ru-RU" sz="2400" dirty="0">
                <a:latin typeface="Bookman Old Style" panose="02050604050505020204" pitchFamily="18" charset="0"/>
              </a:rPr>
              <a:t> — крупнейший веб-сервис для хостинга IT-проектов и их совместной разработки. Веб-сервис основан на системе контроля версий </a:t>
            </a:r>
            <a:r>
              <a:rPr lang="ru-RU" sz="2400" dirty="0" err="1">
                <a:latin typeface="Bookman Old Style" panose="02050604050505020204" pitchFamily="18" charset="0"/>
              </a:rPr>
              <a:t>Git</a:t>
            </a:r>
            <a:r>
              <a:rPr lang="ru-RU" sz="2400" dirty="0">
                <a:latin typeface="Bookman Old Style" panose="02050604050505020204" pitchFamily="18" charset="0"/>
              </a:rPr>
              <a:t> и разработан на </a:t>
            </a:r>
            <a:r>
              <a:rPr lang="ru-RU" sz="2400" dirty="0" err="1">
                <a:latin typeface="Bookman Old Style" panose="02050604050505020204" pitchFamily="18" charset="0"/>
              </a:rPr>
              <a:t>Ruby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on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Rails</a:t>
            </a:r>
            <a:r>
              <a:rPr lang="ru-RU" sz="2400" dirty="0">
                <a:latin typeface="Bookman Old Style" panose="02050604050505020204" pitchFamily="18" charset="0"/>
              </a:rPr>
              <a:t> и </a:t>
            </a:r>
            <a:r>
              <a:rPr lang="ru-RU" sz="2400" dirty="0" err="1">
                <a:latin typeface="Bookman Old Style" panose="02050604050505020204" pitchFamily="18" charset="0"/>
              </a:rPr>
              <a:t>Erlang</a:t>
            </a:r>
            <a:r>
              <a:rPr lang="ru-RU" sz="2400" dirty="0">
                <a:latin typeface="Bookman Old Style" panose="02050604050505020204" pitchFamily="18" charset="0"/>
              </a:rPr>
              <a:t> компанией </a:t>
            </a:r>
            <a:r>
              <a:rPr lang="ru-RU" sz="2400" dirty="0" err="1" smtClean="0">
                <a:latin typeface="Bookman Old Style" panose="02050604050505020204" pitchFamily="18" charset="0"/>
              </a:rPr>
              <a:t>GitHub</a:t>
            </a:r>
            <a:r>
              <a:rPr lang="ru-RU" sz="2400" dirty="0" smtClean="0">
                <a:latin typeface="Bookman Old Style" panose="02050604050505020204" pitchFamily="18" charset="0"/>
              </a:rPr>
              <a:t>  </a:t>
            </a:r>
            <a:r>
              <a:rPr lang="ru-RU" sz="2400" dirty="0" err="1">
                <a:latin typeface="Bookman Old Style" panose="02050604050505020204" pitchFamily="18" charset="0"/>
              </a:rPr>
              <a:t>Inc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Для начала работы необходимо зарегистрироваться на сайте </a:t>
            </a:r>
            <a:r>
              <a:rPr lang="en-US" sz="2400" dirty="0">
                <a:latin typeface="Bookman Old Style" panose="02050604050505020204" pitchFamily="18" charset="0"/>
                <a:hlinkClick r:id="rId3"/>
              </a:rPr>
              <a:t>https://github.com</a:t>
            </a:r>
            <a:r>
              <a:rPr lang="en-US" sz="2400" dirty="0" smtClean="0">
                <a:latin typeface="Bookman Old Style" panose="02050604050505020204" pitchFamily="18" charset="0"/>
                <a:hlinkClick r:id="rId3"/>
              </a:rPr>
              <a:t>/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и скачать </a:t>
            </a:r>
            <a:r>
              <a:rPr lang="en-US" sz="2400" b="1" dirty="0" smtClean="0">
                <a:latin typeface="Bookman Old Style" panose="02050604050505020204" pitchFamily="18" charset="0"/>
              </a:rPr>
              <a:t>GitHub Desktop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– приложение, </a:t>
            </a:r>
            <a:r>
              <a:rPr lang="ru-RU" sz="2400" dirty="0">
                <a:latin typeface="Bookman Old Style" panose="02050604050505020204" pitchFamily="18" charset="0"/>
              </a:rPr>
              <a:t>которое позволяет взаимодействовать с </a:t>
            </a:r>
            <a:r>
              <a:rPr lang="ru-RU" sz="2400" dirty="0" err="1">
                <a:latin typeface="Bookman Old Style" panose="02050604050505020204" pitchFamily="18" charset="0"/>
              </a:rPr>
              <a:t>GitHub</a:t>
            </a:r>
            <a:r>
              <a:rPr lang="ru-RU" sz="2400" dirty="0">
                <a:latin typeface="Bookman Old Style" panose="02050604050505020204" pitchFamily="18" charset="0"/>
              </a:rPr>
              <a:t> с помощью графического пользовательского </a:t>
            </a:r>
            <a:r>
              <a:rPr lang="ru-RU" sz="2400" dirty="0" smtClean="0">
                <a:latin typeface="Bookman Old Style" panose="02050604050505020204" pitchFamily="18" charset="0"/>
              </a:rPr>
              <a:t>интерфейса. </a:t>
            </a:r>
            <a:r>
              <a:rPr lang="en-US" sz="2400" dirty="0">
                <a:latin typeface="Bookman Old Style" panose="02050604050505020204" pitchFamily="18" charset="0"/>
                <a:hlinkClick r:id="rId4"/>
              </a:rPr>
              <a:t>https://desktop.github.com</a:t>
            </a:r>
            <a:r>
              <a:rPr lang="en-US" sz="2400" dirty="0" smtClean="0">
                <a:latin typeface="Bookman Old Style" panose="02050604050505020204" pitchFamily="18" charset="0"/>
                <a:hlinkClick r:id="rId4"/>
              </a:rPr>
              <a:t>/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Создадим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 с помощью </a:t>
            </a:r>
            <a:r>
              <a:rPr lang="en-US" sz="2400" b="1" dirty="0">
                <a:latin typeface="Bookman Old Style" panose="02050604050505020204" pitchFamily="18" charset="0"/>
              </a:rPr>
              <a:t>GitHub Desktop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Запускаем </a:t>
            </a:r>
            <a:r>
              <a:rPr lang="en-US" sz="2400" b="1" dirty="0">
                <a:latin typeface="Bookman Old Style" panose="02050604050505020204" pitchFamily="18" charset="0"/>
              </a:rPr>
              <a:t>GitHub </a:t>
            </a:r>
            <a:r>
              <a:rPr lang="en-US" sz="2400" b="1" dirty="0" smtClean="0">
                <a:latin typeface="Bookman Old Style" panose="02050604050505020204" pitchFamily="18" charset="0"/>
              </a:rPr>
              <a:t>Desktop</a:t>
            </a:r>
            <a:r>
              <a:rPr lang="ru-RU" sz="2400" dirty="0" smtClean="0">
                <a:latin typeface="Bookman Old Style" panose="02050604050505020204" pitchFamily="18" charset="0"/>
              </a:rPr>
              <a:t>, нажимаем </a:t>
            </a:r>
            <a:r>
              <a:rPr lang="en-US" sz="2400" dirty="0" smtClean="0">
                <a:latin typeface="Bookman Old Style" panose="02050604050505020204" pitchFamily="18" charset="0"/>
              </a:rPr>
              <a:t>File -&gt; New repository, </a:t>
            </a:r>
            <a:r>
              <a:rPr lang="ru-RU" sz="2400" dirty="0" smtClean="0">
                <a:latin typeface="Bookman Old Style" panose="02050604050505020204" pitchFamily="18" charset="0"/>
              </a:rPr>
              <a:t>выбираем имя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репозитория</a:t>
            </a:r>
            <a:r>
              <a:rPr lang="ru-RU" sz="2400" dirty="0" smtClean="0">
                <a:latin typeface="Bookman Old Style" panose="02050604050505020204" pitchFamily="18" charset="0"/>
              </a:rPr>
              <a:t> и местоположение.</a:t>
            </a:r>
          </a:p>
        </p:txBody>
      </p:sp>
      <p:sp>
        <p:nvSpPr>
          <p:cNvPr id="5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GitHub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348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t="40396" b="4674"/>
          <a:stretch/>
        </p:blipFill>
        <p:spPr>
          <a:xfrm>
            <a:off x="2719579" y="1970184"/>
            <a:ext cx="7376954" cy="459050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t="4568" b="73283"/>
          <a:stretch/>
        </p:blipFill>
        <p:spPr>
          <a:xfrm>
            <a:off x="2719579" y="116379"/>
            <a:ext cx="7388398" cy="1853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038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Если это проект на языке </a:t>
            </a:r>
            <a:r>
              <a:rPr lang="en-US" sz="2400" dirty="0" smtClean="0">
                <a:latin typeface="Bookman Old Style" panose="02050604050505020204" pitchFamily="18" charset="0"/>
              </a:rPr>
              <a:t>C#, </a:t>
            </a:r>
            <a:r>
              <a:rPr lang="ru-RU" sz="2400" dirty="0" smtClean="0">
                <a:latin typeface="Bookman Old Style" panose="02050604050505020204" pitchFamily="18" charset="0"/>
              </a:rPr>
              <a:t>то не забываем скачать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gitignore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для </a:t>
            </a:r>
            <a:r>
              <a:rPr lang="en-US" sz="2400" dirty="0" smtClean="0">
                <a:latin typeface="Bookman Old Style" panose="02050604050505020204" pitchFamily="18" charset="0"/>
              </a:rPr>
              <a:t>C# </a:t>
            </a:r>
            <a:r>
              <a:rPr lang="ru-RU" sz="2400" dirty="0" smtClean="0">
                <a:latin typeface="Bookman Old Style" panose="02050604050505020204" pitchFamily="18" charset="0"/>
              </a:rPr>
              <a:t>и положить в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Для примера добавим текстовый файл в наш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Зайдем в </a:t>
            </a:r>
            <a:r>
              <a:rPr lang="en-US" sz="2400" b="1" dirty="0">
                <a:latin typeface="Bookman Old Style" panose="02050604050505020204" pitchFamily="18" charset="0"/>
              </a:rPr>
              <a:t>GitHub Desktop</a:t>
            </a:r>
            <a:endParaRPr lang="ru-RU" sz="2400" dirty="0" smtClean="0">
              <a:latin typeface="Bookman Old Style" panose="020506040505050202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087" y="1798011"/>
            <a:ext cx="7532914" cy="505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077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120032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программе зеленым плюсом отмечено, что было добавлено, видим, что добавился «файл.</a:t>
            </a:r>
            <a:r>
              <a:rPr lang="en-US" sz="2400" dirty="0" smtClean="0">
                <a:latin typeface="Bookman Old Style" panose="02050604050505020204" pitchFamily="18" charset="0"/>
              </a:rPr>
              <a:t>txt</a:t>
            </a:r>
            <a:r>
              <a:rPr lang="ru-RU" sz="2400" dirty="0" smtClean="0">
                <a:latin typeface="Bookman Old Style" panose="02050604050505020204" pitchFamily="18" charset="0"/>
              </a:rPr>
              <a:t>»</a:t>
            </a:r>
            <a:r>
              <a:rPr lang="en-US" sz="2400" dirty="0">
                <a:latin typeface="Bookman Old Style" panose="02050604050505020204" pitchFamily="18" charset="0"/>
              </a:rPr>
              <a:t>.</a:t>
            </a:r>
            <a:endParaRPr lang="ru-RU" sz="2400" dirty="0" smtClean="0">
              <a:latin typeface="Bookman Old Style" panose="020506040505050202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r="25718" b="74910"/>
          <a:stretch/>
        </p:blipFill>
        <p:spPr>
          <a:xfrm>
            <a:off x="376843" y="1200329"/>
            <a:ext cx="11438313" cy="2656113"/>
          </a:xfrm>
          <a:prstGeom prst="rect">
            <a:avLst/>
          </a:prstGeom>
        </p:spPr>
      </p:pic>
      <p:cxnSp>
        <p:nvCxnSpPr>
          <p:cNvPr id="7" name="Прямая со стрелкой 6"/>
          <p:cNvCxnSpPr/>
          <p:nvPr/>
        </p:nvCxnSpPr>
        <p:spPr>
          <a:xfrm flipH="1">
            <a:off x="4310743" y="3672113"/>
            <a:ext cx="1219200" cy="0"/>
          </a:xfrm>
          <a:prstGeom prst="straightConnector1">
            <a:avLst/>
          </a:prstGeom>
          <a:ln w="1270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96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t="63641" r="73330"/>
          <a:stretch/>
        </p:blipFill>
        <p:spPr>
          <a:xfrm>
            <a:off x="3077786" y="1200330"/>
            <a:ext cx="5674329" cy="5318292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0" y="0"/>
            <a:ext cx="12192000" cy="120032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Зафиксируем изменения с помощью </a:t>
            </a:r>
            <a:r>
              <a:rPr lang="ru-RU" sz="2400" dirty="0" err="1">
                <a:latin typeface="Bookman Old Style" panose="02050604050505020204" pitchFamily="18" charset="0"/>
              </a:rPr>
              <a:t>комита</a:t>
            </a:r>
            <a:r>
              <a:rPr lang="ru-RU" sz="2400" dirty="0">
                <a:latin typeface="Bookman Old Style" panose="02050604050505020204" pitchFamily="18" charset="0"/>
              </a:rPr>
              <a:t>, введем название </a:t>
            </a:r>
            <a:r>
              <a:rPr lang="ru-RU" sz="2400" dirty="0" err="1">
                <a:latin typeface="Bookman Old Style" panose="02050604050505020204" pitchFamily="18" charset="0"/>
              </a:rPr>
              <a:t>комита</a:t>
            </a:r>
            <a:r>
              <a:rPr lang="ru-RU" sz="2400" dirty="0">
                <a:latin typeface="Bookman Old Style" panose="02050604050505020204" pitchFamily="18" charset="0"/>
              </a:rPr>
              <a:t> и нажмем </a:t>
            </a:r>
            <a:r>
              <a:rPr lang="en-US" sz="2400" b="1" dirty="0">
                <a:latin typeface="Bookman Old Style" panose="02050604050505020204" pitchFamily="18" charset="0"/>
              </a:rPr>
              <a:t>Commit to main</a:t>
            </a:r>
            <a:r>
              <a:rPr lang="en-US" sz="2400" dirty="0">
                <a:latin typeface="Bookman Old Style" panose="02050604050505020204" pitchFamily="18" charset="0"/>
              </a:rPr>
              <a:t>.</a:t>
            </a:r>
          </a:p>
        </p:txBody>
      </p:sp>
      <p:cxnSp>
        <p:nvCxnSpPr>
          <p:cNvPr id="8" name="Прямая со стрелкой 7"/>
          <p:cNvCxnSpPr/>
          <p:nvPr/>
        </p:nvCxnSpPr>
        <p:spPr>
          <a:xfrm flipH="1">
            <a:off x="8502733" y="5083693"/>
            <a:ext cx="1219200" cy="0"/>
          </a:xfrm>
          <a:prstGeom prst="straightConnector1">
            <a:avLst/>
          </a:prstGeom>
          <a:ln w="1270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584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1754326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Пока что наш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 локальный, чтобы к нашему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репозиторию</a:t>
            </a:r>
            <a:r>
              <a:rPr lang="ru-RU" sz="2400" dirty="0" smtClean="0">
                <a:latin typeface="Bookman Old Style" panose="02050604050505020204" pitchFamily="18" charset="0"/>
              </a:rPr>
              <a:t> был доступ из интернета необходимо опубликовать его. Нажмем </a:t>
            </a:r>
            <a:r>
              <a:rPr lang="en-US" sz="2400" dirty="0" smtClean="0">
                <a:latin typeface="Bookman Old Style" panose="02050604050505020204" pitchFamily="18" charset="0"/>
              </a:rPr>
              <a:t>publish repository</a:t>
            </a:r>
            <a:endParaRPr lang="ru-RU" sz="2400" dirty="0" smtClean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l="26035" t="4202" b="47422"/>
          <a:stretch/>
        </p:blipFill>
        <p:spPr>
          <a:xfrm>
            <a:off x="377371" y="1715263"/>
            <a:ext cx="11437257" cy="5142737"/>
          </a:xfrm>
          <a:prstGeom prst="rect">
            <a:avLst/>
          </a:prstGeom>
        </p:spPr>
      </p:pic>
      <p:cxnSp>
        <p:nvCxnSpPr>
          <p:cNvPr id="5" name="Прямая со стрелкой 4"/>
          <p:cNvCxnSpPr/>
          <p:nvPr/>
        </p:nvCxnSpPr>
        <p:spPr>
          <a:xfrm flipH="1">
            <a:off x="7445828" y="2148113"/>
            <a:ext cx="12192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 flipH="1">
            <a:off x="10595428" y="5805714"/>
            <a:ext cx="12192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15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352" y="735097"/>
            <a:ext cx="8808721" cy="5617807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0" y="0"/>
            <a:ext cx="12192000" cy="120032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После опубликования наш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 появится у нашего аккаунта </a:t>
            </a:r>
            <a:r>
              <a:rPr lang="en-US" sz="2400" dirty="0" smtClean="0">
                <a:latin typeface="Bookman Old Style" panose="02050604050505020204" pitchFamily="18" charset="0"/>
              </a:rPr>
              <a:t>GitHub </a:t>
            </a:r>
            <a:r>
              <a:rPr lang="ru-RU" sz="2400" dirty="0" smtClean="0">
                <a:latin typeface="Bookman Old Style" panose="02050604050505020204" pitchFamily="18" charset="0"/>
              </a:rPr>
              <a:t>на сайте.</a:t>
            </a:r>
          </a:p>
        </p:txBody>
      </p:sp>
    </p:spTree>
    <p:extLst>
      <p:ext uri="{BB962C8B-B14F-4D97-AF65-F5344CB8AC3E}">
        <p14:creationId xmlns:p14="http://schemas.microsoft.com/office/powerpoint/2010/main" val="4198778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64" y="594043"/>
            <a:ext cx="11305309" cy="4734098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498764" y="3573815"/>
            <a:ext cx="820674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Если зайти в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, то увидим данное окно.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Также можно добавить справку о программе в виде файла </a:t>
            </a:r>
            <a:r>
              <a:rPr lang="en-US" sz="2400" dirty="0" smtClean="0">
                <a:latin typeface="Bookman Old Style" panose="02050604050505020204" pitchFamily="18" charset="0"/>
              </a:rPr>
              <a:t>README.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501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12192000" cy="1754326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Далее алгоритм работы может быть следующий: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Для создания новой ветки необходимо зайти </a:t>
            </a:r>
            <a:r>
              <a:rPr lang="en-US" sz="2400" b="1" dirty="0" smtClean="0">
                <a:latin typeface="Bookman Old Style" panose="02050604050505020204" pitchFamily="18" charset="0"/>
              </a:rPr>
              <a:t>Branch</a:t>
            </a:r>
            <a:r>
              <a:rPr lang="en-US" sz="2400" dirty="0" smtClean="0">
                <a:latin typeface="Bookman Old Style" panose="02050604050505020204" pitchFamily="18" charset="0"/>
              </a:rPr>
              <a:t> -&gt; </a:t>
            </a:r>
            <a:r>
              <a:rPr lang="en-US" sz="2400" b="1" dirty="0" smtClean="0">
                <a:latin typeface="Bookman Old Style" panose="02050604050505020204" pitchFamily="18" charset="0"/>
              </a:rPr>
              <a:t>New branch</a:t>
            </a:r>
            <a:r>
              <a:rPr lang="en-US" sz="2400" dirty="0" smtClean="0">
                <a:latin typeface="Bookman Old Style" panose="02050604050505020204" pitchFamily="18" charset="0"/>
              </a:rPr>
              <a:t>, </a:t>
            </a:r>
            <a:r>
              <a:rPr lang="ru-RU" sz="2400" dirty="0" smtClean="0">
                <a:latin typeface="Bookman Old Style" panose="02050604050505020204" pitchFamily="18" charset="0"/>
              </a:rPr>
              <a:t>после чего у вас добавится новая ветка</a:t>
            </a:r>
            <a:endParaRPr lang="ru-RU" sz="2400" u="sng" dirty="0" smtClean="0">
              <a:latin typeface="Bookman Old Style" panose="020506040505050202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/>
          <a:srcRect r="49948" b="87962"/>
          <a:stretch/>
        </p:blipFill>
        <p:spPr>
          <a:xfrm>
            <a:off x="415636" y="1990601"/>
            <a:ext cx="11288684" cy="186656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442" y="4093444"/>
            <a:ext cx="10428374" cy="200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501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4159" t="3809" b="5821"/>
          <a:stretch/>
        </p:blipFill>
        <p:spPr>
          <a:xfrm>
            <a:off x="2793076" y="206138"/>
            <a:ext cx="6882209" cy="637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647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12" y="326677"/>
            <a:ext cx="11438313" cy="4705517"/>
          </a:xfrm>
          <a:prstGeom prst="rect">
            <a:avLst/>
          </a:prstGeom>
        </p:spPr>
      </p:pic>
      <p:cxnSp>
        <p:nvCxnSpPr>
          <p:cNvPr id="6" name="Прямая со стрелкой 5"/>
          <p:cNvCxnSpPr/>
          <p:nvPr/>
        </p:nvCxnSpPr>
        <p:spPr>
          <a:xfrm>
            <a:off x="4122585" y="3580990"/>
            <a:ext cx="1117600" cy="1908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>
            <a:off x="4122585" y="4607942"/>
            <a:ext cx="1117600" cy="1908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416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Обратите внимание</a:t>
            </a:r>
            <a:r>
              <a:rPr lang="ru-RU" sz="2400" dirty="0" smtClean="0">
                <a:latin typeface="Bookman Old Style" panose="02050604050505020204" pitchFamily="18" charset="0"/>
              </a:rPr>
              <a:t>, что когда вы меняете ветку, то файлы в вашей папке с проектом также автоматически обновляются!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Чтобы ветка появилась в удаленном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репозитории</a:t>
            </a:r>
            <a:r>
              <a:rPr lang="ru-RU" sz="2400" dirty="0" smtClean="0">
                <a:latin typeface="Bookman Old Style" panose="02050604050505020204" pitchFamily="18" charset="0"/>
              </a:rPr>
              <a:t> её также нужно опубликовать.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Чтобы забрать изменения с удаленного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репозитория</a:t>
            </a:r>
            <a:r>
              <a:rPr lang="ru-RU" sz="2400" dirty="0" smtClean="0">
                <a:latin typeface="Bookman Old Style" panose="02050604050505020204" pitchFamily="18" charset="0"/>
              </a:rPr>
              <a:t> необходимо нажать </a:t>
            </a:r>
            <a:r>
              <a:rPr lang="en-US" sz="2400" dirty="0" smtClean="0">
                <a:latin typeface="Bookman Old Style" panose="02050604050505020204" pitchFamily="18" charset="0"/>
              </a:rPr>
              <a:t>Fetch (</a:t>
            </a:r>
            <a:r>
              <a:rPr lang="ru-RU" sz="2400" dirty="0" smtClean="0">
                <a:latin typeface="Bookman Old Style" panose="02050604050505020204" pitchFamily="18" charset="0"/>
              </a:rPr>
              <a:t>например, когда кто-то изменил файлы и вы хотите обновить свой проект в соответствии с изменениями удаленного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репозитория</a:t>
            </a:r>
            <a:r>
              <a:rPr lang="en-US" sz="2400" dirty="0" smtClean="0">
                <a:latin typeface="Bookman Old Style" panose="02050604050505020204" pitchFamily="18" charset="0"/>
              </a:rPr>
              <a:t>)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Д</a:t>
            </a:r>
            <a:r>
              <a:rPr lang="ru-RU" sz="2400" dirty="0" smtClean="0">
                <a:latin typeface="Bookman Old Style" panose="02050604050505020204" pitchFamily="18" charset="0"/>
              </a:rPr>
              <a:t>анную команду </a:t>
            </a:r>
            <a:r>
              <a:rPr lang="ru-RU" sz="2400" dirty="0">
                <a:latin typeface="Bookman Old Style" panose="02050604050505020204" pitchFamily="18" charset="0"/>
              </a:rPr>
              <a:t>желательно  </a:t>
            </a:r>
            <a:r>
              <a:rPr lang="ru-RU" sz="2400" dirty="0" smtClean="0">
                <a:latin typeface="Bookman Old Style" panose="02050604050505020204" pitchFamily="18" charset="0"/>
              </a:rPr>
              <a:t>выполнять перед началом работы с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репозиторием</a:t>
            </a:r>
            <a:r>
              <a:rPr lang="ru-RU" sz="2400" dirty="0" smtClean="0">
                <a:latin typeface="Bookman Old Style" panose="02050604050505020204" pitchFamily="18" charset="0"/>
              </a:rPr>
              <a:t>. 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r="25726" b="86752"/>
          <a:stretch/>
        </p:blipFill>
        <p:spPr>
          <a:xfrm>
            <a:off x="243840" y="4086580"/>
            <a:ext cx="11704320" cy="1300405"/>
          </a:xfrm>
          <a:prstGeom prst="rect">
            <a:avLst/>
          </a:prstGeom>
        </p:spPr>
      </p:pic>
      <p:cxnSp>
        <p:nvCxnSpPr>
          <p:cNvPr id="7" name="Прямая со стрелкой 6"/>
          <p:cNvCxnSpPr/>
          <p:nvPr/>
        </p:nvCxnSpPr>
        <p:spPr>
          <a:xfrm>
            <a:off x="6715101" y="4969539"/>
            <a:ext cx="1465942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986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12192000" cy="1754326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Рассмотрим последний пример. Предположим у нас есть 2 ветки: </a:t>
            </a:r>
            <a:r>
              <a:rPr lang="en-US" sz="2400" dirty="0" smtClean="0">
                <a:latin typeface="Bookman Old Style" panose="02050604050505020204" pitchFamily="18" charset="0"/>
              </a:rPr>
              <a:t>main </a:t>
            </a:r>
            <a:r>
              <a:rPr lang="ru-RU" sz="2400" dirty="0" smtClean="0">
                <a:latin typeface="Bookman Old Style" panose="02050604050505020204" pitchFamily="18" charset="0"/>
              </a:rPr>
              <a:t>и </a:t>
            </a:r>
            <a:r>
              <a:rPr lang="en-US" sz="2400" dirty="0" smtClean="0">
                <a:latin typeface="Bookman Old Style" panose="02050604050505020204" pitchFamily="18" charset="0"/>
              </a:rPr>
              <a:t>Ivan, </a:t>
            </a:r>
            <a:r>
              <a:rPr lang="ru-RU" sz="2400" dirty="0" smtClean="0">
                <a:latin typeface="Bookman Old Style" panose="02050604050505020204" pitchFamily="18" charset="0"/>
              </a:rPr>
              <a:t>в обоих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репозиториях</a:t>
            </a:r>
            <a:r>
              <a:rPr lang="ru-RU" sz="2400" dirty="0" smtClean="0">
                <a:latin typeface="Bookman Old Style" panose="02050604050505020204" pitchFamily="18" charset="0"/>
              </a:rPr>
              <a:t> есть файл с данным. Пусть в каждой ветке произошли изменения содержимого данного файла.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094" y="1754326"/>
            <a:ext cx="11371811" cy="421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360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895042"/>
            <a:ext cx="12192000" cy="2862322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У нас есть 2 версии файла и чтобы объединить ветки, мы должны решить как будет выглядеть итоговый файл (получили конфликт слияния или </a:t>
            </a:r>
            <a:r>
              <a:rPr lang="en-US" sz="2400" dirty="0" smtClean="0">
                <a:latin typeface="Bookman Old Style" panose="02050604050505020204" pitchFamily="18" charset="0"/>
              </a:rPr>
              <a:t>merge </a:t>
            </a:r>
            <a:r>
              <a:rPr lang="ru-RU" sz="2400" dirty="0" smtClean="0">
                <a:latin typeface="Bookman Old Style" panose="02050604050505020204" pitchFamily="18" charset="0"/>
              </a:rPr>
              <a:t>конфликт).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Делаем слияние. Переходим на ветку </a:t>
            </a:r>
            <a:r>
              <a:rPr lang="en-US" sz="2400" dirty="0" smtClean="0">
                <a:latin typeface="Bookman Old Style" panose="02050604050505020204" pitchFamily="18" charset="0"/>
              </a:rPr>
              <a:t>main, </a:t>
            </a:r>
            <a:r>
              <a:rPr lang="ru-RU" sz="2400" dirty="0">
                <a:latin typeface="Bookman Old Style" panose="02050604050505020204" pitchFamily="18" charset="0"/>
              </a:rPr>
              <a:t>н</a:t>
            </a:r>
            <a:r>
              <a:rPr lang="ru-RU" sz="2400" dirty="0" smtClean="0">
                <a:latin typeface="Bookman Old Style" panose="02050604050505020204" pitchFamily="18" charset="0"/>
              </a:rPr>
              <a:t>ажимаем </a:t>
            </a:r>
            <a:r>
              <a:rPr lang="en-US" sz="2400" b="1" dirty="0" smtClean="0">
                <a:latin typeface="Bookman Old Style" panose="02050604050505020204" pitchFamily="18" charset="0"/>
              </a:rPr>
              <a:t>Branch</a:t>
            </a:r>
            <a:r>
              <a:rPr lang="en-US" sz="2400" dirty="0" smtClean="0">
                <a:latin typeface="Bookman Old Style" panose="02050604050505020204" pitchFamily="18" charset="0"/>
              </a:rPr>
              <a:t> -&gt; </a:t>
            </a:r>
            <a:r>
              <a:rPr lang="en-US" sz="2400" b="1" dirty="0" smtClean="0">
                <a:latin typeface="Bookman Old Style" panose="02050604050505020204" pitchFamily="18" charset="0"/>
              </a:rPr>
              <a:t>Merge into current branch</a:t>
            </a:r>
            <a:endParaRPr lang="ru-RU" sz="2400" b="1" dirty="0" smtClean="0">
              <a:latin typeface="Bookman Old Style" panose="020506040505050202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162" y="273375"/>
            <a:ext cx="6939721" cy="362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922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l="27464" t="16779" r="27622" b="53412"/>
          <a:stretch/>
        </p:blipFill>
        <p:spPr>
          <a:xfrm>
            <a:off x="1500198" y="614688"/>
            <a:ext cx="9191604" cy="419390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0" y="0"/>
            <a:ext cx="12192000" cy="64633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Выбираем </a:t>
            </a:r>
            <a:r>
              <a:rPr lang="en-US" sz="2400" dirty="0" smtClean="0">
                <a:latin typeface="Bookman Old Style" panose="02050604050505020204" pitchFamily="18" charset="0"/>
              </a:rPr>
              <a:t>Ivan </a:t>
            </a:r>
            <a:r>
              <a:rPr lang="ru-RU" sz="2400" dirty="0" smtClean="0">
                <a:latin typeface="Bookman Old Style" panose="02050604050505020204" pitchFamily="18" charset="0"/>
              </a:rPr>
              <a:t>и нажимаем </a:t>
            </a:r>
            <a:r>
              <a:rPr lang="en-US" sz="2400" b="1" dirty="0" smtClean="0">
                <a:latin typeface="Bookman Old Style" panose="02050604050505020204" pitchFamily="18" charset="0"/>
              </a:rPr>
              <a:t>Create merge commit</a:t>
            </a:r>
            <a:endParaRPr lang="ru-RU" sz="2400" b="1" dirty="0" smtClean="0">
              <a:latin typeface="Bookman Old Style" panose="020506040505050202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l="27464" t="68633" r="27622" b="16967"/>
          <a:stretch/>
        </p:blipFill>
        <p:spPr>
          <a:xfrm>
            <a:off x="1500198" y="4776948"/>
            <a:ext cx="9191604" cy="202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458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120032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Необходимо отредактировать наш файл чтобы решить конфликт, открываем файл любой программой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l="24924" t="31307" r="24924" b="31757"/>
          <a:stretch/>
        </p:blipFill>
        <p:spPr>
          <a:xfrm>
            <a:off x="992513" y="1200329"/>
            <a:ext cx="10206973" cy="516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6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Необходимо отредактировать наш файл чтобы решить конфликт, открываем файл любой программой. Конфликт считается решенным, если нет специальных символов </a:t>
            </a:r>
            <a:r>
              <a:rPr lang="en-US" sz="2400" dirty="0" smtClean="0">
                <a:latin typeface="Bookman Old Style" panose="02050604050505020204" pitchFamily="18" charset="0"/>
              </a:rPr>
              <a:t>&lt;&lt;&lt;&lt;HEAD, ===, &gt;&gt;&gt;. 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После чего нажимаем </a:t>
            </a:r>
            <a:r>
              <a:rPr lang="en-US" sz="2400" dirty="0" smtClean="0">
                <a:latin typeface="Bookman Old Style" panose="02050604050505020204" pitchFamily="18" charset="0"/>
              </a:rPr>
              <a:t>continue merge. </a:t>
            </a:r>
            <a:r>
              <a:rPr lang="ru-RU" sz="2400" dirty="0" smtClean="0">
                <a:latin typeface="Bookman Old Style" panose="02050604050505020204" pitchFamily="18" charset="0"/>
              </a:rPr>
              <a:t>Конфликт слияния решен, теперь ветка </a:t>
            </a:r>
            <a:r>
              <a:rPr lang="en-US" sz="2400" dirty="0" smtClean="0">
                <a:latin typeface="Bookman Old Style" panose="02050604050505020204" pitchFamily="18" charset="0"/>
              </a:rPr>
              <a:t>main </a:t>
            </a:r>
            <a:r>
              <a:rPr lang="ru-RU" sz="2400" dirty="0" smtClean="0">
                <a:latin typeface="Bookman Old Style" panose="02050604050505020204" pitchFamily="18" charset="0"/>
              </a:rPr>
              <a:t>содержит изменения Ивана.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2" y="1736872"/>
            <a:ext cx="5760347" cy="381622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4"/>
          <a:srcRect r="28531"/>
          <a:stretch/>
        </p:blipFill>
        <p:spPr>
          <a:xfrm>
            <a:off x="6638196" y="1736872"/>
            <a:ext cx="5292548" cy="3822099"/>
          </a:xfrm>
          <a:prstGeom prst="rect">
            <a:avLst/>
          </a:prstGeom>
        </p:spPr>
      </p:pic>
      <p:cxnSp>
        <p:nvCxnSpPr>
          <p:cNvPr id="5" name="Прямая со стрелкой 4"/>
          <p:cNvCxnSpPr/>
          <p:nvPr/>
        </p:nvCxnSpPr>
        <p:spPr>
          <a:xfrm>
            <a:off x="5130800" y="3970383"/>
            <a:ext cx="1618343" cy="326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061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71691"/>
            <a:ext cx="12192000" cy="5872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300" dirty="0" smtClean="0">
                <a:latin typeface="Bookman Old Style" panose="02050604050505020204" pitchFamily="18" charset="0"/>
              </a:rPr>
              <a:t>Рассмотрим возможные при работе </a:t>
            </a:r>
            <a:r>
              <a:rPr lang="ru-RU" sz="2300" b="1" dirty="0" smtClean="0">
                <a:latin typeface="Bookman Old Style" panose="02050604050505020204" pitchFamily="18" charset="0"/>
              </a:rPr>
              <a:t>состояния </a:t>
            </a:r>
            <a:r>
              <a:rPr lang="ru-RU" sz="2300" b="1" dirty="0" err="1" smtClean="0">
                <a:latin typeface="Bookman Old Style" panose="02050604050505020204" pitchFamily="18" charset="0"/>
              </a:rPr>
              <a:t>репозитория</a:t>
            </a:r>
            <a:r>
              <a:rPr lang="ru-RU" sz="2300" dirty="0" smtClean="0">
                <a:latin typeface="Bookman Old Style" panose="02050604050505020204" pitchFamily="18" charset="0"/>
              </a:rPr>
              <a:t>: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ru-RU" sz="2300" dirty="0" smtClean="0">
                <a:latin typeface="Bookman Old Style" panose="02050604050505020204" pitchFamily="18" charset="0"/>
              </a:rPr>
              <a:t>Изменений нет.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ru-RU" sz="2300" dirty="0" smtClean="0">
                <a:latin typeface="Bookman Old Style" panose="02050604050505020204" pitchFamily="18" charset="0"/>
              </a:rPr>
              <a:t>Проводим изменения в </a:t>
            </a:r>
            <a:r>
              <a:rPr lang="ru-RU" sz="2300" dirty="0" err="1" smtClean="0">
                <a:latin typeface="Bookman Old Style" panose="02050604050505020204" pitchFamily="18" charset="0"/>
              </a:rPr>
              <a:t>репозитории</a:t>
            </a:r>
            <a:r>
              <a:rPr lang="ru-RU" sz="2300" dirty="0" smtClean="0">
                <a:latin typeface="Bookman Old Style" panose="02050604050505020204" pitchFamily="18" charset="0"/>
              </a:rPr>
              <a:t> (добавление/изменение/удаление).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ru-RU" sz="2300" dirty="0" smtClean="0">
                <a:latin typeface="Bookman Old Style" panose="02050604050505020204" pitchFamily="18" charset="0"/>
              </a:rPr>
              <a:t>Добавляем изменения в список для дальнейшей фиксации (сохранения) командой </a:t>
            </a:r>
            <a:r>
              <a:rPr lang="en-US" sz="23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300" b="1" dirty="0" smtClean="0">
                <a:latin typeface="Bookman Old Style" panose="02050604050505020204" pitchFamily="18" charset="0"/>
              </a:rPr>
              <a:t> add</a:t>
            </a:r>
            <a:r>
              <a:rPr lang="ru-RU" sz="2300" dirty="0" smtClean="0">
                <a:latin typeface="Bookman Old Style" panose="02050604050505020204" pitchFamily="18" charset="0"/>
              </a:rPr>
              <a:t>.</a:t>
            </a:r>
            <a:endParaRPr lang="en-US" sz="2300" dirty="0" smtClean="0">
              <a:latin typeface="Bookman Old Style" panose="02050604050505020204" pitchFamily="18" charset="0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ru-RU" sz="2300" dirty="0" smtClean="0">
                <a:latin typeface="Bookman Old Style" panose="02050604050505020204" pitchFamily="18" charset="0"/>
              </a:rPr>
              <a:t>Фиксируем изменения с помощью команды</a:t>
            </a:r>
            <a:r>
              <a:rPr lang="en-US" sz="2300" dirty="0" smtClean="0">
                <a:latin typeface="Bookman Old Style" panose="02050604050505020204" pitchFamily="18" charset="0"/>
              </a:rPr>
              <a:t> </a:t>
            </a:r>
            <a:r>
              <a:rPr lang="en-US" sz="2300" b="1" dirty="0" err="1" smtClean="0">
                <a:latin typeface="Bookman Old Style" panose="02050604050505020204" pitchFamily="18" charset="0"/>
              </a:rPr>
              <a:t>git</a:t>
            </a:r>
            <a:r>
              <a:rPr lang="ru-RU" sz="2300" b="1" dirty="0" smtClean="0">
                <a:latin typeface="Bookman Old Style" panose="02050604050505020204" pitchFamily="18" charset="0"/>
              </a:rPr>
              <a:t> </a:t>
            </a:r>
            <a:r>
              <a:rPr lang="en-US" sz="2300" b="1" dirty="0" smtClean="0">
                <a:latin typeface="Bookman Old Style" panose="02050604050505020204" pitchFamily="18" charset="0"/>
              </a:rPr>
              <a:t>commit </a:t>
            </a:r>
            <a:r>
              <a:rPr lang="en-US" sz="2300" dirty="0" smtClean="0">
                <a:latin typeface="Bookman Old Style" panose="02050604050505020204" pitchFamily="18" charset="0"/>
              </a:rPr>
              <a:t>(</a:t>
            </a:r>
            <a:r>
              <a:rPr lang="ru-RU" sz="2300" dirty="0" smtClean="0">
                <a:latin typeface="Bookman Old Style" panose="02050604050505020204" pitchFamily="18" charset="0"/>
              </a:rPr>
              <a:t>данные сохраняются в локальном </a:t>
            </a:r>
            <a:r>
              <a:rPr lang="ru-RU" sz="2300" dirty="0" err="1" smtClean="0">
                <a:latin typeface="Bookman Old Style" panose="02050604050505020204" pitchFamily="18" charset="0"/>
              </a:rPr>
              <a:t>репозитории</a:t>
            </a:r>
            <a:r>
              <a:rPr lang="ru-RU" sz="2300" dirty="0" smtClean="0">
                <a:latin typeface="Bookman Old Style" panose="02050604050505020204" pitchFamily="18" charset="0"/>
              </a:rPr>
              <a:t> на ВАШЕМ компьютере</a:t>
            </a:r>
            <a:r>
              <a:rPr lang="en-US" sz="2300" dirty="0" smtClean="0">
                <a:latin typeface="Bookman Old Style" panose="02050604050505020204" pitchFamily="18" charset="0"/>
              </a:rPr>
              <a:t>).</a:t>
            </a:r>
            <a:endParaRPr lang="ru-RU" sz="2300" dirty="0" smtClean="0">
              <a:latin typeface="Bookman Old Style" panose="02050604050505020204" pitchFamily="18" charset="0"/>
            </a:endParaRPr>
          </a:p>
          <a:p>
            <a:pPr marL="457200" indent="-457200" algn="just">
              <a:lnSpc>
                <a:spcPct val="150000"/>
              </a:lnSpc>
              <a:buFontTx/>
              <a:buAutoNum type="arabicPeriod"/>
            </a:pPr>
            <a:r>
              <a:rPr lang="ru-RU" sz="2300" dirty="0" smtClean="0">
                <a:latin typeface="Bookman Old Style" panose="02050604050505020204" pitchFamily="18" charset="0"/>
              </a:rPr>
              <a:t>Отправка изменений на удаленный сервер командой </a:t>
            </a:r>
            <a:r>
              <a:rPr lang="en-US" sz="23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300" b="1" dirty="0" smtClean="0">
                <a:latin typeface="Bookman Old Style" panose="02050604050505020204" pitchFamily="18" charset="0"/>
              </a:rPr>
              <a:t> push</a:t>
            </a:r>
            <a:r>
              <a:rPr lang="ru-RU" sz="2300" b="1" dirty="0" smtClean="0">
                <a:latin typeface="Bookman Old Style" panose="02050604050505020204" pitchFamily="18" charset="0"/>
              </a:rPr>
              <a:t> </a:t>
            </a:r>
            <a:r>
              <a:rPr lang="en-US" sz="2300" dirty="0">
                <a:latin typeface="Bookman Old Style" panose="02050604050505020204" pitchFamily="18" charset="0"/>
              </a:rPr>
              <a:t>(</a:t>
            </a:r>
            <a:r>
              <a:rPr lang="ru-RU" sz="2300" dirty="0">
                <a:latin typeface="Bookman Old Style" panose="02050604050505020204" pitchFamily="18" charset="0"/>
              </a:rPr>
              <a:t>данные сохраняются в </a:t>
            </a:r>
            <a:r>
              <a:rPr lang="ru-RU" sz="2300" dirty="0" smtClean="0">
                <a:latin typeface="Bookman Old Style" panose="02050604050505020204" pitchFamily="18" charset="0"/>
              </a:rPr>
              <a:t>удаленном </a:t>
            </a:r>
            <a:r>
              <a:rPr lang="ru-RU" sz="2300" dirty="0" err="1">
                <a:latin typeface="Bookman Old Style" panose="02050604050505020204" pitchFamily="18" charset="0"/>
              </a:rPr>
              <a:t>репозитории</a:t>
            </a:r>
            <a:r>
              <a:rPr lang="ru-RU" sz="2300" dirty="0">
                <a:latin typeface="Bookman Old Style" panose="02050604050505020204" pitchFamily="18" charset="0"/>
              </a:rPr>
              <a:t> на </a:t>
            </a:r>
            <a:r>
              <a:rPr lang="ru-RU" sz="2300" dirty="0" smtClean="0">
                <a:latin typeface="Bookman Old Style" panose="02050604050505020204" pitchFamily="18" charset="0"/>
              </a:rPr>
              <a:t>ДРУГОМ </a:t>
            </a:r>
            <a:r>
              <a:rPr lang="ru-RU" sz="2300" dirty="0">
                <a:latin typeface="Bookman Old Style" panose="02050604050505020204" pitchFamily="18" charset="0"/>
              </a:rPr>
              <a:t>компьютере</a:t>
            </a:r>
            <a:r>
              <a:rPr lang="en-US" sz="2300" dirty="0" smtClean="0">
                <a:latin typeface="Bookman Old Style" panose="02050604050505020204" pitchFamily="18" charset="0"/>
              </a:rPr>
              <a:t>).</a:t>
            </a:r>
          </a:p>
          <a:p>
            <a:pPr algn="just">
              <a:lnSpc>
                <a:spcPct val="150000"/>
              </a:lnSpc>
            </a:pPr>
            <a:r>
              <a:rPr lang="ru-RU" sz="2300" dirty="0" smtClean="0">
                <a:latin typeface="Bookman Old Style" panose="02050604050505020204" pitchFamily="18" charset="0"/>
              </a:rPr>
              <a:t>Важно помнить, что </a:t>
            </a:r>
            <a:r>
              <a:rPr lang="en-US" sz="2300" dirty="0" err="1" smtClean="0">
                <a:latin typeface="Bookman Old Style" panose="02050604050505020204" pitchFamily="18" charset="0"/>
              </a:rPr>
              <a:t>git</a:t>
            </a:r>
            <a:r>
              <a:rPr lang="en-US" sz="2300" dirty="0" smtClean="0">
                <a:latin typeface="Bookman Old Style" panose="02050604050505020204" pitchFamily="18" charset="0"/>
              </a:rPr>
              <a:t> </a:t>
            </a:r>
            <a:r>
              <a:rPr lang="ru-RU" sz="2300" dirty="0" smtClean="0">
                <a:latin typeface="Bookman Old Style" panose="02050604050505020204" pitchFamily="18" charset="0"/>
              </a:rPr>
              <a:t>хранит только изменения, он не хранит разные версии проектов по отдельности.</a:t>
            </a:r>
            <a:endParaRPr lang="ru-RU" sz="2300" dirty="0">
              <a:latin typeface="Bookman Old Style" panose="02050604050505020204" pitchFamily="18" charset="0"/>
            </a:endParaRP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Итог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846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71691"/>
            <a:ext cx="12192000" cy="540147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300" dirty="0" smtClean="0">
                <a:latin typeface="Bookman Old Style" panose="02050604050505020204" pitchFamily="18" charset="0"/>
              </a:rPr>
              <a:t>Чтобы скачать </a:t>
            </a:r>
            <a:r>
              <a:rPr lang="ru-RU" sz="23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300" dirty="0" smtClean="0">
                <a:latin typeface="Bookman Old Style" panose="02050604050505020204" pitchFamily="18" charset="0"/>
              </a:rPr>
              <a:t>,</a:t>
            </a:r>
          </a:p>
          <a:p>
            <a:pPr algn="just">
              <a:lnSpc>
                <a:spcPct val="150000"/>
              </a:lnSpc>
            </a:pPr>
            <a:r>
              <a:rPr lang="ru-RU" sz="2300" dirty="0" smtClean="0">
                <a:latin typeface="Bookman Old Style" panose="02050604050505020204" pitchFamily="18" charset="0"/>
              </a:rPr>
              <a:t>необходимо:</a:t>
            </a:r>
          </a:p>
          <a:p>
            <a:pPr marL="457200" indent="-457200" algn="just">
              <a:lnSpc>
                <a:spcPct val="150000"/>
              </a:lnSpc>
              <a:buAutoNum type="arabicParenR"/>
            </a:pPr>
            <a:r>
              <a:rPr lang="ru-RU" sz="2300" dirty="0" smtClean="0">
                <a:latin typeface="Bookman Old Style" panose="02050604050505020204" pitchFamily="18" charset="0"/>
              </a:rPr>
              <a:t>Нажать </a:t>
            </a:r>
            <a:r>
              <a:rPr lang="en-US" sz="2300" dirty="0" smtClean="0">
                <a:latin typeface="Bookman Old Style" panose="02050604050505020204" pitchFamily="18" charset="0"/>
              </a:rPr>
              <a:t>Code</a:t>
            </a:r>
          </a:p>
          <a:p>
            <a:pPr marL="457200" indent="-457200" algn="just">
              <a:lnSpc>
                <a:spcPct val="150000"/>
              </a:lnSpc>
              <a:buAutoNum type="arabicParenR"/>
            </a:pPr>
            <a:r>
              <a:rPr lang="en-US" sz="2300" dirty="0" smtClean="0">
                <a:latin typeface="Bookman Old Style" panose="02050604050505020204" pitchFamily="18" charset="0"/>
              </a:rPr>
              <a:t>Download ZIP</a:t>
            </a:r>
          </a:p>
          <a:p>
            <a:pPr algn="just">
              <a:lnSpc>
                <a:spcPct val="150000"/>
              </a:lnSpc>
            </a:pPr>
            <a:endParaRPr lang="en-US" sz="23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300" dirty="0" smtClean="0">
                <a:latin typeface="Bookman Old Style" panose="02050604050505020204" pitchFamily="18" charset="0"/>
              </a:rPr>
              <a:t>Либо клонировать:</a:t>
            </a:r>
          </a:p>
          <a:p>
            <a:pPr marL="457200" indent="-457200" algn="just">
              <a:lnSpc>
                <a:spcPct val="150000"/>
              </a:lnSpc>
              <a:buAutoNum type="arabicParenR"/>
            </a:pPr>
            <a:r>
              <a:rPr lang="ru-RU" sz="2300" dirty="0">
                <a:latin typeface="Bookman Old Style" panose="02050604050505020204" pitchFamily="18" charset="0"/>
              </a:rPr>
              <a:t>Нажать </a:t>
            </a:r>
            <a:r>
              <a:rPr lang="en-US" sz="2300" dirty="0">
                <a:latin typeface="Bookman Old Style" panose="02050604050505020204" pitchFamily="18" charset="0"/>
              </a:rPr>
              <a:t>Code</a:t>
            </a:r>
          </a:p>
          <a:p>
            <a:pPr marL="457200" indent="-457200" algn="just">
              <a:lnSpc>
                <a:spcPct val="150000"/>
              </a:lnSpc>
              <a:buAutoNum type="arabicParenR"/>
            </a:pPr>
            <a:r>
              <a:rPr lang="en-US" sz="2300" dirty="0" smtClean="0">
                <a:latin typeface="Bookman Old Style" panose="02050604050505020204" pitchFamily="18" charset="0"/>
              </a:rPr>
              <a:t>Open with GitHub Desktop</a:t>
            </a:r>
          </a:p>
          <a:p>
            <a:pPr marL="457200" indent="-457200" algn="just">
              <a:lnSpc>
                <a:spcPct val="150000"/>
              </a:lnSpc>
              <a:buAutoNum type="arabicParenR"/>
            </a:pPr>
            <a:r>
              <a:rPr lang="en-US" sz="2300" dirty="0" smtClean="0">
                <a:latin typeface="Bookman Old Style" panose="02050604050505020204" pitchFamily="18" charset="0"/>
              </a:rPr>
              <a:t>Clone</a:t>
            </a:r>
            <a:endParaRPr lang="en-US" sz="23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300" dirty="0">
              <a:latin typeface="Bookman Old Style" panose="02050604050505020204" pitchFamily="18" charset="0"/>
            </a:endParaRP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Как скачать</a:t>
            </a: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репозиторий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15675"/>
            <a:ext cx="5833039" cy="538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040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71691"/>
            <a:ext cx="12192000" cy="21559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300" b="1" dirty="0" err="1">
                <a:latin typeface="Bookman Old Style" panose="02050604050505020204" pitchFamily="18" charset="0"/>
              </a:rPr>
              <a:t>GitHub</a:t>
            </a:r>
            <a:r>
              <a:rPr lang="ru-RU" sz="2300" b="1" dirty="0">
                <a:latin typeface="Bookman Old Style" panose="02050604050505020204" pitchFamily="18" charset="0"/>
              </a:rPr>
              <a:t> </a:t>
            </a:r>
            <a:r>
              <a:rPr lang="ru-RU" sz="2300" b="1" dirty="0" err="1">
                <a:latin typeface="Bookman Old Style" panose="02050604050505020204" pitchFamily="18" charset="0"/>
              </a:rPr>
              <a:t>Projects</a:t>
            </a:r>
            <a:r>
              <a:rPr lang="ru-RU" sz="2300" b="1" dirty="0">
                <a:latin typeface="Bookman Old Style" panose="02050604050505020204" pitchFamily="18" charset="0"/>
              </a:rPr>
              <a:t> </a:t>
            </a:r>
            <a:r>
              <a:rPr lang="ru-RU" sz="2300" dirty="0">
                <a:latin typeface="Bookman Old Style" panose="02050604050505020204" pitchFamily="18" charset="0"/>
              </a:rPr>
              <a:t>— это гибкая доска задач (</a:t>
            </a:r>
            <a:r>
              <a:rPr lang="ru-RU" sz="2300" dirty="0" err="1">
                <a:latin typeface="Bookman Old Style" panose="02050604050505020204" pitchFamily="18" charset="0"/>
              </a:rPr>
              <a:t>канбан</a:t>
            </a:r>
            <a:r>
              <a:rPr lang="ru-RU" sz="2300" dirty="0">
                <a:latin typeface="Bookman Old Style" panose="02050604050505020204" pitchFamily="18" charset="0"/>
              </a:rPr>
              <a:t>), интегрированная с вашим </a:t>
            </a:r>
            <a:r>
              <a:rPr lang="ru-RU" sz="2300" dirty="0" err="1">
                <a:latin typeface="Bookman Old Style" panose="02050604050505020204" pitchFamily="18" charset="0"/>
              </a:rPr>
              <a:t>репозиторием</a:t>
            </a:r>
            <a:r>
              <a:rPr lang="ru-RU" sz="2300" dirty="0">
                <a:latin typeface="Bookman Old Style" panose="02050604050505020204" pitchFamily="18" charset="0"/>
              </a:rPr>
              <a:t>. Она помогает организовать работу, отслеживать прогресс и управлять сроками. Представьте себе цифровую доску со </a:t>
            </a:r>
            <a:r>
              <a:rPr lang="ru-RU" sz="2300" dirty="0" err="1">
                <a:latin typeface="Bookman Old Style" panose="02050604050505020204" pitchFamily="18" charset="0"/>
              </a:rPr>
              <a:t>стикерами</a:t>
            </a:r>
            <a:r>
              <a:rPr lang="ru-RU" sz="2300" dirty="0">
                <a:latin typeface="Bookman Old Style" panose="02050604050505020204" pitchFamily="18" charset="0"/>
              </a:rPr>
              <a:t>-задачами, которые можно перемещать между колонками.</a:t>
            </a: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Ведение проекта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749" y="2747597"/>
            <a:ext cx="10672601" cy="160502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4"/>
          <a:srcRect t="62491"/>
          <a:stretch/>
        </p:blipFill>
        <p:spPr>
          <a:xfrm>
            <a:off x="779423" y="4355103"/>
            <a:ext cx="10877927" cy="250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352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b="52946"/>
          <a:stretch/>
        </p:blipFill>
        <p:spPr>
          <a:xfrm>
            <a:off x="0" y="305930"/>
            <a:ext cx="12063007" cy="4399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639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Создание </a:t>
            </a:r>
            <a:r>
              <a:rPr lang="ru-RU" sz="2400" b="1" dirty="0">
                <a:latin typeface="Bookman Old Style" panose="02050604050505020204" pitchFamily="18" charset="0"/>
              </a:rPr>
              <a:t>проекта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Перейдите на вкладку </a:t>
            </a:r>
            <a:r>
              <a:rPr lang="en-US" sz="2400" b="1" dirty="0">
                <a:latin typeface="Bookman Old Style" panose="02050604050505020204" pitchFamily="18" charset="0"/>
              </a:rPr>
              <a:t>Projects</a:t>
            </a:r>
            <a:r>
              <a:rPr lang="en-US" sz="2400" dirty="0">
                <a:latin typeface="Bookman Old Style" panose="02050604050505020204" pitchFamily="18" charset="0"/>
              </a:rPr>
              <a:t> </a:t>
            </a:r>
            <a:r>
              <a:rPr lang="ru-RU" sz="2400" dirty="0">
                <a:latin typeface="Bookman Old Style" panose="02050604050505020204" pitchFamily="18" charset="0"/>
              </a:rPr>
              <a:t>в вашем </a:t>
            </a:r>
            <a:r>
              <a:rPr lang="ru-RU" sz="2400" dirty="0" err="1">
                <a:latin typeface="Bookman Old Style" panose="02050604050505020204" pitchFamily="18" charset="0"/>
              </a:rPr>
              <a:t>репозитории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Нажмите </a:t>
            </a:r>
            <a:r>
              <a:rPr lang="en-US" sz="2400" b="1" dirty="0">
                <a:latin typeface="Bookman Old Style" panose="02050604050505020204" pitchFamily="18" charset="0"/>
              </a:rPr>
              <a:t>New Project</a:t>
            </a: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Выберите шаблон:</a:t>
            </a:r>
          </a:p>
          <a:p>
            <a:pPr lvl="1"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</a:rPr>
              <a:t>Basic </a:t>
            </a:r>
            <a:r>
              <a:rPr lang="en-US" sz="2400" b="1" dirty="0" err="1">
                <a:latin typeface="Bookman Old Style" panose="02050604050505020204" pitchFamily="18" charset="0"/>
              </a:rPr>
              <a:t>kanban</a:t>
            </a:r>
            <a:r>
              <a:rPr lang="en-US" sz="2400" dirty="0">
                <a:latin typeface="Bookman Old Style" panose="02050604050505020204" pitchFamily="18" charset="0"/>
              </a:rPr>
              <a:t> — </a:t>
            </a:r>
            <a:r>
              <a:rPr lang="ru-RU" sz="2400" dirty="0">
                <a:latin typeface="Bookman Old Style" panose="02050604050505020204" pitchFamily="18" charset="0"/>
              </a:rPr>
              <a:t>для простого </a:t>
            </a:r>
            <a:r>
              <a:rPr lang="en-US" sz="2400" dirty="0">
                <a:latin typeface="Bookman Old Style" panose="02050604050505020204" pitchFamily="18" charset="0"/>
              </a:rPr>
              <a:t>workflow (To do / In progress / Done)</a:t>
            </a:r>
          </a:p>
          <a:p>
            <a:pPr lvl="1"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</a:rPr>
              <a:t>Automated </a:t>
            </a:r>
            <a:r>
              <a:rPr lang="en-US" sz="2400" b="1" dirty="0" err="1">
                <a:latin typeface="Bookman Old Style" panose="02050604050505020204" pitchFamily="18" charset="0"/>
              </a:rPr>
              <a:t>kanban</a:t>
            </a:r>
            <a:r>
              <a:rPr lang="en-US" sz="2400" dirty="0">
                <a:latin typeface="Bookman Old Style" panose="02050604050505020204" pitchFamily="18" charset="0"/>
              </a:rPr>
              <a:t> — </a:t>
            </a:r>
            <a:r>
              <a:rPr lang="ru-RU" sz="2400" dirty="0">
                <a:latin typeface="Bookman Old Style" panose="02050604050505020204" pitchFamily="18" charset="0"/>
              </a:rPr>
              <a:t>автоматическое перемещение задач по статусам</a:t>
            </a:r>
          </a:p>
          <a:p>
            <a:pPr lvl="1"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</a:rPr>
              <a:t>Bug triage</a:t>
            </a:r>
            <a:r>
              <a:rPr lang="en-US" sz="2400" dirty="0">
                <a:latin typeface="Bookman Old Style" panose="02050604050505020204" pitchFamily="18" charset="0"/>
              </a:rPr>
              <a:t> — </a:t>
            </a:r>
            <a:r>
              <a:rPr lang="ru-RU" sz="2400" dirty="0">
                <a:latin typeface="Bookman Old Style" panose="02050604050505020204" pitchFamily="18" charset="0"/>
              </a:rPr>
              <a:t>для отслеживания ошибок</a:t>
            </a:r>
          </a:p>
          <a:p>
            <a:pPr lvl="1"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</a:rPr>
              <a:t>Team planning</a:t>
            </a:r>
            <a:r>
              <a:rPr lang="en-US" sz="2400" dirty="0">
                <a:latin typeface="Bookman Old Style" panose="02050604050505020204" pitchFamily="18" charset="0"/>
              </a:rPr>
              <a:t> — </a:t>
            </a:r>
            <a:r>
              <a:rPr lang="ru-RU" sz="2400" dirty="0">
                <a:latin typeface="Bookman Old Style" panose="02050604050505020204" pitchFamily="18" charset="0"/>
              </a:rPr>
              <a:t>для планирования </a:t>
            </a:r>
            <a:r>
              <a:rPr lang="ru-RU" sz="2400" dirty="0" smtClean="0">
                <a:latin typeface="Bookman Old Style" panose="02050604050505020204" pitchFamily="18" charset="0"/>
              </a:rPr>
              <a:t>спринтов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731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Создание </a:t>
            </a:r>
            <a:r>
              <a:rPr lang="ru-RU" sz="2400" b="1" dirty="0">
                <a:latin typeface="Bookman Old Style" panose="02050604050505020204" pitchFamily="18" charset="0"/>
              </a:rPr>
              <a:t>задачи:</a:t>
            </a:r>
          </a:p>
          <a:p>
            <a:pPr marL="531813"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Нажмите </a:t>
            </a:r>
            <a:r>
              <a:rPr lang="ru-RU" sz="2400" b="1" dirty="0">
                <a:latin typeface="Bookman Old Style" panose="02050604050505020204" pitchFamily="18" charset="0"/>
              </a:rPr>
              <a:t>+ </a:t>
            </a:r>
            <a:r>
              <a:rPr lang="ru-RU" sz="2400" b="1" dirty="0" err="1">
                <a:latin typeface="Bookman Old Style" panose="02050604050505020204" pitchFamily="18" charset="0"/>
              </a:rPr>
              <a:t>Add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latin typeface="Bookman Old Style" panose="02050604050505020204" pitchFamily="18" charset="0"/>
              </a:rPr>
              <a:t>item</a:t>
            </a:r>
            <a:r>
              <a:rPr lang="ru-RU" sz="2400" dirty="0">
                <a:latin typeface="Bookman Old Style" panose="02050604050505020204" pitchFamily="18" charset="0"/>
              </a:rPr>
              <a:t> в нужной колонке</a:t>
            </a:r>
          </a:p>
          <a:p>
            <a:pPr marL="531813"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Введите название задачи</a:t>
            </a:r>
          </a:p>
          <a:p>
            <a:pPr marL="531813"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Нажмите </a:t>
            </a:r>
            <a:r>
              <a:rPr lang="ru-RU" sz="2400" dirty="0" err="1">
                <a:latin typeface="Bookman Old Style" panose="02050604050505020204" pitchFamily="18" charset="0"/>
              </a:rPr>
              <a:t>Enter</a:t>
            </a:r>
            <a:endParaRPr lang="ru-RU" sz="2400" dirty="0">
              <a:latin typeface="Bookman Old Style" panose="02050604050505020204" pitchFamily="18" charset="0"/>
            </a:endParaRPr>
          </a:p>
          <a:p>
            <a:pPr marL="531813"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Кликните на карточку для </a:t>
            </a:r>
            <a:r>
              <a:rPr lang="ru-RU" sz="2400" dirty="0" smtClean="0">
                <a:latin typeface="Bookman Old Style" panose="02050604050505020204" pitchFamily="18" charset="0"/>
              </a:rPr>
              <a:t>деталей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Автоматизация (</a:t>
            </a:r>
            <a:r>
              <a:rPr lang="ru-RU" sz="2400" smtClean="0">
                <a:latin typeface="Bookman Old Style" panose="02050604050505020204" pitchFamily="18" charset="0"/>
              </a:rPr>
              <a:t>не обязательно):</a:t>
            </a:r>
            <a:endParaRPr lang="ru-RU" sz="2400" dirty="0">
              <a:latin typeface="Bookman Old Style" panose="020506040505050202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Создайте </a:t>
            </a:r>
            <a:r>
              <a:rPr lang="ru-RU" sz="2400" dirty="0" err="1">
                <a:latin typeface="Bookman Old Style" panose="02050604050505020204" pitchFamily="18" charset="0"/>
              </a:rPr>
              <a:t>Issue</a:t>
            </a:r>
            <a:r>
              <a:rPr lang="ru-RU" sz="2400" dirty="0">
                <a:latin typeface="Bookman Old Style" panose="02050604050505020204" pitchFamily="18" charset="0"/>
              </a:rPr>
              <a:t> в </a:t>
            </a:r>
            <a:r>
              <a:rPr lang="ru-RU" sz="2400" dirty="0" err="1">
                <a:latin typeface="Bookman Old Style" panose="02050604050505020204" pitchFamily="18" charset="0"/>
              </a:rPr>
              <a:t>репозитории</a:t>
            </a:r>
            <a:r>
              <a:rPr lang="ru-RU" sz="2400" dirty="0">
                <a:latin typeface="Bookman Old Style" panose="02050604050505020204" pitchFamily="18" charset="0"/>
              </a:rPr>
              <a:t> с описанием задачи</a:t>
            </a:r>
          </a:p>
          <a:p>
            <a:pPr lvl="1"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В проекте нажмите + </a:t>
            </a:r>
            <a:r>
              <a:rPr lang="ru-RU" sz="2400" dirty="0" err="1">
                <a:latin typeface="Bookman Old Style" panose="02050604050505020204" pitchFamily="18" charset="0"/>
              </a:rPr>
              <a:t>Add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item</a:t>
            </a:r>
            <a:r>
              <a:rPr lang="ru-RU" sz="2400" dirty="0">
                <a:latin typeface="Bookman Old Style" panose="02050604050505020204" pitchFamily="18" charset="0"/>
              </a:rPr>
              <a:t> и введите # + номер </a:t>
            </a:r>
            <a:r>
              <a:rPr lang="ru-RU" sz="2400" dirty="0" err="1">
                <a:latin typeface="Bookman Old Style" panose="02050604050505020204" pitchFamily="18" charset="0"/>
              </a:rPr>
              <a:t>Issue</a:t>
            </a:r>
            <a:endParaRPr lang="ru-RU" sz="2400" dirty="0">
              <a:latin typeface="Bookman Old Style" panose="020506040505050202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Карточка автоматически свяжется с </a:t>
            </a:r>
            <a:r>
              <a:rPr lang="ru-RU" sz="2400" dirty="0" err="1">
                <a:latin typeface="Bookman Old Style" panose="02050604050505020204" pitchFamily="18" charset="0"/>
              </a:rPr>
              <a:t>Issue</a:t>
            </a:r>
            <a:endParaRPr lang="ru-RU" sz="2400" dirty="0">
              <a:latin typeface="Bookman Old Style" panose="020506040505050202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При создании </a:t>
            </a:r>
            <a:r>
              <a:rPr lang="ru-RU" sz="2400" dirty="0" err="1">
                <a:latin typeface="Bookman Old Style" panose="02050604050505020204" pitchFamily="18" charset="0"/>
              </a:rPr>
              <a:t>Pull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Request</a:t>
            </a:r>
            <a:r>
              <a:rPr lang="ru-RU" sz="2400" dirty="0">
                <a:latin typeface="Bookman Old Style" panose="02050604050505020204" pitchFamily="18" charset="0"/>
              </a:rPr>
              <a:t> с ключевыми словами:</a:t>
            </a:r>
          </a:p>
          <a:p>
            <a:pPr lvl="1" algn="just">
              <a:lnSpc>
                <a:spcPct val="150000"/>
              </a:lnSpc>
            </a:pPr>
            <a:r>
              <a:rPr lang="ru-RU" sz="2400" dirty="0" err="1">
                <a:latin typeface="Bookman Old Style" panose="02050604050505020204" pitchFamily="18" charset="0"/>
              </a:rPr>
              <a:t>fixes</a:t>
            </a:r>
            <a:r>
              <a:rPr lang="ru-RU" sz="2400" dirty="0">
                <a:latin typeface="Bookman Old Style" panose="02050604050505020204" pitchFamily="18" charset="0"/>
              </a:rPr>
              <a:t> #1 — автоматически переместит карточку в "</a:t>
            </a:r>
            <a:r>
              <a:rPr lang="ru-RU" sz="2400" dirty="0" err="1">
                <a:latin typeface="Bookman Old Style" panose="02050604050505020204" pitchFamily="18" charset="0"/>
              </a:rPr>
              <a:t>Done</a:t>
            </a:r>
            <a:r>
              <a:rPr lang="ru-RU" sz="2400" dirty="0">
                <a:latin typeface="Bookman Old Style" panose="02050604050505020204" pitchFamily="18" charset="0"/>
              </a:rPr>
              <a:t>"</a:t>
            </a:r>
          </a:p>
          <a:p>
            <a:pPr lvl="1" algn="just">
              <a:lnSpc>
                <a:spcPct val="150000"/>
              </a:lnSpc>
            </a:pPr>
            <a:r>
              <a:rPr lang="ru-RU" sz="2400" dirty="0" err="1">
                <a:latin typeface="Bookman Old Style" panose="02050604050505020204" pitchFamily="18" charset="0"/>
              </a:rPr>
              <a:t>connects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to</a:t>
            </a:r>
            <a:r>
              <a:rPr lang="ru-RU" sz="2400" dirty="0">
                <a:latin typeface="Bookman Old Style" panose="02050604050505020204" pitchFamily="18" charset="0"/>
              </a:rPr>
              <a:t> #1 — свяжет PR с задачей</a:t>
            </a:r>
          </a:p>
        </p:txBody>
      </p:sp>
    </p:spTree>
    <p:extLst>
      <p:ext uri="{BB962C8B-B14F-4D97-AF65-F5344CB8AC3E}">
        <p14:creationId xmlns:p14="http://schemas.microsoft.com/office/powerpoint/2010/main" val="1087359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15057</TotalTime>
  <Words>1891</Words>
  <Application>Microsoft Office PowerPoint</Application>
  <PresentationFormat>Широкоэкранный</PresentationFormat>
  <Paragraphs>328</Paragraphs>
  <Slides>54</Slides>
  <Notes>54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54</vt:i4>
      </vt:variant>
    </vt:vector>
  </HeadingPairs>
  <TitlesOfParts>
    <vt:vector size="60" baseType="lpstr">
      <vt:lpstr>Arial</vt:lpstr>
      <vt:lpstr>Bookman Old Style</vt:lpstr>
      <vt:lpstr>Calibri</vt:lpstr>
      <vt:lpstr>Calibri Light</vt:lpstr>
      <vt:lpstr>Times New Roman</vt:lpstr>
      <vt:lpstr>Тема Office</vt:lpstr>
      <vt:lpstr>4 семестр Лекция 1.  Содержание лекции: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807</cp:revision>
  <dcterms:modified xsi:type="dcterms:W3CDTF">2026-03-05T10:10:20Z</dcterms:modified>
  <dc:subject/>
  <cp:keywords/>
  <dc:description/>
  <cp:category/>
  <cp:contentStatus/>
</cp:coreProperties>
</file>