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4"/>
  </p:notesMasterIdLst>
  <p:sldIdLst>
    <p:sldId id="273" r:id="rId2"/>
    <p:sldId id="969" r:id="rId3"/>
    <p:sldId id="1054" r:id="rId4"/>
    <p:sldId id="1055" r:id="rId5"/>
    <p:sldId id="1056" r:id="rId6"/>
    <p:sldId id="1057" r:id="rId7"/>
    <p:sldId id="1111" r:id="rId8"/>
    <p:sldId id="1058" r:id="rId9"/>
    <p:sldId id="1059" r:id="rId10"/>
    <p:sldId id="1060" r:id="rId11"/>
    <p:sldId id="1065" r:id="rId12"/>
    <p:sldId id="1066" r:id="rId13"/>
    <p:sldId id="1112" r:id="rId14"/>
    <p:sldId id="1113" r:id="rId15"/>
    <p:sldId id="1114" r:id="rId16"/>
    <p:sldId id="1075" r:id="rId17"/>
    <p:sldId id="1115" r:id="rId18"/>
    <p:sldId id="1116" r:id="rId19"/>
    <p:sldId id="1117" r:id="rId20"/>
    <p:sldId id="1118" r:id="rId21"/>
    <p:sldId id="1018" r:id="rId22"/>
    <p:sldId id="1119" r:id="rId23"/>
    <p:sldId id="1120" r:id="rId24"/>
    <p:sldId id="1121" r:id="rId25"/>
    <p:sldId id="1122" r:id="rId26"/>
    <p:sldId id="1123" r:id="rId27"/>
    <p:sldId id="1129" r:id="rId28"/>
    <p:sldId id="1124" r:id="rId29"/>
    <p:sldId id="1131" r:id="rId30"/>
    <p:sldId id="1132" r:id="rId31"/>
    <p:sldId id="1133" r:id="rId32"/>
    <p:sldId id="1134" r:id="rId33"/>
    <p:sldId id="1135" r:id="rId34"/>
    <p:sldId id="1136" r:id="rId35"/>
    <p:sldId id="1137" r:id="rId36"/>
    <p:sldId id="1138" r:id="rId37"/>
    <p:sldId id="1130" r:id="rId38"/>
    <p:sldId id="1139" r:id="rId39"/>
    <p:sldId id="1125" r:id="rId40"/>
    <p:sldId id="1127" r:id="rId41"/>
    <p:sldId id="1126" r:id="rId42"/>
    <p:sldId id="112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5343" autoAdjust="0"/>
  </p:normalViewPr>
  <p:slideViewPr>
    <p:cSldViewPr snapToGrid="0">
      <p:cViewPr>
        <p:scale>
          <a:sx n="50" d="100"/>
          <a:sy n="50" d="100"/>
        </p:scale>
        <p:origin x="2826" y="144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5726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65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56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05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11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79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55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48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14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19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80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95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360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29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30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2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34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404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08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628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368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327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69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295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117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2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3282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698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535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11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957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37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898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521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222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654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5746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5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47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143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568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=""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=""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2601697"/>
            <a:ext cx="9638568" cy="1658676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3.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260373"/>
            <a:ext cx="110413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Виды ошибок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Уровни тестирования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Модульные тесты </a:t>
            </a:r>
            <a:r>
              <a:rPr lang="en-US" sz="2800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NUnit</a:t>
            </a:r>
            <a:endParaRPr lang="ru-RU" sz="28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Тестирование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Тести́рование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програ́ммного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обеспе́че́ния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— процесс исследования, испытания программного продукта, имеющий своей целью проверку соответствия между реальным поведением программы и её ожидаемым поведением на конечном наборе тестов, выбранных определённым </a:t>
            </a:r>
            <a:r>
              <a:rPr lang="ru-RU" sz="2400" dirty="0" smtClean="0">
                <a:latin typeface="Bookman Old Style" panose="02050604050505020204" pitchFamily="18" charset="0"/>
              </a:rPr>
              <a:t>образом.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Верификация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(</a:t>
            </a:r>
            <a:r>
              <a:rPr lang="en-US" sz="2400" dirty="0">
                <a:latin typeface="Bookman Old Style" panose="02050604050505020204" pitchFamily="18" charset="0"/>
              </a:rPr>
              <a:t>verification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Соответствие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продукта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требованиям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(</a:t>
            </a:r>
            <a:r>
              <a:rPr lang="ru-RU" sz="2400" b="1" dirty="0" smtClean="0">
                <a:latin typeface="Bookman Old Style" panose="02050604050505020204" pitchFamily="18" charset="0"/>
              </a:rPr>
              <a:t>спецификации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Т.е.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Верификация </a:t>
            </a:r>
            <a:r>
              <a:rPr lang="ru-RU" sz="2400" dirty="0">
                <a:latin typeface="Bookman Old Style" panose="02050604050505020204" pitchFamily="18" charset="0"/>
              </a:rPr>
              <a:t>это проверка того, что программа работает так, как было задумано.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Валидация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(</a:t>
            </a:r>
            <a:r>
              <a:rPr lang="en-US" sz="2400" dirty="0">
                <a:latin typeface="Bookman Old Style" panose="02050604050505020204" pitchFamily="18" charset="0"/>
              </a:rPr>
              <a:t>validation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Соответствие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продукта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потребностям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пользователей.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Т.е.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работа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программы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устраивает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заказчика.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55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Error</a:t>
            </a:r>
            <a:r>
              <a:rPr lang="ru-RU" sz="2400" dirty="0" smtClean="0">
                <a:latin typeface="Bookman Old Style" panose="02050604050505020204" pitchFamily="18" charset="0"/>
              </a:rPr>
              <a:t>  – это ошибка </a:t>
            </a:r>
            <a:r>
              <a:rPr lang="ru-RU" sz="2400" b="1" dirty="0" smtClean="0">
                <a:latin typeface="Bookman Old Style" panose="02050604050505020204" pitchFamily="18" charset="0"/>
              </a:rPr>
              <a:t>пользователя</a:t>
            </a:r>
            <a:r>
              <a:rPr lang="ru-RU" sz="2400" dirty="0" smtClean="0">
                <a:latin typeface="Bookman Old Style" panose="02050604050505020204" pitchFamily="18" charset="0"/>
              </a:rPr>
              <a:t>, то есть он пытается использовать программу иным способом (например, вводит буквы в поля, где требуется вводить цифры). В качественной программе предусмотрены такие ситуации и выдаются сообщение об ошибке.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Bug</a:t>
            </a:r>
            <a:r>
              <a:rPr lang="ru-RU" sz="2400" dirty="0" smtClean="0">
                <a:latin typeface="Bookman Old Style" panose="02050604050505020204" pitchFamily="18" charset="0"/>
              </a:rPr>
              <a:t> (</a:t>
            </a:r>
            <a:r>
              <a:rPr lang="ru-RU" sz="2400" dirty="0" err="1" smtClean="0">
                <a:latin typeface="Bookman Old Style" panose="02050604050505020204" pitchFamily="18" charset="0"/>
              </a:rPr>
              <a:t>defect</a:t>
            </a:r>
            <a:r>
              <a:rPr lang="ru-RU" sz="2400" dirty="0" smtClean="0">
                <a:latin typeface="Bookman Old Style" panose="02050604050505020204" pitchFamily="18" charset="0"/>
              </a:rPr>
              <a:t>) – это ошибка </a:t>
            </a:r>
            <a:r>
              <a:rPr lang="ru-RU" sz="2400" b="1" dirty="0" smtClean="0">
                <a:latin typeface="Bookman Old Style" panose="02050604050505020204" pitchFamily="18" charset="0"/>
              </a:rPr>
              <a:t>программиста</a:t>
            </a:r>
            <a:r>
              <a:rPr lang="ru-RU" sz="2400" dirty="0" smtClean="0">
                <a:latin typeface="Bookman Old Style" panose="02050604050505020204" pitchFamily="18" charset="0"/>
              </a:rPr>
              <a:t> (или дизайнера или ещё кого, кто принимает участие в разработке), то есть когда в программе, что-то идёт не так, как планировалось. Например, внутри программа построена так, что изначально не соответствует тому, что от неё ожидается.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Failure</a:t>
            </a:r>
            <a:r>
              <a:rPr lang="ru-RU" sz="2400" dirty="0" smtClean="0">
                <a:latin typeface="Bookman Old Style" panose="02050604050505020204" pitchFamily="18" charset="0"/>
              </a:rPr>
              <a:t>  – это сбой в работе компонента, всей программы или системы (может быть как аппаратным, так и вызванным дефектом).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Виды ошибок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56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Модульное (</a:t>
            </a:r>
            <a:r>
              <a:rPr lang="ru-RU" sz="2400" b="1" dirty="0" err="1">
                <a:latin typeface="Bookman Old Style" panose="02050604050505020204" pitchFamily="18" charset="0"/>
              </a:rPr>
              <a:t>Unit</a:t>
            </a:r>
            <a:r>
              <a:rPr lang="ru-RU" sz="2400" b="1" dirty="0">
                <a:latin typeface="Bookman Old Style" panose="02050604050505020204" pitchFamily="18" charset="0"/>
              </a:rPr>
              <a:t>) тестирование</a:t>
            </a:r>
            <a:r>
              <a:rPr lang="ru-RU" sz="2400" dirty="0">
                <a:latin typeface="Bookman Old Style" panose="02050604050505020204" pitchFamily="18" charset="0"/>
              </a:rPr>
              <a:t> — тестируется минимальный компонент (класс, метод). Пишут программисты.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Интеграционное тестирование</a:t>
            </a:r>
            <a:r>
              <a:rPr lang="ru-RU" sz="2400" dirty="0">
                <a:latin typeface="Bookman Old Style" panose="02050604050505020204" pitchFamily="18" charset="0"/>
              </a:rPr>
              <a:t> — проверка взаимодействия между несколькими модулями или системами (например, работа с БД).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Системное тестирование</a:t>
            </a:r>
            <a:r>
              <a:rPr lang="ru-RU" sz="2400" dirty="0">
                <a:latin typeface="Bookman Old Style" panose="02050604050505020204" pitchFamily="18" charset="0"/>
              </a:rPr>
              <a:t> — проверка всей системы в сборе на соответствие требованиям (включая UI, нагрузочное тестирование и т.д.).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Приемочное (Альфа/Бета) тестирование</a:t>
            </a:r>
            <a:r>
              <a:rPr lang="ru-RU" sz="2400" dirty="0">
                <a:latin typeface="Bookman Old Style" panose="02050604050505020204" pitchFamily="18" charset="0"/>
              </a:rPr>
              <a:t> — проверка программы на стороне конечных пользователей.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Уровни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48833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Эквивалентное </a:t>
            </a:r>
            <a:r>
              <a:rPr lang="ru-RU" sz="2400" b="1" dirty="0">
                <a:latin typeface="Bookman Old Style" panose="02050604050505020204" pitchFamily="18" charset="0"/>
              </a:rPr>
              <a:t>разделение:</a:t>
            </a:r>
            <a:r>
              <a:rPr lang="ru-RU" sz="2400" dirty="0">
                <a:latin typeface="Bookman Old Style" panose="02050604050505020204" pitchFamily="18" charset="0"/>
              </a:rPr>
              <a:t> Разбиваем все возможные данные на группы, где программа ведет себя одинаково. Берем по 1 значению из группы. </a:t>
            </a:r>
            <a:r>
              <a:rPr lang="ru-RU" sz="2400" i="1" dirty="0">
                <a:latin typeface="Bookman Old Style" panose="02050604050505020204" pitchFamily="18" charset="0"/>
              </a:rPr>
              <a:t>(Пример: пароль от 5 до 10 символов. Группы: &lt;5, от 5 до 10, &gt;10. Тестируем длины 3, 7 и 12).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Анализ граничных значений:</a:t>
            </a:r>
            <a:r>
              <a:rPr lang="ru-RU" sz="2400" dirty="0">
                <a:latin typeface="Bookman Old Style" panose="02050604050505020204" pitchFamily="18" charset="0"/>
              </a:rPr>
              <a:t> Ошибки чаще всего прячутся на границах. </a:t>
            </a:r>
            <a:r>
              <a:rPr lang="ru-RU" sz="2400" i="1" dirty="0">
                <a:latin typeface="Bookman Old Style" panose="02050604050505020204" pitchFamily="18" charset="0"/>
              </a:rPr>
              <a:t>(Для интервала 1-10 проверяем 0, 1, 2 и 9, 10, 11).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Техники тест-дизайна</a:t>
            </a:r>
          </a:p>
        </p:txBody>
      </p:sp>
    </p:spTree>
    <p:extLst>
      <p:ext uri="{BB962C8B-B14F-4D97-AF65-F5344CB8AC3E}">
        <p14:creationId xmlns:p14="http://schemas.microsoft.com/office/powerpoint/2010/main" val="407315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Модульное (компонентное) </a:t>
            </a:r>
            <a:r>
              <a:rPr lang="ru-RU" sz="2400" dirty="0">
                <a:latin typeface="Bookman Old Style" panose="02050604050505020204" pitchFamily="18" charset="0"/>
              </a:rPr>
              <a:t>тестирование </a:t>
            </a:r>
            <a:r>
              <a:rPr lang="ru-RU" sz="2400" b="1" dirty="0">
                <a:latin typeface="Bookman Old Style" panose="02050604050505020204" pitchFamily="18" charset="0"/>
              </a:rPr>
              <a:t>(</a:t>
            </a:r>
            <a:r>
              <a:rPr lang="ru-RU" sz="2400" b="1" dirty="0" err="1">
                <a:latin typeface="Bookman Old Style" panose="02050604050505020204" pitchFamily="18" charset="0"/>
              </a:rPr>
              <a:t>Unit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Testing</a:t>
            </a:r>
            <a:r>
              <a:rPr lang="ru-RU" sz="2400" b="1" dirty="0">
                <a:latin typeface="Bookman Old Style" panose="02050604050505020204" pitchFamily="18" charset="0"/>
              </a:rPr>
              <a:t>) </a:t>
            </a:r>
            <a:r>
              <a:rPr lang="ru-RU" sz="2400" dirty="0">
                <a:latin typeface="Bookman Old Style" panose="02050604050505020204" pitchFamily="18" charset="0"/>
              </a:rPr>
              <a:t>проводится самими разработчиками, т.к. предполагает полный доступ к коду, для тестирования какого-либо одного логически выделенного и изолированного элемента (модуля) системы в коде, проверяет функциональность и ищет дефекты в частях приложения, которые доступны и могут быть протестированы по-отдельности (модули программ, объекты, классы, функции и т.д.).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</a:rPr>
              <a:t>Тестирование компонентов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60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33536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Любой хороший тест визуально и логически делится на 3 части: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Arrange</a:t>
            </a:r>
            <a:r>
              <a:rPr lang="ru-RU" sz="2400" b="1" dirty="0">
                <a:latin typeface="Bookman Old Style" panose="02050604050505020204" pitchFamily="18" charset="0"/>
              </a:rPr>
              <a:t> (Подготовка):</a:t>
            </a:r>
            <a:r>
              <a:rPr lang="ru-RU" sz="2400" dirty="0">
                <a:latin typeface="Bookman Old Style" panose="02050604050505020204" pitchFamily="18" charset="0"/>
              </a:rPr>
              <a:t> Инициализация объектов, настройка зависимостей, подготовка входных данных.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Act</a:t>
            </a:r>
            <a:r>
              <a:rPr lang="ru-RU" sz="2400" b="1" dirty="0">
                <a:latin typeface="Bookman Old Style" panose="02050604050505020204" pitchFamily="18" charset="0"/>
              </a:rPr>
              <a:t> (Действие):</a:t>
            </a:r>
            <a:r>
              <a:rPr lang="ru-RU" sz="2400" dirty="0">
                <a:latin typeface="Bookman Old Style" panose="02050604050505020204" pitchFamily="18" charset="0"/>
              </a:rPr>
              <a:t> Вызов тестируемого метода.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Assert</a:t>
            </a:r>
            <a:r>
              <a:rPr lang="ru-RU" sz="2400" b="1" dirty="0">
                <a:latin typeface="Bookman Old Style" panose="02050604050505020204" pitchFamily="18" charset="0"/>
              </a:rPr>
              <a:t> (Утверждение/Проверка):</a:t>
            </a:r>
            <a:r>
              <a:rPr lang="ru-RU" sz="2400" dirty="0">
                <a:latin typeface="Bookman Old Style" panose="02050604050505020204" pitchFamily="18" charset="0"/>
              </a:rPr>
              <a:t> Сравнение полученного результата с ожидаемым.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Структура модульного теста: Паттерн AAA</a:t>
            </a:r>
          </a:p>
        </p:txBody>
      </p:sp>
    </p:spTree>
    <p:extLst>
      <p:ext uri="{BB962C8B-B14F-4D97-AF65-F5344CB8AC3E}">
        <p14:creationId xmlns:p14="http://schemas.microsoft.com/office/powerpoint/2010/main" val="151811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</a:t>
            </a:r>
            <a:r>
              <a:rPr lang="en-US" sz="2400" dirty="0" err="1" smtClean="0">
                <a:latin typeface="Bookman Old Style" panose="02050604050505020204" pitchFamily="18" charset="0"/>
              </a:rPr>
              <a:t>WindowsForms</a:t>
            </a:r>
            <a:r>
              <a:rPr lang="ru-RU" sz="2400" dirty="0" smtClean="0">
                <a:latin typeface="Bookman Old Style" panose="02050604050505020204" pitchFamily="18" charset="0"/>
              </a:rPr>
              <a:t> проект, добавим класс поиска целочисленных корней уравнения, который будем тестировать: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IntegerEquationSolver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GetRootsOnInterval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from,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to,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function)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roots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x = from; x &lt;= to; x++)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Math.Abs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(function(x)) &lt;=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1e-12)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roots.Add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(x);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roots;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US" sz="2400" dirty="0" smtClean="0">
              <a:solidFill>
                <a:srgbClr val="333333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335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Добавим к решению тесты. Необходимо нажать ПКМ на Решение </a:t>
            </a:r>
            <a:r>
              <a:rPr lang="ru-RU" sz="2400" dirty="0">
                <a:latin typeface="Bookman Old Style" panose="02050604050505020204" pitchFamily="18" charset="0"/>
              </a:rPr>
              <a:t>–</a:t>
            </a:r>
            <a:r>
              <a:rPr lang="en-US" sz="2400" dirty="0">
                <a:latin typeface="Bookman Old Style" panose="02050604050505020204" pitchFamily="18" charset="0"/>
              </a:rPr>
              <a:t>&gt; </a:t>
            </a:r>
            <a:r>
              <a:rPr lang="ru-RU" sz="2400" dirty="0" smtClean="0">
                <a:latin typeface="Bookman Old Style" panose="02050604050505020204" pitchFamily="18" charset="0"/>
              </a:rPr>
              <a:t>Добавить </a:t>
            </a:r>
            <a:r>
              <a:rPr lang="ru-RU" sz="2400" dirty="0">
                <a:latin typeface="Bookman Old Style" panose="02050604050505020204" pitchFamily="18" charset="0"/>
              </a:rPr>
              <a:t>–</a:t>
            </a:r>
            <a:r>
              <a:rPr lang="en-US" sz="2400" dirty="0">
                <a:latin typeface="Bookman Old Style" panose="02050604050505020204" pitchFamily="18" charset="0"/>
              </a:rPr>
              <a:t>&gt; </a:t>
            </a:r>
            <a:r>
              <a:rPr lang="ru-RU" sz="2400" dirty="0" smtClean="0">
                <a:latin typeface="Bookman Old Style" panose="02050604050505020204" pitchFamily="18" charset="0"/>
              </a:rPr>
              <a:t>Создать проект –</a:t>
            </a:r>
            <a:r>
              <a:rPr lang="en-US" sz="2400" dirty="0" smtClean="0">
                <a:latin typeface="Bookman Old Style" panose="02050604050505020204" pitchFamily="18" charset="0"/>
              </a:rPr>
              <a:t>&gt;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4113" t="9387" b="35610"/>
          <a:stretch/>
        </p:blipFill>
        <p:spPr>
          <a:xfrm>
            <a:off x="107688" y="1137684"/>
            <a:ext cx="11976623" cy="572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1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6776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Выбрать </a:t>
            </a:r>
            <a:r>
              <a:rPr lang="en-US" sz="2400" dirty="0" smtClean="0">
                <a:latin typeface="Bookman Old Style" panose="02050604050505020204" pitchFamily="18" charset="0"/>
              </a:rPr>
              <a:t>C#, </a:t>
            </a:r>
            <a:r>
              <a:rPr lang="ru-RU" sz="2400" dirty="0" smtClean="0">
                <a:latin typeface="Bookman Old Style" panose="02050604050505020204" pitchFamily="18" charset="0"/>
              </a:rPr>
              <a:t>Все платформы, Тестирование. Из отобразившегося списка проектов выбрать «Тестовый проект </a:t>
            </a:r>
            <a:r>
              <a:rPr lang="en-US" sz="2400" dirty="0" err="1" smtClean="0">
                <a:latin typeface="Bookman Old Style" panose="02050604050505020204" pitchFamily="18" charset="0"/>
              </a:rPr>
              <a:t>NUnit</a:t>
            </a:r>
            <a:r>
              <a:rPr lang="ru-RU" sz="2400" dirty="0" smtClean="0">
                <a:latin typeface="Bookman Old Style" panose="02050604050505020204" pitchFamily="18" charset="0"/>
              </a:rPr>
              <a:t>»</a:t>
            </a:r>
            <a:r>
              <a:rPr lang="en-US" sz="2400" dirty="0" smtClean="0"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Подтверждаем и выбираем имя проекту, обычно тесты называются из названия класса, который будет тестироваться с припиской </a:t>
            </a:r>
            <a:r>
              <a:rPr lang="en-US" sz="2400" dirty="0" smtClean="0">
                <a:latin typeface="Bookman Old Style" panose="02050604050505020204" pitchFamily="18" charset="0"/>
              </a:rPr>
              <a:t>Test.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600" y="1081045"/>
            <a:ext cx="9534800" cy="451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7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Создадим тесты для нашего класса поиска корней. Во-первых необходимо подключить наш проект к проекту тестов. Нажимаем ПКМ на Зависимости -</a:t>
            </a:r>
            <a:r>
              <a:rPr lang="en-US" sz="2400" dirty="0" smtClean="0">
                <a:latin typeface="Bookman Old Style" panose="02050604050505020204" pitchFamily="18" charset="0"/>
              </a:rPr>
              <a:t>&gt; </a:t>
            </a:r>
            <a:r>
              <a:rPr lang="ru-RU" sz="2400" dirty="0" smtClean="0">
                <a:latin typeface="Bookman Old Style" panose="02050604050505020204" pitchFamily="18" charset="0"/>
              </a:rPr>
              <a:t>Добавить ссылку на проект.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b="31694"/>
          <a:stretch/>
        </p:blipFill>
        <p:spPr>
          <a:xfrm>
            <a:off x="1429800" y="1754326"/>
            <a:ext cx="9332400" cy="503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2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Выбираем нужный проект из списка.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26" y="637026"/>
            <a:ext cx="11451348" cy="572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717119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NUnit.Framework</a:t>
            </a:r>
            <a:r>
              <a:rPr lang="en-US" sz="20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TestFixture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Атрибут класса с тестами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IntegerEquationSolverTests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IntegerEquationSolver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_solver;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SetUp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Выполняется ПЕРЕД каждым тестом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Setup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_solver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IntegerEquationSolver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Атрибут самого теста</a:t>
            </a:r>
            <a:endParaRPr lang="ru-RU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GetRootsOnInterval_OneZeroRoot_ReturnsOnlyZero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Arrange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Func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func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Act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solver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GetRootsOnInterval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func</a:t>
            </a:r>
            <a:r>
              <a:rPr lang="en-US" sz="20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Assert (</a:t>
            </a:r>
            <a:r>
              <a:rPr lang="ru-RU" sz="2000" dirty="0">
                <a:solidFill>
                  <a:srgbClr val="008000"/>
                </a:solidFill>
                <a:latin typeface="Consolas" panose="020B0609020204030204" pitchFamily="49" charset="0"/>
              </a:rPr>
              <a:t>Современный подход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NUnit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Has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Count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EqualTo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First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(),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Is</a:t>
            </a:r>
            <a:r>
              <a:rPr lang="en-US" sz="20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EqualTo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37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4633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Далее выберем</a:t>
            </a:r>
            <a:r>
              <a:rPr lang="en-US" sz="2400" dirty="0" smtClean="0">
                <a:latin typeface="Bookman Old Style" panose="02050604050505020204" pitchFamily="18" charset="0"/>
              </a:rPr>
              <a:t>:</a:t>
            </a:r>
            <a:r>
              <a:rPr lang="ru-RU" sz="2400" dirty="0" smtClean="0">
                <a:latin typeface="Bookman Old Style" panose="02050604050505020204" pitchFamily="18" charset="0"/>
              </a:rPr>
              <a:t> Вид -</a:t>
            </a:r>
            <a:r>
              <a:rPr lang="en-US" sz="2400" dirty="0" smtClean="0">
                <a:latin typeface="Bookman Old Style" panose="02050604050505020204" pitchFamily="18" charset="0"/>
              </a:rPr>
              <a:t>&gt; </a:t>
            </a:r>
            <a:r>
              <a:rPr lang="ru-RU" sz="2400" dirty="0" smtClean="0">
                <a:latin typeface="Bookman Old Style" panose="02050604050505020204" pitchFamily="18" charset="0"/>
              </a:rPr>
              <a:t>обозреватель тестов.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063181"/>
            <a:ext cx="12192000" cy="457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1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050280" y="226870"/>
            <a:ext cx="61417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окне отображается основная информация по тестам, здесь находятся кнопки запуска и отладки тестов.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90"/>
            <a:ext cx="6050280" cy="6847324"/>
          </a:xfrm>
          <a:prstGeom prst="rect">
            <a:avLst/>
          </a:prstGeom>
        </p:spPr>
      </p:pic>
      <p:cxnSp>
        <p:nvCxnSpPr>
          <p:cNvPr id="6" name="Прямая со стрелкой 5"/>
          <p:cNvCxnSpPr/>
          <p:nvPr/>
        </p:nvCxnSpPr>
        <p:spPr>
          <a:xfrm flipH="1" flipV="1">
            <a:off x="1272540" y="990600"/>
            <a:ext cx="4846320" cy="70104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65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Современный </a:t>
            </a:r>
            <a:r>
              <a:rPr lang="en-US" sz="2400" dirty="0" err="1">
                <a:latin typeface="Bookman Old Style" panose="02050604050505020204" pitchFamily="18" charset="0"/>
              </a:rPr>
              <a:t>NUnit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использует читаемый </a:t>
            </a:r>
            <a:r>
              <a:rPr lang="en-US" sz="2400" dirty="0">
                <a:latin typeface="Bookman Old Style" panose="02050604050505020204" pitchFamily="18" charset="0"/>
              </a:rPr>
              <a:t>Fluent-</a:t>
            </a:r>
            <a:r>
              <a:rPr lang="ru-RU" sz="2400" dirty="0">
                <a:latin typeface="Bookman Old Style" panose="02050604050505020204" pitchFamily="18" charset="0"/>
              </a:rPr>
              <a:t>интерфейс (</a:t>
            </a:r>
            <a:r>
              <a:rPr lang="en-US" sz="2400" dirty="0">
                <a:latin typeface="Bookman Old Style" panose="02050604050505020204" pitchFamily="18" charset="0"/>
              </a:rPr>
              <a:t>Constraint Model).</a:t>
            </a: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Базовый синтаксис: </a:t>
            </a: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(actual, </a:t>
            </a:r>
            <a:r>
              <a:rPr lang="en-US" sz="2400" dirty="0" err="1">
                <a:latin typeface="Bookman Old Style" panose="02050604050505020204" pitchFamily="18" charset="0"/>
              </a:rPr>
              <a:t>Is.EqualTo</a:t>
            </a:r>
            <a:r>
              <a:rPr lang="en-US" sz="2400" dirty="0">
                <a:latin typeface="Bookman Old Style" panose="02050604050505020204" pitchFamily="18" charset="0"/>
              </a:rPr>
              <a:t>(expected));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Примеры проверок: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(result, </a:t>
            </a:r>
            <a:r>
              <a:rPr lang="en-US" sz="2400" dirty="0" err="1">
                <a:latin typeface="Bookman Old Style" panose="02050604050505020204" pitchFamily="18" charset="0"/>
              </a:rPr>
              <a:t>Is.EqualTo</a:t>
            </a:r>
            <a:r>
              <a:rPr lang="en-US" sz="2400" dirty="0">
                <a:latin typeface="Bookman Old Style" panose="02050604050505020204" pitchFamily="18" charset="0"/>
              </a:rPr>
              <a:t>(5)); — </a:t>
            </a:r>
            <a:r>
              <a:rPr lang="ru-RU" sz="2400" dirty="0">
                <a:latin typeface="Bookman Old Style" panose="02050604050505020204" pitchFamily="18" charset="0"/>
              </a:rPr>
              <a:t>проверка на равенство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(result, </a:t>
            </a:r>
            <a:r>
              <a:rPr lang="en-US" sz="2400" dirty="0" err="1">
                <a:latin typeface="Bookman Old Style" panose="02050604050505020204" pitchFamily="18" charset="0"/>
              </a:rPr>
              <a:t>Is.Not.EqualTo</a:t>
            </a:r>
            <a:r>
              <a:rPr lang="en-US" sz="2400" dirty="0">
                <a:latin typeface="Bookman Old Style" panose="02050604050505020204" pitchFamily="18" charset="0"/>
              </a:rPr>
              <a:t>(0)); — </a:t>
            </a:r>
            <a:r>
              <a:rPr lang="ru-RU" sz="2400" dirty="0">
                <a:latin typeface="Bookman Old Style" panose="02050604050505020204" pitchFamily="18" charset="0"/>
              </a:rPr>
              <a:t>проверка на неравенство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(result, </a:t>
            </a:r>
            <a:r>
              <a:rPr lang="en-US" sz="2400" dirty="0" err="1">
                <a:latin typeface="Bookman Old Style" panose="02050604050505020204" pitchFamily="18" charset="0"/>
              </a:rPr>
              <a:t>Is.GreaterThan</a:t>
            </a:r>
            <a:r>
              <a:rPr lang="en-US" sz="2400" dirty="0">
                <a:latin typeface="Bookman Old Style" panose="02050604050505020204" pitchFamily="18" charset="0"/>
              </a:rPr>
              <a:t>(10)); — </a:t>
            </a:r>
            <a:r>
              <a:rPr lang="ru-RU" sz="2400" dirty="0">
                <a:latin typeface="Bookman Old Style" panose="02050604050505020204" pitchFamily="18" charset="0"/>
              </a:rPr>
              <a:t>больше чем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(text, </a:t>
            </a:r>
            <a:r>
              <a:rPr lang="en-US" sz="2400" dirty="0" err="1">
                <a:latin typeface="Bookman Old Style" panose="02050604050505020204" pitchFamily="18" charset="0"/>
              </a:rPr>
              <a:t>Does.Contain</a:t>
            </a:r>
            <a:r>
              <a:rPr lang="en-US" sz="2400" dirty="0">
                <a:latin typeface="Bookman Old Style" panose="02050604050505020204" pitchFamily="18" charset="0"/>
              </a:rPr>
              <a:t>("error")); — </a:t>
            </a:r>
            <a:r>
              <a:rPr lang="ru-RU" sz="2400" dirty="0">
                <a:latin typeface="Bookman Old Style" panose="02050604050505020204" pitchFamily="18" charset="0"/>
              </a:rPr>
              <a:t>проверка подстроки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</a:t>
            </a:r>
            <a:r>
              <a:rPr lang="en-US" sz="2400" dirty="0" err="1">
                <a:latin typeface="Bookman Old Style" panose="02050604050505020204" pitchFamily="18" charset="0"/>
              </a:rPr>
              <a:t>obj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en-US" sz="2400" dirty="0" err="1">
                <a:latin typeface="Bookman Old Style" panose="02050604050505020204" pitchFamily="18" charset="0"/>
              </a:rPr>
              <a:t>Is.Null</a:t>
            </a:r>
            <a:r>
              <a:rPr lang="en-US" sz="2400" dirty="0">
                <a:latin typeface="Bookman Old Style" panose="02050604050505020204" pitchFamily="18" charset="0"/>
              </a:rPr>
              <a:t>); — </a:t>
            </a:r>
            <a:r>
              <a:rPr lang="ru-RU" sz="2400" dirty="0">
                <a:latin typeface="Bookman Old Style" panose="02050604050505020204" pitchFamily="18" charset="0"/>
              </a:rPr>
              <a:t>проверка на </a:t>
            </a:r>
            <a:r>
              <a:rPr lang="en-US" sz="2400" dirty="0">
                <a:latin typeface="Bookman Old Style" panose="02050604050505020204" pitchFamily="18" charset="0"/>
              </a:rPr>
              <a:t>null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Синтаксис </a:t>
            </a:r>
            <a:r>
              <a:rPr lang="en-US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Assert.That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32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222222"/>
                </a:solidFill>
                <a:latin typeface="Bookman Old Style" panose="02050604050505020204" pitchFamily="18" charset="0"/>
              </a:rPr>
              <a:t>Позволяют запустить один и тот же тест с разными наборами данных (техника эквивалентного разделения в действии</a:t>
            </a:r>
            <a:r>
              <a:rPr lang="ru-RU" sz="2400" dirty="0" smtClean="0">
                <a:solidFill>
                  <a:srgbClr val="222222"/>
                </a:solidFill>
                <a:latin typeface="Bookman Old Style" panose="02050604050505020204" pitchFamily="18" charset="0"/>
              </a:rPr>
              <a:t>).</a:t>
            </a:r>
            <a:endParaRPr lang="en-US" sz="2400" dirty="0" smtClean="0">
              <a:solidFill>
                <a:srgbClr val="222222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222222"/>
              </a:solidFill>
              <a:latin typeface="Bookman Old Style" panose="02050604050505020204" pitchFamily="18" charset="0"/>
            </a:endParaRPr>
          </a:p>
          <a:p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300" dirty="0" err="1">
                <a:solidFill>
                  <a:srgbClr val="267F99"/>
                </a:solidFill>
                <a:latin typeface="Consolas" panose="020B0609020204030204" pitchFamily="49" charset="0"/>
              </a:rPr>
              <a:t>TestCase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)]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x*x - 9 = 0 (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нет корней от -2 до 2)</a:t>
            </a:r>
            <a:endParaRPr lang="ru-RU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3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300" dirty="0" err="1">
                <a:solidFill>
                  <a:srgbClr val="267F99"/>
                </a:solidFill>
                <a:latin typeface="Consolas" panose="020B0609020204030204" pitchFamily="49" charset="0"/>
              </a:rPr>
              <a:t>TestCase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)]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   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корень 3</a:t>
            </a:r>
            <a:endParaRPr lang="ru-RU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3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300" dirty="0" err="1">
                <a:solidFill>
                  <a:srgbClr val="267F99"/>
                </a:solidFill>
                <a:latin typeface="Consolas" panose="020B0609020204030204" pitchFamily="49" charset="0"/>
              </a:rPr>
              <a:t>TestCase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)]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корни -3 и 3</a:t>
            </a:r>
            <a:endParaRPr lang="ru-RU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GetRoots_WithDifferentIntervals_ReturnsCorrectRootsCount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from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expectedCount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Arrange &amp; Act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solver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GetRootsOnInterval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from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Assert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Has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Count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795E26"/>
                </a:solidFill>
                <a:latin typeface="Consolas" panose="020B0609020204030204" pitchFamily="49" charset="0"/>
              </a:rPr>
              <a:t>EqualTo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expectedCount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Параметризованные тесты</a:t>
            </a:r>
          </a:p>
        </p:txBody>
      </p:sp>
    </p:spTree>
    <p:extLst>
      <p:ext uri="{BB962C8B-B14F-4D97-AF65-F5344CB8AC3E}">
        <p14:creationId xmlns:p14="http://schemas.microsoft.com/office/powerpoint/2010/main" val="340675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510909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222222"/>
                </a:solidFill>
                <a:latin typeface="Bookman Old Style" panose="02050604050505020204" pitchFamily="18" charset="0"/>
              </a:rPr>
              <a:t>Позволяют запустить один и тот же тест с разными наборами данных (техника эквивалентного разделения в действии</a:t>
            </a:r>
            <a:r>
              <a:rPr lang="ru-RU" sz="2400" dirty="0" smtClean="0">
                <a:solidFill>
                  <a:srgbClr val="222222"/>
                </a:solidFill>
                <a:latin typeface="Bookman Old Style" panose="02050604050505020204" pitchFamily="18" charset="0"/>
              </a:rPr>
              <a:t>).</a:t>
            </a:r>
            <a:endParaRPr lang="en-US" sz="2400" dirty="0" smtClean="0">
              <a:solidFill>
                <a:srgbClr val="222222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222222"/>
              </a:solidFill>
              <a:latin typeface="Bookman Old Style" panose="02050604050505020204" pitchFamily="18" charset="0"/>
            </a:endParaRP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300" dirty="0" err="1">
                <a:solidFill>
                  <a:srgbClr val="267F99"/>
                </a:solidFill>
                <a:latin typeface="Consolas" panose="020B0609020204030204" pitchFamily="49" charset="0"/>
              </a:rPr>
              <a:t>TestCase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[]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})]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300" dirty="0" err="1">
                <a:solidFill>
                  <a:srgbClr val="267F99"/>
                </a:solidFill>
                <a:latin typeface="Consolas" panose="020B0609020204030204" pitchFamily="49" charset="0"/>
              </a:rPr>
              <a:t>TestCase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[]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})]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GetRoots_ValidInterval_ReturnsExpectedValues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from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[]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expectedRoots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solver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GetRootsOnInterval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from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23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300" dirty="0">
                <a:solidFill>
                  <a:srgbClr val="008000"/>
                </a:solidFill>
                <a:latin typeface="Consolas" panose="020B0609020204030204" pitchFamily="49" charset="0"/>
              </a:rPr>
              <a:t>Элементы совпадают (порядок не важен)</a:t>
            </a:r>
            <a:endParaRPr lang="ru-RU" sz="2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>
                <a:solidFill>
                  <a:srgbClr val="001080"/>
                </a:solidFill>
                <a:latin typeface="Consolas" panose="020B0609020204030204" pitchFamily="49" charset="0"/>
              </a:rPr>
              <a:t>roots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Is</a:t>
            </a:r>
            <a:r>
              <a:rPr lang="en-US" sz="23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>
                <a:solidFill>
                  <a:srgbClr val="795E26"/>
                </a:solidFill>
                <a:latin typeface="Consolas" panose="020B0609020204030204" pitchFamily="49" charset="0"/>
              </a:rPr>
              <a:t>EquivalentTo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>
                <a:solidFill>
                  <a:srgbClr val="001080"/>
                </a:solidFill>
                <a:latin typeface="Consolas" panose="020B0609020204030204" pitchFamily="49" charset="0"/>
              </a:rPr>
              <a:t>expectedRoots</a:t>
            </a:r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3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Тестирование коллекций</a:t>
            </a:r>
          </a:p>
        </p:txBody>
      </p:sp>
    </p:spTree>
    <p:extLst>
      <p:ext uri="{BB962C8B-B14F-4D97-AF65-F5344CB8AC3E}">
        <p14:creationId xmlns:p14="http://schemas.microsoft.com/office/powerpoint/2010/main" val="235487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Другие полезные проверки </a:t>
            </a:r>
            <a:r>
              <a:rPr lang="ru-RU" sz="2400" dirty="0" smtClean="0">
                <a:latin typeface="Bookman Old Style" panose="02050604050505020204" pitchFamily="18" charset="0"/>
              </a:rPr>
              <a:t>коллекций</a:t>
            </a:r>
            <a:r>
              <a:rPr lang="en-US" sz="2400" dirty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latin typeface="Bookman Old Style" panose="02050604050505020204" pitchFamily="18" charset="0"/>
              </a:rPr>
              <a:t>Assert.That</a:t>
            </a:r>
            <a:r>
              <a:rPr lang="en-US" sz="2400" dirty="0" smtClean="0">
                <a:latin typeface="Bookman Old Style" panose="02050604050505020204" pitchFamily="18" charset="0"/>
              </a:rPr>
              <a:t>(list</a:t>
            </a:r>
            <a:r>
              <a:rPr lang="en-US" sz="2400" dirty="0">
                <a:latin typeface="Bookman Old Style" panose="02050604050505020204" pitchFamily="18" charset="0"/>
              </a:rPr>
              <a:t>, </a:t>
            </a:r>
            <a:r>
              <a:rPr lang="en-US" sz="2400" dirty="0" err="1">
                <a:latin typeface="Bookman Old Style" panose="02050604050505020204" pitchFamily="18" charset="0"/>
              </a:rPr>
              <a:t>Is.Empty</a:t>
            </a:r>
            <a:r>
              <a:rPr lang="en-US" sz="2400" dirty="0">
                <a:latin typeface="Bookman Old Style" panose="020506040505050202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(list, </a:t>
            </a:r>
            <a:r>
              <a:rPr lang="en-US" sz="2400" dirty="0" err="1">
                <a:latin typeface="Bookman Old Style" panose="02050604050505020204" pitchFamily="18" charset="0"/>
              </a:rPr>
              <a:t>Is.Unique</a:t>
            </a:r>
            <a:r>
              <a:rPr lang="en-US" sz="2400" dirty="0">
                <a:latin typeface="Bookman Old Style" panose="02050604050505020204" pitchFamily="18" charset="0"/>
              </a:rPr>
              <a:t>); — </a:t>
            </a:r>
            <a:r>
              <a:rPr lang="ru-RU" sz="2400" dirty="0">
                <a:latin typeface="Bookman Old Style" panose="02050604050505020204" pitchFamily="18" charset="0"/>
              </a:rPr>
              <a:t>все элементы уникальны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(list, </a:t>
            </a:r>
            <a:r>
              <a:rPr lang="en-US" sz="2400" dirty="0" err="1">
                <a:latin typeface="Bookman Old Style" panose="02050604050505020204" pitchFamily="18" charset="0"/>
              </a:rPr>
              <a:t>Is.Ordered</a:t>
            </a:r>
            <a:r>
              <a:rPr lang="en-US" sz="2400" dirty="0">
                <a:latin typeface="Bookman Old Style" panose="02050604050505020204" pitchFamily="18" charset="0"/>
              </a:rPr>
              <a:t>); — </a:t>
            </a:r>
            <a:r>
              <a:rPr lang="ru-RU" sz="2400" dirty="0">
                <a:latin typeface="Bookman Old Style" panose="02050604050505020204" pitchFamily="18" charset="0"/>
              </a:rPr>
              <a:t>отсортирован ли список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Assert.That</a:t>
            </a:r>
            <a:r>
              <a:rPr lang="en-US" sz="2400" dirty="0">
                <a:latin typeface="Bookman Old Style" panose="02050604050505020204" pitchFamily="18" charset="0"/>
              </a:rPr>
              <a:t>(list, </a:t>
            </a:r>
            <a:r>
              <a:rPr lang="en-US" sz="2400" dirty="0" err="1">
                <a:latin typeface="Bookman Old Style" panose="02050604050505020204" pitchFamily="18" charset="0"/>
              </a:rPr>
              <a:t>Has.Member</a:t>
            </a:r>
            <a:r>
              <a:rPr lang="en-US" sz="2400" dirty="0">
                <a:latin typeface="Bookman Old Style" panose="02050604050505020204" pitchFamily="18" charset="0"/>
              </a:rPr>
              <a:t>(5)); — </a:t>
            </a:r>
            <a:r>
              <a:rPr lang="ru-RU" sz="2400" dirty="0">
                <a:latin typeface="Bookman Old Style" panose="02050604050505020204" pitchFamily="18" charset="0"/>
              </a:rPr>
              <a:t>содержит ли конкретный элемент</a:t>
            </a:r>
          </a:p>
        </p:txBody>
      </p:sp>
    </p:spTree>
    <p:extLst>
      <p:ext uri="{BB962C8B-B14F-4D97-AF65-F5344CB8AC3E}">
        <p14:creationId xmlns:p14="http://schemas.microsoft.com/office/powerpoint/2010/main" val="132340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Иногда ожидаемое поведение программы — это выдать ошибку (например, при делении на ноль или неверных аргументах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GetRoots_FromGreaterThanTo_ThrowsArgumentException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Arrange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Ошибка: начало больше конца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Act &amp; Assert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Throws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ArgumentException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&gt;(()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solver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GetRootsOnInterval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Тестирование исключений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332693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01566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Разработка через тестирование (TDD)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Подход, при котором тесты пишутся </a:t>
            </a:r>
            <a:r>
              <a:rPr lang="ru-RU" sz="2400" i="1" dirty="0">
                <a:latin typeface="Bookman Old Style" panose="02050604050505020204" pitchFamily="18" charset="0"/>
              </a:rPr>
              <a:t>до</a:t>
            </a:r>
            <a:r>
              <a:rPr lang="ru-RU" sz="2400" dirty="0">
                <a:latin typeface="Bookman Old Style" panose="02050604050505020204" pitchFamily="18" charset="0"/>
              </a:rPr>
              <a:t> написания самого кода.</a:t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b="1" dirty="0">
                <a:latin typeface="Bookman Old Style" panose="02050604050505020204" pitchFamily="18" charset="0"/>
              </a:rPr>
              <a:t>Цикл TDD (</a:t>
            </a:r>
            <a:r>
              <a:rPr lang="ru-RU" sz="2400" b="1" dirty="0" err="1">
                <a:latin typeface="Bookman Old Style" panose="02050604050505020204" pitchFamily="18" charset="0"/>
              </a:rPr>
              <a:t>Red</a:t>
            </a:r>
            <a:r>
              <a:rPr lang="ru-RU" sz="2400" b="1" dirty="0">
                <a:latin typeface="Bookman Old Style" panose="02050604050505020204" pitchFamily="18" charset="0"/>
              </a:rPr>
              <a:t> - </a:t>
            </a:r>
            <a:r>
              <a:rPr lang="ru-RU" sz="2400" b="1" dirty="0" err="1">
                <a:latin typeface="Bookman Old Style" panose="02050604050505020204" pitchFamily="18" charset="0"/>
              </a:rPr>
              <a:t>Green</a:t>
            </a:r>
            <a:r>
              <a:rPr lang="ru-RU" sz="2400" b="1" dirty="0">
                <a:latin typeface="Bookman Old Style" panose="02050604050505020204" pitchFamily="18" charset="0"/>
              </a:rPr>
              <a:t> - </a:t>
            </a:r>
            <a:r>
              <a:rPr lang="ru-RU" sz="2400" b="1" dirty="0" err="1">
                <a:latin typeface="Bookman Old Style" panose="02050604050505020204" pitchFamily="18" charset="0"/>
              </a:rPr>
              <a:t>Refactor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Red</a:t>
            </a:r>
            <a:r>
              <a:rPr lang="ru-RU" sz="2400" b="1" dirty="0">
                <a:latin typeface="Bookman Old Style" panose="02050604050505020204" pitchFamily="18" charset="0"/>
              </a:rPr>
              <a:t> (Красный):</a:t>
            </a:r>
            <a:r>
              <a:rPr lang="ru-RU" sz="2400" dirty="0">
                <a:latin typeface="Bookman Old Style" panose="02050604050505020204" pitchFamily="18" charset="0"/>
              </a:rPr>
              <a:t> Пишем тест для новой функции. Запускаем — он падает (т.к. кода еще нет).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Green</a:t>
            </a:r>
            <a:r>
              <a:rPr lang="ru-RU" sz="2400" b="1" dirty="0">
                <a:latin typeface="Bookman Old Style" panose="02050604050505020204" pitchFamily="18" charset="0"/>
              </a:rPr>
              <a:t> (Зеленый):</a:t>
            </a:r>
            <a:r>
              <a:rPr lang="ru-RU" sz="2400" dirty="0">
                <a:latin typeface="Bookman Old Style" panose="02050604050505020204" pitchFamily="18" charset="0"/>
              </a:rPr>
              <a:t> Пишем </a:t>
            </a:r>
            <a:r>
              <a:rPr lang="ru-RU" sz="2400" i="1" dirty="0">
                <a:latin typeface="Bookman Old Style" panose="02050604050505020204" pitchFamily="18" charset="0"/>
              </a:rPr>
              <a:t>минимальный</a:t>
            </a:r>
            <a:r>
              <a:rPr lang="ru-RU" sz="2400" dirty="0">
                <a:latin typeface="Bookman Old Style" panose="02050604050505020204" pitchFamily="18" charset="0"/>
              </a:rPr>
              <a:t> код, чтобы тест прошел успешно.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Refactor</a:t>
            </a:r>
            <a:r>
              <a:rPr lang="ru-RU" sz="2400" b="1" dirty="0">
                <a:latin typeface="Bookman Old Style" panose="02050604050505020204" pitchFamily="18" charset="0"/>
              </a:rPr>
              <a:t> (</a:t>
            </a:r>
            <a:r>
              <a:rPr lang="ru-RU" sz="2400" b="1" dirty="0" err="1">
                <a:latin typeface="Bookman Old Style" panose="02050604050505020204" pitchFamily="18" charset="0"/>
              </a:rPr>
              <a:t>Рефакторинг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Улучшаем написанный код, не боясь его сломать (ведь у нас есть работающий тест).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TDD (Test-Driven Development)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32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39076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[</a:t>
            </a:r>
            <a:r>
              <a:rPr lang="ru-RU" sz="2400" dirty="0" err="1">
                <a:latin typeface="Bookman Old Style" panose="02050604050505020204" pitchFamily="18" charset="0"/>
              </a:rPr>
              <a:t>SetUp</a:t>
            </a:r>
            <a:r>
              <a:rPr lang="ru-RU" sz="2400" dirty="0">
                <a:latin typeface="Bookman Old Style" panose="02050604050505020204" pitchFamily="18" charset="0"/>
              </a:rPr>
              <a:t>] — выполняется перед </a:t>
            </a:r>
            <a:r>
              <a:rPr lang="ru-RU" sz="2400" b="1" dirty="0">
                <a:latin typeface="Bookman Old Style" panose="02050604050505020204" pitchFamily="18" charset="0"/>
              </a:rPr>
              <a:t>каждым</a:t>
            </a:r>
            <a:r>
              <a:rPr lang="ru-RU" sz="2400" dirty="0">
                <a:latin typeface="Bookman Old Style" panose="02050604050505020204" pitchFamily="18" charset="0"/>
              </a:rPr>
              <a:t> тестом. (Используется для сброса состояния, создания свежих экземпляров классов).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[</a:t>
            </a:r>
            <a:r>
              <a:rPr lang="ru-RU" sz="2400" dirty="0" err="1">
                <a:latin typeface="Bookman Old Style" panose="02050604050505020204" pitchFamily="18" charset="0"/>
              </a:rPr>
              <a:t>TearDown</a:t>
            </a:r>
            <a:r>
              <a:rPr lang="ru-RU" sz="2400" dirty="0">
                <a:latin typeface="Bookman Old Style" panose="02050604050505020204" pitchFamily="18" charset="0"/>
              </a:rPr>
              <a:t>] — выполняется после </a:t>
            </a:r>
            <a:r>
              <a:rPr lang="ru-RU" sz="2400" b="1" dirty="0">
                <a:latin typeface="Bookman Old Style" panose="02050604050505020204" pitchFamily="18" charset="0"/>
              </a:rPr>
              <a:t>каждого</a:t>
            </a:r>
            <a:r>
              <a:rPr lang="ru-RU" sz="2400" dirty="0">
                <a:latin typeface="Bookman Old Style" panose="02050604050505020204" pitchFamily="18" charset="0"/>
              </a:rPr>
              <a:t> теста. (Используется для очистки, например, закрытия файлов или потоков).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[</a:t>
            </a:r>
            <a:r>
              <a:rPr lang="ru-RU" sz="2400" dirty="0" err="1">
                <a:latin typeface="Bookman Old Style" panose="02050604050505020204" pitchFamily="18" charset="0"/>
              </a:rPr>
              <a:t>OneTimeSetUp</a:t>
            </a:r>
            <a:r>
              <a:rPr lang="ru-RU" sz="2400" dirty="0">
                <a:latin typeface="Bookman Old Style" panose="02050604050505020204" pitchFamily="18" charset="0"/>
              </a:rPr>
              <a:t>] / [</a:t>
            </a:r>
            <a:r>
              <a:rPr lang="ru-RU" sz="2400" dirty="0" err="1">
                <a:latin typeface="Bookman Old Style" panose="02050604050505020204" pitchFamily="18" charset="0"/>
              </a:rPr>
              <a:t>OneTimeTearDown</a:t>
            </a:r>
            <a:r>
              <a:rPr lang="ru-RU" sz="2400" dirty="0">
                <a:latin typeface="Bookman Old Style" panose="02050604050505020204" pitchFamily="18" charset="0"/>
              </a:rPr>
              <a:t>] — выполняется один раз для всего класса [</a:t>
            </a:r>
            <a:r>
              <a:rPr lang="ru-RU" sz="2400" dirty="0" err="1">
                <a:latin typeface="Bookman Old Style" panose="02050604050505020204" pitchFamily="18" charset="0"/>
              </a:rPr>
              <a:t>TestFixture</a:t>
            </a:r>
            <a:r>
              <a:rPr lang="ru-RU" sz="2400" dirty="0">
                <a:latin typeface="Bookman Old Style" panose="02050604050505020204" pitchFamily="18" charset="0"/>
              </a:rPr>
              <a:t>]. (Удобно для ресурсоемких операций, например, поднятия тестовой БД).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Жизненный цикл тестов (Атрибуты </a:t>
            </a:r>
            <a:r>
              <a:rPr lang="ru-RU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NUnit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52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446167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Тест должен читаться как документация. Если тест упал, по названию должно быть понятно, что именно сломалось.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Популярный стандарт: </a:t>
            </a:r>
            <a:r>
              <a:rPr lang="ru-RU" sz="2400" dirty="0" err="1">
                <a:latin typeface="Bookman Old Style" panose="02050604050505020204" pitchFamily="18" charset="0"/>
              </a:rPr>
              <a:t>ИмяМетода_Сценарий_ОжидаемыйРезультат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Плохо: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en-US" sz="2400" dirty="0">
                <a:latin typeface="Bookman Old Style" panose="02050604050505020204" pitchFamily="18" charset="0"/>
              </a:rPr>
              <a:t>Test1(), </a:t>
            </a:r>
            <a:r>
              <a:rPr lang="en-US" sz="2400" dirty="0" err="1">
                <a:latin typeface="Bookman Old Style" panose="02050604050505020204" pitchFamily="18" charset="0"/>
              </a:rPr>
              <a:t>CheckRoots</a:t>
            </a:r>
            <a:r>
              <a:rPr lang="en-US" sz="2400" dirty="0">
                <a:latin typeface="Bookman Old Style" panose="02050604050505020204" pitchFamily="18" charset="0"/>
              </a:rPr>
              <a:t>(), </a:t>
            </a:r>
            <a:r>
              <a:rPr lang="en-US" sz="2400" dirty="0" err="1">
                <a:latin typeface="Bookman Old Style" panose="02050604050505020204" pitchFamily="18" charset="0"/>
              </a:rPr>
              <a:t>MathTest</a:t>
            </a:r>
            <a:r>
              <a:rPr lang="en-US" sz="2400" dirty="0">
                <a:latin typeface="Bookman Old Style" panose="020506040505050202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Хорошо: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GetRoots_IntervalWithoutRoots_ReturnsEmptyList</a:t>
            </a:r>
            <a:r>
              <a:rPr lang="en-US" sz="2400" dirty="0">
                <a:latin typeface="Bookman Old Style" panose="02050604050505020204" pitchFamily="18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Divide_DivisionByZero_ThrowsDivideByZeroException</a:t>
            </a:r>
            <a:r>
              <a:rPr lang="en-US" sz="2400" dirty="0">
                <a:latin typeface="Bookman Old Style" panose="02050604050505020204" pitchFamily="18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Bookman Old Style" panose="02050604050505020204" pitchFamily="18" charset="0"/>
              </a:rPr>
              <a:t>RegisterUser_InvalidEmail_ReturnsFalse</a:t>
            </a:r>
            <a:r>
              <a:rPr lang="en-US" sz="2400" dirty="0">
                <a:latin typeface="Bookman Old Style" panose="02050604050505020204" pitchFamily="18" charset="0"/>
              </a:rPr>
              <a:t>()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Правила именования тестов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96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01566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F</a:t>
            </a:r>
            <a:r>
              <a:rPr lang="ru-RU" sz="2400" dirty="0" err="1">
                <a:latin typeface="Bookman Old Style" panose="02050604050505020204" pitchFamily="18" charset="0"/>
              </a:rPr>
              <a:t>ast</a:t>
            </a:r>
            <a:r>
              <a:rPr lang="ru-RU" sz="2400" dirty="0">
                <a:latin typeface="Bookman Old Style" panose="02050604050505020204" pitchFamily="18" charset="0"/>
              </a:rPr>
              <a:t> (Быстрые) — тесты должны выполняться за миллисекунды.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I</a:t>
            </a:r>
            <a:r>
              <a:rPr lang="ru-RU" sz="2400" dirty="0" err="1">
                <a:latin typeface="Bookman Old Style" panose="02050604050505020204" pitchFamily="18" charset="0"/>
              </a:rPr>
              <a:t>solated</a:t>
            </a:r>
            <a:r>
              <a:rPr lang="ru-RU" sz="2400" dirty="0">
                <a:latin typeface="Bookman Old Style" panose="02050604050505020204" pitchFamily="18" charset="0"/>
              </a:rPr>
              <a:t> (Изолированные) — порядок запуска тестов не должен влиять на их результат. Тесты не должны зависеть друг от друга.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R</a:t>
            </a:r>
            <a:r>
              <a:rPr lang="ru-RU" sz="2400" dirty="0" err="1">
                <a:latin typeface="Bookman Old Style" panose="02050604050505020204" pitchFamily="18" charset="0"/>
              </a:rPr>
              <a:t>epeatable</a:t>
            </a:r>
            <a:r>
              <a:rPr lang="ru-RU" sz="2400" dirty="0">
                <a:latin typeface="Bookman Old Style" panose="02050604050505020204" pitchFamily="18" charset="0"/>
              </a:rPr>
              <a:t> (Повторяемые) — результат теста не должен зависеть от внешней среды (текущего времени, интернета, БД).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S</a:t>
            </a:r>
            <a:r>
              <a:rPr lang="ru-RU" sz="2400" dirty="0" err="1">
                <a:latin typeface="Bookman Old Style" panose="02050604050505020204" pitchFamily="18" charset="0"/>
              </a:rPr>
              <a:t>elf-Validating</a:t>
            </a:r>
            <a:r>
              <a:rPr lang="ru-RU" sz="2400" dirty="0">
                <a:latin typeface="Bookman Old Style" panose="02050604050505020204" pitchFamily="18" charset="0"/>
              </a:rPr>
              <a:t> (</a:t>
            </a:r>
            <a:r>
              <a:rPr lang="ru-RU" sz="2400" dirty="0" err="1">
                <a:latin typeface="Bookman Old Style" panose="02050604050505020204" pitchFamily="18" charset="0"/>
              </a:rPr>
              <a:t>Самопроверяющиеся</a:t>
            </a:r>
            <a:r>
              <a:rPr lang="ru-RU" sz="2400" dirty="0">
                <a:latin typeface="Bookman Old Style" panose="02050604050505020204" pitchFamily="18" charset="0"/>
              </a:rPr>
              <a:t>) — тест сам говорит, пройден он или нет, без ручного осмотра логов (</a:t>
            </a:r>
            <a:r>
              <a:rPr lang="ru-RU" sz="2400" dirty="0" err="1">
                <a:latin typeface="Bookman Old Style" panose="02050604050505020204" pitchFamily="18" charset="0"/>
              </a:rPr>
              <a:t>Assert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T</a:t>
            </a:r>
            <a:r>
              <a:rPr lang="ru-RU" sz="2400" dirty="0" err="1">
                <a:latin typeface="Bookman Old Style" panose="02050604050505020204" pitchFamily="18" charset="0"/>
              </a:rPr>
              <a:t>imely</a:t>
            </a:r>
            <a:r>
              <a:rPr lang="ru-RU" sz="2400" dirty="0">
                <a:latin typeface="Bookman Old Style" panose="02050604050505020204" pitchFamily="18" charset="0"/>
              </a:rPr>
              <a:t> (Своевременные) — пишутся вместе с кодом (или до него, как в TDD).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Характеристики хорошего 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Unit-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теста (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F.I.R.S.T.)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58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ООП классы редко работают в вакууме. Они обращаются к базам данных, сети, файлам. Как это тестировать? Это важнейшая тема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Что делать, если наш класс сохраняет результаты в базу данных или отправляет </a:t>
            </a:r>
            <a:r>
              <a:rPr lang="ru-RU" sz="2400" i="1" dirty="0" err="1">
                <a:latin typeface="Bookman Old Style" panose="02050604050505020204" pitchFamily="18" charset="0"/>
              </a:rPr>
              <a:t>email</a:t>
            </a:r>
            <a:r>
              <a:rPr lang="ru-RU" sz="2400" i="1" dirty="0">
                <a:latin typeface="Bookman Old Style" panose="02050604050505020204" pitchFamily="18" charset="0"/>
              </a:rPr>
              <a:t>?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i="1" dirty="0">
                <a:latin typeface="Bookman Old Style" panose="02050604050505020204" pitchFamily="18" charset="0"/>
              </a:rPr>
              <a:t>Если тест лезет в реальную БД: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Он становится медленным (нарушение FIRST).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Он может упасть из-за отсутствия интернета (а не из-за ошибки в коде).</a:t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i="1" dirty="0">
                <a:latin typeface="Bookman Old Style" panose="02050604050505020204" pitchFamily="18" charset="0"/>
              </a:rPr>
              <a:t>Решение:</a:t>
            </a:r>
            <a:r>
              <a:rPr lang="ru-RU" sz="2400" dirty="0">
                <a:latin typeface="Bookman Old Style" panose="02050604050505020204" pitchFamily="18" charset="0"/>
              </a:rPr>
              <a:t> Использование интерфейсов и </a:t>
            </a:r>
            <a:r>
              <a:rPr lang="ru-RU" sz="2400" b="1" dirty="0">
                <a:latin typeface="Bookman Old Style" panose="02050604050505020204" pitchFamily="18" charset="0"/>
              </a:rPr>
              <a:t>Внедрение зависимостей (</a:t>
            </a:r>
            <a:r>
              <a:rPr lang="ru-RU" sz="2400" b="1" dirty="0" err="1">
                <a:latin typeface="Bookman Old Style" panose="02050604050505020204" pitchFamily="18" charset="0"/>
              </a:rPr>
              <a:t>Dependency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Injection</a:t>
            </a:r>
            <a:r>
              <a:rPr lang="ru-RU" sz="2400" b="1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Зависимости и 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Mocking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25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Вместо реальных объектов в тестах используют "заглушки".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Dummy</a:t>
            </a:r>
            <a:r>
              <a:rPr lang="ru-RU" sz="2400" b="1" dirty="0">
                <a:latin typeface="Bookman Old Style" panose="02050604050505020204" pitchFamily="18" charset="0"/>
              </a:rPr>
              <a:t> (Пустышка)</a:t>
            </a:r>
            <a:r>
              <a:rPr lang="ru-RU" sz="2400" dirty="0">
                <a:latin typeface="Bookman Old Style" panose="02050604050505020204" pitchFamily="18" charset="0"/>
              </a:rPr>
              <a:t> — объекты, которые передаются в методы «для галочки», чтобы код скомпилировался. Их методы никогда не вызываются, и они никак не используются в логике теста.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Stub</a:t>
            </a:r>
            <a:r>
              <a:rPr lang="ru-RU" sz="2400" b="1" dirty="0">
                <a:latin typeface="Bookman Old Style" panose="02050604050505020204" pitchFamily="18" charset="0"/>
              </a:rPr>
              <a:t> (Заглушка)</a:t>
            </a:r>
            <a:r>
              <a:rPr lang="ru-RU" sz="2400" dirty="0">
                <a:latin typeface="Bookman Old Style" panose="02050604050505020204" pitchFamily="18" charset="0"/>
              </a:rPr>
              <a:t> — объект, который возвращает заранее заданный (жестко прописанный) ответ на вызов. Используется, чтобы «подкармливать» тестируемый код нужными данными.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Spy</a:t>
            </a:r>
            <a:r>
              <a:rPr lang="ru-RU" sz="2400" b="1" dirty="0">
                <a:latin typeface="Bookman Old Style" panose="02050604050505020204" pitchFamily="18" charset="0"/>
              </a:rPr>
              <a:t> (Шпион)</a:t>
            </a:r>
            <a:r>
              <a:rPr lang="ru-RU" sz="2400" dirty="0">
                <a:latin typeface="Bookman Old Style" panose="02050604050505020204" pitchFamily="18" charset="0"/>
              </a:rPr>
              <a:t> — та же заглушка, но которая умеет запоминать детали вызова: сколько раз к ней обратились и какие аргументы передали. Нужен для проверки истории взаимодействий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Тестовые двойники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12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341632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Fake</a:t>
            </a:r>
            <a:r>
              <a:rPr lang="ru-RU" sz="2400" b="1" dirty="0" smtClean="0">
                <a:latin typeface="Bookman Old Style" panose="02050604050505020204" pitchFamily="18" charset="0"/>
              </a:rPr>
              <a:t> (Подделка /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Фейк</a:t>
            </a:r>
            <a:r>
              <a:rPr lang="ru-RU" sz="2400" b="1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 — рабочая, но упрощенная реализация компонента. Самый частый пример — замена тяжелой базы данных легким списком в оперативной памяти (</a:t>
            </a:r>
            <a:r>
              <a:rPr lang="ru-RU" sz="2400" dirty="0" err="1" smtClean="0">
                <a:latin typeface="Bookman Old Style" panose="02050604050505020204" pitchFamily="18" charset="0"/>
              </a:rPr>
              <a:t>In-memory</a:t>
            </a:r>
            <a:r>
              <a:rPr lang="ru-RU" sz="2400" dirty="0" smtClean="0">
                <a:latin typeface="Bookman Old Style" panose="02050604050505020204" pitchFamily="18" charset="0"/>
              </a:rPr>
              <a:t> DB).</a:t>
            </a:r>
          </a:p>
          <a:p>
            <a:pPr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Mock</a:t>
            </a:r>
            <a:r>
              <a:rPr lang="ru-RU" sz="2400" b="1" dirty="0" smtClean="0">
                <a:latin typeface="Bookman Old Style" panose="02050604050505020204" pitchFamily="18" charset="0"/>
              </a:rPr>
              <a:t> (Имитация)</a:t>
            </a:r>
            <a:r>
              <a:rPr lang="ru-RU" sz="2400" dirty="0" smtClean="0">
                <a:latin typeface="Bookman Old Style" panose="02050604050505020204" pitchFamily="18" charset="0"/>
              </a:rPr>
              <a:t> — «умная» заглушка, в которую заранее записываются ожидания. Она сама проверяет, был ли вызван нужный метод, в правильном ли порядке и с верными ли параметрами.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671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Представим класс </a:t>
            </a:r>
            <a:r>
              <a:rPr lang="ru-RU" sz="2400" dirty="0" err="1">
                <a:latin typeface="Bookman Old Style" panose="02050604050505020204" pitchFamily="18" charset="0"/>
              </a:rPr>
              <a:t>OrderService</a:t>
            </a:r>
            <a:r>
              <a:rPr lang="ru-RU" sz="2400" dirty="0">
                <a:latin typeface="Bookman Old Style" panose="02050604050505020204" pitchFamily="18" charset="0"/>
              </a:rPr>
              <a:t>, который оформляет заказ. Он обращается к складу и отправляет письмо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HasStock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ru-RU" sz="2400" dirty="0" smtClean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onsolas" panose="020B0609020204030204" pitchFamily="49" charset="0"/>
              </a:rPr>
              <a:t>Send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msg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ru-RU" sz="2400" dirty="0" smtClean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Тестируемая система (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SUT - System Under Test)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2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OrderService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_inventory;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_email;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OrderService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inv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_inventory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inv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_email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inventory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HasStock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email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Send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Заказ </a:t>
            </a:r>
            <a:r>
              <a:rPr lang="ru-RU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оформлен!"</a:t>
            </a:r>
            <a:r>
              <a:rPr lang="ru-RU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9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627864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Просто передать объект в метод или конструктор, чтобы код скомпилировался. Мы точно знаем, что в рамках </a:t>
            </a:r>
            <a:r>
              <a:rPr lang="ru-RU" sz="2400" i="1" dirty="0">
                <a:latin typeface="Bookman Old Style" panose="02050604050505020204" pitchFamily="18" charset="0"/>
              </a:rPr>
              <a:t>данного</a:t>
            </a:r>
            <a:r>
              <a:rPr lang="ru-RU" sz="2400" dirty="0">
                <a:latin typeface="Bookman Old Style" panose="02050604050505020204" pitchFamily="18" charset="0"/>
              </a:rPr>
              <a:t> теста этот объект </a:t>
            </a:r>
            <a:r>
              <a:rPr lang="ru-RU" sz="2400" b="1" dirty="0">
                <a:latin typeface="Bookman Old Style" panose="02050604050505020204" pitchFamily="18" charset="0"/>
              </a:rPr>
              <a:t>не будет вызван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PlaceOrder_Out_Of_Stock_ReturnsFalse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Arrange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emptyStock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EmptyInventoryStub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Вернет </a:t>
            </a:r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false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Передаем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null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 качестве почты (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Dummy). 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Письмо не должно отправиться, если товара нет.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OrderService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emptyStock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Act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"Laptop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Assert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Is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False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Dummy (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Пустышка)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7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443198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Предоставить жестко заданные ответы на вызовы во время теста. </a:t>
            </a:r>
            <a:r>
              <a:rPr lang="ru-RU" sz="2400" dirty="0" err="1">
                <a:latin typeface="Bookman Old Style" panose="02050604050505020204" pitchFamily="18" charset="0"/>
              </a:rPr>
              <a:t>Stub</a:t>
            </a:r>
            <a:r>
              <a:rPr lang="ru-RU" sz="2400" dirty="0">
                <a:latin typeface="Bookman Old Style" panose="02050604050505020204" pitchFamily="18" charset="0"/>
              </a:rPr>
              <a:t> не проверяет, сколько раз его вызывали, он просто «глупо» отдает заранее заготовленный результат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25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Создаем ручной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Stub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AlwaysInStockStub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Всегда возвращаем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true,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независимо от товара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HasStock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Stub (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Заглушка)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81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424731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PlaceOrder_ItemInStock_ReturnsTrue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Arrange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stub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AlwaysInStockStub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OrderService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stub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DummyEmail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());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Act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"Laptop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Assert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Is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True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80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Это рабочая реализация интерфейса, но она использует "</a:t>
            </a:r>
            <a:r>
              <a:rPr lang="ru-RU" sz="2400" dirty="0" err="1">
                <a:latin typeface="Bookman Old Style" panose="02050604050505020204" pitchFamily="18" charset="0"/>
              </a:rPr>
              <a:t>шорткаты</a:t>
            </a:r>
            <a:r>
              <a:rPr lang="ru-RU" sz="2400" dirty="0">
                <a:latin typeface="Bookman Old Style" panose="02050604050505020204" pitchFamily="18" charset="0"/>
              </a:rPr>
              <a:t>" (упрощения), делающие её непригодной для реальной среды, но идеальной для тестов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i="1" dirty="0" smtClean="0">
                <a:latin typeface="Bookman Old Style" panose="02050604050505020204" pitchFamily="18" charset="0"/>
              </a:rPr>
              <a:t>(</a:t>
            </a:r>
            <a:r>
              <a:rPr lang="ru-RU" sz="2400" i="1" dirty="0">
                <a:latin typeface="Bookman Old Style" panose="02050604050505020204" pitchFamily="18" charset="0"/>
              </a:rPr>
              <a:t>Пример: БД в оперативной памяти (</a:t>
            </a:r>
            <a:r>
              <a:rPr lang="ru-RU" sz="2400" i="1" dirty="0" err="1">
                <a:latin typeface="Bookman Old Style" panose="02050604050505020204" pitchFamily="18" charset="0"/>
              </a:rPr>
              <a:t>In-Memory</a:t>
            </a:r>
            <a:r>
              <a:rPr lang="ru-RU" sz="2400" i="1" dirty="0">
                <a:latin typeface="Bookman Old Style" panose="02050604050505020204" pitchFamily="18" charset="0"/>
              </a:rPr>
              <a:t>) вместо настоящего SQL-сервера</a:t>
            </a:r>
            <a:r>
              <a:rPr lang="ru-RU" sz="2400" i="1" dirty="0" smtClean="0">
                <a:latin typeface="Bookman Old Style" panose="02050604050505020204" pitchFamily="18" charset="0"/>
              </a:rPr>
              <a:t>).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FakeInMemoryInventory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Используем простой словарь вместо сложной базы данных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Dictionary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db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"Laptop"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HasStock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db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ContainsKey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db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item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Fake (</a:t>
            </a:r>
            <a:r>
              <a:rPr lang="ru-RU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Фейк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/ Подделка)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12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Это </a:t>
            </a:r>
            <a:r>
              <a:rPr lang="ru-RU" sz="2400" dirty="0" err="1">
                <a:latin typeface="Bookman Old Style" panose="02050604050505020204" pitchFamily="18" charset="0"/>
              </a:rPr>
              <a:t>Stub</a:t>
            </a:r>
            <a:r>
              <a:rPr lang="ru-RU" sz="2400" dirty="0">
                <a:latin typeface="Bookman Old Style" panose="02050604050505020204" pitchFamily="18" charset="0"/>
              </a:rPr>
              <a:t>, который дополнительно </a:t>
            </a:r>
            <a:r>
              <a:rPr lang="ru-RU" sz="2400" b="1" dirty="0">
                <a:latin typeface="Bookman Old Style" panose="02050604050505020204" pitchFamily="18" charset="0"/>
              </a:rPr>
              <a:t>запоминает</a:t>
            </a:r>
            <a:r>
              <a:rPr lang="ru-RU" sz="2400" dirty="0">
                <a:latin typeface="Bookman Old Style" panose="02050604050505020204" pitchFamily="18" charset="0"/>
              </a:rPr>
              <a:t>, как именно к нему обращались. Мы используем его, чтобы в конце теста спросить: «А сколько раз тебя вызвали?» или «А какие аргументы тебе передали</a:t>
            </a:r>
            <a:r>
              <a:rPr lang="ru-RU" sz="2400" dirty="0" smtClean="0">
                <a:latin typeface="Bookman Old Style" panose="02050604050505020204" pitchFamily="18" charset="0"/>
              </a:rPr>
              <a:t>?».</a:t>
            </a:r>
          </a:p>
          <a:p>
            <a:pPr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EmailSpy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IEmailService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EmailsSent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LastMessage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onsolas" panose="020B0609020204030204" pitchFamily="49" charset="0"/>
              </a:rPr>
              <a:t>Send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EmailsSent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LastMessage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msg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Spy (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Шпион)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71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PlaceOrder_Success_SendsOneEmail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spy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EmailSpy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OrderService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AlwaysInStockStub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spy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PlaceOrder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"Laptop"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Проверяем состояние шпиона!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spy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EmailsSent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Is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EqualTo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Assert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That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spy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LastMessage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Does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Contain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"Laptop"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1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224503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Цель:</a:t>
            </a:r>
            <a:r>
              <a:rPr lang="ru-RU" sz="2400" dirty="0">
                <a:latin typeface="Bookman Old Style" panose="02050604050505020204" pitchFamily="18" charset="0"/>
              </a:rPr>
              <a:t> </a:t>
            </a:r>
            <a:r>
              <a:rPr lang="ru-RU" sz="2400" dirty="0" err="1">
                <a:latin typeface="Bookman Old Style" panose="02050604050505020204" pitchFamily="18" charset="0"/>
              </a:rPr>
              <a:t>Mock</a:t>
            </a:r>
            <a:r>
              <a:rPr lang="ru-RU" sz="2400" dirty="0">
                <a:latin typeface="Bookman Old Style" panose="02050604050505020204" pitchFamily="18" charset="0"/>
              </a:rPr>
              <a:t> настраивается </a:t>
            </a:r>
            <a:r>
              <a:rPr lang="ru-RU" sz="2400" i="1" dirty="0">
                <a:latin typeface="Bookman Old Style" panose="02050604050505020204" pitchFamily="18" charset="0"/>
              </a:rPr>
              <a:t>до</a:t>
            </a:r>
            <a:r>
              <a:rPr lang="ru-RU" sz="2400" dirty="0">
                <a:latin typeface="Bookman Old Style" panose="02050604050505020204" pitchFamily="18" charset="0"/>
              </a:rPr>
              <a:t> вызова метода. Мы задаем ему строгие ожидания (</a:t>
            </a:r>
            <a:r>
              <a:rPr lang="ru-RU" sz="2400" dirty="0" err="1">
                <a:latin typeface="Bookman Old Style" panose="02050604050505020204" pitchFamily="18" charset="0"/>
              </a:rPr>
              <a:t>Expectations</a:t>
            </a:r>
            <a:r>
              <a:rPr lang="ru-RU" sz="2400" dirty="0">
                <a:latin typeface="Bookman Old Style" panose="02050604050505020204" pitchFamily="18" charset="0"/>
              </a:rPr>
              <a:t>). Если тестируемый код не вызовет </a:t>
            </a:r>
            <a:r>
              <a:rPr lang="ru-RU" sz="2400" dirty="0" err="1">
                <a:latin typeface="Bookman Old Style" panose="02050604050505020204" pitchFamily="18" charset="0"/>
              </a:rPr>
              <a:t>Mock</a:t>
            </a:r>
            <a:r>
              <a:rPr lang="ru-RU" sz="2400" dirty="0">
                <a:latin typeface="Bookman Old Style" panose="02050604050505020204" pitchFamily="18" charset="0"/>
              </a:rPr>
              <a:t> или вызовет с неправильными аргументами — тест упадет сам.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Обычно создаются не руками, а библиотеками (например, </a:t>
            </a:r>
            <a:r>
              <a:rPr lang="ru-RU" sz="2400" b="1" dirty="0" err="1">
                <a:latin typeface="Bookman Old Style" panose="02050604050505020204" pitchFamily="18" charset="0"/>
              </a:rPr>
              <a:t>Moq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Mock (</a:t>
            </a:r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Имитация)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47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22456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Для создания </a:t>
            </a:r>
            <a:r>
              <a:rPr lang="ru-RU" sz="2400" dirty="0" err="1">
                <a:latin typeface="Bookman Old Style" panose="02050604050505020204" pitchFamily="18" charset="0"/>
              </a:rPr>
              <a:t>Mock</a:t>
            </a:r>
            <a:r>
              <a:rPr lang="ru-RU" sz="2400" dirty="0">
                <a:latin typeface="Bookman Old Style" panose="02050604050505020204" pitchFamily="18" charset="0"/>
              </a:rPr>
              <a:t>-объектов в C# стандартом де-факто является библиотека </a:t>
            </a:r>
            <a:r>
              <a:rPr lang="ru-RU" sz="2400" b="1" dirty="0" err="1">
                <a:latin typeface="Bookman Old Style" panose="02050604050505020204" pitchFamily="18" charset="0"/>
              </a:rPr>
              <a:t>Moq</a:t>
            </a:r>
            <a:r>
              <a:rPr lang="ru-RU" sz="2400" dirty="0">
                <a:latin typeface="Bookman Old Style" panose="02050604050505020204" pitchFamily="18" charset="0"/>
              </a:rPr>
              <a:t>. (Устанавливается через </a:t>
            </a:r>
            <a:r>
              <a:rPr lang="ru-RU" sz="2400" dirty="0" err="1">
                <a:latin typeface="Bookman Old Style" panose="02050604050505020204" pitchFamily="18" charset="0"/>
              </a:rPr>
              <a:t>NuGet</a:t>
            </a:r>
            <a:r>
              <a:rPr lang="ru-RU" sz="2400" dirty="0">
                <a:latin typeface="Bookman Old Style" panose="02050604050505020204" pitchFamily="18" charset="0"/>
              </a:rPr>
              <a:t> пакет </a:t>
            </a:r>
            <a:r>
              <a:rPr lang="ru-RU" sz="2400" dirty="0" err="1">
                <a:latin typeface="Bookman Old Style" panose="02050604050505020204" pitchFamily="18" charset="0"/>
              </a:rPr>
              <a:t>Moq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Она позволяет в пару строк кода создать виртуальную реализацию любого интерфейса.</a:t>
            </a:r>
          </a:p>
        </p:txBody>
      </p:sp>
      <p:sp>
        <p:nvSpPr>
          <p:cNvPr id="5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Библиотека </a:t>
            </a:r>
            <a:r>
              <a:rPr lang="en-US" sz="28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Moq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3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81725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Moq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300" dirty="0" smtClean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PlaceOrder_Success_VerifiesEmailIsSent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Arrange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mockEmail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smtClean="0">
                <a:solidFill>
                  <a:srgbClr val="267F99"/>
                </a:solidFill>
                <a:latin typeface="Consolas" panose="020B0609020204030204" pitchFamily="49" charset="0"/>
              </a:rPr>
              <a:t>Mock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3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IEmailService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stubInventory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smtClean="0">
                <a:solidFill>
                  <a:srgbClr val="267F99"/>
                </a:solidFill>
                <a:latin typeface="Consolas" panose="020B0609020204030204" pitchFamily="49" charset="0"/>
              </a:rPr>
              <a:t>Mock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3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IInventory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stubInventory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Setup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HasStock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IsAny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&gt;())).</a:t>
            </a:r>
            <a:r>
              <a:rPr lang="en-US" sz="2300" dirty="0" smtClean="0">
                <a:solidFill>
                  <a:srgbClr val="795E26"/>
                </a:solidFill>
                <a:latin typeface="Consolas" panose="020B0609020204030204" pitchFamily="49" charset="0"/>
              </a:rPr>
              <a:t>Returns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OrderService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stubInventory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Object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mockEmail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Object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ru-RU" sz="2300" dirty="0" smtClean="0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Act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PlaceOrder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"Laptop"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Assert (</a:t>
            </a:r>
            <a:r>
              <a:rPr lang="ru-RU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Проверка поведения)</a:t>
            </a:r>
            <a:endParaRPr lang="ru-RU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ru-RU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Проверяем, что метод </a:t>
            </a:r>
            <a:r>
              <a:rPr lang="en-US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Send </a:t>
            </a:r>
            <a:r>
              <a:rPr lang="ru-RU" sz="23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был вызван ровно 1 раз с любой строкой</a:t>
            </a:r>
            <a:endParaRPr lang="ru-RU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mockEmail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Verify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Send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It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IsAny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3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&gt;()),</a:t>
            </a:r>
            <a:r>
              <a:rPr lang="en-US" sz="23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Times</a:t>
            </a:r>
            <a:r>
              <a:rPr lang="en-US" sz="23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3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Once</a:t>
            </a:r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3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3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772650" y="0"/>
            <a:ext cx="2419350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Пример 1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07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Представим, что у нас есть сервис регистрации пользователей, который зависит от интерфейса отправки писем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IEmailSender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SendEmail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to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text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UserService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IEmailSender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mailSender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UserService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IEmailSender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sender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mailSender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sender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onsolas" panose="020B0609020204030204" pitchFamily="49" charset="0"/>
              </a:rPr>
              <a:t>Register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Логика регистрации...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ru-RU" sz="2400" dirty="0">
                <a:solidFill>
                  <a:srgbClr val="001080"/>
                </a:solidFill>
                <a:latin typeface="Consolas" panose="020B0609020204030204" pitchFamily="49" charset="0"/>
              </a:rPr>
              <a:t>_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mailSender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SendEmail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"Welcome!"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9772650" y="876300"/>
            <a:ext cx="2419350" cy="5836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Пример 2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34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Moq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NUnit.Framework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Test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]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Register_ValidUser_SendsWelcomeEmail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Arrange: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Создаем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Mock-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объект интерфейса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mockSender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Mock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IEmailSender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&gt;();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Передаем .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Object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 конструктор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267F99"/>
                </a:solidFill>
                <a:latin typeface="Consolas" panose="020B0609020204030204" pitchFamily="49" charset="0"/>
              </a:rPr>
              <a:t>UserService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mockSender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Object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Act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Register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"test@mail.ru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Assert: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Проверяем, что метод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SendEmail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был вызван 1 раз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mockSender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Verify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=&gt;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m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SendEmail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"test@mail.ru"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"Welcome!"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Times</a:t>
            </a:r>
            <a:r>
              <a:rPr lang="en-US" sz="2400" dirty="0" err="1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Once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46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01566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Как понять, достаточно ли тестов мы написали?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Code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Coverage</a:t>
            </a:r>
            <a:r>
              <a:rPr lang="ru-RU" sz="2400" dirty="0">
                <a:latin typeface="Bookman Old Style" panose="02050604050505020204" pitchFamily="18" charset="0"/>
              </a:rPr>
              <a:t> — метрика, показывающая, какой процент строк/ветвей исходного кода был выполнен во время запуска тестов.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</a:t>
            </a:r>
            <a:r>
              <a:rPr lang="ru-RU" sz="2400" dirty="0" err="1">
                <a:latin typeface="Bookman Old Style" panose="02050604050505020204" pitchFamily="18" charset="0"/>
              </a:rPr>
              <a:t>Visual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Studio</a:t>
            </a:r>
            <a:r>
              <a:rPr lang="ru-RU" sz="2400" dirty="0">
                <a:latin typeface="Bookman Old Style" panose="02050604050505020204" pitchFamily="18" charset="0"/>
              </a:rPr>
              <a:t> (</a:t>
            </a:r>
            <a:r>
              <a:rPr lang="ru-RU" sz="2400" dirty="0" err="1">
                <a:latin typeface="Bookman Old Style" panose="02050604050505020204" pitchFamily="18" charset="0"/>
              </a:rPr>
              <a:t>Enterprise</a:t>
            </a:r>
            <a:r>
              <a:rPr lang="ru-RU" sz="2400" dirty="0">
                <a:latin typeface="Bookman Old Style" panose="02050604050505020204" pitchFamily="18" charset="0"/>
              </a:rPr>
              <a:t>) или через сторонние утилиты (</a:t>
            </a:r>
            <a:r>
              <a:rPr lang="ru-RU" sz="2400" dirty="0" err="1">
                <a:latin typeface="Bookman Old Style" panose="02050604050505020204" pitchFamily="18" charset="0"/>
              </a:rPr>
              <a:t>dotCover</a:t>
            </a:r>
            <a:r>
              <a:rPr lang="ru-RU" sz="2400" dirty="0">
                <a:latin typeface="Bookman Old Style" panose="02050604050505020204" pitchFamily="18" charset="0"/>
              </a:rPr>
              <a:t>, </a:t>
            </a:r>
            <a:r>
              <a:rPr lang="ru-RU" sz="2400" dirty="0" err="1">
                <a:latin typeface="Bookman Old Style" panose="02050604050505020204" pitchFamily="18" charset="0"/>
              </a:rPr>
              <a:t>Coverlet</a:t>
            </a:r>
            <a:r>
              <a:rPr lang="ru-RU" sz="2400" dirty="0">
                <a:latin typeface="Bookman Old Style" panose="02050604050505020204" pitchFamily="18" charset="0"/>
              </a:rPr>
              <a:t>) можно визуально подсветить зеленым покрытые строки и красным — непокрытые.</a:t>
            </a:r>
          </a:p>
          <a:p>
            <a:pPr>
              <a:lnSpc>
                <a:spcPct val="150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Важно:</a:t>
            </a:r>
            <a:r>
              <a:rPr lang="ru-RU" sz="2400" dirty="0">
                <a:latin typeface="Bookman Old Style" panose="02050604050505020204" pitchFamily="18" charset="0"/>
              </a:rPr>
              <a:t> 100% покрытие кода не гарантирует отсутствие багов! Это лишь показатель того, где тестов точно нет. Оптимальным в индустрии считается покрытие 70-80%.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Покрытие кода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05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33536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реальной разработке тесты не только запускаются руками в </a:t>
            </a:r>
            <a:r>
              <a:rPr lang="ru-RU" sz="2400" dirty="0" err="1">
                <a:latin typeface="Bookman Old Style" panose="02050604050505020204" pitchFamily="18" charset="0"/>
              </a:rPr>
              <a:t>Visual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Studio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Тесты запускаются автоматически на удаленных серверах (</a:t>
            </a:r>
            <a:r>
              <a:rPr lang="ru-RU" sz="2400" dirty="0" err="1">
                <a:latin typeface="Bookman Old Style" panose="02050604050505020204" pitchFamily="18" charset="0"/>
              </a:rPr>
              <a:t>GitLab</a:t>
            </a:r>
            <a:r>
              <a:rPr lang="ru-RU" sz="2400" dirty="0">
                <a:latin typeface="Bookman Old Style" panose="02050604050505020204" pitchFamily="18" charset="0"/>
              </a:rPr>
              <a:t> CI, </a:t>
            </a:r>
            <a:r>
              <a:rPr lang="ru-RU" sz="2400" dirty="0" err="1">
                <a:latin typeface="Bookman Old Style" panose="02050604050505020204" pitchFamily="18" charset="0"/>
              </a:rPr>
              <a:t>GitHub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Actions</a:t>
            </a:r>
            <a:r>
              <a:rPr lang="ru-RU" sz="2400" dirty="0">
                <a:latin typeface="Bookman Old Style" panose="02050604050505020204" pitchFamily="18" charset="0"/>
              </a:rPr>
              <a:t>) при каждом </a:t>
            </a:r>
            <a:r>
              <a:rPr lang="ru-RU" sz="2400" dirty="0" err="1">
                <a:latin typeface="Bookman Old Style" panose="02050604050505020204" pitchFamily="18" charset="0"/>
              </a:rPr>
              <a:t>коммите</a:t>
            </a:r>
            <a:r>
              <a:rPr lang="ru-RU" sz="2400" dirty="0">
                <a:latin typeface="Bookman Old Style" panose="02050604050505020204" pitchFamily="18" charset="0"/>
              </a:rPr>
              <a:t> (</a:t>
            </a:r>
            <a:r>
              <a:rPr lang="ru-RU" sz="2400" dirty="0" err="1">
                <a:latin typeface="Bookman Old Style" panose="02050604050505020204" pitchFamily="18" charset="0"/>
              </a:rPr>
              <a:t>Push</a:t>
            </a:r>
            <a:r>
              <a:rPr lang="ru-RU" sz="2400" dirty="0">
                <a:latin typeface="Bookman Old Style" panose="02050604050505020204" pitchFamily="18" charset="0"/>
              </a:rPr>
              <a:t>) или создании </a:t>
            </a:r>
            <a:r>
              <a:rPr lang="ru-RU" sz="2400" dirty="0" err="1">
                <a:latin typeface="Bookman Old Style" panose="02050604050505020204" pitchFamily="18" charset="0"/>
              </a:rPr>
              <a:t>Pull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Request'а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Если тесты падают — слияние кода блокируется. Это называется "Защитой главной ветки" и является основой стабильной разработки.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Автоматизация (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Continuous Integration - CI)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0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14199</TotalTime>
  <Words>949</Words>
  <Application>Microsoft Office PowerPoint</Application>
  <PresentationFormat>Широкоэкранный</PresentationFormat>
  <Paragraphs>363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50" baseType="lpstr">
      <vt:lpstr>Arial</vt:lpstr>
      <vt:lpstr>Bookman Old Style</vt:lpstr>
      <vt:lpstr>Calibri</vt:lpstr>
      <vt:lpstr>Calibri Light</vt:lpstr>
      <vt:lpstr>Cascadia Mono</vt:lpstr>
      <vt:lpstr>Consolas</vt:lpstr>
      <vt:lpstr>Times New Roman</vt:lpstr>
      <vt:lpstr>Тема Office</vt:lpstr>
      <vt:lpstr>4 семестр Лекция 3.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m10</cp:lastModifiedBy>
  <cp:revision>792</cp:revision>
  <dcterms:modified xsi:type="dcterms:W3CDTF">2026-03-19T11:15:26Z</dcterms:modified>
</cp:coreProperties>
</file>