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29"/>
  </p:notesMasterIdLst>
  <p:sldIdLst>
    <p:sldId id="273" r:id="rId2"/>
    <p:sldId id="969" r:id="rId3"/>
    <p:sldId id="1054" r:id="rId4"/>
    <p:sldId id="1055" r:id="rId5"/>
    <p:sldId id="1052" r:id="rId6"/>
    <p:sldId id="1056" r:id="rId7"/>
    <p:sldId id="1109" r:id="rId8"/>
    <p:sldId id="1057" r:id="rId9"/>
    <p:sldId id="1058" r:id="rId10"/>
    <p:sldId id="1059" r:id="rId11"/>
    <p:sldId id="1060" r:id="rId12"/>
    <p:sldId id="1062" r:id="rId13"/>
    <p:sldId id="1063" r:id="rId14"/>
    <p:sldId id="1064" r:id="rId15"/>
    <p:sldId id="1065" r:id="rId16"/>
    <p:sldId id="1066" r:id="rId17"/>
    <p:sldId id="1068" r:id="rId18"/>
    <p:sldId id="1070" r:id="rId19"/>
    <p:sldId id="1069" r:id="rId20"/>
    <p:sldId id="1071" r:id="rId21"/>
    <p:sldId id="1073" r:id="rId22"/>
    <p:sldId id="1074" r:id="rId23"/>
    <p:sldId id="1075" r:id="rId24"/>
    <p:sldId id="1076" r:id="rId25"/>
    <p:sldId id="1077" r:id="rId26"/>
    <p:sldId id="1110" r:id="rId27"/>
    <p:sldId id="1018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74" autoAdjust="0"/>
    <p:restoredTop sz="95343" autoAdjust="0"/>
  </p:normalViewPr>
  <p:slideViewPr>
    <p:cSldViewPr snapToGrid="0">
      <p:cViewPr varScale="1">
        <p:scale>
          <a:sx n="85" d="100"/>
          <a:sy n="85" d="100"/>
        </p:scale>
        <p:origin x="90" y="73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15726"/>
    </p:cViewPr>
  </p:sorterViewPr>
  <p:notesViewPr>
    <p:cSldViewPr snapToGrid="0">
      <p:cViewPr varScale="1">
        <p:scale>
          <a:sx n="86" d="100"/>
          <a:sy n="86" d="100"/>
        </p:scale>
        <p:origin x="3786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12/23/2025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3654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7568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4059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1403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6119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792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0795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3484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9148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319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13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7552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088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3800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9952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19772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109094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95703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1908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0059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0819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0273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27535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730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9777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8628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14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86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801560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Объектно-ориентированное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031" y="2601697"/>
            <a:ext cx="9638568" cy="1658676"/>
          </a:xfrm>
        </p:spPr>
        <p:txBody>
          <a:bodyPr>
            <a:noAutofit/>
          </a:bodyPr>
          <a:lstStyle/>
          <a:p>
            <a:pPr algn="l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4 семестр</a:t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</a:t>
            </a:r>
            <a:r>
              <a:rPr lang="ru-RU" sz="2800" b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2.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лекции: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ст. преподаватель каф. </a:t>
            </a:r>
            <a:r>
              <a:rPr lang="ru-RU" b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B00361-5492-4290-B470-295172C16526}"/>
              </a:ext>
            </a:extLst>
          </p:cNvPr>
          <p:cNvSpPr txBox="1"/>
          <p:nvPr/>
        </p:nvSpPr>
        <p:spPr>
          <a:xfrm>
            <a:off x="877031" y="4260373"/>
            <a:ext cx="11041341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Тестирование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Виды ошибок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Уровни тестирования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Модульные тесты </a:t>
            </a:r>
            <a:r>
              <a:rPr lang="en-US" sz="2800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NUnit</a:t>
            </a:r>
            <a:endParaRPr lang="ru-RU" sz="28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Тестирование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84667" y="654355"/>
            <a:ext cx="12107333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Тести́рование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програ́ммного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обеспе́че́ния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— процесс исследования, испытания программного продукта, имеющий своей целью проверку соответствия между реальным поведением программы и её ожидаемым поведением на конечном наборе тестов, выбранных определённым </a:t>
            </a:r>
            <a:r>
              <a:rPr lang="ru-RU" sz="2400" dirty="0" smtClean="0">
                <a:latin typeface="Bookman Old Style" panose="02050604050505020204" pitchFamily="18" charset="0"/>
              </a:rPr>
              <a:t>образом.</a:t>
            </a: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Верификация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(</a:t>
            </a:r>
            <a:r>
              <a:rPr lang="en-US" sz="2400" dirty="0">
                <a:latin typeface="Bookman Old Style" panose="02050604050505020204" pitchFamily="18" charset="0"/>
              </a:rPr>
              <a:t>verification</a:t>
            </a:r>
            <a:r>
              <a:rPr lang="en-US" sz="2400" dirty="0" smtClean="0">
                <a:latin typeface="Bookman Old Style" panose="02050604050505020204" pitchFamily="18" charset="0"/>
              </a:rPr>
              <a:t>)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Соответствие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продукта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требованиям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(</a:t>
            </a:r>
            <a:r>
              <a:rPr lang="ru-RU" sz="2400" b="1" dirty="0" smtClean="0">
                <a:latin typeface="Bookman Old Style" panose="02050604050505020204" pitchFamily="18" charset="0"/>
              </a:rPr>
              <a:t>спецификации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Т.е.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Верификация </a:t>
            </a:r>
            <a:r>
              <a:rPr lang="ru-RU" sz="2400" dirty="0">
                <a:latin typeface="Bookman Old Style" panose="02050604050505020204" pitchFamily="18" charset="0"/>
              </a:rPr>
              <a:t>это проверка того, что программа работает так, как было задумано.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Валидация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(</a:t>
            </a:r>
            <a:r>
              <a:rPr lang="en-US" sz="2400" dirty="0">
                <a:latin typeface="Bookman Old Style" panose="02050604050505020204" pitchFamily="18" charset="0"/>
              </a:rPr>
              <a:t>validation</a:t>
            </a:r>
            <a:r>
              <a:rPr lang="en-US" sz="2400" dirty="0" smtClean="0">
                <a:latin typeface="Bookman Old Style" panose="02050604050505020204" pitchFamily="18" charset="0"/>
              </a:rPr>
              <a:t>)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Соответствие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продукта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потребностям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пользователей.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Т.е.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работа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программы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устраивает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заказчика.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8555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84667" y="148046"/>
            <a:ext cx="12107333" cy="61863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Виды ошибок: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Error</a:t>
            </a:r>
            <a:r>
              <a:rPr lang="ru-RU" sz="2400" dirty="0" smtClean="0">
                <a:latin typeface="Bookman Old Style" panose="02050604050505020204" pitchFamily="18" charset="0"/>
              </a:rPr>
              <a:t>  – это ошибка </a:t>
            </a:r>
            <a:r>
              <a:rPr lang="ru-RU" sz="2400" b="1" dirty="0" smtClean="0">
                <a:latin typeface="Bookman Old Style" panose="02050604050505020204" pitchFamily="18" charset="0"/>
              </a:rPr>
              <a:t>пользователя</a:t>
            </a:r>
            <a:r>
              <a:rPr lang="ru-RU" sz="2400" dirty="0" smtClean="0">
                <a:latin typeface="Bookman Old Style" panose="02050604050505020204" pitchFamily="18" charset="0"/>
              </a:rPr>
              <a:t>, то есть он пытается использовать программу иным способом (например, вводит буквы в поля, где требуется вводить цифры). В качественной программе предусмотрены такие ситуации и выдаются сообщение об ошибке.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Bug</a:t>
            </a:r>
            <a:r>
              <a:rPr lang="ru-RU" sz="2400" dirty="0" smtClean="0">
                <a:latin typeface="Bookman Old Style" panose="02050604050505020204" pitchFamily="18" charset="0"/>
              </a:rPr>
              <a:t> (</a:t>
            </a:r>
            <a:r>
              <a:rPr lang="ru-RU" sz="2400" dirty="0" err="1" smtClean="0">
                <a:latin typeface="Bookman Old Style" panose="02050604050505020204" pitchFamily="18" charset="0"/>
              </a:rPr>
              <a:t>defect</a:t>
            </a:r>
            <a:r>
              <a:rPr lang="ru-RU" sz="2400" dirty="0" smtClean="0">
                <a:latin typeface="Bookman Old Style" panose="02050604050505020204" pitchFamily="18" charset="0"/>
              </a:rPr>
              <a:t>) – это ошибка </a:t>
            </a:r>
            <a:r>
              <a:rPr lang="ru-RU" sz="2400" b="1" dirty="0" smtClean="0">
                <a:latin typeface="Bookman Old Style" panose="02050604050505020204" pitchFamily="18" charset="0"/>
              </a:rPr>
              <a:t>программиста</a:t>
            </a:r>
            <a:r>
              <a:rPr lang="ru-RU" sz="2400" dirty="0" smtClean="0">
                <a:latin typeface="Bookman Old Style" panose="02050604050505020204" pitchFamily="18" charset="0"/>
              </a:rPr>
              <a:t> (или дизайнера или ещё кого, кто принимает участие в разработке), то есть когда в программе, что-то идёт не так, как планировалось. Например, внутри программа построена так, что изначально не соответствует тому, что от неё ожидается.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Failure</a:t>
            </a:r>
            <a:r>
              <a:rPr lang="ru-RU" sz="2400" dirty="0" smtClean="0">
                <a:latin typeface="Bookman Old Style" panose="02050604050505020204" pitchFamily="18" charset="0"/>
              </a:rPr>
              <a:t>  – это сбой в работе компонента, всей программы или системы (может быть как аппаратным, так и вызванным дефектом).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9562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8141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4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Уровни </a:t>
            </a:r>
            <a:r>
              <a:rPr lang="ru-RU" sz="2400" b="1" dirty="0">
                <a:latin typeface="Bookman Old Style" panose="02050604050505020204" pitchFamily="18" charset="0"/>
              </a:rPr>
              <a:t>тестирования:</a:t>
            </a:r>
          </a:p>
          <a:p>
            <a:pPr marL="342900" indent="-342900" algn="just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Bookman Old Style" panose="02050604050505020204" pitchFamily="18" charset="0"/>
              </a:rPr>
              <a:t>Тестирование компонентов</a:t>
            </a:r>
            <a:r>
              <a:rPr lang="ru-RU" sz="2400" dirty="0">
                <a:latin typeface="Bookman Old Style" panose="02050604050505020204" pitchFamily="18" charset="0"/>
              </a:rPr>
              <a:t> — тестируется минимально возможный для тестирования компонент, например, отдельный класс или функция. Часто </a:t>
            </a:r>
            <a:r>
              <a:rPr lang="ru-RU" sz="2400" dirty="0" smtClean="0">
                <a:latin typeface="Bookman Old Style" panose="02050604050505020204" pitchFamily="18" charset="0"/>
              </a:rPr>
              <a:t>тестирование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компонентов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осуществляется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разработчиками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программного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обеспечения.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ru-RU" sz="2400" b="1" dirty="0" smtClean="0">
                <a:latin typeface="Bookman Old Style" panose="02050604050505020204" pitchFamily="18" charset="0"/>
              </a:rPr>
              <a:t>Интеграционное </a:t>
            </a:r>
            <a:r>
              <a:rPr lang="ru-RU" sz="2400" b="1" dirty="0">
                <a:latin typeface="Bookman Old Style" panose="02050604050505020204" pitchFamily="18" charset="0"/>
              </a:rPr>
              <a:t>тестирование</a:t>
            </a:r>
            <a:r>
              <a:rPr lang="ru-RU" sz="2400" dirty="0">
                <a:latin typeface="Bookman Old Style" panose="02050604050505020204" pitchFamily="18" charset="0"/>
              </a:rPr>
              <a:t> — тестируются интерфейсы между компонентами, подсистемами или системами. При наличии резерва времени на данной стадии тестирование ведётся итерационно, с постепенным подключением последующих подсистем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marL="342900" indent="-342900" algn="just">
              <a:lnSpc>
                <a:spcPct val="14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Bookman Old Style" panose="02050604050505020204" pitchFamily="18" charset="0"/>
              </a:rPr>
              <a:t>Нагрузочное тестирование </a:t>
            </a:r>
            <a:r>
              <a:rPr lang="ru-RU" sz="2400" dirty="0">
                <a:latin typeface="Bookman Old Style" panose="02050604050505020204" pitchFamily="18" charset="0"/>
              </a:rPr>
              <a:t>— подвид тестирования производительности, сбор показателей и определение производительности и времени отклика </a:t>
            </a:r>
            <a:r>
              <a:rPr lang="ru-RU" sz="2400" dirty="0" smtClean="0">
                <a:latin typeface="Bookman Old Style" panose="02050604050505020204" pitchFamily="18" charset="0"/>
              </a:rPr>
              <a:t>программы </a:t>
            </a:r>
            <a:r>
              <a:rPr lang="ru-RU" sz="2400" dirty="0">
                <a:latin typeface="Bookman Old Style" panose="02050604050505020204" pitchFamily="18" charset="0"/>
              </a:rPr>
              <a:t>в ответ на внешний запрос с целью установления соответствия требованиям, предъявляемым к </a:t>
            </a:r>
            <a:r>
              <a:rPr lang="ru-RU" sz="2400" dirty="0" smtClean="0">
                <a:latin typeface="Bookman Old Style" panose="02050604050505020204" pitchFamily="18" charset="0"/>
              </a:rPr>
              <a:t>данному ПО.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83308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123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Bookman Old Style" panose="02050604050505020204" pitchFamily="18" charset="0"/>
              </a:rPr>
              <a:t>Системное тестирование </a:t>
            </a:r>
            <a:r>
              <a:rPr lang="ru-RU" sz="2400" dirty="0">
                <a:latin typeface="Bookman Old Style" panose="02050604050505020204" pitchFamily="18" charset="0"/>
              </a:rPr>
              <a:t>— тестируется интегрированная система на её соответствие требованиям.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Bookman Old Style" panose="02050604050505020204" pitchFamily="18" charset="0"/>
              </a:rPr>
              <a:t>Альфа-тестирование</a:t>
            </a:r>
            <a:r>
              <a:rPr lang="ru-RU" sz="2400" dirty="0">
                <a:latin typeface="Bookman Old Style" panose="02050604050505020204" pitchFamily="18" charset="0"/>
              </a:rPr>
              <a:t> — является ранней версией программного продукта, тестирование которой проводится внутри организации-разработчика; может быть вероятно частичное привлечение конечных пользователей.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latin typeface="Bookman Old Style" panose="02050604050505020204" pitchFamily="18" charset="0"/>
              </a:rPr>
              <a:t>Бета-тестирование</a:t>
            </a:r>
            <a:r>
              <a:rPr lang="ru-RU" sz="2400" dirty="0">
                <a:latin typeface="Bookman Old Style" panose="02050604050505020204" pitchFamily="18" charset="0"/>
              </a:rPr>
              <a:t> — практически готовое ПО, выпускаемое для ограниченного количества пользователей, разрабатывается в первую очередь для тестирования конечными пользователями и получения отзывов клиентов о продукте для внесения соответствующих изменений.</a:t>
            </a:r>
          </a:p>
        </p:txBody>
      </p:sp>
    </p:spTree>
    <p:extLst>
      <p:ext uri="{BB962C8B-B14F-4D97-AF65-F5344CB8AC3E}">
        <p14:creationId xmlns:p14="http://schemas.microsoft.com/office/powerpoint/2010/main" val="4291440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55927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НЕКОТОРЫЕ ТЕХНИКИ ТЕСТ-ДИЗАЙНА</a:t>
            </a:r>
          </a:p>
          <a:p>
            <a:pPr marL="457200" indent="-457200" algn="just">
              <a:lnSpc>
                <a:spcPct val="125000"/>
              </a:lnSpc>
              <a:buAutoNum type="arabicPeriod"/>
            </a:pPr>
            <a:r>
              <a:rPr lang="ru-RU" sz="2400" b="1" dirty="0" smtClean="0">
                <a:latin typeface="Bookman Old Style" panose="02050604050505020204" pitchFamily="18" charset="0"/>
              </a:rPr>
              <a:t>Эквивалентное Разделение</a:t>
            </a:r>
            <a:r>
              <a:rPr lang="en-US" sz="2400" b="1" dirty="0">
                <a:latin typeface="Bookman Old Style" panose="020506040505050202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(Equivalence Partitioning</a:t>
            </a:r>
            <a:r>
              <a:rPr lang="en-US" sz="2400" dirty="0" smtClean="0">
                <a:latin typeface="Bookman Old Style" panose="02050604050505020204" pitchFamily="18" charset="0"/>
              </a:rPr>
              <a:t>) </a:t>
            </a:r>
            <a:r>
              <a:rPr lang="ru-RU" sz="2400" dirty="0" smtClean="0">
                <a:latin typeface="Bookman Old Style" panose="02050604050505020204" pitchFamily="18" charset="0"/>
              </a:rPr>
              <a:t>— это техника, при которой функционал (часто диапазон возможных вводимых значений) разделяется на группы эквивалентных по своему влиянию на систему значений. ПРИМЕР: есть диапазон допустимых значений от 1 до 10, выбирается одно верное значение внутри интервала (например, 5) и одно неверное значение вне интервала — 0.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marL="457200" indent="-457200" algn="just">
              <a:lnSpc>
                <a:spcPct val="125000"/>
              </a:lnSpc>
              <a:buAutoNum type="arabicPeriod"/>
            </a:pPr>
            <a:r>
              <a:rPr lang="ru-RU" sz="2400" b="1" dirty="0">
                <a:latin typeface="Bookman Old Style" panose="02050604050505020204" pitchFamily="18" charset="0"/>
              </a:rPr>
              <a:t>Анализ Граничных </a:t>
            </a:r>
            <a:r>
              <a:rPr lang="ru-RU" sz="2400" b="1" dirty="0" smtClean="0">
                <a:latin typeface="Bookman Old Style" panose="02050604050505020204" pitchFamily="18" charset="0"/>
              </a:rPr>
              <a:t>Значений </a:t>
            </a:r>
            <a:r>
              <a:rPr lang="en-US" sz="2400" dirty="0">
                <a:latin typeface="Bookman Old Style" panose="02050604050505020204" pitchFamily="18" charset="0"/>
              </a:rPr>
              <a:t>(Boundary Value Analysis</a:t>
            </a:r>
            <a:r>
              <a:rPr lang="en-US" sz="2400" dirty="0" smtClean="0">
                <a:latin typeface="Bookman Old Style" panose="02050604050505020204" pitchFamily="18" charset="0"/>
              </a:rPr>
              <a:t>) </a:t>
            </a:r>
            <a:r>
              <a:rPr lang="ru-RU" sz="2400" dirty="0" smtClean="0">
                <a:latin typeface="Bookman Old Style" panose="02050604050505020204" pitchFamily="18" charset="0"/>
              </a:rPr>
              <a:t>— </a:t>
            </a:r>
            <a:r>
              <a:rPr lang="ru-RU" sz="2400" dirty="0">
                <a:latin typeface="Bookman Old Style" panose="02050604050505020204" pitchFamily="18" charset="0"/>
              </a:rPr>
              <a:t>это техника проверки поведения продукта на крайних (граничных) значениях входных данных. Если брать выше ПРИМЕР: </a:t>
            </a:r>
            <a:r>
              <a:rPr lang="ru-RU" sz="2400" dirty="0" smtClean="0">
                <a:latin typeface="Bookman Old Style" panose="02050604050505020204" pitchFamily="18" charset="0"/>
              </a:rPr>
              <a:t>берется </a:t>
            </a:r>
            <a:r>
              <a:rPr lang="ru-RU" sz="2400" dirty="0">
                <a:latin typeface="Bookman Old Style" panose="02050604050505020204" pitchFamily="18" charset="0"/>
              </a:rPr>
              <a:t>минимальная и максимальная границы (1 и 10), и значения больше и меньше границ (0 и 11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31521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42077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25000"/>
              </a:lnSpc>
              <a:buFont typeface="+mj-lt"/>
              <a:buAutoNum type="arabicPeriod" startAt="3"/>
            </a:pPr>
            <a:r>
              <a:rPr lang="ru-RU" sz="2400" b="1" dirty="0" smtClean="0">
                <a:latin typeface="Bookman Old Style" panose="02050604050505020204" pitchFamily="18" charset="0"/>
              </a:rPr>
              <a:t>Доменный </a:t>
            </a:r>
            <a:r>
              <a:rPr lang="ru-RU" sz="2400" b="1" dirty="0">
                <a:latin typeface="Bookman Old Style" panose="02050604050505020204" pitchFamily="18" charset="0"/>
              </a:rPr>
              <a:t>анализ </a:t>
            </a:r>
            <a:r>
              <a:rPr lang="ru-RU" sz="2400" dirty="0">
                <a:latin typeface="Bookman Old Style" panose="02050604050505020204" pitchFamily="18" charset="0"/>
              </a:rPr>
              <a:t>(</a:t>
            </a:r>
            <a:r>
              <a:rPr lang="ru-RU" sz="2400" dirty="0" err="1">
                <a:latin typeface="Bookman Old Style" panose="02050604050505020204" pitchFamily="18" charset="0"/>
              </a:rPr>
              <a:t>Domain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Analysis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Testing</a:t>
            </a:r>
            <a:r>
              <a:rPr lang="ru-RU" sz="2400" dirty="0">
                <a:latin typeface="Bookman Old Style" panose="02050604050505020204" pitchFamily="18" charset="0"/>
              </a:rPr>
              <a:t>) — это техника основана на разбиении диапазона возможных значений переменной на поддиапазоны, с последующим выбором одного или нескольких значений из каждого домена для </a:t>
            </a:r>
            <a:r>
              <a:rPr lang="ru-RU" sz="2400" dirty="0" smtClean="0">
                <a:latin typeface="Bookman Old Style" panose="02050604050505020204" pitchFamily="18" charset="0"/>
              </a:rPr>
              <a:t>тестирования.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457200" indent="-457200" algn="just">
              <a:lnSpc>
                <a:spcPct val="125000"/>
              </a:lnSpc>
              <a:buFont typeface="+mj-lt"/>
              <a:buAutoNum type="arabicPeriod" startAt="3"/>
            </a:pPr>
            <a:r>
              <a:rPr lang="ru-RU" sz="2400" b="1" dirty="0" smtClean="0">
                <a:latin typeface="Bookman Old Style" panose="02050604050505020204" pitchFamily="18" charset="0"/>
              </a:rPr>
              <a:t>Причина </a:t>
            </a:r>
            <a:r>
              <a:rPr lang="ru-RU" sz="2400" b="1" dirty="0">
                <a:latin typeface="Bookman Old Style" panose="02050604050505020204" pitchFamily="18" charset="0"/>
              </a:rPr>
              <a:t>/ Следствие </a:t>
            </a:r>
            <a:r>
              <a:rPr lang="ru-RU" sz="2400" dirty="0">
                <a:latin typeface="Bookman Old Style" panose="02050604050505020204" pitchFamily="18" charset="0"/>
              </a:rPr>
              <a:t>(</a:t>
            </a:r>
            <a:r>
              <a:rPr lang="ru-RU" sz="2400" dirty="0" err="1">
                <a:latin typeface="Bookman Old Style" panose="02050604050505020204" pitchFamily="18" charset="0"/>
              </a:rPr>
              <a:t>Cause</a:t>
            </a:r>
            <a:r>
              <a:rPr lang="ru-RU" sz="2400" dirty="0">
                <a:latin typeface="Bookman Old Style" panose="02050604050505020204" pitchFamily="18" charset="0"/>
              </a:rPr>
              <a:t>/</a:t>
            </a:r>
            <a:r>
              <a:rPr lang="ru-RU" sz="2400" dirty="0" err="1">
                <a:latin typeface="Bookman Old Style" panose="02050604050505020204" pitchFamily="18" charset="0"/>
              </a:rPr>
              <a:t>Effect</a:t>
            </a:r>
            <a:r>
              <a:rPr lang="ru-RU" sz="2400" dirty="0">
                <a:latin typeface="Bookman Old Style" panose="02050604050505020204" pitchFamily="18" charset="0"/>
              </a:rPr>
              <a:t> — CE). Подразумевается ввод условий, для получения ответа от системы (следствие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457200" indent="-457200" algn="just">
              <a:lnSpc>
                <a:spcPct val="125000"/>
              </a:lnSpc>
              <a:buFont typeface="+mj-lt"/>
              <a:buAutoNum type="arabicPeriod" startAt="3"/>
            </a:pPr>
            <a:r>
              <a:rPr lang="ru-RU" sz="2400" b="1" dirty="0" smtClean="0">
                <a:latin typeface="Bookman Old Style" panose="02050604050505020204" pitchFamily="18" charset="0"/>
              </a:rPr>
              <a:t>Сценарий </a:t>
            </a:r>
            <a:r>
              <a:rPr lang="ru-RU" sz="2400" b="1" dirty="0">
                <a:latin typeface="Bookman Old Style" panose="02050604050505020204" pitchFamily="18" charset="0"/>
              </a:rPr>
              <a:t>использования </a:t>
            </a:r>
            <a:r>
              <a:rPr lang="ru-RU" sz="2400" dirty="0">
                <a:latin typeface="Bookman Old Style" panose="02050604050505020204" pitchFamily="18" charset="0"/>
              </a:rPr>
              <a:t>(</a:t>
            </a:r>
            <a:r>
              <a:rPr lang="ru-RU" sz="2400" dirty="0" err="1">
                <a:latin typeface="Bookman Old Style" panose="02050604050505020204" pitchFamily="18" charset="0"/>
              </a:rPr>
              <a:t>Use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Case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Testing</a:t>
            </a:r>
            <a:r>
              <a:rPr lang="ru-RU" sz="2400" dirty="0">
                <a:latin typeface="Bookman Old Style" panose="02050604050505020204" pitchFamily="18" charset="0"/>
              </a:rPr>
              <a:t>) —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описывает сценарий взаимодействия двух и более участников (как правило — пользователя и системы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138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654356"/>
            <a:ext cx="121920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Модульное (компонентное) </a:t>
            </a:r>
            <a:r>
              <a:rPr lang="ru-RU" sz="2400" dirty="0">
                <a:latin typeface="Bookman Old Style" panose="02050604050505020204" pitchFamily="18" charset="0"/>
              </a:rPr>
              <a:t>тестирование </a:t>
            </a:r>
            <a:r>
              <a:rPr lang="ru-RU" sz="2400" b="1" dirty="0">
                <a:latin typeface="Bookman Old Style" panose="02050604050505020204" pitchFamily="18" charset="0"/>
              </a:rPr>
              <a:t>(</a:t>
            </a:r>
            <a:r>
              <a:rPr lang="ru-RU" sz="2400" b="1" dirty="0" err="1">
                <a:latin typeface="Bookman Old Style" panose="02050604050505020204" pitchFamily="18" charset="0"/>
              </a:rPr>
              <a:t>Unit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Testing</a:t>
            </a:r>
            <a:r>
              <a:rPr lang="ru-RU" sz="2400" b="1" dirty="0">
                <a:latin typeface="Bookman Old Style" panose="02050604050505020204" pitchFamily="18" charset="0"/>
              </a:rPr>
              <a:t>) </a:t>
            </a:r>
            <a:r>
              <a:rPr lang="ru-RU" sz="2400" dirty="0">
                <a:latin typeface="Bookman Old Style" panose="02050604050505020204" pitchFamily="18" charset="0"/>
              </a:rPr>
              <a:t>проводится самими разработчиками, т.к. предполагает полный доступ к коду, для тестирования какого-либо одного логически выделенного и изолированного элемента (модуля) системы в коде, проверяет функциональность и ищет дефекты в частях приложения, которые доступны и могут быть протестированы по-отдельности (модули программ, объекты, классы, функции и т.д.).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latin typeface="Bookman Old Style" panose="02050604050505020204" pitchFamily="18" charset="0"/>
              </a:rPr>
              <a:t>Тестирование компонентов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46090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Создадим </a:t>
            </a:r>
            <a:r>
              <a:rPr lang="en-US" sz="2400" dirty="0" err="1" smtClean="0">
                <a:latin typeface="Bookman Old Style" panose="02050604050505020204" pitchFamily="18" charset="0"/>
              </a:rPr>
              <a:t>WindowsForms</a:t>
            </a:r>
            <a:r>
              <a:rPr lang="ru-RU" sz="2400" dirty="0" smtClean="0">
                <a:latin typeface="Bookman Old Style" panose="02050604050505020204" pitchFamily="18" charset="0"/>
              </a:rPr>
              <a:t> проект, добавим класс поиска целочисленных корней уравнения, который будем тестировать: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latin typeface="Cascadia Mono" panose="020B0609020000020004" pitchFamily="49" charset="0"/>
              </a:rPr>
              <a:t>IntegerEquationSolver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List&lt;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GetRootsOnInterval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from,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to,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	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Func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&lt;</a:t>
            </a:r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double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 function)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roots 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List&lt;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&gt;();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for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x = from; x &lt;= to; x++)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if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(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Math.Abs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(function(x)) &lt;= 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1e-12)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    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roots.Add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(x);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return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roots;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  <a:endParaRPr lang="en-US" sz="2400" dirty="0" smtClean="0">
              <a:solidFill>
                <a:srgbClr val="333333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93351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11376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Добавим к решению тесты. Необходимо нажать ПКМ на Решение </a:t>
            </a:r>
            <a:r>
              <a:rPr lang="ru-RU" sz="2400" dirty="0">
                <a:latin typeface="Bookman Old Style" panose="02050604050505020204" pitchFamily="18" charset="0"/>
              </a:rPr>
              <a:t>–</a:t>
            </a:r>
            <a:r>
              <a:rPr lang="en-US" sz="2400" dirty="0">
                <a:latin typeface="Bookman Old Style" panose="02050604050505020204" pitchFamily="18" charset="0"/>
              </a:rPr>
              <a:t>&gt; </a:t>
            </a:r>
            <a:r>
              <a:rPr lang="ru-RU" sz="2400" dirty="0" smtClean="0">
                <a:latin typeface="Bookman Old Style" panose="02050604050505020204" pitchFamily="18" charset="0"/>
              </a:rPr>
              <a:t>Добавить </a:t>
            </a:r>
            <a:r>
              <a:rPr lang="ru-RU" sz="2400" dirty="0">
                <a:latin typeface="Bookman Old Style" panose="02050604050505020204" pitchFamily="18" charset="0"/>
              </a:rPr>
              <a:t>–</a:t>
            </a:r>
            <a:r>
              <a:rPr lang="en-US" sz="2400" dirty="0">
                <a:latin typeface="Bookman Old Style" panose="02050604050505020204" pitchFamily="18" charset="0"/>
              </a:rPr>
              <a:t>&gt; </a:t>
            </a:r>
            <a:r>
              <a:rPr lang="ru-RU" sz="2400" dirty="0" smtClean="0">
                <a:latin typeface="Bookman Old Style" panose="02050604050505020204" pitchFamily="18" charset="0"/>
              </a:rPr>
              <a:t>Создать проект –</a:t>
            </a:r>
            <a:r>
              <a:rPr lang="en-US" sz="2400" dirty="0" smtClean="0">
                <a:latin typeface="Bookman Old Style" panose="02050604050505020204" pitchFamily="18" charset="0"/>
              </a:rPr>
              <a:t>&gt;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l="4113" t="9387" b="35610"/>
          <a:stretch/>
        </p:blipFill>
        <p:spPr>
          <a:xfrm>
            <a:off x="107688" y="1137684"/>
            <a:ext cx="11976623" cy="5720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8174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6776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Выбрать </a:t>
            </a:r>
            <a:r>
              <a:rPr lang="en-US" sz="2400" dirty="0" smtClean="0">
                <a:latin typeface="Bookman Old Style" panose="02050604050505020204" pitchFamily="18" charset="0"/>
              </a:rPr>
              <a:t>C#, </a:t>
            </a:r>
            <a:r>
              <a:rPr lang="ru-RU" sz="2400" dirty="0" smtClean="0">
                <a:latin typeface="Bookman Old Style" panose="02050604050505020204" pitchFamily="18" charset="0"/>
              </a:rPr>
              <a:t>Все платформы, Тестирование. Из отобразившегося списка проектов выбрать «Тестовый проект </a:t>
            </a:r>
            <a:r>
              <a:rPr lang="en-US" sz="2400" dirty="0" err="1" smtClean="0">
                <a:latin typeface="Bookman Old Style" panose="02050604050505020204" pitchFamily="18" charset="0"/>
              </a:rPr>
              <a:t>NUnit</a:t>
            </a:r>
            <a:r>
              <a:rPr lang="ru-RU" sz="2400" dirty="0" smtClean="0">
                <a:latin typeface="Bookman Old Style" panose="02050604050505020204" pitchFamily="18" charset="0"/>
              </a:rPr>
              <a:t>»</a:t>
            </a:r>
            <a:r>
              <a:rPr lang="en-US" sz="2400" dirty="0" smtClean="0">
                <a:latin typeface="Bookman Old Style" panose="02050604050505020204" pitchFamily="18" charset="0"/>
              </a:rPr>
              <a:t>:</a:t>
            </a: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Подтверждаем и выбираем имя проекту, обычно тесты называются из названия класса, который будет тестироваться с припиской </a:t>
            </a:r>
            <a:r>
              <a:rPr lang="en-US" sz="2400" dirty="0" smtClean="0">
                <a:latin typeface="Bookman Old Style" panose="02050604050505020204" pitchFamily="18" charset="0"/>
              </a:rPr>
              <a:t>Test.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8600" y="1081045"/>
            <a:ext cx="9534800" cy="4515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8766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555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Содержимое проекта тестов</a:t>
            </a:r>
            <a:r>
              <a:rPr lang="en-US" sz="2400" dirty="0" smtClean="0">
                <a:latin typeface="Bookman Old Style" panose="02050604050505020204" pitchFamily="18" charset="0"/>
              </a:rPr>
              <a:t>: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namespace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IntegerEquationSolverTest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latin typeface="Cascadia Mono" panose="020B0609020000020004" pitchFamily="49" charset="0"/>
              </a:rPr>
              <a:t>Tests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[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SetUp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]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        </a:t>
            </a:r>
            <a:r>
              <a:rPr lang="ru-RU" sz="2400" b="1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Запускается один раз перед запуском тестов</a:t>
            </a:r>
            <a:endParaRPr lang="en-US" sz="2400" b="1" dirty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Setup()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{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}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[Test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] 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				</a:t>
            </a:r>
            <a:r>
              <a:rPr lang="ru-RU" sz="2400" b="1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Собственно сам тест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Test1()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{</a:t>
            </a:r>
          </a:p>
          <a:p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Assert.Pass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ru-RU" sz="2400" b="1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Заглушка, говорит, что тест пройден</a:t>
            </a:r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   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en-US" sz="2400" dirty="0">
              <a:solidFill>
                <a:srgbClr val="333333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96642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5836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Далее выберем</a:t>
            </a:r>
            <a:r>
              <a:rPr lang="en-US" sz="2400" dirty="0" smtClean="0">
                <a:latin typeface="Bookman Old Style" panose="02050604050505020204" pitchFamily="18" charset="0"/>
              </a:rPr>
              <a:t>:</a:t>
            </a:r>
            <a:r>
              <a:rPr lang="ru-RU" sz="2400" dirty="0" smtClean="0">
                <a:latin typeface="Bookman Old Style" panose="02050604050505020204" pitchFamily="18" charset="0"/>
              </a:rPr>
              <a:t> Вид -</a:t>
            </a:r>
            <a:r>
              <a:rPr lang="en-US" sz="2400" dirty="0" smtClean="0">
                <a:latin typeface="Bookman Old Style" panose="02050604050505020204" pitchFamily="18" charset="0"/>
              </a:rPr>
              <a:t>&gt; </a:t>
            </a:r>
            <a:r>
              <a:rPr lang="ru-RU" sz="2400" dirty="0" smtClean="0">
                <a:latin typeface="Bookman Old Style" panose="02050604050505020204" pitchFamily="18" charset="0"/>
              </a:rPr>
              <a:t>обозреватель тестов.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063181"/>
            <a:ext cx="12192000" cy="4575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08922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6050280" y="226870"/>
            <a:ext cx="614172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данном окне отображается основная информация по тестам, здесь находятся кнопки запуска и отладки тестов.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890"/>
            <a:ext cx="6050280" cy="6847324"/>
          </a:xfrm>
          <a:prstGeom prst="rect">
            <a:avLst/>
          </a:prstGeom>
        </p:spPr>
      </p:pic>
      <p:cxnSp>
        <p:nvCxnSpPr>
          <p:cNvPr id="6" name="Прямая со стрелкой 5"/>
          <p:cNvCxnSpPr/>
          <p:nvPr/>
        </p:nvCxnSpPr>
        <p:spPr>
          <a:xfrm flipH="1" flipV="1">
            <a:off x="1272540" y="990600"/>
            <a:ext cx="4846320" cy="70104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12232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Создадим тесты для нашего класса поиска корней. Во-первых необходимо подключить наш проект к проекту тестов. Нажимаем ПКМ на Зависимости -</a:t>
            </a:r>
            <a:r>
              <a:rPr lang="en-US" sz="2400" dirty="0" smtClean="0">
                <a:latin typeface="Bookman Old Style" panose="02050604050505020204" pitchFamily="18" charset="0"/>
              </a:rPr>
              <a:t>&gt; </a:t>
            </a:r>
            <a:r>
              <a:rPr lang="ru-RU" sz="2400" dirty="0" smtClean="0">
                <a:latin typeface="Bookman Old Style" panose="02050604050505020204" pitchFamily="18" charset="0"/>
              </a:rPr>
              <a:t>Добавить ссылку на проект.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b="31694"/>
          <a:stretch/>
        </p:blipFill>
        <p:spPr>
          <a:xfrm>
            <a:off x="1429800" y="1754326"/>
            <a:ext cx="9332400" cy="5035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6241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5836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Выбираем нужный проект из списка.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26" y="637026"/>
            <a:ext cx="11451348" cy="572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670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Будет высвечиваться ошибка:</a:t>
            </a:r>
          </a:p>
          <a:p>
            <a:pPr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Далее необходимо сменить тип приложения тестов с консольного на </a:t>
            </a:r>
            <a:r>
              <a:rPr lang="en-US" sz="2400" dirty="0" smtClean="0">
                <a:latin typeface="Bookman Old Style" panose="02050604050505020204" pitchFamily="18" charset="0"/>
              </a:rPr>
              <a:t>Windows Forms </a:t>
            </a:r>
            <a:r>
              <a:rPr lang="ru-RU" sz="2400" dirty="0" smtClean="0">
                <a:latin typeface="Bookman Old Style" panose="02050604050505020204" pitchFamily="18" charset="0"/>
              </a:rPr>
              <a:t>и выбрать целевую ОС. Нажимаем ПКМ на проект с тестами и выбираем Свойства (можно через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комбинацию </a:t>
            </a:r>
            <a:r>
              <a:rPr lang="en-US" sz="2400" dirty="0" smtClean="0">
                <a:latin typeface="Bookman Old Style" panose="02050604050505020204" pitchFamily="18" charset="0"/>
              </a:rPr>
              <a:t>ALT + Enter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t="11335" r="52943"/>
          <a:stretch/>
        </p:blipFill>
        <p:spPr>
          <a:xfrm>
            <a:off x="0" y="632460"/>
            <a:ext cx="12012709" cy="1699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626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5836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Нажимаем ПКМ на проект с тестами и выбираем Свойства.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b="83845"/>
          <a:stretch/>
        </p:blipFill>
        <p:spPr>
          <a:xfrm>
            <a:off x="252065" y="646331"/>
            <a:ext cx="4982270" cy="1235809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t="86581"/>
          <a:stretch/>
        </p:blipFill>
        <p:spPr>
          <a:xfrm>
            <a:off x="252065" y="2278380"/>
            <a:ext cx="4982270" cy="1026494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252065" y="1882140"/>
            <a:ext cx="4982270" cy="381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 smtClean="0">
                <a:solidFill>
                  <a:schemeClr val="tx1"/>
                </a:solidFill>
                <a:latin typeface="Bookman Old Style" panose="02050604050505020204" pitchFamily="18" charset="0"/>
              </a:rPr>
              <a:t>Много текста</a:t>
            </a:r>
            <a:endParaRPr lang="ru-RU" sz="2400" dirty="0">
              <a:solidFill>
                <a:schemeClr val="tx1"/>
              </a:solidFill>
              <a:latin typeface="Bookman Old Style" panose="02050604050505020204" pitchFamily="18" charset="0"/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4335" y="646331"/>
            <a:ext cx="6332825" cy="6181489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5685125" y="1501140"/>
            <a:ext cx="4982270" cy="77724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 smtClean="0">
                <a:solidFill>
                  <a:schemeClr val="tx1"/>
                </a:solidFill>
                <a:latin typeface="Bookman Old Style" panose="02050604050505020204" pitchFamily="18" charset="0"/>
              </a:rPr>
              <a:t>Меняем на Приложение </a:t>
            </a:r>
            <a:r>
              <a:rPr lang="en-US" sz="2400" dirty="0" smtClean="0">
                <a:solidFill>
                  <a:schemeClr val="tx1"/>
                </a:solidFill>
                <a:latin typeface="Bookman Old Style" panose="02050604050505020204" pitchFamily="18" charset="0"/>
              </a:rPr>
              <a:t>Windows</a:t>
            </a:r>
            <a:endParaRPr lang="ru-RU" sz="2400" dirty="0">
              <a:solidFill>
                <a:schemeClr val="tx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0" y="3320114"/>
            <a:ext cx="5234335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Примечание: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Консольное приложение все равно само выставится обратно, но ошибка будет решена.</a:t>
            </a:r>
          </a:p>
        </p:txBody>
      </p:sp>
    </p:spTree>
    <p:extLst>
      <p:ext uri="{BB962C8B-B14F-4D97-AF65-F5344CB8AC3E}">
        <p14:creationId xmlns:p14="http://schemas.microsoft.com/office/powerpoint/2010/main" val="843302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Переходим в файл </a:t>
            </a:r>
            <a:r>
              <a:rPr lang="en-US" sz="2400" dirty="0" err="1" smtClean="0">
                <a:latin typeface="Bookman Old Style" panose="02050604050505020204" pitchFamily="18" charset="0"/>
              </a:rPr>
              <a:t>Usings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и подключаем ссылку на наш проект.</a:t>
            </a:r>
          </a:p>
          <a:p>
            <a:pPr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Подготовительные моменты выполнены, можно писать тесты.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31" y="950711"/>
            <a:ext cx="12152737" cy="2622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126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58846"/>
            <a:ext cx="1219200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Создадим экземпляр класса для поиска корней уравнения и напишем тест «</a:t>
            </a:r>
            <a:r>
              <a:rPr lang="en-US" sz="2400" dirty="0" err="1">
                <a:solidFill>
                  <a:srgbClr val="000000"/>
                </a:solidFill>
                <a:latin typeface="Bookman Old Style" panose="02050604050505020204" pitchFamily="18" charset="0"/>
              </a:rPr>
              <a:t>OneZeroRoot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»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в котором будем проверять случай, когда корень единственный и равен 0</a:t>
            </a:r>
            <a:r>
              <a:rPr lang="en-US" sz="2400" dirty="0" smtClean="0">
                <a:solidFill>
                  <a:srgbClr val="000000"/>
                </a:solidFill>
                <a:latin typeface="Bookman Old Style" panose="02050604050505020204" pitchFamily="18" charset="0"/>
              </a:rPr>
              <a:t>:</a:t>
            </a:r>
            <a:endParaRPr lang="ru-RU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endParaRPr lang="ru-RU" sz="2400" dirty="0" smtClean="0">
              <a:solidFill>
                <a:srgbClr val="000000"/>
              </a:solidFill>
              <a:latin typeface="Bookman Old Style" panose="02050604050505020204" pitchFamily="18" charset="0"/>
            </a:endParaRPr>
          </a:p>
          <a:p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IntegerEquationSolver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solver;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SetUp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]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Setup()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solver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=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IntegerEquationSolver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 smtClean="0">
              <a:solidFill>
                <a:srgbClr val="333333"/>
              </a:solidFill>
              <a:latin typeface="Bookman Old Style" panose="02050604050505020204" pitchFamily="18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Test]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OneZeroRoot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</a:t>
            </a:r>
            <a:r>
              <a:rPr lang="nl-NL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nl-NL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nl-NL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roots = solver.GetRootsOnInterval(-10, 10, (x) =&gt; x * x);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Assert.AreEqual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(1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roots.Count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Assert.AreEqual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(0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roots.First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());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ru-RU" sz="2400" dirty="0" smtClean="0">
              <a:solidFill>
                <a:srgbClr val="333333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51089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Рассмотрим код: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dirty="0" err="1" smtClean="0">
                <a:latin typeface="Cascadia Mono" panose="020B0609020000020004" pitchFamily="49" charset="0"/>
              </a:rPr>
              <a:t>Assert.AreEqual</a:t>
            </a:r>
            <a:r>
              <a:rPr lang="en-US" sz="2400" dirty="0" smtClean="0">
                <a:latin typeface="Cascadia Mono" panose="020B0609020000020004" pitchFamily="49" charset="0"/>
              </a:rPr>
              <a:t>(expected, actual);</a:t>
            </a:r>
            <a:endParaRPr lang="ru-RU" sz="2400" dirty="0" smtClean="0">
              <a:latin typeface="Cascadia Mono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С помощью метода </a:t>
            </a:r>
            <a:r>
              <a:rPr lang="en-US" sz="2400" dirty="0" err="1">
                <a:latin typeface="Bookman Old Style" panose="02050604050505020204" pitchFamily="18" charset="0"/>
              </a:rPr>
              <a:t>AreEqual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мы сравниваем ожидаемый (верный) результат с полученным (</a:t>
            </a:r>
            <a:r>
              <a:rPr lang="en-US" sz="2400" dirty="0">
                <a:latin typeface="Bookman Old Style" panose="02050604050505020204" pitchFamily="18" charset="0"/>
              </a:rPr>
              <a:t>actual</a:t>
            </a:r>
            <a:r>
              <a:rPr lang="ru-RU" sz="2400" dirty="0">
                <a:latin typeface="Bookman Old Style" panose="02050604050505020204" pitchFamily="18" charset="0"/>
              </a:rPr>
              <a:t>)</a:t>
            </a:r>
            <a:r>
              <a:rPr lang="en-US" sz="2400" dirty="0" smtClean="0">
                <a:latin typeface="Bookman Old Style" panose="02050604050505020204" pitchFamily="18" charset="0"/>
              </a:rPr>
              <a:t>. </a:t>
            </a:r>
            <a:r>
              <a:rPr lang="ru-RU" sz="2400" dirty="0" smtClean="0">
                <a:latin typeface="Bookman Old Style" panose="02050604050505020204" pitchFamily="18" charset="0"/>
              </a:rPr>
              <a:t>Тест считается пройденным, если значения совпадают.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412" y="3492501"/>
            <a:ext cx="9077588" cy="336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04813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Рассмотрим код: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400" dirty="0" err="1" smtClean="0">
                <a:latin typeface="Cascadia Mono" panose="020B0609020000020004" pitchFamily="49" charset="0"/>
              </a:rPr>
              <a:t>Assert.AreEqual</a:t>
            </a:r>
            <a:r>
              <a:rPr lang="en-US" sz="2400" dirty="0" smtClean="0">
                <a:latin typeface="Cascadia Mono" panose="020B0609020000020004" pitchFamily="49" charset="0"/>
              </a:rPr>
              <a:t>(expected, actual);</a:t>
            </a:r>
            <a:endParaRPr lang="ru-RU" sz="2400" dirty="0" smtClean="0">
              <a:latin typeface="Cascadia Mono" panose="020B0609020000020004" pitchFamily="49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С помощью метода </a:t>
            </a:r>
            <a:r>
              <a:rPr lang="en-US" sz="2400" dirty="0" err="1">
                <a:latin typeface="Bookman Old Style" panose="02050604050505020204" pitchFamily="18" charset="0"/>
              </a:rPr>
              <a:t>AreEqual</a:t>
            </a:r>
            <a:r>
              <a:rPr lang="en-US" sz="2400" dirty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мы сравниваем ожидаемый (верный) результат с полученным (</a:t>
            </a:r>
            <a:r>
              <a:rPr lang="en-US" sz="2400" dirty="0">
                <a:latin typeface="Bookman Old Style" panose="02050604050505020204" pitchFamily="18" charset="0"/>
              </a:rPr>
              <a:t>actual</a:t>
            </a:r>
            <a:r>
              <a:rPr lang="ru-RU" sz="2400" dirty="0">
                <a:latin typeface="Bookman Old Style" panose="02050604050505020204" pitchFamily="18" charset="0"/>
              </a:rPr>
              <a:t>)</a:t>
            </a:r>
            <a:r>
              <a:rPr lang="en-US" sz="2400" dirty="0" smtClean="0">
                <a:latin typeface="Bookman Old Style" panose="02050604050505020204" pitchFamily="18" charset="0"/>
              </a:rPr>
              <a:t>. </a:t>
            </a:r>
            <a:r>
              <a:rPr lang="ru-RU" sz="2400" dirty="0" smtClean="0">
                <a:latin typeface="Bookman Old Style" panose="02050604050505020204" pitchFamily="18" charset="0"/>
              </a:rPr>
              <a:t>Тест считается пройденным, если значения совпадают.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412" y="3492501"/>
            <a:ext cx="9077588" cy="336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96140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Добавим тесты с аргументами:</a:t>
            </a:r>
            <a:endParaRPr lang="en-US" sz="2400" dirty="0"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TestCase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(-2, 2, 0)]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TestCase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(-4, 0, 1)]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TestCase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(0, 4, 1)]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TestCase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(-4, 4, 2)]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RootsCount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from,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to,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expectedRootsCount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roots =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solver.GetRootsOnInterval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from,to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,(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x) =&gt; x * x - 9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Assert.AreEqual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expectedRootsCount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roots.Count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  <a:endParaRPr lang="en-US" sz="2400" dirty="0" smtClean="0">
              <a:solidFill>
                <a:srgbClr val="333333"/>
              </a:solidFill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0950" y="3620919"/>
            <a:ext cx="4591051" cy="3237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3242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dirty="0" smtClean="0">
                <a:latin typeface="Bookman Old Style" panose="02050604050505020204" pitchFamily="18" charset="0"/>
              </a:rPr>
              <a:t>Добавим тесты со сравнением массивов (нужно обратить внимание, что используется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CollectionAssert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вместо </a:t>
            </a:r>
            <a:r>
              <a:rPr lang="en-US" sz="2400" b="1" dirty="0" smtClean="0">
                <a:latin typeface="Bookman Old Style" panose="02050604050505020204" pitchFamily="18" charset="0"/>
              </a:rPr>
              <a:t>Assert</a:t>
            </a:r>
            <a:r>
              <a:rPr lang="ru-RU" sz="2400" dirty="0" smtClean="0">
                <a:latin typeface="Bookman Old Style" panose="02050604050505020204" pitchFamily="18" charset="0"/>
              </a:rPr>
              <a:t>):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endParaRPr lang="en-US" sz="2400" dirty="0"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TestCase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(-4, 0,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[] { -3 },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TestName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"Root -3"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)]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TestCase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(0, 4,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[] { 3 },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TestName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"Root 3"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)]</a:t>
            </a:r>
          </a:p>
          <a:p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[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TestCase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(-4, 4,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[] { -3, 3 },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TestName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ascadia Mono" panose="020B0609020000020004" pitchFamily="49" charset="0"/>
              </a:rPr>
              <a:t>"Roots -3 3"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)]</a:t>
            </a:r>
          </a:p>
          <a:p>
            <a:r>
              <a:rPr lang="en-US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RootsValues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from,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 to, </a:t>
            </a:r>
            <a:r>
              <a:rPr lang="en-US" sz="24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[]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expectedRoots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)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FF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 smtClean="0">
                <a:solidFill>
                  <a:srgbClr val="0000FF"/>
                </a:solidFill>
                <a:latin typeface="Cascadia Mono" panose="020B0609020000020004" pitchFamily="49" charset="0"/>
              </a:rPr>
              <a:t>var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roots = 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solver.GetRootsOnInterval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from,to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,(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x) =&gt; x * x - 9);</a:t>
            </a:r>
          </a:p>
          <a:p>
            <a:endParaRPr lang="ru-RU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	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CollectionAssert.AreEquivalent</a:t>
            </a:r>
            <a:r>
              <a:rPr lang="en-US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400" dirty="0" err="1" smtClean="0">
                <a:solidFill>
                  <a:srgbClr val="000000"/>
                </a:solidFill>
                <a:latin typeface="Cascadia Mono" panose="020B0609020000020004" pitchFamily="49" charset="0"/>
              </a:rPr>
              <a:t>expectedRoots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24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roots.ToArray</a:t>
            </a:r>
            <a:r>
              <a:rPr lang="en-US" sz="2400" dirty="0">
                <a:solidFill>
                  <a:srgbClr val="000000"/>
                </a:solidFill>
                <a:latin typeface="Cascadia Mono" panose="020B0609020000020004" pitchFamily="49" charset="0"/>
              </a:rPr>
              <a:t>());</a:t>
            </a:r>
          </a:p>
          <a:p>
            <a:r>
              <a:rPr lang="ru-RU" sz="2400" dirty="0" smtClean="0">
                <a:solidFill>
                  <a:srgbClr val="000000"/>
                </a:solidFill>
                <a:latin typeface="Cascadia Mono" panose="020B0609020000020004" pitchFamily="49" charset="0"/>
              </a:rPr>
              <a:t>}</a:t>
            </a:r>
          </a:p>
          <a:p>
            <a:endParaRPr lang="en-US" sz="2400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r>
              <a:rPr lang="en-US" sz="2400" b="1" dirty="0" err="1" smtClean="0">
                <a:latin typeface="Bookman Old Style" panose="02050604050505020204" pitchFamily="18" charset="0"/>
              </a:rPr>
              <a:t>TestName</a:t>
            </a:r>
            <a:r>
              <a:rPr lang="en-US" sz="2400" b="1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можно указать, чтобы дать свое имя тесту.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r>
              <a:rPr lang="en-US" sz="2400" b="1" dirty="0" err="1" smtClean="0">
                <a:latin typeface="Cascadia Mono" panose="020B0609020000020004" pitchFamily="49" charset="0"/>
              </a:rPr>
              <a:t>AreEquivalent</a:t>
            </a:r>
            <a:r>
              <a:rPr lang="en-US" sz="2400" dirty="0" smtClean="0">
                <a:latin typeface="Cascadia Mono" panose="020B0609020000020004" pitchFamily="49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– </a:t>
            </a:r>
            <a:r>
              <a:rPr lang="ru-RU" sz="2400" dirty="0" smtClean="0">
                <a:latin typeface="Bookman Old Style" panose="02050604050505020204" pitchFamily="18" charset="0"/>
              </a:rPr>
              <a:t>проверка на то, что коллекция содержит только нужные элементы без </a:t>
            </a:r>
            <a:r>
              <a:rPr lang="ru-RU" sz="2400" dirty="0">
                <a:latin typeface="Bookman Old Style" panose="02050604050505020204" pitchFamily="18" charset="0"/>
              </a:rPr>
              <a:t>учета порядка</a:t>
            </a:r>
            <a:r>
              <a:rPr lang="en-US" sz="2400" dirty="0">
                <a:latin typeface="Bookman Old Style" panose="02050604050505020204" pitchFamily="18" charset="0"/>
              </a:rPr>
              <a:t>;</a:t>
            </a:r>
          </a:p>
          <a:p>
            <a:r>
              <a:rPr lang="en-US" sz="2400" b="1" dirty="0" err="1" smtClean="0">
                <a:latin typeface="Cascadia Mono" panose="020B0609020000020004" pitchFamily="49" charset="0"/>
              </a:rPr>
              <a:t>AreEqual</a:t>
            </a:r>
            <a:r>
              <a:rPr lang="en-US" sz="2400" dirty="0" smtClean="0">
                <a:latin typeface="Cascadia Mono" panose="020B0609020000020004" pitchFamily="49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– </a:t>
            </a:r>
            <a:r>
              <a:rPr lang="ru-RU" sz="2400" dirty="0">
                <a:latin typeface="Bookman Old Style" panose="02050604050505020204" pitchFamily="18" charset="0"/>
              </a:rPr>
              <a:t>проверка на то, что коллекция содержит только нужные элементы 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с учетом </a:t>
            </a:r>
            <a:r>
              <a:rPr lang="ru-RU" sz="2400" dirty="0" smtClean="0">
                <a:latin typeface="Bookman Old Style" panose="02050604050505020204" pitchFamily="18" charset="0"/>
              </a:rPr>
              <a:t>порядка.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00084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Так же есть следующие методы: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AllItemsAreInstancesOfType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 проверка типа значений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AllItemsAreNotNull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 </a:t>
            </a:r>
            <a:r>
              <a:rPr lang="ru-RU" sz="2400" dirty="0">
                <a:latin typeface="Bookman Old Style" panose="02050604050505020204" pitchFamily="18" charset="0"/>
              </a:rPr>
              <a:t>проверка </a:t>
            </a:r>
            <a:r>
              <a:rPr lang="ru-RU" sz="2400" dirty="0" smtClean="0">
                <a:latin typeface="Bookman Old Style" panose="02050604050505020204" pitchFamily="18" charset="0"/>
              </a:rPr>
              <a:t>значений на </a:t>
            </a:r>
            <a:r>
              <a:rPr lang="en-US" sz="2400" dirty="0" smtClean="0">
                <a:latin typeface="Bookman Old Style" panose="02050604050505020204" pitchFamily="18" charset="0"/>
              </a:rPr>
              <a:t>Null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AllItemsAreUnique</a:t>
            </a:r>
            <a:r>
              <a:rPr lang="en-US" sz="2400" b="1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 </a:t>
            </a:r>
            <a:r>
              <a:rPr lang="ru-RU" sz="2400" dirty="0">
                <a:latin typeface="Bookman Old Style" panose="02050604050505020204" pitchFamily="18" charset="0"/>
              </a:rPr>
              <a:t>проверка </a:t>
            </a:r>
            <a:r>
              <a:rPr lang="ru-RU" sz="2400" dirty="0" smtClean="0">
                <a:latin typeface="Bookman Old Style" panose="02050604050505020204" pitchFamily="18" charset="0"/>
              </a:rPr>
              <a:t>на уникальность значений в коллекции</a:t>
            </a:r>
            <a:endParaRPr lang="en-US" sz="2400" dirty="0">
              <a:latin typeface="Bookman Old Style" panose="02050604050505020204" pitchFamily="18" charset="0"/>
            </a:endParaRPr>
          </a:p>
          <a:p>
            <a:pPr lvl="0"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AreNotEqual</a:t>
            </a:r>
            <a:r>
              <a:rPr lang="ru-RU" sz="2400" b="1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 </a:t>
            </a:r>
            <a:r>
              <a:rPr lang="ru-RU" sz="2400" dirty="0">
                <a:latin typeface="Bookman Old Style" panose="02050604050505020204" pitchFamily="18" charset="0"/>
              </a:rPr>
              <a:t>проверка на то, что </a:t>
            </a:r>
            <a:r>
              <a:rPr lang="ru-RU" sz="2400" dirty="0" smtClean="0">
                <a:latin typeface="Bookman Old Style" panose="02050604050505020204" pitchFamily="18" charset="0"/>
              </a:rPr>
              <a:t>коллекция НЕ </a:t>
            </a:r>
            <a:r>
              <a:rPr lang="ru-RU" sz="2400" dirty="0">
                <a:latin typeface="Bookman Old Style" panose="02050604050505020204" pitchFamily="18" charset="0"/>
              </a:rPr>
              <a:t>содержит </a:t>
            </a:r>
            <a:r>
              <a:rPr lang="ru-RU" sz="2400" dirty="0" smtClean="0">
                <a:latin typeface="Bookman Old Style" panose="02050604050505020204" pitchFamily="18" charset="0"/>
              </a:rPr>
              <a:t>заданные элементы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  <a:endParaRPr lang="en-US" sz="2400" dirty="0">
              <a:latin typeface="Bookman Old Style" panose="02050604050505020204" pitchFamily="18" charset="0"/>
            </a:endParaRPr>
          </a:p>
          <a:p>
            <a:pPr lvl="0"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AreNotEquivalent</a:t>
            </a:r>
            <a:r>
              <a:rPr lang="ru-RU" sz="2400" dirty="0" smtClean="0">
                <a:latin typeface="Bookman Old Style" panose="02050604050505020204" pitchFamily="18" charset="0"/>
              </a:rPr>
              <a:t> - </a:t>
            </a:r>
            <a:r>
              <a:rPr lang="ru-RU" sz="2400" dirty="0">
                <a:latin typeface="Bookman Old Style" panose="02050604050505020204" pitchFamily="18" charset="0"/>
              </a:rPr>
              <a:t>проверка на то, что коллекция </a:t>
            </a:r>
            <a:r>
              <a:rPr lang="ru-RU" sz="2400" dirty="0" smtClean="0">
                <a:latin typeface="Bookman Old Style" panose="02050604050505020204" pitchFamily="18" charset="0"/>
              </a:rPr>
              <a:t>НЕ содержит </a:t>
            </a:r>
            <a:r>
              <a:rPr lang="ru-RU" sz="2400" dirty="0">
                <a:latin typeface="Bookman Old Style" panose="02050604050505020204" pitchFamily="18" charset="0"/>
              </a:rPr>
              <a:t>заданные </a:t>
            </a:r>
            <a:r>
              <a:rPr lang="ru-RU" sz="2400" dirty="0" smtClean="0">
                <a:latin typeface="Bookman Old Style" panose="02050604050505020204" pitchFamily="18" charset="0"/>
              </a:rPr>
              <a:t>элементы или их порядок другой.</a:t>
            </a:r>
          </a:p>
          <a:p>
            <a:pPr lvl="0"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Contains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– проверка на то, что </a:t>
            </a:r>
            <a:r>
              <a:rPr lang="ru-RU" sz="2400" dirty="0" smtClean="0">
                <a:latin typeface="Bookman Old Style" panose="02050604050505020204" pitchFamily="18" charset="0"/>
              </a:rPr>
              <a:t>коллекция </a:t>
            </a:r>
            <a:r>
              <a:rPr lang="ru-RU" sz="2400" dirty="0">
                <a:latin typeface="Bookman Old Style" panose="02050604050505020204" pitchFamily="18" charset="0"/>
              </a:rPr>
              <a:t>содержит </a:t>
            </a:r>
            <a:r>
              <a:rPr lang="ru-RU" sz="2400" dirty="0" smtClean="0">
                <a:latin typeface="Bookman Old Style" panose="02050604050505020204" pitchFamily="18" charset="0"/>
              </a:rPr>
              <a:t>заданный элемент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 err="1">
                <a:latin typeface="Bookman Old Style" panose="02050604050505020204" pitchFamily="18" charset="0"/>
              </a:rPr>
              <a:t>DoesNotContain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– проверка на то, что коллекция </a:t>
            </a:r>
            <a:r>
              <a:rPr lang="ru-RU" sz="2400" dirty="0" smtClean="0">
                <a:latin typeface="Bookman Old Style" panose="02050604050505020204" pitchFamily="18" charset="0"/>
              </a:rPr>
              <a:t>НЕ содержит </a:t>
            </a:r>
            <a:r>
              <a:rPr lang="ru-RU" sz="2400" dirty="0">
                <a:latin typeface="Bookman Old Style" panose="02050604050505020204" pitchFamily="18" charset="0"/>
              </a:rPr>
              <a:t>заданный элемент</a:t>
            </a:r>
            <a:r>
              <a:rPr lang="en-US" sz="2400" dirty="0">
                <a:latin typeface="Bookman Old Style" panose="02050604050505020204" pitchFamily="18" charset="0"/>
              </a:rPr>
              <a:t>;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IsOrdered</a:t>
            </a:r>
            <a:r>
              <a:rPr lang="ru-RU" sz="2400" b="1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- проверка на то, что элементы коллекции упорядочены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70199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IsEmpty</a:t>
            </a:r>
            <a:r>
              <a:rPr lang="en-US" sz="2400" b="1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 пустая ли коллекция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IsNotEmpty</a:t>
            </a:r>
            <a:r>
              <a:rPr lang="ru-RU" sz="2400" b="1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 НЕ пустая </a:t>
            </a:r>
            <a:r>
              <a:rPr lang="ru-RU" sz="2400" dirty="0">
                <a:latin typeface="Bookman Old Style" panose="02050604050505020204" pitchFamily="18" charset="0"/>
              </a:rPr>
              <a:t>ли коллекция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IsSubsetOf</a:t>
            </a:r>
            <a:r>
              <a:rPr lang="ru-RU" sz="2400" dirty="0" smtClean="0">
                <a:latin typeface="Bookman Old Style" panose="02050604050505020204" pitchFamily="18" charset="0"/>
              </a:rPr>
              <a:t> – является ли коллекция подмножеством другой коллекции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IsNotSubsetOf</a:t>
            </a:r>
            <a:r>
              <a:rPr lang="ru-RU" sz="2400" dirty="0" smtClean="0">
                <a:latin typeface="Bookman Old Style" panose="02050604050505020204" pitchFamily="18" charset="0"/>
              </a:rPr>
              <a:t> – НЕ является ли коллекция подмножеством другой коллекции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IsSupersetOf</a:t>
            </a:r>
            <a:r>
              <a:rPr lang="ru-RU" sz="2400" b="1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– является ли </a:t>
            </a:r>
            <a:r>
              <a:rPr lang="ru-RU" sz="2400" dirty="0" smtClean="0">
                <a:latin typeface="Bookman Old Style" panose="02050604050505020204" pitchFamily="18" charset="0"/>
              </a:rPr>
              <a:t>другая коллекция подмножеством данной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IsNotSupersetOf</a:t>
            </a:r>
            <a:r>
              <a:rPr lang="ru-RU" sz="2400" dirty="0">
                <a:latin typeface="Bookman Old Style" panose="02050604050505020204" pitchFamily="18" charset="0"/>
              </a:rPr>
              <a:t> – </a:t>
            </a:r>
            <a:r>
              <a:rPr lang="ru-RU" sz="2400" dirty="0" smtClean="0">
                <a:latin typeface="Bookman Old Style" panose="02050604050505020204" pitchFamily="18" charset="0"/>
              </a:rPr>
              <a:t>НЕ является </a:t>
            </a:r>
            <a:r>
              <a:rPr lang="ru-RU" sz="2400" dirty="0">
                <a:latin typeface="Bookman Old Style" panose="02050604050505020204" pitchFamily="18" charset="0"/>
              </a:rPr>
              <a:t>ли другая коллекция подмножеством </a:t>
            </a:r>
            <a:r>
              <a:rPr lang="ru-RU" sz="2400" dirty="0" smtClean="0">
                <a:latin typeface="Bookman Old Style" panose="02050604050505020204" pitchFamily="18" charset="0"/>
              </a:rPr>
              <a:t>данной.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1388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654356"/>
            <a:ext cx="1219200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При разработке сложных приложений бывает удобно начинать разработку с написания тестов. После написания тестов пишется программа, которая будет проходить данные тесты.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При решении вариантов можно пользоваться данным подходом.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Или же пользоваться итеративной разработкой: разработать частично рабочую программу, написать тесты, доработать программу, написать ещё тесты и т.д. циклично.</a:t>
            </a:r>
          </a:p>
        </p:txBody>
      </p:sp>
      <p:sp>
        <p:nvSpPr>
          <p:cNvPr id="5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Примечание по проектированию программы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43296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14137</TotalTime>
  <Words>1117</Words>
  <Application>Microsoft Office PowerPoint</Application>
  <PresentationFormat>Широкоэкранный</PresentationFormat>
  <Paragraphs>195</Paragraphs>
  <Slides>27</Slides>
  <Notes>27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34" baseType="lpstr">
      <vt:lpstr>Arial</vt:lpstr>
      <vt:lpstr>Bookman Old Style</vt:lpstr>
      <vt:lpstr>Calibri</vt:lpstr>
      <vt:lpstr>Calibri Light</vt:lpstr>
      <vt:lpstr>Cascadia Mono</vt:lpstr>
      <vt:lpstr>Times New Roman</vt:lpstr>
      <vt:lpstr>Тема Office</vt:lpstr>
      <vt:lpstr>4 семестр Лекция 2.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ПРОГРАММЫ ДЛЯ РАСЧЁТА ПРОДОЛЬНО-ПОПЕРЕЧНЫХ КОЛЕБАНИЙ СТВОЛА АРТИЛЛЕРИЙСКОГО ОРУДИЯ</dc:title>
  <dc:creator>vsufiy</dc:creator>
  <cp:lastModifiedBy>Daniil Kljukin</cp:lastModifiedBy>
  <cp:revision>784</cp:revision>
  <dcterms:modified xsi:type="dcterms:W3CDTF">2025-12-23T06:15:00Z</dcterms:modified>
</cp:coreProperties>
</file>