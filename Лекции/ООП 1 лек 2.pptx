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72"/>
  </p:notesMasterIdLst>
  <p:sldIdLst>
    <p:sldId id="273" r:id="rId2"/>
    <p:sldId id="969" r:id="rId3"/>
    <p:sldId id="1099" r:id="rId4"/>
    <p:sldId id="1068" r:id="rId5"/>
    <p:sldId id="1069" r:id="rId6"/>
    <p:sldId id="1052" r:id="rId7"/>
    <p:sldId id="995" r:id="rId8"/>
    <p:sldId id="1053" r:id="rId9"/>
    <p:sldId id="1054" r:id="rId10"/>
    <p:sldId id="997" r:id="rId11"/>
    <p:sldId id="1071" r:id="rId12"/>
    <p:sldId id="1079" r:id="rId13"/>
    <p:sldId id="1072" r:id="rId14"/>
    <p:sldId id="1073" r:id="rId15"/>
    <p:sldId id="1105" r:id="rId16"/>
    <p:sldId id="1106" r:id="rId17"/>
    <p:sldId id="1107" r:id="rId18"/>
    <p:sldId id="1082" r:id="rId19"/>
    <p:sldId id="1109" r:id="rId20"/>
    <p:sldId id="1110" r:id="rId21"/>
    <p:sldId id="1111" r:id="rId22"/>
    <p:sldId id="1108" r:id="rId23"/>
    <p:sldId id="1075" r:id="rId24"/>
    <p:sldId id="1084" r:id="rId25"/>
    <p:sldId id="1085" r:id="rId26"/>
    <p:sldId id="1087" r:id="rId27"/>
    <p:sldId id="1088" r:id="rId28"/>
    <p:sldId id="1089" r:id="rId29"/>
    <p:sldId id="1112" r:id="rId30"/>
    <p:sldId id="1113" r:id="rId31"/>
    <p:sldId id="1114" r:id="rId32"/>
    <p:sldId id="1116" r:id="rId33"/>
    <p:sldId id="1115" r:id="rId34"/>
    <p:sldId id="1090" r:id="rId35"/>
    <p:sldId id="1091" r:id="rId36"/>
    <p:sldId id="1092" r:id="rId37"/>
    <p:sldId id="1093" r:id="rId38"/>
    <p:sldId id="1094" r:id="rId39"/>
    <p:sldId id="1118" r:id="rId40"/>
    <p:sldId id="1119" r:id="rId41"/>
    <p:sldId id="1120" r:id="rId42"/>
    <p:sldId id="1121" r:id="rId43"/>
    <p:sldId id="1117" r:id="rId44"/>
    <p:sldId id="999" r:id="rId45"/>
    <p:sldId id="1096" r:id="rId46"/>
    <p:sldId id="1097" r:id="rId47"/>
    <p:sldId id="1062" r:id="rId48"/>
    <p:sldId id="1004" r:id="rId49"/>
    <p:sldId id="1007" r:id="rId50"/>
    <p:sldId id="1063" r:id="rId51"/>
    <p:sldId id="1008" r:id="rId52"/>
    <p:sldId id="1064" r:id="rId53"/>
    <p:sldId id="1009" r:id="rId54"/>
    <p:sldId id="1010" r:id="rId55"/>
    <p:sldId id="1011" r:id="rId56"/>
    <p:sldId id="1012" r:id="rId57"/>
    <p:sldId id="1065" r:id="rId58"/>
    <p:sldId id="1066" r:id="rId59"/>
    <p:sldId id="1013" r:id="rId60"/>
    <p:sldId id="1014" r:id="rId61"/>
    <p:sldId id="1067" r:id="rId62"/>
    <p:sldId id="1015" r:id="rId63"/>
    <p:sldId id="1016" r:id="rId64"/>
    <p:sldId id="1017" r:id="rId65"/>
    <p:sldId id="1098" r:id="rId66"/>
    <p:sldId id="1100" r:id="rId67"/>
    <p:sldId id="1101" r:id="rId68"/>
    <p:sldId id="1102" r:id="rId69"/>
    <p:sldId id="1103" r:id="rId70"/>
    <p:sldId id="1104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5343" autoAdjust="0"/>
  </p:normalViewPr>
  <p:slideViewPr>
    <p:cSldViewPr snapToGrid="0">
      <p:cViewPr>
        <p:scale>
          <a:sx n="100" d="100"/>
          <a:sy n="100" d="100"/>
        </p:scale>
        <p:origin x="816" y="366"/>
      </p:cViewPr>
      <p:guideLst>
        <p:guide orient="horz" pos="218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15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67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39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65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75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02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05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71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76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05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73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85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61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33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69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21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57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1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22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14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1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662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865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162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754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571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121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5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52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932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813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539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226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99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657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415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830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633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748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707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753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841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15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163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165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872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824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067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726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648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644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951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342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293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1618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3544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143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417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2818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830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067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3647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276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50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2536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476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12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xmlns="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ilKlyukin/OOP-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aniilKlyukin/OOP-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7" Type="http://schemas.openxmlformats.org/officeDocument/2006/relationships/hyperlink" Target="https://www.youtube.com/watch?v=zZBiln_2Fh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gitbranching.js.org/?locale=ru_RU" TargetMode="External"/><Relationship Id="rId5" Type="http://schemas.openxmlformats.org/officeDocument/2006/relationships/hyperlink" Target="https://githowto.com/ru/setup" TargetMode="External"/><Relationship Id="rId4" Type="http://schemas.openxmlformats.org/officeDocument/2006/relationships/hyperlink" Target="https://ru.hexlet.io/courses/intro_to_gi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gitignore/blob/main/VisualStudio.gitignore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sktop.github.com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xmlns="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2" y="3105858"/>
            <a:ext cx="9638568" cy="1384995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2.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7B00361-5492-4290-B470-295172C16526}"/>
              </a:ext>
            </a:extLst>
          </p:cNvPr>
          <p:cNvSpPr txBox="1"/>
          <p:nvPr/>
        </p:nvSpPr>
        <p:spPr>
          <a:xfrm>
            <a:off x="877031" y="4490853"/>
            <a:ext cx="11041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создания </a:t>
            </a: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Работа в </a:t>
            </a: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Конфликт слияния веток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GitHub</a:t>
            </a:r>
            <a:endParaRPr lang="ru-RU" sz="28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Все материалы по ИТиП1-3, ООП1, ООП2 размещены на </a:t>
            </a:r>
            <a:r>
              <a:rPr lang="en-US" sz="2400" b="1" dirty="0" smtClean="0">
                <a:latin typeface="Bookman Old Style" panose="02050604050505020204" pitchFamily="18" charset="0"/>
              </a:rPr>
              <a:t>GitHub:</a:t>
            </a:r>
            <a:endParaRPr lang="en-US" sz="2400" b="1" dirty="0" smtClean="0">
              <a:latin typeface="Bookman Old Style" panose="02050604050505020204" pitchFamily="18" charset="0"/>
              <a:hlinkClick r:id="rId3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github.com/DaniilKlyukin/ITiP-1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github.com/DaniilKlyukin/ITiP-2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https://github.com/DaniilKlyukin/ITiP-3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https</a:t>
            </a:r>
            <a:r>
              <a:rPr lang="en-US" sz="2400" b="1" dirty="0">
                <a:latin typeface="Bookman Old Style" panose="02050604050505020204" pitchFamily="18" charset="0"/>
                <a:hlinkClick r:id="rId3"/>
              </a:rPr>
              <a:t>://</a:t>
            </a:r>
            <a:r>
              <a:rPr lang="en-US" sz="2400" b="1" dirty="0" smtClean="0">
                <a:latin typeface="Bookman Old Style" panose="02050604050505020204" pitchFamily="18" charset="0"/>
                <a:hlinkClick r:id="rId3"/>
              </a:rPr>
              <a:t>github.com/DaniilKlyukin/OOP-4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  <a:hlinkClick r:id="rId4"/>
              </a:rPr>
              <a:t>https://</a:t>
            </a:r>
            <a:r>
              <a:rPr lang="en-US" sz="2400" b="1" dirty="0" smtClean="0">
                <a:latin typeface="Bookman Old Style" panose="02050604050505020204" pitchFamily="18" charset="0"/>
                <a:hlinkClick r:id="rId4"/>
              </a:rPr>
              <a:t>github.com/DaniilKlyukin/OOP-6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>
                <a:latin typeface="Bookman Old Style" panose="02050604050505020204" pitchFamily="18" charset="0"/>
              </a:rPr>
              <a:t>это бесплатная распределенная система контроля версий с открытым исходным кодом, предназначенная для быстрой и эффективной работы со всеми проектами, от небольших до очень крупных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Применение: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Командная разработка отдельных модулей</a:t>
            </a:r>
            <a:r>
              <a:rPr lang="en-US" sz="2400" dirty="0" smtClean="0">
                <a:latin typeface="Bookman Old Style" panose="02050604050505020204" pitchFamily="18" charset="0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Возможность отката к любой из предыдущих версий программы</a:t>
            </a:r>
            <a:r>
              <a:rPr lang="en-US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 smtClean="0">
                <a:latin typeface="Bookman Old Style" panose="02050604050505020204" pitchFamily="18" charset="0"/>
              </a:rPr>
              <a:t>При этом важно знать, что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хранит только изменения файлов, а не сами версии файлов, что существенно экономит ресурсы ПК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1028" name="Picture 4" descr="upload.wikimedia.org/wikipedia/commons/thumb/e/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7" y="35077"/>
            <a:ext cx="1397712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9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872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Ядро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 </a:t>
            </a:r>
            <a:r>
              <a:rPr lang="en-US" sz="2300" dirty="0" smtClean="0">
                <a:latin typeface="Bookman Old Style" panose="02050604050505020204" pitchFamily="18" charset="0"/>
              </a:rPr>
              <a:t>-</a:t>
            </a:r>
            <a:r>
              <a:rPr lang="ru-RU" sz="2300" dirty="0">
                <a:latin typeface="Bookman Old Style" panose="02050604050505020204" pitchFamily="18" charset="0"/>
              </a:rPr>
              <a:t> это достаточно большой проект с открытым исходным кодом. Большую часть времени разработки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(1991–2002 гг.) изменения передавались между разработчиками в виде </a:t>
            </a:r>
            <a:r>
              <a:rPr lang="ru-RU" sz="2300" dirty="0" err="1">
                <a:latin typeface="Bookman Old Style" panose="02050604050505020204" pitchFamily="18" charset="0"/>
              </a:rPr>
              <a:t>патчей</a:t>
            </a:r>
            <a:r>
              <a:rPr lang="ru-RU" sz="2300" dirty="0">
                <a:latin typeface="Bookman Old Style" panose="02050604050505020204" pitchFamily="18" charset="0"/>
              </a:rPr>
              <a:t> и архивов. В 2002 году проект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начал использовать </a:t>
            </a:r>
            <a:r>
              <a:rPr lang="ru-RU" sz="2300" dirty="0" err="1">
                <a:latin typeface="Bookman Old Style" panose="02050604050505020204" pitchFamily="18" charset="0"/>
              </a:rPr>
              <a:t>проприетарную</a:t>
            </a:r>
            <a:r>
              <a:rPr lang="ru-RU" sz="2300" dirty="0">
                <a:latin typeface="Bookman Old Style" panose="02050604050505020204" pitchFamily="18" charset="0"/>
              </a:rPr>
              <a:t> децентрализованную систему контроля версий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 smtClean="0">
                <a:latin typeface="Bookman Old Style" panose="02050604050505020204" pitchFamily="18" charset="0"/>
              </a:rPr>
              <a:t>.</a:t>
            </a:r>
            <a:endParaRPr lang="ru-RU" sz="23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300" dirty="0">
                <a:latin typeface="Bookman Old Style" panose="02050604050505020204" pitchFamily="18" charset="0"/>
              </a:rPr>
              <a:t>В 2005 году отношения между сообществом разработчиков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и коммерческой компанией, которая разрабатывала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>
                <a:latin typeface="Bookman Old Style" panose="02050604050505020204" pitchFamily="18" charset="0"/>
              </a:rPr>
              <a:t>, прекратились, и бесплатное использование утилиты стало невозможным. Это </a:t>
            </a:r>
            <a:r>
              <a:rPr lang="ru-RU" sz="2300" dirty="0" err="1">
                <a:latin typeface="Bookman Old Style" panose="02050604050505020204" pitchFamily="18" charset="0"/>
              </a:rPr>
              <a:t>сподвигло</a:t>
            </a:r>
            <a:r>
              <a:rPr lang="ru-RU" sz="2300" dirty="0">
                <a:latin typeface="Bookman Old Style" panose="02050604050505020204" pitchFamily="18" charset="0"/>
              </a:rPr>
              <a:t> сообщество разработчиков ядра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 (а в частности </a:t>
            </a:r>
            <a:r>
              <a:rPr lang="ru-RU" sz="2300" dirty="0" err="1">
                <a:latin typeface="Bookman Old Style" panose="02050604050505020204" pitchFamily="18" charset="0"/>
              </a:rPr>
              <a:t>Линуса</a:t>
            </a:r>
            <a:r>
              <a:rPr lang="ru-RU" sz="2300" dirty="0">
                <a:latin typeface="Bookman Old Style" panose="02050604050505020204" pitchFamily="18" charset="0"/>
              </a:rPr>
              <a:t> </a:t>
            </a:r>
            <a:r>
              <a:rPr lang="ru-RU" sz="2300" dirty="0" err="1">
                <a:latin typeface="Bookman Old Style" panose="02050604050505020204" pitchFamily="18" charset="0"/>
              </a:rPr>
              <a:t>Торвальдса</a:t>
            </a:r>
            <a:r>
              <a:rPr lang="ru-RU" sz="2300" dirty="0">
                <a:latin typeface="Bookman Old Style" panose="02050604050505020204" pitchFamily="18" charset="0"/>
              </a:rPr>
              <a:t> — создателя </a:t>
            </a:r>
            <a:r>
              <a:rPr lang="ru-RU" sz="2300" dirty="0" err="1">
                <a:latin typeface="Bookman Old Style" panose="02050604050505020204" pitchFamily="18" charset="0"/>
              </a:rPr>
              <a:t>Linux</a:t>
            </a:r>
            <a:r>
              <a:rPr lang="ru-RU" sz="2300" dirty="0">
                <a:latin typeface="Bookman Old Style" panose="02050604050505020204" pitchFamily="18" charset="0"/>
              </a:rPr>
              <a:t>) разработать свою собственную утилиту, учитывая уроки, полученные при работе с </a:t>
            </a:r>
            <a:r>
              <a:rPr lang="ru-RU" sz="2300" dirty="0" err="1">
                <a:latin typeface="Bookman Old Style" panose="02050604050505020204" pitchFamily="18" charset="0"/>
              </a:rPr>
              <a:t>BitKeeper</a:t>
            </a:r>
            <a:r>
              <a:rPr lang="ru-RU" sz="2300" dirty="0">
                <a:latin typeface="Bookman Old Style" panose="02050604050505020204" pitchFamily="18" charset="0"/>
              </a:rPr>
              <a:t>. </a:t>
            </a:r>
            <a:endParaRPr lang="en-US" sz="2300" dirty="0" smtClean="0">
              <a:latin typeface="Bookman Old Style" panose="02050604050505020204" pitchFamily="18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История создания 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5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Некоторыми </a:t>
            </a:r>
            <a:r>
              <a:rPr lang="ru-RU" sz="2400" dirty="0">
                <a:latin typeface="Bookman Old Style" panose="02050604050505020204" pitchFamily="18" charset="0"/>
              </a:rPr>
              <a:t>целями, которые преследовала новая система, были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Скорость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Простая </a:t>
            </a:r>
            <a:r>
              <a:rPr lang="ru-RU" sz="2400" dirty="0" smtClean="0">
                <a:latin typeface="Bookman Old Style" panose="02050604050505020204" pitchFamily="18" charset="0"/>
              </a:rPr>
              <a:t>архитектура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Хорошая поддержка нелинейной разработки (тысячи параллельных веток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Полная </a:t>
            </a:r>
            <a:r>
              <a:rPr lang="ru-RU" sz="2400" dirty="0" smtClean="0">
                <a:latin typeface="Bookman Old Style" panose="02050604050505020204" pitchFamily="18" charset="0"/>
              </a:rPr>
              <a:t>децентрализация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Возможность эффективного управления большими проектами, такими как ядро </a:t>
            </a:r>
            <a:r>
              <a:rPr lang="ru-RU" sz="2400" dirty="0" err="1">
                <a:latin typeface="Bookman Old Style" panose="02050604050505020204" pitchFamily="18" charset="0"/>
              </a:rPr>
              <a:t>Linux</a:t>
            </a:r>
            <a:r>
              <a:rPr lang="ru-RU" sz="2400" dirty="0">
                <a:latin typeface="Bookman Old Style" panose="02050604050505020204" pitchFamily="18" charset="0"/>
              </a:rPr>
              <a:t> (скорость работы и разумное использование дискового пространства)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73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07333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Официальный сайт </a:t>
            </a:r>
            <a:r>
              <a:rPr lang="ru-RU" sz="2400" dirty="0" smtClean="0">
                <a:latin typeface="Bookman Old Style" panose="02050604050505020204" pitchFamily="18" charset="0"/>
              </a:rPr>
              <a:t>программы: 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https://git-scm.com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/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Литература</a:t>
            </a:r>
            <a:r>
              <a:rPr lang="ru-RU" sz="2400" dirty="0" smtClean="0">
                <a:latin typeface="Bookman Old Style" panose="02050604050505020204" pitchFamily="18" charset="0"/>
              </a:rPr>
              <a:t> (полезные ссылки):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4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4"/>
              </a:rPr>
              <a:t>ru.hexlet.io/courses/intro_to_git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5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5"/>
              </a:rPr>
              <a:t>githowto.com/ru/setup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6"/>
              </a:rPr>
              <a:t>https://learngitbranching.js.org/?</a:t>
            </a:r>
            <a:r>
              <a:rPr lang="en-US" sz="2400" dirty="0" smtClean="0">
                <a:latin typeface="Bookman Old Style" panose="02050604050505020204" pitchFamily="18" charset="0"/>
                <a:hlinkClick r:id="rId6"/>
              </a:rPr>
              <a:t>locale=ru_RU</a:t>
            </a:r>
            <a:r>
              <a:rPr lang="ru-RU" sz="2400" dirty="0" smtClean="0">
                <a:latin typeface="Bookman Old Style" panose="02050604050505020204" pitchFamily="18" charset="0"/>
              </a:rPr>
              <a:t> (тренажер по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  <a:hlinkClick r:id="rId7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7"/>
              </a:rPr>
              <a:t>www.youtube.com/watch?v=zZBiln_2FhM</a:t>
            </a:r>
            <a:r>
              <a:rPr lang="ru-RU" sz="2400" dirty="0" smtClean="0">
                <a:latin typeface="Bookman Old Style" panose="02050604050505020204" pitchFamily="18" charset="0"/>
              </a:rPr>
              <a:t> (видео-урок)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77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Термины:</a:t>
            </a:r>
          </a:p>
          <a:p>
            <a:pPr algn="just">
              <a:lnSpc>
                <a:spcPct val="150000"/>
              </a:lnSpc>
            </a:pP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– любая папка, в которой, например, находится наш проект.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Ветка (</a:t>
            </a:r>
            <a:r>
              <a:rPr lang="en-US" sz="2400" dirty="0" smtClean="0">
                <a:latin typeface="Bookman Old Style" panose="02050604050505020204" pitchFamily="18" charset="0"/>
              </a:rPr>
              <a:t>Branch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r>
              <a:rPr lang="en-US" sz="2400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представляет собой какую-то версию нашего проекта (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Шаги по работе с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Устанавливаем </a:t>
            </a:r>
            <a:r>
              <a:rPr lang="en-US" sz="2400" dirty="0" err="1">
                <a:latin typeface="Bookman Old Style" panose="02050604050505020204" pitchFamily="18" charset="0"/>
              </a:rPr>
              <a:t>Git</a:t>
            </a:r>
            <a:r>
              <a:rPr lang="en-US" sz="2400" dirty="0">
                <a:latin typeface="Bookman Old Style" panose="02050604050505020204" pitchFamily="18" charset="0"/>
              </a:rPr>
              <a:t> (</a:t>
            </a:r>
            <a:r>
              <a:rPr lang="ru-RU" sz="2400" dirty="0">
                <a:latin typeface="Bookman Old Style" panose="02050604050505020204" pitchFamily="18" charset="0"/>
              </a:rPr>
              <a:t>все опции оставляем по умолчанию</a:t>
            </a:r>
            <a:r>
              <a:rPr lang="en-US" sz="2400" dirty="0" smtClean="0">
                <a:latin typeface="Bookman Old Style" panose="02050604050505020204" pitchFamily="18" charset="0"/>
              </a:rPr>
              <a:t>).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Создаем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(папку).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14250" t="5543" r="12151" b="13872"/>
          <a:stretch/>
        </p:blipFill>
        <p:spPr>
          <a:xfrm>
            <a:off x="5902036" y="3917487"/>
            <a:ext cx="2909455" cy="277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7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39240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Заходим в папку, нажимаем ПКМ и выбираем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Bash Here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l="18211" t="66698" r="16830"/>
          <a:stretch/>
        </p:blipFill>
        <p:spPr>
          <a:xfrm>
            <a:off x="3106417" y="1277256"/>
            <a:ext cx="8197431" cy="3973286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>
            <a:off x="1669143" y="4934858"/>
            <a:ext cx="1666817" cy="145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24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476337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Для инициализации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репозитория</a:t>
            </a:r>
            <a:r>
              <a:rPr lang="ru-RU" sz="2400" dirty="0">
                <a:latin typeface="Bookman Old Style" panose="02050604050505020204" pitchFamily="18" charset="0"/>
              </a:rPr>
              <a:t> пишем команду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init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-1" r="39359" b="74168"/>
          <a:stretch/>
        </p:blipFill>
        <p:spPr>
          <a:xfrm>
            <a:off x="498764" y="0"/>
            <a:ext cx="11074399" cy="12205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60503" t="6988" b="74168"/>
          <a:stretch/>
        </p:blipFill>
        <p:spPr>
          <a:xfrm>
            <a:off x="498764" y="1202248"/>
            <a:ext cx="7212975" cy="8903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/>
          <a:srcRect l="-1" t="25924" r="30805" b="254"/>
          <a:stretch/>
        </p:blipFill>
        <p:spPr>
          <a:xfrm>
            <a:off x="498764" y="3348385"/>
            <a:ext cx="11205556" cy="309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1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можно поместить абсолютно любой файл или папку.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текстовый файл (</a:t>
            </a:r>
            <a:r>
              <a:rPr lang="en-US" sz="2400" dirty="0" smtClean="0">
                <a:latin typeface="Bookman Old Style" panose="02050604050505020204" pitchFamily="18" charset="0"/>
              </a:rPr>
              <a:t>file</a:t>
            </a:r>
            <a:r>
              <a:rPr lang="ru-RU" sz="2400" dirty="0" smtClean="0">
                <a:latin typeface="Bookman Old Style" panose="02050604050505020204" pitchFamily="18" charset="0"/>
              </a:rPr>
              <a:t> 1.</a:t>
            </a:r>
            <a:r>
              <a:rPr lang="en-US" sz="2400" dirty="0" smtClean="0">
                <a:latin typeface="Bookman Old Style" panose="02050604050505020204" pitchFamily="18" charset="0"/>
              </a:rPr>
              <a:t>txt</a:t>
            </a:r>
            <a:r>
              <a:rPr lang="ru-RU" sz="2400" dirty="0" smtClean="0">
                <a:latin typeface="Bookman Old Style" panose="02050604050505020204" pitchFamily="18" charset="0"/>
              </a:rPr>
              <a:t>):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Закроем файл и с помощью команды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status </a:t>
            </a:r>
            <a:r>
              <a:rPr lang="ru-RU" sz="2400" dirty="0" smtClean="0">
                <a:latin typeface="Bookman Old Style" panose="02050604050505020204" pitchFamily="18" charset="0"/>
              </a:rPr>
              <a:t>посмотрим на состояние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567" y="1294500"/>
            <a:ext cx="646837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6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Введем команду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status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1" y="583686"/>
            <a:ext cx="10655079" cy="56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1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On branch master </a:t>
            </a:r>
            <a:r>
              <a:rPr lang="ru-RU" sz="2400" dirty="0" smtClean="0">
                <a:latin typeface="Bookman Old Style" panose="02050604050505020204" pitchFamily="18" charset="0"/>
              </a:rPr>
              <a:t>говорит о том на какой ветке мы находимся (</a:t>
            </a:r>
            <a:r>
              <a:rPr lang="en-US" sz="2400" dirty="0" smtClean="0">
                <a:latin typeface="Bookman Old Style" panose="02050604050505020204" pitchFamily="18" charset="0"/>
              </a:rPr>
              <a:t>master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No commits yet </a:t>
            </a:r>
            <a:r>
              <a:rPr lang="ru-RU" sz="2400" dirty="0" smtClean="0">
                <a:latin typeface="Bookman Old Style" panose="02050604050505020204" pitchFamily="18" charset="0"/>
              </a:rPr>
              <a:t>означает, что мы ещё не фиксировали изменения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Untracked files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список файлов, которые были изменены или добавлены, но эти действия ещё не добавлены в список для фиксации.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случае это файл </a:t>
            </a:r>
            <a:r>
              <a:rPr lang="en-US" sz="2400" b="1" dirty="0" smtClean="0">
                <a:latin typeface="Bookman Old Style" panose="02050604050505020204" pitchFamily="18" charset="0"/>
              </a:rPr>
              <a:t>file 1.txt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Bookman Old Style" panose="02050604050505020204" pitchFamily="18" charset="0"/>
              </a:rPr>
              <a:t>Nothing added to commit </a:t>
            </a:r>
            <a:r>
              <a:rPr lang="ru-RU" sz="2400" dirty="0" smtClean="0">
                <a:latin typeface="Bookman Old Style" panose="02050604050505020204" pitchFamily="18" charset="0"/>
              </a:rPr>
              <a:t>говорит о том, что мы ничего не добавили для фиксации изменений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03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Добавим </a:t>
            </a:r>
            <a:r>
              <a:rPr lang="ru-RU" sz="2400" dirty="0">
                <a:latin typeface="Bookman Old Style" panose="02050604050505020204" pitchFamily="18" charset="0"/>
              </a:rPr>
              <a:t>изменения командой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add</a:t>
            </a:r>
            <a:r>
              <a:rPr lang="ru-RU" sz="2400" b="1" dirty="0">
                <a:latin typeface="Bookman Old Style" panose="02050604050505020204" pitchFamily="18" charset="0"/>
              </a:rPr>
              <a:t> «название файла или папки»</a:t>
            </a:r>
            <a:r>
              <a:rPr lang="ru-RU" sz="2400" dirty="0">
                <a:latin typeface="Bookman Old Style" panose="02050604050505020204" pitchFamily="18" charset="0"/>
              </a:rPr>
              <a:t>, чтобы добавить все изменения необходимо ввести </a:t>
            </a:r>
            <a:r>
              <a:rPr lang="ru-RU" sz="2400" b="1" dirty="0">
                <a:latin typeface="Bookman Old Style" panose="02050604050505020204" pitchFamily="18" charset="0"/>
              </a:rPr>
              <a:t>«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add .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</a:t>
            </a:r>
            <a:r>
              <a:rPr lang="ru-RU" sz="2400" dirty="0">
                <a:latin typeface="Bookman Old Style" panose="02050604050505020204" pitchFamily="18" charset="0"/>
              </a:rPr>
              <a:t>ввести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status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ru-RU" sz="2400" dirty="0">
                <a:latin typeface="Bookman Old Style" panose="02050604050505020204" pitchFamily="18" charset="0"/>
              </a:rPr>
              <a:t>то можно увидеть какие файлы ожидают фиксации (сейчас они ещё не сохранены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51837" b="26192"/>
          <a:stretch/>
        </p:blipFill>
        <p:spPr>
          <a:xfrm>
            <a:off x="475465" y="1288963"/>
            <a:ext cx="11441257" cy="133785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16567" b="33441"/>
          <a:stretch/>
        </p:blipFill>
        <p:spPr>
          <a:xfrm>
            <a:off x="475465" y="3867150"/>
            <a:ext cx="11241069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Зафиксируем изменения (сохраним) с помощью команды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commit –m </a:t>
            </a:r>
            <a:r>
              <a:rPr lang="ru-RU" sz="2400" b="1" dirty="0" smtClean="0">
                <a:latin typeface="Bookman Old Style" panose="02050604050505020204" pitchFamily="18" charset="0"/>
              </a:rPr>
              <a:t>«Любой текст, описание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комита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Фиксация изменений выполнена успешно, 1 файл изменен.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Можно делать множество изменений, удалять, добавлять, изменять файлы.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34387" b="26128"/>
          <a:stretch/>
        </p:blipFill>
        <p:spPr>
          <a:xfrm>
            <a:off x="360219" y="1200329"/>
            <a:ext cx="11471564" cy="241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8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Показывает подробную историю: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Author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Кто сделал (важно для командной работы).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Date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Когда это произошло.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Commit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Message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Описание того, что было сделано.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Bookman Old Style" panose="02050604050505020204" pitchFamily="18" charset="0"/>
              </a:rPr>
              <a:t>Хеш</a:t>
            </a:r>
            <a:r>
              <a:rPr lang="ru-RU" sz="2400" b="1" dirty="0">
                <a:latin typeface="Bookman Old Style" panose="02050604050505020204" pitchFamily="18" charset="0"/>
              </a:rPr>
              <a:t> (SHA-1):</a:t>
            </a:r>
            <a:r>
              <a:rPr lang="ru-RU" sz="2400" dirty="0">
                <a:latin typeface="Bookman Old Style" panose="02050604050505020204" pitchFamily="18" charset="0"/>
              </a:rPr>
              <a:t> Длинная строка вида f7a3b2... — это «паспорт» вашего </a:t>
            </a:r>
            <a:r>
              <a:rPr lang="ru-RU" sz="2400" dirty="0" err="1">
                <a:latin typeface="Bookman Old Style" panose="02050604050505020204" pitchFamily="18" charset="0"/>
              </a:rPr>
              <a:t>коммита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  <a:endParaRPr lang="ru-RU" sz="2400" b="0" i="0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Базовая команда: 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log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03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9076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log</a:t>
            </a:r>
            <a:r>
              <a:rPr lang="ru-RU" sz="2400" b="1" dirty="0">
                <a:latin typeface="Bookman Old Style" panose="02050604050505020204" pitchFamily="18" charset="0"/>
              </a:rPr>
              <a:t> --</a:t>
            </a:r>
            <a:r>
              <a:rPr lang="ru-RU" sz="2400" b="1" dirty="0" err="1">
                <a:latin typeface="Bookman Old Style" panose="02050604050505020204" pitchFamily="18" charset="0"/>
              </a:rPr>
              <a:t>oneline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Самая используемая команда в консоли. </a:t>
            </a:r>
            <a:r>
              <a:rPr lang="ru-RU" sz="2400" dirty="0" err="1">
                <a:latin typeface="Bookman Old Style" panose="02050604050505020204" pitchFamily="18" charset="0"/>
              </a:rPr>
              <a:t>Схлопывает</a:t>
            </a:r>
            <a:r>
              <a:rPr lang="ru-RU" sz="2400" dirty="0">
                <a:latin typeface="Bookman Old Style" panose="02050604050505020204" pitchFamily="18" charset="0"/>
              </a:rPr>
              <a:t> историю в компактный список.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Пример вывода: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a1b2c3d Добавлена авторизация пользователя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e5f6g7h Исправлен баг в расчете корзины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z9x8y7w Начало разработки (</a:t>
            </a:r>
            <a:r>
              <a:rPr lang="ru-RU" sz="2400" dirty="0" err="1">
                <a:latin typeface="Bookman Old Style" panose="02050604050505020204" pitchFamily="18" charset="0"/>
              </a:rPr>
              <a:t>Initial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commit</a:t>
            </a:r>
            <a:r>
              <a:rPr lang="ru-RU" sz="2400" dirty="0">
                <a:latin typeface="Bookman Old Style" panose="02050604050505020204" pitchFamily="18" charset="0"/>
              </a:rPr>
              <a:t>)</a:t>
            </a:r>
            <a:endParaRPr lang="ru-RU" sz="2400" b="0" i="0" dirty="0"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90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35906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Что такое </a:t>
            </a:r>
            <a:r>
              <a:rPr lang="ru-RU" sz="2400" b="1" dirty="0" err="1">
                <a:latin typeface="Bookman Old Style" panose="02050604050505020204" pitchFamily="18" charset="0"/>
              </a:rPr>
              <a:t>Хеш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коммита</a:t>
            </a:r>
            <a:r>
              <a:rPr lang="ru-RU" sz="2400" b="1" dirty="0">
                <a:latin typeface="Bookman Old Style" panose="02050604050505020204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Это уникальный ID (отпечаток пальца) состояния вашего проекта.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Зачем он нужен?</a:t>
            </a:r>
            <a:r>
              <a:rPr lang="ru-RU" sz="2400" dirty="0">
                <a:latin typeface="Bookman Old Style" panose="02050604050505020204" pitchFamily="18" charset="0"/>
              </a:rPr>
              <a:t> Это «адрес» во времени. Если вы захотите вернуться к версии «Добавлена авторизация», вам понадобится его </a:t>
            </a:r>
            <a:r>
              <a:rPr lang="ru-RU" sz="2400" dirty="0" err="1">
                <a:latin typeface="Bookman Old Style" panose="02050604050505020204" pitchFamily="18" charset="0"/>
              </a:rPr>
              <a:t>хеш</a:t>
            </a:r>
            <a:r>
              <a:rPr lang="ru-RU" sz="2400" dirty="0">
                <a:latin typeface="Bookman Old Style" panose="02050604050505020204" pitchFamily="18" charset="0"/>
              </a:rPr>
              <a:t> a1b2c3d.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Лайфхак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Вам не нужно копировать все 40 символов.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поймет вас, если вы укажете первые </a:t>
            </a:r>
            <a:r>
              <a:rPr lang="ru-RU" sz="2400" b="1" dirty="0">
                <a:latin typeface="Bookman Old Style" panose="02050604050505020204" pitchFamily="18" charset="0"/>
              </a:rPr>
              <a:t>7 символов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453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580973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Ситуация: «Я всё сломал, верните как было!»</a:t>
            </a:r>
          </a:p>
          <a:p>
            <a:pPr>
              <a:lnSpc>
                <a:spcPct val="13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(Отмена изменений до </a:t>
            </a:r>
            <a:r>
              <a:rPr lang="ru-RU" sz="2400" i="1" dirty="0" err="1">
                <a:latin typeface="Bookman Old Style" panose="02050604050505020204" pitchFamily="18" charset="0"/>
              </a:rPr>
              <a:t>коммита</a:t>
            </a:r>
            <a:r>
              <a:rPr lang="ru-RU" sz="2400" i="1" dirty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Сценарий:</a:t>
            </a:r>
            <a:r>
              <a:rPr lang="ru-RU" sz="2400" dirty="0">
                <a:latin typeface="Bookman Old Style" panose="02050604050505020204" pitchFamily="18" charset="0"/>
              </a:rPr>
              <a:t> Вы весь день писали код, запутались, программа не запускается. Вы хотите просто стереть всё, что написали после последнего «сохранения» (</a:t>
            </a:r>
            <a:r>
              <a:rPr lang="ru-RU" sz="2400" dirty="0" err="1">
                <a:latin typeface="Bookman Old Style" panose="02050604050505020204" pitchFamily="18" charset="0"/>
              </a:rPr>
              <a:t>коммита</a:t>
            </a:r>
            <a:r>
              <a:rPr lang="ru-RU" sz="2400" dirty="0">
                <a:latin typeface="Bookman Old Style" panose="02050604050505020204" pitchFamily="18" charset="0"/>
              </a:rPr>
              <a:t>), и начать утро заново.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Команда: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restore</a:t>
            </a:r>
            <a:r>
              <a:rPr lang="ru-RU" sz="2400" dirty="0">
                <a:latin typeface="Bookman Old Style" panose="02050604050505020204" pitchFamily="18" charset="0"/>
              </a:rPr>
              <a:t> &lt;</a:t>
            </a:r>
            <a:r>
              <a:rPr lang="ru-RU" sz="2400" dirty="0" err="1">
                <a:latin typeface="Bookman Old Style" panose="02050604050505020204" pitchFamily="18" charset="0"/>
              </a:rPr>
              <a:t>имя_файла</a:t>
            </a:r>
            <a:r>
              <a:rPr lang="ru-RU" sz="2400" dirty="0">
                <a:latin typeface="Bookman Old Style" panose="02050604050505020204" pitchFamily="18" charset="0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Что произойдет:</a:t>
            </a:r>
            <a:r>
              <a:rPr lang="ru-RU" sz="2400" dirty="0">
                <a:latin typeface="Bookman Old Style" panose="02050604050505020204" pitchFamily="18" charset="0"/>
              </a:rPr>
              <a:t> Файл мгновенно вернется к тому состоянию, в котором он был в момент последнего </a:t>
            </a:r>
            <a:r>
              <a:rPr lang="ru-RU" sz="2400" dirty="0" err="1">
                <a:latin typeface="Bookman Old Style" panose="02050604050505020204" pitchFamily="18" charset="0"/>
              </a:rPr>
              <a:t>коммита</a:t>
            </a:r>
            <a:r>
              <a:rPr lang="ru-RU" sz="2400" dirty="0">
                <a:latin typeface="Bookman Old Style" panose="02050604050505020204" pitchFamily="18" charset="0"/>
              </a:rPr>
              <a:t>. Все ваши текущие (</a:t>
            </a:r>
            <a:r>
              <a:rPr lang="ru-RU" sz="2400" dirty="0" err="1">
                <a:latin typeface="Bookman Old Style" panose="02050604050505020204" pitchFamily="18" charset="0"/>
              </a:rPr>
              <a:t>незакоммиченные</a:t>
            </a:r>
            <a:r>
              <a:rPr lang="ru-RU" sz="2400" dirty="0">
                <a:latin typeface="Bookman Old Style" panose="02050604050505020204" pitchFamily="18" charset="0"/>
              </a:rPr>
              <a:t>) правки удалятся навсегда.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Для всей папки сразу: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restore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Раньше для этого использовали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checkout</a:t>
            </a:r>
            <a:r>
              <a:rPr lang="ru-RU" sz="2400" dirty="0">
                <a:latin typeface="Bookman Old Style" panose="02050604050505020204" pitchFamily="18" charset="0"/>
              </a:rPr>
              <a:t> -- &lt;файл&gt;. Вы встретите это в старых </a:t>
            </a:r>
            <a:r>
              <a:rPr lang="ru-RU" sz="2400" dirty="0" err="1">
                <a:latin typeface="Bookman Old Style" panose="02050604050505020204" pitchFamily="18" charset="0"/>
              </a:rPr>
              <a:t>туториалах</a:t>
            </a:r>
            <a:r>
              <a:rPr lang="ru-RU" sz="2400" dirty="0">
                <a:latin typeface="Bookman Old Style" panose="02050604050505020204" pitchFamily="18" charset="0"/>
              </a:rPr>
              <a:t>, но </a:t>
            </a:r>
            <a:r>
              <a:rPr lang="ru-RU" sz="2400" dirty="0" err="1">
                <a:latin typeface="Bookman Old Style" panose="02050604050505020204" pitchFamily="18" charset="0"/>
              </a:rPr>
              <a:t>restore</a:t>
            </a:r>
            <a:r>
              <a:rPr lang="ru-RU" sz="2400" dirty="0">
                <a:latin typeface="Bookman Old Style" panose="02050604050505020204" pitchFamily="18" charset="0"/>
              </a:rPr>
              <a:t> — современный и понятный стандарт.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исправлять ошибки?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5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6776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(Если плохой код уже попал в историю)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Сценарий:</a:t>
            </a:r>
            <a:r>
              <a:rPr lang="ru-RU" sz="2400" dirty="0">
                <a:latin typeface="Bookman Old Style" panose="02050604050505020204" pitchFamily="18" charset="0"/>
              </a:rPr>
              <a:t> Вы сделали 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, а через час поняли, что эта </a:t>
            </a:r>
            <a:r>
              <a:rPr lang="ru-RU" sz="2400" dirty="0" err="1">
                <a:latin typeface="Bookman Old Style" panose="02050604050505020204" pitchFamily="18" charset="0"/>
              </a:rPr>
              <a:t>фича</a:t>
            </a:r>
            <a:r>
              <a:rPr lang="ru-RU" sz="2400" dirty="0">
                <a:latin typeface="Bookman Old Style" panose="02050604050505020204" pitchFamily="18" charset="0"/>
              </a:rPr>
              <a:t> не нужна или она всё ломает. Но удалять историю нельзя (вы уже отправили код коллегам).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Команда: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revert</a:t>
            </a:r>
            <a:r>
              <a:rPr lang="ru-RU" sz="2400" dirty="0">
                <a:latin typeface="Bookman Old Style" panose="02050604050505020204" pitchFamily="18" charset="0"/>
              </a:rPr>
              <a:t> &lt;</a:t>
            </a:r>
            <a:r>
              <a:rPr lang="ru-RU" sz="2400" dirty="0" err="1">
                <a:latin typeface="Bookman Old Style" panose="02050604050505020204" pitchFamily="18" charset="0"/>
              </a:rPr>
              <a:t>хеш_коммита</a:t>
            </a:r>
            <a:r>
              <a:rPr lang="ru-RU" sz="2400" dirty="0">
                <a:latin typeface="Bookman Old Style" panose="02050604050505020204" pitchFamily="18" charset="0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Как это работает: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не удаляет старый «плохой» 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. Он создает </a:t>
            </a:r>
            <a:r>
              <a:rPr lang="ru-RU" sz="2400" b="1" dirty="0">
                <a:latin typeface="Bookman Old Style" panose="02050604050505020204" pitchFamily="18" charset="0"/>
              </a:rPr>
              <a:t>новый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, который делает всё наоборот (удаляет добавленные строки, возвращает удаленные).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Плюсы: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Безопасно для команды (история идет только вперед).</a:t>
            </a: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Вы всегда видите, кто и почему отменил изменения.</a:t>
            </a:r>
          </a:p>
          <a:p>
            <a:pPr lvl="1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Никаких конфликтов при синхронизации.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184181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6999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(Удаление </a:t>
            </a:r>
            <a:r>
              <a:rPr lang="ru-RU" sz="2400" i="1" dirty="0" err="1">
                <a:latin typeface="Bookman Old Style" panose="02050604050505020204" pitchFamily="18" charset="0"/>
              </a:rPr>
              <a:t>коммитов</a:t>
            </a:r>
            <a:r>
              <a:rPr lang="ru-RU" sz="2400" i="1" dirty="0">
                <a:latin typeface="Bookman Old Style" panose="02050604050505020204" pitchFamily="18" charset="0"/>
              </a:rPr>
              <a:t> из истории — использовать осторожно!)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Сценарий:</a:t>
            </a:r>
            <a:r>
              <a:rPr lang="ru-RU" sz="2400" dirty="0">
                <a:latin typeface="Bookman Old Style" panose="02050604050505020204" pitchFamily="18" charset="0"/>
              </a:rPr>
              <a:t> Вы наделали «мусорных» </a:t>
            </a:r>
            <a:r>
              <a:rPr lang="ru-RU" sz="2400" dirty="0" err="1">
                <a:latin typeface="Bookman Old Style" panose="02050604050505020204" pitchFamily="18" charset="0"/>
              </a:rPr>
              <a:t>коммитов</a:t>
            </a:r>
            <a:r>
              <a:rPr lang="ru-RU" sz="2400" dirty="0">
                <a:latin typeface="Bookman Old Style" panose="02050604050505020204" pitchFamily="18" charset="0"/>
              </a:rPr>
              <a:t> у себя на компьютере и хотите их стереть, как будто их никогда не было.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Мягкий метод (</a:t>
            </a:r>
            <a:r>
              <a:rPr lang="ru-RU" sz="2400" b="1" dirty="0" err="1">
                <a:latin typeface="Bookman Old Style" panose="02050604050505020204" pitchFamily="18" charset="0"/>
              </a:rPr>
              <a:t>Soft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reset</a:t>
            </a:r>
            <a:r>
              <a:rPr lang="ru-RU" sz="2400" dirty="0">
                <a:latin typeface="Bookman Old Style" panose="02050604050505020204" pitchFamily="18" charset="0"/>
              </a:rPr>
              <a:t> --</a:t>
            </a:r>
            <a:r>
              <a:rPr lang="ru-RU" sz="2400" dirty="0" err="1">
                <a:latin typeface="Bookman Old Style" panose="02050604050505020204" pitchFamily="18" charset="0"/>
              </a:rPr>
              <a:t>soft</a:t>
            </a:r>
            <a:r>
              <a:rPr lang="ru-RU" sz="2400" dirty="0">
                <a:latin typeface="Bookman Old Style" panose="02050604050505020204" pitchFamily="18" charset="0"/>
              </a:rPr>
              <a:t> HEAD~1</a:t>
            </a:r>
          </a:p>
          <a:p>
            <a:pPr lvl="1">
              <a:lnSpc>
                <a:spcPct val="13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Результат:</a:t>
            </a:r>
            <a:r>
              <a:rPr lang="ru-RU" sz="2400" dirty="0">
                <a:latin typeface="Bookman Old Style" panose="02050604050505020204" pitchFamily="18" charset="0"/>
              </a:rPr>
              <a:t> Последний 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 исчезает из истории, но </a:t>
            </a:r>
            <a:r>
              <a:rPr lang="ru-RU" sz="2400" b="1" dirty="0">
                <a:latin typeface="Bookman Old Style" panose="02050604050505020204" pitchFamily="18" charset="0"/>
              </a:rPr>
              <a:t>весь ваш код остается в редакторе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lvl="1">
              <a:lnSpc>
                <a:spcPct val="13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Зачем:</a:t>
            </a:r>
            <a:r>
              <a:rPr lang="ru-RU" sz="2400" dirty="0">
                <a:latin typeface="Bookman Old Style" panose="02050604050505020204" pitchFamily="18" charset="0"/>
              </a:rPr>
              <a:t> Если вы сделали 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 слишком рано или хотите переписать текст сообщения.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Жесткий метод (</a:t>
            </a:r>
            <a:r>
              <a:rPr lang="ru-RU" sz="2400" b="1" dirty="0" err="1">
                <a:latin typeface="Bookman Old Style" panose="02050604050505020204" pitchFamily="18" charset="0"/>
              </a:rPr>
              <a:t>Hard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reset</a:t>
            </a:r>
            <a:r>
              <a:rPr lang="ru-RU" sz="2400" dirty="0">
                <a:latin typeface="Bookman Old Style" panose="02050604050505020204" pitchFamily="18" charset="0"/>
              </a:rPr>
              <a:t> --</a:t>
            </a:r>
            <a:r>
              <a:rPr lang="ru-RU" sz="2400" dirty="0" err="1">
                <a:latin typeface="Bookman Old Style" panose="02050604050505020204" pitchFamily="18" charset="0"/>
              </a:rPr>
              <a:t>hard</a:t>
            </a:r>
            <a:r>
              <a:rPr lang="ru-RU" sz="2400" dirty="0">
                <a:latin typeface="Bookman Old Style" panose="02050604050505020204" pitchFamily="18" charset="0"/>
              </a:rPr>
              <a:t> HEAD~1 ⚠️ </a:t>
            </a:r>
            <a:r>
              <a:rPr lang="ru-RU" sz="2400" b="1" dirty="0">
                <a:latin typeface="Bookman Old Style" panose="02050604050505020204" pitchFamily="18" charset="0"/>
              </a:rPr>
              <a:t>ОПАСНО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Результат: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 удаляется, и </a:t>
            </a:r>
            <a:r>
              <a:rPr lang="ru-RU" sz="2400" b="1" dirty="0">
                <a:latin typeface="Bookman Old Style" panose="02050604050505020204" pitchFamily="18" charset="0"/>
              </a:rPr>
              <a:t>весь код внутри него стирается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lvl="1">
              <a:lnSpc>
                <a:spcPct val="13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Зачем:</a:t>
            </a:r>
            <a:r>
              <a:rPr lang="ru-RU" sz="2400" dirty="0">
                <a:latin typeface="Bookman Old Style" panose="02050604050505020204" pitchFamily="18" charset="0"/>
              </a:rPr>
              <a:t> Полная очистка от неудачного эксперимента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</a:endParaRPr>
          </a:p>
          <a:p>
            <a:pPr marL="0" lvl="1">
              <a:lnSpc>
                <a:spcPct val="13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0" lvl="1"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Золотое правило:</a:t>
            </a:r>
            <a:r>
              <a:rPr lang="ru-RU" sz="2400" dirty="0">
                <a:latin typeface="Bookman Old Style" panose="02050604050505020204" pitchFamily="18" charset="0"/>
              </a:rPr>
              <a:t> Никогда не делайте </a:t>
            </a:r>
            <a:r>
              <a:rPr lang="ru-RU" sz="2400" dirty="0" err="1">
                <a:latin typeface="Bookman Old Style" panose="02050604050505020204" pitchFamily="18" charset="0"/>
              </a:rPr>
              <a:t>reset</a:t>
            </a:r>
            <a:r>
              <a:rPr lang="ru-RU" sz="2400" dirty="0">
                <a:latin typeface="Bookman Old Style" panose="02050604050505020204" pitchFamily="18" charset="0"/>
              </a:rPr>
              <a:t>, если вы уже отправили (</a:t>
            </a:r>
            <a:r>
              <a:rPr lang="ru-RU" sz="2400" dirty="0" err="1">
                <a:latin typeface="Bookman Old Style" panose="02050604050505020204" pitchFamily="18" charset="0"/>
              </a:rPr>
              <a:t>push</a:t>
            </a:r>
            <a:r>
              <a:rPr lang="ru-RU" sz="2400" dirty="0">
                <a:latin typeface="Bookman Old Style" panose="02050604050505020204" pitchFamily="18" charset="0"/>
              </a:rPr>
              <a:t>) эти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 в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. Это «сломает»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репозитории</a:t>
            </a:r>
            <a:r>
              <a:rPr lang="ru-RU" sz="2400" dirty="0">
                <a:latin typeface="Bookman Old Style" panose="02050604050505020204" pitchFamily="18" charset="0"/>
              </a:rPr>
              <a:t> ваших коллег.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49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100540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b="1" i="1" dirty="0">
                <a:latin typeface="Bookman Old Style" panose="02050604050505020204" pitchFamily="18" charset="0"/>
              </a:rPr>
              <a:t>Шпаргалка: Что выбрать</a:t>
            </a:r>
            <a:r>
              <a:rPr lang="ru-RU" sz="2400" b="1" i="1" dirty="0" smtClean="0">
                <a:latin typeface="Bookman Old Style" panose="02050604050505020204" pitchFamily="18" charset="0"/>
              </a:rPr>
              <a:t>?</a:t>
            </a:r>
            <a:endParaRPr lang="en-US" sz="2400" b="1" i="1" dirty="0" smtClean="0">
              <a:latin typeface="Bookman Old Style" panose="02050604050505020204" pitchFamily="18" charset="0"/>
            </a:endParaRPr>
          </a:p>
          <a:p>
            <a:pPr>
              <a:lnSpc>
                <a:spcPct val="13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113106"/>
              </p:ext>
            </p:extLst>
          </p:nvPr>
        </p:nvGraphicFramePr>
        <p:xfrm>
          <a:off x="561975" y="564640"/>
          <a:ext cx="11220450" cy="6606540"/>
        </p:xfrm>
        <a:graphic>
          <a:graphicData uri="http://schemas.openxmlformats.org/drawingml/2006/table">
            <a:tbl>
              <a:tblPr/>
              <a:tblGrid>
                <a:gridCol w="3740150"/>
                <a:gridCol w="3740150"/>
                <a:gridCol w="374015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Ситуация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1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Команда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1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Последствия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Ошибка в файле, еще не в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коммите</a:t>
                      </a:r>
                      <a:endParaRPr lang="ru-RU" sz="2400" b="0" dirty="0"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git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 restore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Файл откатится, правки удалятся.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Нужно отменить старый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коммит</a:t>
                      </a: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 безопасно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git revert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Появится новый коммит «отмены». Безопасно.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Нужно переделать последний коммит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git reset --soft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Коммит исчезнет, код останется у вас.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Нужно всё сжечь и забыть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git reset --hard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</a:rPr>
                        <a:t>История и код удалятся безвозвратно.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24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не отслеживать изменения некоторых файлов, необходимо создать специальный файл с расширением 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файле перечисляются шаблоны (или конкретные названия) файлов, которые не будут отслеживаться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такой файл со следующим содержимым: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не попадет файл с именем </a:t>
            </a:r>
            <a:r>
              <a:rPr lang="en-US" sz="2400" dirty="0" smtClean="0">
                <a:latin typeface="Bookman Old Style" panose="02050604050505020204" pitchFamily="18" charset="0"/>
              </a:rPr>
              <a:t>file 2.txt</a:t>
            </a:r>
            <a:r>
              <a:rPr lang="ru-RU" sz="2400" dirty="0" smtClean="0">
                <a:latin typeface="Bookman Old Style" panose="02050604050505020204" pitchFamily="18" charset="0"/>
              </a:rPr>
              <a:t>, а также файлы с расширением </a:t>
            </a:r>
            <a:r>
              <a:rPr lang="en-US" sz="2400" dirty="0" smtClean="0">
                <a:latin typeface="Bookman Old Style" panose="02050604050505020204" pitchFamily="18" charset="0"/>
              </a:rPr>
              <a:t>.csv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ОБЯЗАТЕЛЬНО</a:t>
            </a:r>
            <a:r>
              <a:rPr lang="ru-RU" sz="2400" dirty="0" smtClean="0">
                <a:latin typeface="Bookman Old Style" panose="02050604050505020204" pitchFamily="18" charset="0"/>
              </a:rPr>
              <a:t> нужно зафиксировать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отдельным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комитом</a:t>
            </a:r>
            <a:r>
              <a:rPr lang="ru-RU" sz="2400" dirty="0" smtClean="0">
                <a:latin typeface="Bookman Old Style" panose="02050604050505020204" pitchFamily="18" charset="0"/>
              </a:rPr>
              <a:t> ДО добавления файлов,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которые нужно игнорировать.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Игнорирование файлов, файл 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gitignore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782" y="4086051"/>
            <a:ext cx="3009243" cy="2200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784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Зафиксируем изменения с помощью команд </a:t>
            </a:r>
            <a:r>
              <a:rPr lang="en-US" sz="2400" dirty="0" smtClean="0">
                <a:latin typeface="Bookman Old Style" panose="02050604050505020204" pitchFamily="18" charset="0"/>
              </a:rPr>
              <a:t>add</a:t>
            </a:r>
            <a:r>
              <a:rPr lang="ru-RU" sz="2400" dirty="0" smtClean="0">
                <a:latin typeface="Bookman Old Style" panose="02050604050505020204" pitchFamily="18" charset="0"/>
              </a:rPr>
              <a:t> и</a:t>
            </a:r>
            <a:r>
              <a:rPr lang="en-US" sz="2400" dirty="0" smtClean="0">
                <a:latin typeface="Bookman Old Style" panose="02050604050505020204" pitchFamily="18" charset="0"/>
              </a:rPr>
              <a:t> commit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эти команды можно совмещать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 помощью одной команды: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commit </a:t>
            </a:r>
            <a:r>
              <a:rPr lang="en-US" sz="2400" b="1" dirty="0" smtClean="0">
                <a:latin typeface="Bookman Old Style" panose="02050604050505020204" pitchFamily="18" charset="0"/>
              </a:rPr>
              <a:t>-am </a:t>
            </a:r>
            <a:r>
              <a:rPr lang="ru-RU" sz="2400" b="1" dirty="0" smtClean="0">
                <a:latin typeface="Bookman Old Style" panose="02050604050505020204" pitchFamily="18" charset="0"/>
              </a:rPr>
              <a:t>«</a:t>
            </a:r>
            <a:r>
              <a:rPr lang="en-US" sz="2400" b="1" dirty="0" smtClean="0">
                <a:latin typeface="Bookman Old Style" panose="02050604050505020204" pitchFamily="18" charset="0"/>
              </a:rPr>
              <a:t>add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gitignore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33867" b="26967"/>
          <a:stretch/>
        </p:blipFill>
        <p:spPr>
          <a:xfrm>
            <a:off x="352426" y="647329"/>
            <a:ext cx="11490440" cy="239513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l="10859" t="11064" b="9151"/>
          <a:stretch/>
        </p:blipFill>
        <p:spPr>
          <a:xfrm>
            <a:off x="7777249" y="2330225"/>
            <a:ext cx="3467100" cy="24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Теперь попробуем добавить файлы, которые должны </a:t>
            </a:r>
            <a:r>
              <a:rPr lang="ru-RU" sz="2400" dirty="0" smtClean="0">
                <a:latin typeface="Bookman Old Style" panose="02050604050505020204" pitchFamily="18" charset="0"/>
              </a:rPr>
              <a:t>игнорироваться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Видим, что изменения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не найдены. </a:t>
            </a:r>
            <a:r>
              <a:rPr lang="en-US" sz="2400" dirty="0" smtClean="0">
                <a:latin typeface="Bookman Old Style" panose="02050604050505020204" pitchFamily="18" charset="0"/>
              </a:rPr>
              <a:t>file 2.txt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file 3.csv </a:t>
            </a:r>
            <a:r>
              <a:rPr lang="ru-RU" sz="2400" dirty="0" smtClean="0">
                <a:latin typeface="Bookman Old Style" panose="02050604050505020204" pitchFamily="18" charset="0"/>
              </a:rPr>
              <a:t>не обнаруживаются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ru-RU" sz="2400" dirty="0" smtClean="0">
                <a:latin typeface="Bookman Old Style" panose="02050604050505020204" pitchFamily="18" charset="0"/>
              </a:rPr>
              <a:t>-ом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83686"/>
            <a:ext cx="3443354" cy="424332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t="39492" r="30928" b="27391"/>
          <a:stretch/>
        </p:blipFill>
        <p:spPr>
          <a:xfrm>
            <a:off x="3443356" y="2607840"/>
            <a:ext cx="7928455" cy="20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Ветка</a:t>
            </a:r>
            <a:r>
              <a:rPr lang="ru-RU" sz="2400" dirty="0">
                <a:latin typeface="Bookman Old Style" panose="02050604050505020204" pitchFamily="18" charset="0"/>
              </a:rPr>
              <a:t> представляет собой независимое направление </a:t>
            </a:r>
            <a:r>
              <a:rPr lang="ru-RU" sz="2400" dirty="0" smtClean="0">
                <a:latin typeface="Bookman Old Style" panose="02050604050505020204" pitchFamily="18" charset="0"/>
              </a:rPr>
              <a:t>разработки.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Допустим </a:t>
            </a:r>
            <a:r>
              <a:rPr lang="ru-RU" sz="2400" dirty="0">
                <a:latin typeface="Bookman Old Style" panose="02050604050505020204" pitchFamily="18" charset="0"/>
              </a:rPr>
              <a:t>мы хотим добавить новый функционал в </a:t>
            </a:r>
            <a:r>
              <a:rPr lang="ru-RU" sz="2400" dirty="0" smtClean="0">
                <a:latin typeface="Bookman Old Style" panose="02050604050505020204" pitchFamily="18" charset="0"/>
              </a:rPr>
              <a:t>наш проект (программу), </a:t>
            </a:r>
            <a:r>
              <a:rPr lang="ru-RU" sz="2400" dirty="0">
                <a:latin typeface="Bookman Old Style" panose="02050604050505020204" pitchFamily="18" charset="0"/>
              </a:rPr>
              <a:t>но не уверены, понравится ли он заказчику, поэтому в случае чего хотим отменить изменения</a:t>
            </a:r>
            <a:r>
              <a:rPr lang="ru-RU" sz="2400" dirty="0" smtClean="0">
                <a:latin typeface="Bookman Old Style" panose="02050604050505020204" pitchFamily="18" charset="0"/>
              </a:rPr>
              <a:t>. Для этого существуют ветки, обычно основная версия программа хранится 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или </a:t>
            </a:r>
            <a:r>
              <a:rPr lang="en-US" sz="2400" dirty="0" smtClean="0">
                <a:latin typeface="Bookman Old Style" panose="02050604050505020204" pitchFamily="18" charset="0"/>
              </a:rPr>
              <a:t>master, </a:t>
            </a:r>
            <a:r>
              <a:rPr lang="ru-RU" sz="2400" dirty="0" smtClean="0">
                <a:latin typeface="Bookman Old Style" panose="02050604050505020204" pitchFamily="18" charset="0"/>
              </a:rPr>
              <a:t>а разработчики создают отдельные ветки, в которых работают над программой, добавляют функционал, изменяют программу, что-то тестируют.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Ветки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2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создать ветку напишем команду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branch test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и перейдем на данную ветку командой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checkout test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Заметим, что теперь в скобках отображается </a:t>
            </a:r>
            <a:r>
              <a:rPr lang="en-US" sz="2400" b="1" dirty="0" smtClean="0">
                <a:latin typeface="Bookman Old Style" panose="02050604050505020204" pitchFamily="18" charset="0"/>
              </a:rPr>
              <a:t>test </a:t>
            </a:r>
            <a:r>
              <a:rPr lang="en-US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текущая ветка.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45231"/>
          <a:stretch/>
        </p:blipFill>
        <p:spPr>
          <a:xfrm>
            <a:off x="442123" y="1186919"/>
            <a:ext cx="11307753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9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Изменим наш файл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Фиксируем изменения </a:t>
            </a: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commit -am </a:t>
            </a:r>
            <a:r>
              <a:rPr lang="ru-RU" sz="2400" b="1" dirty="0" smtClean="0">
                <a:latin typeface="Bookman Old Style" panose="02050604050505020204" pitchFamily="18" charset="0"/>
              </a:rPr>
              <a:t>«</a:t>
            </a:r>
            <a:r>
              <a:rPr lang="en-US" sz="2400" b="1" dirty="0" smtClean="0">
                <a:latin typeface="Bookman Old Style" panose="02050604050505020204" pitchFamily="18" charset="0"/>
              </a:rPr>
              <a:t>edit file2</a:t>
            </a:r>
            <a:r>
              <a:rPr lang="ru-RU" sz="2400" b="1" dirty="0" smtClean="0">
                <a:latin typeface="Bookman Old Style" panose="02050604050505020204" pitchFamily="18" charset="0"/>
              </a:rPr>
              <a:t>»</a:t>
            </a:r>
            <a:endParaRPr lang="en-US" sz="2400" b="1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703975"/>
            <a:ext cx="7067550" cy="200837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t="40333" b="4140"/>
          <a:stretch/>
        </p:blipFill>
        <p:spPr>
          <a:xfrm>
            <a:off x="442123" y="3416320"/>
            <a:ext cx="11307753" cy="33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наши изменения перешли в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необходимо перейти в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 выполнить слияние с веткой </a:t>
            </a:r>
            <a:r>
              <a:rPr lang="en-US" sz="2400" dirty="0" smtClean="0">
                <a:latin typeface="Bookman Old Style" panose="02050604050505020204" pitchFamily="18" charset="0"/>
              </a:rPr>
              <a:t>test: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latin typeface="Bookman Old Style" panose="02050604050505020204" pitchFamily="18" charset="0"/>
              </a:rPr>
              <a:t>checkout master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merge test</a:t>
            </a: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Теперь ветка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test. </a:t>
            </a:r>
            <a:r>
              <a:rPr lang="ru-RU" sz="2400" dirty="0" smtClean="0">
                <a:latin typeface="Bookman Old Style" panose="02050604050505020204" pitchFamily="18" charset="0"/>
              </a:rPr>
              <a:t>Если бы мы решили, что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нам не нужны (неудачная версия проекта), то мы бы не делали слияние.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28028" b="26755"/>
          <a:stretch/>
        </p:blipFill>
        <p:spPr>
          <a:xfrm>
            <a:off x="442123" y="2275073"/>
            <a:ext cx="11307753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5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Раньше команда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checkout</a:t>
            </a:r>
            <a:r>
              <a:rPr lang="ru-RU" sz="2400" dirty="0">
                <a:latin typeface="Bookman Old Style" panose="02050604050505020204" pitchFamily="18" charset="0"/>
              </a:rPr>
              <a:t> делала слишком много: и переключала ветки, и откатывала файлы. Это путало новичков. С версии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2.23 появились специализированные команды.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Перейти на существующую ветку: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 &lt;</a:t>
            </a:r>
            <a:r>
              <a:rPr lang="ru-RU" sz="2400" dirty="0" err="1">
                <a:latin typeface="Bookman Old Style" panose="02050604050505020204" pitchFamily="18" charset="0"/>
              </a:rPr>
              <a:t>имя_ветки</a:t>
            </a:r>
            <a:r>
              <a:rPr lang="ru-RU" sz="2400" dirty="0">
                <a:latin typeface="Bookman Old Style" panose="02050604050505020204" pitchFamily="18" charset="0"/>
              </a:rPr>
              <a:t>&gt; (вместо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checkout</a:t>
            </a:r>
            <a:r>
              <a:rPr lang="ru-RU" sz="2400" dirty="0">
                <a:latin typeface="Bookman Old Style" panose="02050604050505020204" pitchFamily="18" charset="0"/>
              </a:rPr>
              <a:t> &lt;имя&gt;)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Создать новую ветку и сразу перейти в неё: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 -c &lt;</a:t>
            </a:r>
            <a:r>
              <a:rPr lang="ru-RU" sz="2400" dirty="0" err="1">
                <a:latin typeface="Bookman Old Style" panose="02050604050505020204" pitchFamily="18" charset="0"/>
              </a:rPr>
              <a:t>имя_ветки</a:t>
            </a:r>
            <a:r>
              <a:rPr lang="ru-RU" sz="2400" dirty="0">
                <a:latin typeface="Bookman Old Style" panose="02050604050505020204" pitchFamily="18" charset="0"/>
              </a:rPr>
              <a:t>&gt; (вместо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checkout</a:t>
            </a:r>
            <a:r>
              <a:rPr lang="ru-RU" sz="2400" dirty="0">
                <a:latin typeface="Bookman Old Style" panose="02050604050505020204" pitchFamily="18" charset="0"/>
              </a:rPr>
              <a:t> -b &lt;имя</a:t>
            </a:r>
            <a:r>
              <a:rPr lang="ru-RU" sz="2400" dirty="0" smtClean="0">
                <a:latin typeface="Bookman Old Style" panose="02050604050505020204" pitchFamily="18" charset="0"/>
              </a:rPr>
              <a:t>&gt;)</a:t>
            </a:r>
          </a:p>
          <a:p>
            <a:pPr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Совет:</a:t>
            </a:r>
            <a:r>
              <a:rPr lang="ru-RU" sz="2400" dirty="0">
                <a:latin typeface="Bookman Old Style" panose="02050604050505020204" pitchFamily="18" charset="0"/>
              </a:rPr>
              <a:t> Используйте 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 для веток, а </a:t>
            </a:r>
            <a:r>
              <a:rPr lang="ru-RU" sz="2400" dirty="0" err="1">
                <a:latin typeface="Bookman Old Style" panose="02050604050505020204" pitchFamily="18" charset="0"/>
              </a:rPr>
              <a:t>restore</a:t>
            </a:r>
            <a:r>
              <a:rPr lang="ru-RU" sz="2400" dirty="0">
                <a:latin typeface="Bookman Old Style" panose="02050604050505020204" pitchFamily="18" charset="0"/>
              </a:rPr>
              <a:t> — для файлов. Это современный стандарт.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Современное переключение веток: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switch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47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60544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Сценарий:</a:t>
            </a:r>
            <a:r>
              <a:rPr lang="ru-RU" sz="2400" dirty="0">
                <a:latin typeface="Bookman Old Style" panose="02050604050505020204" pitchFamily="18" charset="0"/>
              </a:rPr>
              <a:t> Вы пишете сложную </a:t>
            </a:r>
            <a:r>
              <a:rPr lang="ru-RU" sz="2400" dirty="0" err="1">
                <a:latin typeface="Bookman Old Style" panose="02050604050505020204" pitchFamily="18" charset="0"/>
              </a:rPr>
              <a:t>фичу</a:t>
            </a:r>
            <a:r>
              <a:rPr lang="ru-RU" sz="2400" dirty="0">
                <a:latin typeface="Bookman Old Style" panose="02050604050505020204" pitchFamily="18" charset="0"/>
              </a:rPr>
              <a:t> в ветке </a:t>
            </a:r>
            <a:r>
              <a:rPr lang="ru-RU" sz="2400" dirty="0" err="1">
                <a:latin typeface="Bookman Old Style" panose="02050604050505020204" pitchFamily="18" charset="0"/>
              </a:rPr>
              <a:t>feature</a:t>
            </a:r>
            <a:r>
              <a:rPr lang="ru-RU" sz="2400" dirty="0">
                <a:latin typeface="Bookman Old Style" panose="02050604050505020204" pitchFamily="18" charset="0"/>
              </a:rPr>
              <a:t>-X. Код еще «сырой» и не компилируется. Вдруг прилетает критический баг в 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, который нужно исправить СЕЙЧАС.</a:t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i="1" dirty="0">
                <a:latin typeface="Bookman Old Style" panose="02050604050505020204" pitchFamily="18" charset="0"/>
              </a:rPr>
              <a:t>Проблема: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не даст переключить ветку, пока у вас есть </a:t>
            </a:r>
            <a:r>
              <a:rPr lang="ru-RU" sz="2400" dirty="0" err="1">
                <a:latin typeface="Bookman Old Style" panose="02050604050505020204" pitchFamily="18" charset="0"/>
              </a:rPr>
              <a:t>незакоммиченные</a:t>
            </a:r>
            <a:r>
              <a:rPr lang="ru-RU" sz="2400" dirty="0">
                <a:latin typeface="Bookman Old Style" panose="02050604050505020204" pitchFamily="18" charset="0"/>
              </a:rPr>
              <a:t> изменения. Делать «плохой» 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 не хочется.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Решение: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25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stash</a:t>
            </a:r>
            <a:r>
              <a:rPr lang="ru-RU" sz="2400" dirty="0">
                <a:latin typeface="Bookman Old Style" panose="02050604050505020204" pitchFamily="18" charset="0"/>
              </a:rPr>
              <a:t> — Прячем текущие изменения в «карман» (временное хранилище). Рабочая директория становится чистой.</a:t>
            </a:r>
          </a:p>
          <a:p>
            <a:pPr>
              <a:lnSpc>
                <a:spcPct val="125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 — Спокойно переходим в главную ветку.</a:t>
            </a:r>
          </a:p>
          <a:p>
            <a:pPr>
              <a:lnSpc>
                <a:spcPct val="125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...чиним баг, делаем </a:t>
            </a:r>
            <a:r>
              <a:rPr lang="ru-RU" sz="2400" i="1" dirty="0" err="1">
                <a:latin typeface="Bookman Old Style" panose="02050604050505020204" pitchFamily="18" charset="0"/>
              </a:rPr>
              <a:t>коммит</a:t>
            </a:r>
            <a:r>
              <a:rPr lang="ru-RU" sz="2400" i="1" dirty="0">
                <a:latin typeface="Bookman Old Style" panose="02050604050505020204" pitchFamily="18" charset="0"/>
              </a:rPr>
              <a:t>, пушим...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25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feature</a:t>
            </a:r>
            <a:r>
              <a:rPr lang="ru-RU" sz="2400" dirty="0">
                <a:latin typeface="Bookman Old Style" panose="02050604050505020204" pitchFamily="18" charset="0"/>
              </a:rPr>
              <a:t>-X — Возвращаемся к работе над </a:t>
            </a:r>
            <a:r>
              <a:rPr lang="ru-RU" sz="2400" dirty="0" err="1">
                <a:latin typeface="Bookman Old Style" panose="02050604050505020204" pitchFamily="18" charset="0"/>
              </a:rPr>
              <a:t>фичей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stash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pop</a:t>
            </a:r>
            <a:r>
              <a:rPr lang="ru-RU" sz="2400" dirty="0">
                <a:latin typeface="Bookman Old Style" panose="02050604050505020204" pitchFamily="18" charset="0"/>
              </a:rPr>
              <a:t> — Достаем изменения из «кармана». Код возвращается в редактор!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stash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— Карман для кода (Сохранение контекста)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36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49675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Когда вы хотите забрать свежий код из 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 в свою ветку, у вас есть два пути:</a:t>
            </a:r>
          </a:p>
          <a:p>
            <a:pPr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1. </a:t>
            </a: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merge</a:t>
            </a:r>
            <a:r>
              <a:rPr lang="ru-RU" sz="2400" b="1" dirty="0">
                <a:latin typeface="Bookman Old Style" panose="02050604050505020204" pitchFamily="18" charset="0"/>
              </a:rPr>
              <a:t> (Слияние)</a:t>
            </a:r>
          </a:p>
          <a:p>
            <a:pPr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Как работает:</a:t>
            </a:r>
            <a:r>
              <a:rPr lang="ru-RU" sz="2400" dirty="0">
                <a:latin typeface="Bookman Old Style" panose="02050604050505020204" pitchFamily="18" charset="0"/>
              </a:rPr>
              <a:t> Создает специальный «</a:t>
            </a:r>
            <a:r>
              <a:rPr lang="ru-RU" sz="2400" dirty="0" err="1">
                <a:latin typeface="Bookman Old Style" panose="02050604050505020204" pitchFamily="18" charset="0"/>
              </a:rPr>
              <a:t>мерж-коммит</a:t>
            </a:r>
            <a:r>
              <a:rPr lang="ru-RU" sz="2400" dirty="0">
                <a:latin typeface="Bookman Old Style" panose="02050604050505020204" pitchFamily="18" charset="0"/>
              </a:rPr>
              <a:t>», который связывает две ветки.</a:t>
            </a:r>
          </a:p>
          <a:p>
            <a:pPr>
              <a:lnSpc>
                <a:spcPct val="11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Плюс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Сохраняет реальную хронологию событий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feature-login</a:t>
            </a:r>
            <a:r>
              <a:rPr lang="ru-RU" sz="2400" dirty="0">
                <a:latin typeface="Bookman Old Style" panose="02050604050505020204" pitchFamily="18" charset="0"/>
              </a:rPr>
              <a:t>  # Убеждаемся, что мы в своей ветке</a:t>
            </a:r>
          </a:p>
          <a:p>
            <a:pPr>
              <a:lnSpc>
                <a:spcPct val="11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merge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            # "Влить" изменения из 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 в текущую </a:t>
            </a:r>
            <a:r>
              <a:rPr lang="ru-RU" sz="2400" dirty="0" smtClean="0">
                <a:latin typeface="Bookman Old Style" panose="02050604050505020204" pitchFamily="18" charset="0"/>
              </a:rPr>
              <a:t>ветку</a:t>
            </a:r>
          </a:p>
          <a:p>
            <a:pPr>
              <a:lnSpc>
                <a:spcPct val="11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Что </a:t>
            </a:r>
            <a:r>
              <a:rPr lang="ru-RU" sz="2400" b="1" dirty="0">
                <a:latin typeface="Bookman Old Style" panose="02050604050505020204" pitchFamily="18" charset="0"/>
              </a:rPr>
              <a:t>произойдет: </a:t>
            </a:r>
            <a:r>
              <a:rPr lang="ru-RU" sz="2400" dirty="0">
                <a:latin typeface="Bookman Old Style" panose="02050604050505020204" pitchFamily="18" charset="0"/>
              </a:rPr>
              <a:t>В истории появится новый </a:t>
            </a:r>
            <a:r>
              <a:rPr lang="ru-RU" sz="2400" dirty="0" err="1">
                <a:latin typeface="Bookman Old Style" panose="02050604050505020204" pitchFamily="18" charset="0"/>
              </a:rPr>
              <a:t>коммит</a:t>
            </a:r>
            <a:r>
              <a:rPr lang="ru-RU" sz="2400" dirty="0">
                <a:latin typeface="Bookman Old Style" panose="02050604050505020204" pitchFamily="18" charset="0"/>
              </a:rPr>
              <a:t>: "</a:t>
            </a:r>
            <a:r>
              <a:rPr lang="ru-RU" sz="2400" dirty="0" err="1">
                <a:latin typeface="Bookman Old Style" panose="02050604050505020204" pitchFamily="18" charset="0"/>
              </a:rPr>
              <a:t>Merge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branch</a:t>
            </a:r>
            <a:r>
              <a:rPr lang="ru-RU" sz="2400" dirty="0">
                <a:latin typeface="Bookman Old Style" panose="02050604050505020204" pitchFamily="18" charset="0"/>
              </a:rPr>
              <a:t> '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' </a:t>
            </a:r>
            <a:r>
              <a:rPr lang="ru-RU" sz="2400" dirty="0" err="1">
                <a:latin typeface="Bookman Old Style" panose="02050604050505020204" pitchFamily="18" charset="0"/>
              </a:rPr>
              <a:t>into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feature-login</a:t>
            </a:r>
            <a:r>
              <a:rPr lang="ru-RU" sz="2400" dirty="0">
                <a:latin typeface="Bookman Old Style" panose="02050604050505020204" pitchFamily="18" charset="0"/>
              </a:rPr>
              <a:t>".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Merge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vs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Rebase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 Как объединять код?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05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9675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2</a:t>
            </a:r>
            <a:r>
              <a:rPr lang="ru-RU" sz="2400" b="1" dirty="0">
                <a:latin typeface="Bookman Old Style" panose="02050604050505020204" pitchFamily="18" charset="0"/>
              </a:rPr>
              <a:t>. </a:t>
            </a: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rebase</a:t>
            </a:r>
            <a:r>
              <a:rPr lang="ru-RU" sz="2400" b="1" dirty="0">
                <a:latin typeface="Bookman Old Style" panose="02050604050505020204" pitchFamily="18" charset="0"/>
              </a:rPr>
              <a:t> (Перебазирование)</a:t>
            </a:r>
          </a:p>
          <a:p>
            <a:pPr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Как работает:</a:t>
            </a:r>
            <a:r>
              <a:rPr lang="ru-RU" sz="2400" dirty="0">
                <a:latin typeface="Bookman Old Style" panose="02050604050505020204" pitchFamily="18" charset="0"/>
              </a:rPr>
              <a:t> Берет ваши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, временно откладывает их, обновляет начало вашей ветки до самого свежего </a:t>
            </a:r>
            <a:r>
              <a:rPr lang="ru-RU" sz="2400" dirty="0" err="1">
                <a:latin typeface="Bookman Old Style" panose="02050604050505020204" pitchFamily="18" charset="0"/>
              </a:rPr>
              <a:t>коммита</a:t>
            </a:r>
            <a:r>
              <a:rPr lang="ru-RU" sz="2400" dirty="0">
                <a:latin typeface="Bookman Old Style" panose="02050604050505020204" pitchFamily="18" charset="0"/>
              </a:rPr>
              <a:t> в 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, и «накладывает» ваши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 сверху.</a:t>
            </a:r>
          </a:p>
          <a:p>
            <a:pPr>
              <a:lnSpc>
                <a:spcPct val="11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Плюс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История выглядит чисто, как будто вы начали писать код только что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git</a:t>
            </a:r>
            <a:r>
              <a:rPr lang="en-US" sz="2400" dirty="0">
                <a:latin typeface="Bookman Old Style" panose="02050604050505020204" pitchFamily="18" charset="0"/>
              </a:rPr>
              <a:t> switch feature-login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git</a:t>
            </a:r>
            <a:r>
              <a:rPr lang="en-US" sz="2400" dirty="0">
                <a:latin typeface="Bookman Old Style" panose="02050604050505020204" pitchFamily="18" charset="0"/>
              </a:rPr>
              <a:t> rebase </a:t>
            </a:r>
            <a:r>
              <a:rPr lang="en-US" sz="2400" dirty="0" smtClean="0">
                <a:latin typeface="Bookman Old Style" panose="02050604050505020204" pitchFamily="18" charset="0"/>
              </a:rPr>
              <a:t>main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Что произойдет:</a:t>
            </a:r>
            <a:r>
              <a:rPr lang="ru-RU" sz="2400" dirty="0">
                <a:latin typeface="Bookman Old Style" panose="02050604050505020204" pitchFamily="18" charset="0"/>
              </a:rPr>
              <a:t> Ваши локальные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 временно отсоединятся и приклеятся </a:t>
            </a:r>
            <a:r>
              <a:rPr lang="ru-RU" sz="2400" b="1" dirty="0">
                <a:latin typeface="Bookman Old Style" panose="02050604050505020204" pitchFamily="18" charset="0"/>
              </a:rPr>
              <a:t>после</a:t>
            </a:r>
            <a:r>
              <a:rPr lang="ru-RU" sz="2400" dirty="0">
                <a:latin typeface="Bookman Old Style" panose="02050604050505020204" pitchFamily="18" charset="0"/>
              </a:rPr>
              <a:t> самых свежих </a:t>
            </a:r>
            <a:r>
              <a:rPr lang="ru-RU" sz="2400" dirty="0" err="1">
                <a:latin typeface="Bookman Old Style" panose="02050604050505020204" pitchFamily="18" charset="0"/>
              </a:rPr>
              <a:t>коммитов</a:t>
            </a:r>
            <a:r>
              <a:rPr lang="ru-RU" sz="2400" dirty="0">
                <a:latin typeface="Bookman Old Style" panose="02050604050505020204" pitchFamily="18" charset="0"/>
              </a:rPr>
              <a:t> из 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826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7"/>
            <a:ext cx="12192000" cy="49675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До </a:t>
            </a:r>
            <a:r>
              <a:rPr lang="en-US" sz="2400" b="1" dirty="0">
                <a:latin typeface="Bookman Old Style" panose="02050604050505020204" pitchFamily="18" charset="0"/>
              </a:rPr>
              <a:t>Rebase:</a:t>
            </a:r>
            <a:endParaRPr lang="ru-RU" sz="2400" b="1" dirty="0" smtClean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Bookman Old Style" panose="02050604050505020204" pitchFamily="18" charset="0"/>
              </a:rPr>
              <a:t>A-</a:t>
            </a:r>
            <a:r>
              <a:rPr lang="en-US" sz="2400" dirty="0">
                <a:latin typeface="Bookman Old Style" panose="02050604050505020204" pitchFamily="18" charset="0"/>
              </a:rPr>
              <a:t>--B (feature)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     /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D---E---F (main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После </a:t>
            </a:r>
            <a:r>
              <a:rPr lang="ru-RU" sz="2400" b="1" dirty="0" err="1">
                <a:latin typeface="Bookman Old Style" panose="02050604050505020204" pitchFamily="18" charset="0"/>
              </a:rPr>
              <a:t>Rebase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(ваши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 A и B «переехали</a:t>
            </a:r>
            <a:r>
              <a:rPr lang="ru-RU" sz="2400" dirty="0" smtClean="0">
                <a:latin typeface="Bookman Old Style" panose="02050604050505020204" pitchFamily="18" charset="0"/>
              </a:rPr>
              <a:t>»):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A'---B' (feature)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         /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D---E---F (main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Ваши изменения A и B теперь базируются на самом свежем состоянии проекта F.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Визуализация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Rebase</a:t>
            </a:r>
          </a:p>
        </p:txBody>
      </p:sp>
    </p:spTree>
    <p:extLst>
      <p:ext uri="{BB962C8B-B14F-4D97-AF65-F5344CB8AC3E}">
        <p14:creationId xmlns:p14="http://schemas.microsoft.com/office/powerpoint/2010/main" val="390513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Конфликт слияния веток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7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Конфликт слияния веток возникает только тогда, когда был изменен </a:t>
            </a:r>
            <a:r>
              <a:rPr lang="ru-RU" sz="2400" dirty="0">
                <a:latin typeface="Bookman Old Style" panose="02050604050505020204" pitchFamily="18" charset="0"/>
              </a:rPr>
              <a:t>разным способом</a:t>
            </a:r>
            <a:r>
              <a:rPr lang="ru-RU" sz="2400" dirty="0" smtClean="0">
                <a:latin typeface="Bookman Old Style" panose="02050604050505020204" pitchFamily="18" charset="0"/>
              </a:rPr>
              <a:t> один и тот же файл в одной и той же ветке, либо когда производится слияние веток с разными изменениями одного и того же файла.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Смоделируем конфликт слияния: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изменим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 </a:t>
            </a:r>
            <a:r>
              <a:rPr lang="ru-RU" sz="2400" dirty="0" smtClean="0">
                <a:latin typeface="Bookman Old Style" panose="02050604050505020204" pitchFamily="18" charset="0"/>
              </a:rPr>
              <a:t>и зафиксируем изменения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70678"/>
            <a:ext cx="6131197" cy="231942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t="52111" r="50647" b="13499"/>
          <a:stretch/>
        </p:blipFill>
        <p:spPr>
          <a:xfrm>
            <a:off x="6496958" y="4070677"/>
            <a:ext cx="5240614" cy="193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3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ветке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изменим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 </a:t>
            </a:r>
            <a:r>
              <a:rPr lang="ru-RU" sz="2400" dirty="0" smtClean="0">
                <a:latin typeface="Bookman Old Style" panose="02050604050505020204" pitchFamily="18" charset="0"/>
              </a:rPr>
              <a:t>другим образом и зафиксируем изменения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32" y="646331"/>
            <a:ext cx="6706536" cy="259116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l="-2" t="38326" r="-743" b="25692"/>
          <a:stretch/>
        </p:blipFill>
        <p:spPr>
          <a:xfrm>
            <a:off x="400050" y="3237493"/>
            <a:ext cx="113919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3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Теперь перенесем изменения из </a:t>
            </a:r>
            <a:r>
              <a:rPr lang="en-US" sz="2400" dirty="0" smtClean="0">
                <a:latin typeface="Bookman Old Style" panose="02050604050505020204" pitchFamily="18" charset="0"/>
              </a:rPr>
              <a:t>test </a:t>
            </a: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</a:rPr>
              <a:t>master. </a:t>
            </a:r>
            <a:r>
              <a:rPr lang="ru-RU" sz="2400" dirty="0" smtClean="0">
                <a:latin typeface="Bookman Old Style" panose="02050604050505020204" pitchFamily="18" charset="0"/>
              </a:rPr>
              <a:t>Для этого переходим в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master </a:t>
            </a:r>
            <a:r>
              <a:rPr lang="ru-RU" sz="2400" dirty="0" smtClean="0">
                <a:latin typeface="Bookman Old Style" panose="02050604050505020204" pitchFamily="18" charset="0"/>
              </a:rPr>
              <a:t>и делаем слияние: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checkout master       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b="1" dirty="0" smtClean="0">
                <a:latin typeface="Bookman Old Style" panose="02050604050505020204" pitchFamily="18" charset="0"/>
              </a:rPr>
              <a:t> merge test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Сейчас мы находимся в процессе слияния, нужно вручную выполнить слияние веток. Из текста видно, что конфликтует файл </a:t>
            </a:r>
            <a:r>
              <a:rPr lang="en-US" sz="2400" dirty="0" smtClean="0">
                <a:latin typeface="Bookman Old Style" panose="02050604050505020204" pitchFamily="18" charset="0"/>
              </a:rPr>
              <a:t>file 1.txt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27710" b="9560"/>
          <a:stretch/>
        </p:blipFill>
        <p:spPr>
          <a:xfrm>
            <a:off x="442123" y="1216729"/>
            <a:ext cx="11307753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5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Заходим в конфликтующий файл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Видим, что в файле отображаются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изменения из обеих веток,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нам исправить файл так как мы считаем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нужным. Конфликт считается решенным,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в файле нет спец. строк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&lt;&lt;&lt;&lt;&lt;&lt;&lt; HEAD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=======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&gt;&gt;&gt;&gt;&gt;&gt;&gt; </a:t>
            </a:r>
            <a:r>
              <a:rPr lang="ru-RU" sz="2400" dirty="0" err="1" smtClean="0">
                <a:latin typeface="Bookman Old Style" panose="02050604050505020204" pitchFamily="18" charset="0"/>
              </a:rPr>
              <a:t>test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Допустим, что мы хотим оставить и те и другие изменения, просто сотрем эти спец. строки.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2024"/>
          <a:stretch/>
        </p:blipFill>
        <p:spPr>
          <a:xfrm>
            <a:off x="6989697" y="332511"/>
            <a:ext cx="4840137" cy="385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6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редактирования файла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получили следующее: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сохраняем файл и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завершаем слияние командой </a:t>
            </a:r>
            <a:r>
              <a:rPr lang="en-US" sz="2400" dirty="0" err="1" smtClean="0">
                <a:latin typeface="Bookman Old Style" panose="02050604050505020204" pitchFamily="18" charset="0"/>
              </a:rPr>
              <a:t>add+commit</a:t>
            </a:r>
            <a:r>
              <a:rPr lang="en-US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git</a:t>
            </a:r>
            <a:r>
              <a:rPr lang="en-US" sz="2400" b="1" dirty="0">
                <a:latin typeface="Bookman Old Style" panose="02050604050505020204" pitchFamily="18" charset="0"/>
              </a:rPr>
              <a:t> commit -am "merged"</a:t>
            </a:r>
            <a:endParaRPr lang="en-US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16" y="339773"/>
            <a:ext cx="6329048" cy="29849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t="21979" b="51592"/>
          <a:stretch/>
        </p:blipFill>
        <p:spPr>
          <a:xfrm>
            <a:off x="457200" y="4524315"/>
            <a:ext cx="11277600" cy="15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Локальный ПК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vs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Облако (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54357"/>
            <a:ext cx="12192000" cy="501502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Вводим концепцию удаленного </a:t>
            </a:r>
            <a:r>
              <a:rPr lang="ru-RU" sz="2400" i="1" dirty="0" err="1">
                <a:latin typeface="Bookman Old Style" panose="02050604050505020204" pitchFamily="18" charset="0"/>
              </a:rPr>
              <a:t>репозитория</a:t>
            </a:r>
            <a:r>
              <a:rPr lang="ru-RU" sz="2400" i="1" dirty="0">
                <a:latin typeface="Bookman Old Style" panose="02050604050505020204" pitchFamily="18" charset="0"/>
              </a:rPr>
              <a:t> (</a:t>
            </a:r>
            <a:r>
              <a:rPr lang="ru-RU" sz="2400" i="1" dirty="0" err="1">
                <a:latin typeface="Bookman Old Style" panose="02050604050505020204" pitchFamily="18" charset="0"/>
              </a:rPr>
              <a:t>Remote</a:t>
            </a:r>
            <a:r>
              <a:rPr lang="ru-RU" sz="2400" i="1" dirty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— это распределенная система.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Local</a:t>
            </a:r>
            <a:r>
              <a:rPr lang="ru-RU" sz="2400" b="1" dirty="0">
                <a:latin typeface="Bookman Old Style" panose="02050604050505020204" pitchFamily="18" charset="0"/>
              </a:rPr>
              <a:t> (Ваш ПК):</a:t>
            </a:r>
            <a:r>
              <a:rPr lang="ru-RU" sz="2400" dirty="0">
                <a:latin typeface="Bookman Old Style" panose="02050604050505020204" pitchFamily="18" charset="0"/>
              </a:rPr>
              <a:t> Здесь вы делаете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, переключаете ветки и можете работать без интернета.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Remote</a:t>
            </a:r>
            <a:r>
              <a:rPr lang="ru-RU" sz="2400" b="1" dirty="0">
                <a:latin typeface="Bookman Old Style" panose="02050604050505020204" pitchFamily="18" charset="0"/>
              </a:rPr>
              <a:t> (</a:t>
            </a:r>
            <a:r>
              <a:rPr lang="ru-RU" sz="2400" b="1" dirty="0" err="1">
                <a:latin typeface="Bookman Old Style" panose="02050604050505020204" pitchFamily="18" charset="0"/>
              </a:rPr>
              <a:t>GitHub</a:t>
            </a:r>
            <a:r>
              <a:rPr lang="ru-RU" sz="2400" b="1" dirty="0">
                <a:latin typeface="Bookman Old Style" panose="02050604050505020204" pitchFamily="18" charset="0"/>
              </a:rPr>
              <a:t>/</a:t>
            </a:r>
            <a:r>
              <a:rPr lang="ru-RU" sz="2400" b="1" dirty="0" err="1">
                <a:latin typeface="Bookman Old Style" panose="02050604050505020204" pitchFamily="18" charset="0"/>
              </a:rPr>
              <a:t>GitLab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Это «сервер правды». Место, где код хранится в безопасности и откуда его берут другие участники команды.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origin</a:t>
            </a:r>
            <a:r>
              <a:rPr lang="ru-RU" sz="2400" dirty="0">
                <a:latin typeface="Bookman Old Style" panose="02050604050505020204" pitchFamily="18" charset="0"/>
              </a:rPr>
              <a:t> — стандартное имя для вашего основного удаленного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репозитория</a:t>
            </a:r>
            <a:r>
              <a:rPr lang="ru-RU" sz="2400" dirty="0">
                <a:latin typeface="Bookman Old Style" panose="02050604050505020204" pitchFamily="18" charset="0"/>
              </a:rPr>
              <a:t> на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 — основная ветка (сюжетная линия)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06009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забрать изменения?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fetch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vs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pull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54357"/>
            <a:ext cx="12192000" cy="62892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Представьте: ваш коллега Вася уже залил свой код на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. Вам нужно его получить.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1. </a:t>
            </a: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fetch</a:t>
            </a:r>
            <a:r>
              <a:rPr lang="ru-RU" sz="2400" b="1" dirty="0">
                <a:latin typeface="Bookman Old Style" panose="02050604050505020204" pitchFamily="18" charset="0"/>
              </a:rPr>
              <a:t> (Разведка)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Скачивает данные о новых </a:t>
            </a:r>
            <a:r>
              <a:rPr lang="ru-RU" sz="2400" dirty="0" err="1">
                <a:latin typeface="Bookman Old Style" panose="02050604050505020204" pitchFamily="18" charset="0"/>
              </a:rPr>
              <a:t>коммитах</a:t>
            </a:r>
            <a:r>
              <a:rPr lang="ru-RU" sz="2400" dirty="0">
                <a:latin typeface="Bookman Old Style" panose="02050604050505020204" pitchFamily="18" charset="0"/>
              </a:rPr>
              <a:t> с сервера, но </a:t>
            </a:r>
            <a:r>
              <a:rPr lang="ru-RU" sz="2400" b="1" dirty="0">
                <a:latin typeface="Bookman Old Style" panose="02050604050505020204" pitchFamily="18" charset="0"/>
              </a:rPr>
              <a:t>не меняет ваши файлы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Зачем:</a:t>
            </a:r>
            <a:r>
              <a:rPr lang="ru-RU" sz="2400" dirty="0">
                <a:latin typeface="Bookman Old Style" panose="02050604050505020204" pitchFamily="18" charset="0"/>
              </a:rPr>
              <a:t> Просто посмотреть: "А что там нового?". Ваша рабочая область остается нетронутой.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2. </a:t>
            </a:r>
            <a:r>
              <a:rPr lang="ru-RU" sz="2400" b="1" dirty="0" err="1">
                <a:latin typeface="Bookman Old Style" panose="02050604050505020204" pitchFamily="18" charset="0"/>
              </a:rPr>
              <a:t>git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pull</a:t>
            </a:r>
            <a:r>
              <a:rPr lang="ru-RU" sz="2400" b="1" dirty="0">
                <a:latin typeface="Bookman Old Style" panose="02050604050505020204" pitchFamily="18" charset="0"/>
              </a:rPr>
              <a:t> (Забрать и применить)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Скачивает изменения и </a:t>
            </a:r>
            <a:r>
              <a:rPr lang="ru-RU" sz="2400" b="1" dirty="0">
                <a:latin typeface="Bookman Old Style" panose="02050604050505020204" pitchFamily="18" charset="0"/>
              </a:rPr>
              <a:t>сразу вливает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dirty="0" err="1">
                <a:latin typeface="Bookman Old Style" panose="02050604050505020204" pitchFamily="18" charset="0"/>
              </a:rPr>
              <a:t>merge</a:t>
            </a:r>
            <a:r>
              <a:rPr lang="ru-RU" sz="2400" dirty="0">
                <a:latin typeface="Bookman Old Style" panose="02050604050505020204" pitchFamily="18" charset="0"/>
              </a:rPr>
              <a:t>) их в вашу текущую ветку.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Формула: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pull</a:t>
            </a:r>
            <a:r>
              <a:rPr lang="ru-RU" sz="2400" dirty="0">
                <a:latin typeface="Bookman Old Style" panose="02050604050505020204" pitchFamily="18" charset="0"/>
              </a:rPr>
              <a:t> =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fetch</a:t>
            </a:r>
            <a:r>
              <a:rPr lang="ru-RU" sz="2400" dirty="0">
                <a:latin typeface="Bookman Old Style" panose="02050604050505020204" pitchFamily="18" charset="0"/>
              </a:rPr>
              <a:t> +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merge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Риск:</a:t>
            </a:r>
            <a:r>
              <a:rPr lang="ru-RU" sz="2400" dirty="0">
                <a:latin typeface="Bookman Old Style" panose="02050604050505020204" pitchFamily="18" charset="0"/>
              </a:rPr>
              <a:t> Если вы меняли те же строки, что и Вася, именно на этой команде возникнет </a:t>
            </a:r>
            <a:r>
              <a:rPr lang="ru-RU" sz="2400" b="1" dirty="0">
                <a:latin typeface="Bookman Old Style" panose="02050604050505020204" pitchFamily="18" charset="0"/>
              </a:rPr>
              <a:t>конфликт</a:t>
            </a:r>
            <a:r>
              <a:rPr lang="ru-RU" sz="2400" dirty="0">
                <a:latin typeface="Bookman Old Style" panose="02050604050505020204" pitchFamily="18" charset="0"/>
              </a:rPr>
              <a:t>, который нужно будет решить.</a:t>
            </a:r>
          </a:p>
        </p:txBody>
      </p:sp>
    </p:spTree>
    <p:extLst>
      <p:ext uri="{BB962C8B-B14F-4D97-AF65-F5344CB8AC3E}">
        <p14:creationId xmlns:p14="http://schemas.microsoft.com/office/powerpoint/2010/main" val="204495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отправить свой код?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push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54357"/>
            <a:ext cx="12192000" cy="612366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Вы сделали крутую </a:t>
            </a:r>
            <a:r>
              <a:rPr lang="ru-RU" sz="2400" dirty="0" err="1">
                <a:latin typeface="Bookman Old Style" panose="02050604050505020204" pitchFamily="18" charset="0"/>
              </a:rPr>
              <a:t>фичу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latin typeface="Bookman Old Style" panose="02050604050505020204" pitchFamily="18" charset="0"/>
              </a:rPr>
              <a:t>закоммитили</a:t>
            </a:r>
            <a:r>
              <a:rPr lang="ru-RU" sz="2400" dirty="0">
                <a:latin typeface="Bookman Old Style" panose="02050604050505020204" pitchFamily="18" charset="0"/>
              </a:rPr>
              <a:t> её локально. Теперь её нужно «запушить» на сервер, чтобы её увидел </a:t>
            </a:r>
            <a:r>
              <a:rPr lang="ru-RU" sz="2400" dirty="0" err="1">
                <a:latin typeface="Bookman Old Style" panose="02050604050505020204" pitchFamily="18" charset="0"/>
              </a:rPr>
              <a:t>тимлид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Команда: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push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origin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feature-name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Важное условие:</a:t>
            </a:r>
            <a:r>
              <a:rPr lang="ru-RU" sz="2400" dirty="0">
                <a:latin typeface="Bookman Old Style" panose="02050604050505020204" pitchFamily="18" charset="0"/>
              </a:rPr>
              <a:t> Вы не сможете сделать </a:t>
            </a:r>
            <a:r>
              <a:rPr lang="ru-RU" sz="2400" dirty="0" err="1">
                <a:latin typeface="Bookman Old Style" panose="02050604050505020204" pitchFamily="18" charset="0"/>
              </a:rPr>
              <a:t>push</a:t>
            </a:r>
            <a:r>
              <a:rPr lang="ru-RU" sz="2400" dirty="0">
                <a:latin typeface="Bookman Old Style" panose="02050604050505020204" pitchFamily="18" charset="0"/>
              </a:rPr>
              <a:t>, если на сервере есть чужие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, которых нет у вас.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Правильный порядок действий: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add</a:t>
            </a:r>
            <a:r>
              <a:rPr lang="ru-RU" sz="2400" dirty="0">
                <a:latin typeface="Bookman Old Style" panose="02050604050505020204" pitchFamily="18" charset="0"/>
              </a:rPr>
              <a:t> .</a:t>
            </a:r>
          </a:p>
          <a:p>
            <a:pPr lvl="1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commit</a:t>
            </a:r>
            <a:r>
              <a:rPr lang="ru-RU" sz="2400" dirty="0">
                <a:latin typeface="Bookman Old Style" panose="02050604050505020204" pitchFamily="18" charset="0"/>
              </a:rPr>
              <a:t> -m "</a:t>
            </a:r>
            <a:r>
              <a:rPr lang="ru-RU" sz="2400" dirty="0" err="1">
                <a:latin typeface="Bookman Old Style" panose="02050604050505020204" pitchFamily="18" charset="0"/>
              </a:rPr>
              <a:t>Done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feature</a:t>
            </a:r>
            <a:r>
              <a:rPr lang="ru-RU" sz="2400" dirty="0">
                <a:latin typeface="Bookman Old Style" panose="02050604050505020204" pitchFamily="18" charset="0"/>
              </a:rPr>
              <a:t>"</a:t>
            </a:r>
          </a:p>
          <a:p>
            <a:pPr lvl="1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pull</a:t>
            </a:r>
            <a:r>
              <a:rPr lang="ru-RU" sz="2400" dirty="0">
                <a:latin typeface="Bookman Old Style" panose="02050604050505020204" pitchFamily="18" charset="0"/>
              </a:rPr>
              <a:t> (проверяем, нет ли обновлений от коллег)</a:t>
            </a:r>
          </a:p>
          <a:p>
            <a:pPr lvl="1"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Решаем конфликты, если они есть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push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61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Pull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Request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(PR) — Главная кнопка в IT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54357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серьезных компаниях никто не пушит код напрямую в ветку 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. Это запрещено настройками.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Как выглядит работа на самом деле: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Вы создаете свою ветку: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switch</a:t>
            </a:r>
            <a:r>
              <a:rPr lang="ru-RU" sz="2400" dirty="0">
                <a:latin typeface="Bookman Old Style" panose="02050604050505020204" pitchFamily="18" charset="0"/>
              </a:rPr>
              <a:t> -c </a:t>
            </a:r>
            <a:r>
              <a:rPr lang="ru-RU" sz="2400" dirty="0" err="1">
                <a:latin typeface="Bookman Old Style" panose="02050604050505020204" pitchFamily="18" charset="0"/>
              </a:rPr>
              <a:t>my-feature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Пишете код, делаете </a:t>
            </a:r>
            <a:r>
              <a:rPr lang="ru-RU" sz="2400" dirty="0" err="1">
                <a:latin typeface="Bookman Old Style" panose="02050604050505020204" pitchFamily="18" charset="0"/>
              </a:rPr>
              <a:t>коммиты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Делаете 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push</a:t>
            </a:r>
            <a:r>
              <a:rPr lang="ru-RU" sz="2400" dirty="0">
                <a:latin typeface="Bookman Old Style" panose="02050604050505020204" pitchFamily="18" charset="0"/>
              </a:rPr>
              <a:t> своей ветки на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На сайте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нажимаете </a:t>
            </a:r>
            <a:r>
              <a:rPr lang="ru-RU" sz="2400" b="1" dirty="0">
                <a:latin typeface="Bookman Old Style" panose="02050604050505020204" pitchFamily="18" charset="0"/>
              </a:rPr>
              <a:t>"</a:t>
            </a:r>
            <a:r>
              <a:rPr lang="ru-RU" sz="2400" b="1" dirty="0" err="1">
                <a:latin typeface="Bookman Old Style" panose="02050604050505020204" pitchFamily="18" charset="0"/>
              </a:rPr>
              <a:t>New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Pull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Request</a:t>
            </a:r>
            <a:r>
              <a:rPr lang="ru-RU" sz="2400" b="1" dirty="0">
                <a:latin typeface="Bookman Old Style" panose="02050604050505020204" pitchFamily="18" charset="0"/>
              </a:rPr>
              <a:t>"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 err="1">
                <a:latin typeface="Bookman Old Style" panose="02050604050505020204" pitchFamily="18" charset="0"/>
              </a:rPr>
              <a:t>Тимлид</a:t>
            </a:r>
            <a:r>
              <a:rPr lang="ru-RU" sz="2400" dirty="0">
                <a:latin typeface="Bookman Old Style" panose="02050604050505020204" pitchFamily="18" charset="0"/>
              </a:rPr>
              <a:t> смотрит ваш код (</a:t>
            </a:r>
            <a:r>
              <a:rPr lang="ru-RU" sz="2400" dirty="0" err="1">
                <a:latin typeface="Bookman Old Style" panose="02050604050505020204" pitchFamily="18" charset="0"/>
              </a:rPr>
              <a:t>Code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Review</a:t>
            </a:r>
            <a:r>
              <a:rPr lang="ru-RU" sz="2400" dirty="0">
                <a:latin typeface="Bookman Old Style" panose="02050604050505020204" pitchFamily="18" charset="0"/>
              </a:rPr>
              <a:t>), пишет замечания.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Bookman Old Style" panose="02050604050505020204" pitchFamily="18" charset="0"/>
              </a:rPr>
              <a:t>Когда всё </a:t>
            </a:r>
            <a:r>
              <a:rPr lang="ru-RU" sz="2400" dirty="0" err="1">
                <a:latin typeface="Bookman Old Style" panose="02050604050505020204" pitchFamily="18" charset="0"/>
              </a:rPr>
              <a:t>ок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latin typeface="Bookman Old Style" panose="02050604050505020204" pitchFamily="18" charset="0"/>
              </a:rPr>
              <a:t>тимлид</a:t>
            </a:r>
            <a:r>
              <a:rPr lang="ru-RU" sz="2400" dirty="0">
                <a:latin typeface="Bookman Old Style" panose="02050604050505020204" pitchFamily="18" charset="0"/>
              </a:rPr>
              <a:t> жмет </a:t>
            </a:r>
            <a:r>
              <a:rPr lang="ru-RU" sz="2400" b="1" dirty="0">
                <a:latin typeface="Bookman Old Style" panose="02050604050505020204" pitchFamily="18" charset="0"/>
              </a:rPr>
              <a:t>"</a:t>
            </a:r>
            <a:r>
              <a:rPr lang="ru-RU" sz="2400" b="1" dirty="0" err="1">
                <a:latin typeface="Bookman Old Style" panose="02050604050505020204" pitchFamily="18" charset="0"/>
              </a:rPr>
              <a:t>Merge</a:t>
            </a:r>
            <a:r>
              <a:rPr lang="ru-RU" sz="2400" b="1" dirty="0">
                <a:latin typeface="Bookman Old Style" panose="02050604050505020204" pitchFamily="18" charset="0"/>
              </a:rPr>
              <a:t>"</a:t>
            </a:r>
            <a:r>
              <a:rPr lang="ru-RU" sz="2400" dirty="0">
                <a:latin typeface="Bookman Old Style" panose="02050604050505020204" pitchFamily="18" charset="0"/>
              </a:rPr>
              <a:t>, и ваш код попадает в </a:t>
            </a:r>
            <a:r>
              <a:rPr lang="ru-RU" sz="2400" dirty="0" err="1">
                <a:latin typeface="Bookman Old Style" panose="02050604050505020204" pitchFamily="18" charset="0"/>
              </a:rPr>
              <a:t>main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14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0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Программирование и 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54357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этапы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при написании программ.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Ещё раз отметим, что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это обычная папка, в которой может храниться все что угодно.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Однако при написании программ, например, на </a:t>
            </a:r>
            <a:r>
              <a:rPr lang="en-US" sz="2400" dirty="0" smtClean="0">
                <a:latin typeface="Bookman Old Style" panose="02050604050505020204" pitchFamily="18" charset="0"/>
              </a:rPr>
              <a:t>C#</a:t>
            </a:r>
            <a:r>
              <a:rPr lang="ru-RU" sz="2400" dirty="0" smtClean="0">
                <a:latin typeface="Bookman Old Style" panose="02050604050505020204" pitchFamily="18" charset="0"/>
              </a:rPr>
              <a:t> в папке с проектом создается огромное количество вспомогательных файлов, которые пересоздаются при компиляции и которые не нужно сохранять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Поэтому</a:t>
            </a:r>
            <a:r>
              <a:rPr lang="ru-RU" sz="2400" b="1" dirty="0" smtClean="0">
                <a:latin typeface="Bookman Old Style" panose="02050604050505020204" pitchFamily="18" charset="0"/>
              </a:rPr>
              <a:t> важнейшим этапом </a:t>
            </a:r>
            <a:r>
              <a:rPr lang="ru-RU" sz="2400" dirty="0" smtClean="0">
                <a:latin typeface="Bookman Old Style" panose="02050604050505020204" pitchFamily="18" charset="0"/>
              </a:rPr>
              <a:t>здесь является добавление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файла с правильным содержимым. Добавить его нужно </a:t>
            </a:r>
            <a:r>
              <a:rPr lang="ru-RU" sz="2400" b="1" dirty="0" smtClean="0">
                <a:latin typeface="Bookman Old Style" panose="02050604050505020204" pitchFamily="18" charset="0"/>
              </a:rPr>
              <a:t>ДО</a:t>
            </a:r>
            <a:r>
              <a:rPr lang="ru-RU" sz="2400" dirty="0" smtClean="0">
                <a:latin typeface="Bookman Old Style" panose="02050604050505020204" pitchFamily="18" charset="0"/>
              </a:rPr>
              <a:t> создания программы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>
                <a:latin typeface="Bookman Old Style" panose="02050604050505020204" pitchFamily="18" charset="0"/>
              </a:rPr>
              <a:t>Данный файл для </a:t>
            </a:r>
            <a:r>
              <a:rPr lang="en-US" sz="2400" dirty="0">
                <a:latin typeface="Bookman Old Style" panose="02050604050505020204" pitchFamily="18" charset="0"/>
              </a:rPr>
              <a:t>C# </a:t>
            </a:r>
            <a:r>
              <a:rPr lang="ru-RU" sz="2400" dirty="0">
                <a:latin typeface="Bookman Old Style" panose="02050604050505020204" pitchFamily="18" charset="0"/>
              </a:rPr>
              <a:t>можно скачать по ссылке </a:t>
            </a:r>
            <a:r>
              <a:rPr lang="en-US" sz="2200" dirty="0" smtClean="0">
                <a:latin typeface="Bookman Old Style" panose="02050604050505020204" pitchFamily="18" charset="0"/>
                <a:hlinkClick r:id="rId3"/>
              </a:rPr>
              <a:t>https</a:t>
            </a:r>
            <a:r>
              <a:rPr lang="en-US" sz="2200" dirty="0">
                <a:latin typeface="Bookman Old Style" panose="02050604050505020204" pitchFamily="18" charset="0"/>
                <a:hlinkClick r:id="rId3"/>
              </a:rPr>
              <a:t>://</a:t>
            </a:r>
            <a:r>
              <a:rPr lang="en-US" sz="2200" dirty="0" smtClean="0">
                <a:latin typeface="Bookman Old Style" panose="02050604050505020204" pitchFamily="18" charset="0"/>
                <a:hlinkClick r:id="rId3"/>
              </a:rPr>
              <a:t>github.com/github/gitignore/blob/main/VisualStudio.gitignore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33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Очистим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>
                <a:latin typeface="Bookman Old Style" panose="02050604050505020204" pitchFamily="18" charset="0"/>
              </a:rPr>
              <a:t>,</a:t>
            </a:r>
            <a:r>
              <a:rPr lang="ru-RU" sz="2400" dirty="0" smtClean="0">
                <a:latin typeface="Bookman Old Style" panose="02050604050505020204" pitchFamily="18" charset="0"/>
              </a:rPr>
              <a:t> добавим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файл и зафиксируем изменения.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создадим проект, в качестве местоположения проекта выберем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Зеленая полоска слева означает, что этой строки не было и она добавлена.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27818" b="26329"/>
          <a:stretch/>
        </p:blipFill>
        <p:spPr>
          <a:xfrm>
            <a:off x="581891" y="1182202"/>
            <a:ext cx="11307753" cy="27432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t="17649" b="40465"/>
          <a:stretch/>
        </p:blipFill>
        <p:spPr>
          <a:xfrm>
            <a:off x="1877078" y="4994815"/>
            <a:ext cx="9269119" cy="59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3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</a:rPr>
              <a:t>Visual Studio </a:t>
            </a:r>
            <a:r>
              <a:rPr lang="ru-RU" sz="2400" dirty="0" smtClean="0">
                <a:latin typeface="Bookman Old Style" panose="02050604050505020204" pitchFamily="18" charset="0"/>
              </a:rPr>
              <a:t>есть интерфейс для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правой нижней части экрана отображается: номер фиксации, количество изменений, текущая ветка, имя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есть вкладка Изменения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ru-RU" sz="2400" dirty="0" smtClean="0">
                <a:latin typeface="Bookman Old Style" panose="02050604050505020204" pitchFamily="18" charset="0"/>
              </a:rPr>
              <a:t>находится в панели «Вид»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23" y="1854079"/>
            <a:ext cx="11205555" cy="12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Откроем вкладку Изменения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Здесь с помощью графического интерфейса можно сменить ветку и зафиксировать изменения.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рассмотрим другие способы работы 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2" y="633562"/>
            <a:ext cx="11272057" cy="358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2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существует графический интерфейс, который можно вызвать выбрав пункт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ru-RU" sz="2400" dirty="0" smtClean="0">
                <a:latin typeface="Bookman Old Style" panose="02050604050505020204" pitchFamily="18" charset="0"/>
              </a:rPr>
              <a:t>при нажатии ПКМ, см. пункты ранее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существует отдельное приложение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GitHub</a:t>
            </a:r>
            <a:r>
              <a:rPr lang="ru-RU" sz="2400" dirty="0" smtClean="0">
                <a:latin typeface="Bookman Old Style" panose="02050604050505020204" pitchFamily="18" charset="0"/>
              </a:rPr>
              <a:t>, которое позволяет сохранять проекты в удаленном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(облачно), отображать статистику вашей работы, делиться проектами с другими людьми, оно позволяет работать в команде удаленно (каждый загружает свои изменения в удаленный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и загружает в свой локальный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чужие изменения).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13246"/>
          <a:stretch/>
        </p:blipFill>
        <p:spPr>
          <a:xfrm>
            <a:off x="5254051" y="1859038"/>
            <a:ext cx="5907434" cy="1305415"/>
          </a:xfrm>
          <a:prstGeom prst="rect">
            <a:avLst/>
          </a:prstGeom>
        </p:spPr>
      </p:pic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GUI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92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— крупнейший веб-сервис для хостинга IT-проектов и их совместной разработки. Веб-сервис основан на системе контроля версий 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 и разработан на </a:t>
            </a:r>
            <a:r>
              <a:rPr lang="ru-RU" sz="2400" dirty="0" err="1">
                <a:latin typeface="Bookman Old Style" panose="02050604050505020204" pitchFamily="18" charset="0"/>
              </a:rPr>
              <a:t>Ruby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on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Rails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Erlang</a:t>
            </a:r>
            <a:r>
              <a:rPr lang="ru-RU" sz="2400" dirty="0">
                <a:latin typeface="Bookman Old Style" panose="02050604050505020204" pitchFamily="18" charset="0"/>
              </a:rPr>
              <a:t> компанией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GitHub</a:t>
            </a:r>
            <a:r>
              <a:rPr lang="ru-RU" sz="2400" dirty="0" smtClean="0">
                <a:latin typeface="Bookman Old Style" panose="02050604050505020204" pitchFamily="18" charset="0"/>
              </a:rPr>
              <a:t>  </a:t>
            </a:r>
            <a:r>
              <a:rPr lang="ru-RU" sz="2400" dirty="0" err="1">
                <a:latin typeface="Bookman Old Style" panose="02050604050505020204" pitchFamily="18" charset="0"/>
              </a:rPr>
              <a:t>Inc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начала работы необходимо зарегистрироваться на сайте 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https://github.com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/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 скачать </a:t>
            </a:r>
            <a:r>
              <a:rPr lang="en-US" sz="2400" b="1" dirty="0" smtClean="0">
                <a:latin typeface="Bookman Old Style" panose="02050604050505020204" pitchFamily="18" charset="0"/>
              </a:rPr>
              <a:t>GitHub Desktop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приложение, </a:t>
            </a:r>
            <a:r>
              <a:rPr lang="ru-RU" sz="2400" dirty="0">
                <a:latin typeface="Bookman Old Style" panose="02050604050505020204" pitchFamily="18" charset="0"/>
              </a:rPr>
              <a:t>которое позволяет взаимодействовать с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с помощью графического пользовательского </a:t>
            </a:r>
            <a:r>
              <a:rPr lang="ru-RU" sz="2400" dirty="0" smtClean="0">
                <a:latin typeface="Bookman Old Style" panose="02050604050505020204" pitchFamily="18" charset="0"/>
              </a:rPr>
              <a:t>интерфейса. </a:t>
            </a:r>
            <a:r>
              <a:rPr lang="en-US" sz="2400" dirty="0">
                <a:latin typeface="Bookman Old Style" panose="02050604050505020204" pitchFamily="18" charset="0"/>
                <a:hlinkClick r:id="rId4"/>
              </a:rPr>
              <a:t>https://desktop.github.com</a:t>
            </a:r>
            <a:r>
              <a:rPr lang="en-US" sz="2400" dirty="0" smtClean="0">
                <a:latin typeface="Bookman Old Style" panose="02050604050505020204" pitchFamily="18" charset="0"/>
                <a:hlinkClick r:id="rId4"/>
              </a:rPr>
              <a:t>/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с помощью </a:t>
            </a:r>
            <a:r>
              <a:rPr lang="en-US" sz="2400" b="1" dirty="0">
                <a:latin typeface="Bookman Old Style" panose="02050604050505020204" pitchFamily="18" charset="0"/>
              </a:rPr>
              <a:t>GitHub Desktop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Запускаем </a:t>
            </a:r>
            <a:r>
              <a:rPr lang="en-US" sz="2400" b="1" dirty="0">
                <a:latin typeface="Bookman Old Style" panose="02050604050505020204" pitchFamily="18" charset="0"/>
              </a:rPr>
              <a:t>GitHub </a:t>
            </a:r>
            <a:r>
              <a:rPr lang="en-US" sz="2400" b="1" dirty="0" smtClean="0">
                <a:latin typeface="Bookman Old Style" panose="02050604050505020204" pitchFamily="18" charset="0"/>
              </a:rPr>
              <a:t>Desktop</a:t>
            </a:r>
            <a:r>
              <a:rPr lang="ru-RU" sz="2400" dirty="0" smtClean="0">
                <a:latin typeface="Bookman Old Style" panose="02050604050505020204" pitchFamily="18" charset="0"/>
              </a:rPr>
              <a:t>, нажимаем </a:t>
            </a:r>
            <a:r>
              <a:rPr lang="en-US" sz="2400" dirty="0" smtClean="0">
                <a:latin typeface="Bookman Old Style" panose="02050604050505020204" pitchFamily="18" charset="0"/>
              </a:rPr>
              <a:t>File -&gt; New repository, </a:t>
            </a:r>
            <a:r>
              <a:rPr lang="ru-RU" sz="2400" dirty="0" smtClean="0">
                <a:latin typeface="Bookman Old Style" panose="02050604050505020204" pitchFamily="18" charset="0"/>
              </a:rPr>
              <a:t>выбираем имя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и местоположение.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GitHub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34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40396" b="4674"/>
          <a:stretch/>
        </p:blipFill>
        <p:spPr>
          <a:xfrm>
            <a:off x="2719579" y="1970184"/>
            <a:ext cx="7376954" cy="45905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4568" b="73283"/>
          <a:stretch/>
        </p:blipFill>
        <p:spPr>
          <a:xfrm>
            <a:off x="2719579" y="116379"/>
            <a:ext cx="7388398" cy="185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это проект на языке </a:t>
            </a:r>
            <a:r>
              <a:rPr lang="en-US" sz="2400" dirty="0" smtClean="0">
                <a:latin typeface="Bookman Old Style" panose="02050604050505020204" pitchFamily="18" charset="0"/>
              </a:rPr>
              <a:t>C#, </a:t>
            </a:r>
            <a:r>
              <a:rPr lang="ru-RU" sz="2400" dirty="0" smtClean="0">
                <a:latin typeface="Bookman Old Style" panose="02050604050505020204" pitchFamily="18" charset="0"/>
              </a:rPr>
              <a:t>то не забываем скачать </a:t>
            </a:r>
            <a:r>
              <a:rPr lang="en-US" sz="2400" dirty="0" err="1" smtClean="0">
                <a:latin typeface="Bookman Old Style" panose="02050604050505020204" pitchFamily="18" charset="0"/>
              </a:rPr>
              <a:t>gitignore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en-US" sz="2400" dirty="0" smtClean="0">
                <a:latin typeface="Bookman Old Style" panose="02050604050505020204" pitchFamily="18" charset="0"/>
              </a:rPr>
              <a:t>C# </a:t>
            </a:r>
            <a:r>
              <a:rPr lang="ru-RU" sz="2400" dirty="0" smtClean="0">
                <a:latin typeface="Bookman Old Style" panose="02050604050505020204" pitchFamily="18" charset="0"/>
              </a:rPr>
              <a:t>и положить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примера добавим текстовый файл в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Зайдем в </a:t>
            </a:r>
            <a:r>
              <a:rPr lang="en-US" sz="2400" b="1" dirty="0">
                <a:latin typeface="Bookman Old Style" panose="02050604050505020204" pitchFamily="18" charset="0"/>
              </a:rPr>
              <a:t>GitHub Desktop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7" y="1798011"/>
            <a:ext cx="7532914" cy="505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7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программе зеленым плюсом отмечено, что было добавлено, видим, что добавился «файл.</a:t>
            </a:r>
            <a:r>
              <a:rPr lang="en-US" sz="2400" dirty="0" smtClean="0">
                <a:latin typeface="Bookman Old Style" panose="02050604050505020204" pitchFamily="18" charset="0"/>
              </a:rPr>
              <a:t>txt</a:t>
            </a:r>
            <a:r>
              <a:rPr lang="ru-RU" sz="2400" dirty="0" smtClean="0">
                <a:latin typeface="Bookman Old Style" panose="02050604050505020204" pitchFamily="18" charset="0"/>
              </a:rPr>
              <a:t>»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25718" b="74910"/>
          <a:stretch/>
        </p:blipFill>
        <p:spPr>
          <a:xfrm>
            <a:off x="376843" y="1200329"/>
            <a:ext cx="11438313" cy="2656113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 flipH="1">
            <a:off x="4310743" y="3672113"/>
            <a:ext cx="1219200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9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63641" r="73330"/>
          <a:stretch/>
        </p:blipFill>
        <p:spPr>
          <a:xfrm>
            <a:off x="3077786" y="1200330"/>
            <a:ext cx="5674329" cy="5318292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Зафиксируем изменения с помощью </a:t>
            </a:r>
            <a:r>
              <a:rPr lang="ru-RU" sz="2400" dirty="0" err="1">
                <a:latin typeface="Bookman Old Style" panose="02050604050505020204" pitchFamily="18" charset="0"/>
              </a:rPr>
              <a:t>комита</a:t>
            </a:r>
            <a:r>
              <a:rPr lang="ru-RU" sz="2400" dirty="0">
                <a:latin typeface="Bookman Old Style" panose="02050604050505020204" pitchFamily="18" charset="0"/>
              </a:rPr>
              <a:t>, введем название </a:t>
            </a:r>
            <a:r>
              <a:rPr lang="ru-RU" sz="2400" dirty="0" err="1">
                <a:latin typeface="Bookman Old Style" panose="02050604050505020204" pitchFamily="18" charset="0"/>
              </a:rPr>
              <a:t>комита</a:t>
            </a:r>
            <a:r>
              <a:rPr lang="ru-RU" sz="2400" dirty="0">
                <a:latin typeface="Bookman Old Style" panose="02050604050505020204" pitchFamily="18" charset="0"/>
              </a:rPr>
              <a:t> и нажмем </a:t>
            </a:r>
            <a:r>
              <a:rPr lang="en-US" sz="2400" b="1" dirty="0">
                <a:latin typeface="Bookman Old Style" panose="02050604050505020204" pitchFamily="18" charset="0"/>
              </a:rPr>
              <a:t>Commit to main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8502733" y="5083693"/>
            <a:ext cx="1219200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58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Пока что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локальный, чтобы к нашему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репозиторию</a:t>
            </a:r>
            <a:r>
              <a:rPr lang="ru-RU" sz="2400" dirty="0" smtClean="0">
                <a:latin typeface="Bookman Old Style" panose="02050604050505020204" pitchFamily="18" charset="0"/>
              </a:rPr>
              <a:t> был доступ из интернета необходимо опубликовать его. Нажмем </a:t>
            </a:r>
            <a:r>
              <a:rPr lang="en-US" sz="2400" dirty="0" smtClean="0">
                <a:latin typeface="Bookman Old Style" panose="02050604050505020204" pitchFamily="18" charset="0"/>
              </a:rPr>
              <a:t>publish repository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6035" t="4202" b="47422"/>
          <a:stretch/>
        </p:blipFill>
        <p:spPr>
          <a:xfrm>
            <a:off x="377371" y="1715263"/>
            <a:ext cx="11437257" cy="5142737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7445828" y="2148113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>
            <a:off x="10595428" y="5805714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352" y="735097"/>
            <a:ext cx="8808721" cy="561780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опубликования наш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 появится у нашего аккаунта </a:t>
            </a:r>
            <a:r>
              <a:rPr lang="en-US" sz="2400" dirty="0" smtClean="0">
                <a:latin typeface="Bookman Old Style" panose="02050604050505020204" pitchFamily="18" charset="0"/>
              </a:rPr>
              <a:t>GitHub </a:t>
            </a:r>
            <a:r>
              <a:rPr lang="ru-RU" sz="2400" dirty="0" smtClean="0">
                <a:latin typeface="Bookman Old Style" panose="02050604050505020204" pitchFamily="18" charset="0"/>
              </a:rPr>
              <a:t>на сайте.</a:t>
            </a:r>
          </a:p>
        </p:txBody>
      </p:sp>
    </p:spTree>
    <p:extLst>
      <p:ext uri="{BB962C8B-B14F-4D97-AF65-F5344CB8AC3E}">
        <p14:creationId xmlns:p14="http://schemas.microsoft.com/office/powerpoint/2010/main" val="419877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594043"/>
            <a:ext cx="11305309" cy="473409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98764" y="3573815"/>
            <a:ext cx="82067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зайти в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репозиторий</a:t>
            </a:r>
            <a:r>
              <a:rPr lang="ru-RU" sz="2400" dirty="0" smtClean="0">
                <a:latin typeface="Bookman Old Style" panose="02050604050505020204" pitchFamily="18" charset="0"/>
              </a:rPr>
              <a:t>, то увидим данное окно.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Также можно добавить справку о программе в виде файла </a:t>
            </a:r>
            <a:r>
              <a:rPr lang="en-US" sz="2400" dirty="0" smtClean="0">
                <a:latin typeface="Bookman Old Style" panose="02050604050505020204" pitchFamily="18" charset="0"/>
              </a:rPr>
              <a:t>README.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алгоритм работы может быть следующий: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Для создания новой ветки необходимо зайти </a:t>
            </a:r>
            <a:r>
              <a:rPr lang="en-US" sz="2400" b="1" dirty="0" smtClean="0">
                <a:latin typeface="Bookman Old Style" panose="02050604050505020204" pitchFamily="18" charset="0"/>
              </a:rPr>
              <a:t>Branch</a:t>
            </a:r>
            <a:r>
              <a:rPr lang="en-US" sz="2400" dirty="0" smtClean="0">
                <a:latin typeface="Bookman Old Style" panose="02050604050505020204" pitchFamily="18" charset="0"/>
              </a:rPr>
              <a:t> -&gt; </a:t>
            </a:r>
            <a:r>
              <a:rPr lang="en-US" sz="2400" b="1" dirty="0" smtClean="0">
                <a:latin typeface="Bookman Old Style" panose="02050604050505020204" pitchFamily="18" charset="0"/>
              </a:rPr>
              <a:t>New branch</a:t>
            </a:r>
            <a:r>
              <a:rPr lang="en-US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 smtClean="0">
                <a:latin typeface="Bookman Old Style" panose="02050604050505020204" pitchFamily="18" charset="0"/>
              </a:rPr>
              <a:t>после чего у вас добавится новая ветка</a:t>
            </a:r>
            <a:endParaRPr lang="ru-RU" sz="2400" u="sng" dirty="0" smtClean="0">
              <a:latin typeface="Bookman Old Style" panose="020506040505050202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r="49948" b="87962"/>
          <a:stretch/>
        </p:blipFill>
        <p:spPr>
          <a:xfrm>
            <a:off x="415636" y="1990601"/>
            <a:ext cx="11288684" cy="186656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2" y="4093444"/>
            <a:ext cx="10428374" cy="20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0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4159" t="3809" b="5821"/>
          <a:stretch/>
        </p:blipFill>
        <p:spPr>
          <a:xfrm>
            <a:off x="2793076" y="206138"/>
            <a:ext cx="6882209" cy="63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4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2" y="326677"/>
            <a:ext cx="11438313" cy="4705517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>
            <a:off x="4122585" y="3580990"/>
            <a:ext cx="1117600" cy="190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4122585" y="4607942"/>
            <a:ext cx="1117600" cy="190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41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Обратите внимание</a:t>
            </a:r>
            <a:r>
              <a:rPr lang="ru-RU" sz="2400" dirty="0" smtClean="0">
                <a:latin typeface="Bookman Old Style" panose="02050604050505020204" pitchFamily="18" charset="0"/>
              </a:rPr>
              <a:t>, что когда вы меняете ветку, то файлы в вашей папке с проектом также автоматически обновляются!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ветка появилась в удаленном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400" dirty="0" smtClean="0">
                <a:latin typeface="Bookman Old Style" panose="02050604050505020204" pitchFamily="18" charset="0"/>
              </a:rPr>
              <a:t> её также нужно опубликовать.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забрать изменения с удаленного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400" dirty="0" smtClean="0">
                <a:latin typeface="Bookman Old Style" panose="02050604050505020204" pitchFamily="18" charset="0"/>
              </a:rPr>
              <a:t> необходимо нажать </a:t>
            </a:r>
            <a:r>
              <a:rPr lang="en-US" sz="2400" dirty="0" smtClean="0">
                <a:latin typeface="Bookman Old Style" panose="02050604050505020204" pitchFamily="18" charset="0"/>
              </a:rPr>
              <a:t>Fetch (</a:t>
            </a:r>
            <a:r>
              <a:rPr lang="ru-RU" sz="2400" dirty="0" smtClean="0">
                <a:latin typeface="Bookman Old Style" panose="02050604050505020204" pitchFamily="18" charset="0"/>
              </a:rPr>
              <a:t>например, когда кто-то изменил файлы и вы хотите обновить свой проект в соответствии с изменениями удаленного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</a:t>
            </a:r>
            <a:r>
              <a:rPr lang="ru-RU" sz="2400" dirty="0" smtClean="0">
                <a:latin typeface="Bookman Old Style" panose="02050604050505020204" pitchFamily="18" charset="0"/>
              </a:rPr>
              <a:t>анную команду </a:t>
            </a:r>
            <a:r>
              <a:rPr lang="ru-RU" sz="2400" dirty="0">
                <a:latin typeface="Bookman Old Style" panose="02050604050505020204" pitchFamily="18" charset="0"/>
              </a:rPr>
              <a:t>желательно  </a:t>
            </a:r>
            <a:r>
              <a:rPr lang="ru-RU" sz="2400" dirty="0" smtClean="0">
                <a:latin typeface="Bookman Old Style" panose="02050604050505020204" pitchFamily="18" charset="0"/>
              </a:rPr>
              <a:t>выполнять перед началом работы с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репозиторием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25726" b="86752"/>
          <a:stretch/>
        </p:blipFill>
        <p:spPr>
          <a:xfrm>
            <a:off x="243840" y="4086580"/>
            <a:ext cx="11704320" cy="1300405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>
            <a:off x="6715101" y="4969539"/>
            <a:ext cx="1465942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98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последний пример. Предположим у нас есть 2 ветки: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Ivan, </a:t>
            </a:r>
            <a:r>
              <a:rPr lang="ru-RU" sz="2400" dirty="0" smtClean="0">
                <a:latin typeface="Bookman Old Style" panose="02050604050505020204" pitchFamily="18" charset="0"/>
              </a:rPr>
              <a:t>в обоих </a:t>
            </a:r>
            <a:r>
              <a:rPr lang="ru-RU" sz="2400" dirty="0" err="1" smtClean="0">
                <a:latin typeface="Bookman Old Style" panose="02050604050505020204" pitchFamily="18" charset="0"/>
              </a:rPr>
              <a:t>репозиториях</a:t>
            </a:r>
            <a:r>
              <a:rPr lang="ru-RU" sz="2400" dirty="0" smtClean="0">
                <a:latin typeface="Bookman Old Style" panose="02050604050505020204" pitchFamily="18" charset="0"/>
              </a:rPr>
              <a:t> есть файл с данным. Пусть в каждой ветке произошли изменения содержимого данного файла.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94" y="1754326"/>
            <a:ext cx="11371811" cy="421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6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895042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У нас есть 2 версии файла и чтобы объединить ветки, мы должны решить как будет выглядеть итоговый файл (получили конфликт слияния или </a:t>
            </a:r>
            <a:r>
              <a:rPr lang="en-US" sz="2400" dirty="0" smtClean="0">
                <a:latin typeface="Bookman Old Style" panose="02050604050505020204" pitchFamily="18" charset="0"/>
              </a:rPr>
              <a:t>merge </a:t>
            </a:r>
            <a:r>
              <a:rPr lang="ru-RU" sz="2400" dirty="0" smtClean="0">
                <a:latin typeface="Bookman Old Style" panose="02050604050505020204" pitchFamily="18" charset="0"/>
              </a:rPr>
              <a:t>конфликт).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Делаем слияние. Переходим на ветку </a:t>
            </a:r>
            <a:r>
              <a:rPr lang="en-US" sz="2400" dirty="0" smtClean="0">
                <a:latin typeface="Bookman Old Style" panose="02050604050505020204" pitchFamily="18" charset="0"/>
              </a:rPr>
              <a:t>main, </a:t>
            </a:r>
            <a:r>
              <a:rPr lang="ru-RU" sz="2400" dirty="0">
                <a:latin typeface="Bookman Old Style" panose="02050604050505020204" pitchFamily="18" charset="0"/>
              </a:rPr>
              <a:t>н</a:t>
            </a:r>
            <a:r>
              <a:rPr lang="ru-RU" sz="2400" dirty="0" smtClean="0">
                <a:latin typeface="Bookman Old Style" panose="02050604050505020204" pitchFamily="18" charset="0"/>
              </a:rPr>
              <a:t>ажимаем </a:t>
            </a:r>
            <a:r>
              <a:rPr lang="en-US" sz="2400" b="1" dirty="0" smtClean="0">
                <a:latin typeface="Bookman Old Style" panose="02050604050505020204" pitchFamily="18" charset="0"/>
              </a:rPr>
              <a:t>Branch</a:t>
            </a:r>
            <a:r>
              <a:rPr lang="en-US" sz="2400" dirty="0" smtClean="0">
                <a:latin typeface="Bookman Old Style" panose="02050604050505020204" pitchFamily="18" charset="0"/>
              </a:rPr>
              <a:t> -&gt; </a:t>
            </a:r>
            <a:r>
              <a:rPr lang="en-US" sz="2400" b="1" dirty="0" smtClean="0">
                <a:latin typeface="Bookman Old Style" panose="02050604050505020204" pitchFamily="18" charset="0"/>
              </a:rPr>
              <a:t>Merge into current branch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162" y="273375"/>
            <a:ext cx="6939721" cy="362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2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7464" t="16779" r="27622" b="53412"/>
          <a:stretch/>
        </p:blipFill>
        <p:spPr>
          <a:xfrm>
            <a:off x="1500198" y="614688"/>
            <a:ext cx="9191604" cy="419390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Выбираем </a:t>
            </a:r>
            <a:r>
              <a:rPr lang="en-US" sz="2400" dirty="0" smtClean="0">
                <a:latin typeface="Bookman Old Style" panose="02050604050505020204" pitchFamily="18" charset="0"/>
              </a:rPr>
              <a:t>Ivan </a:t>
            </a:r>
            <a:r>
              <a:rPr lang="ru-RU" sz="2400" dirty="0" smtClean="0">
                <a:latin typeface="Bookman Old Style" panose="02050604050505020204" pitchFamily="18" charset="0"/>
              </a:rPr>
              <a:t>и нажимаем </a:t>
            </a:r>
            <a:r>
              <a:rPr lang="en-US" sz="2400" b="1" dirty="0" smtClean="0">
                <a:latin typeface="Bookman Old Style" panose="02050604050505020204" pitchFamily="18" charset="0"/>
              </a:rPr>
              <a:t>Create merge commit</a:t>
            </a:r>
            <a:endParaRPr lang="ru-RU" sz="2400" b="1" dirty="0" smtClean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7464" t="68633" r="27622" b="16967"/>
          <a:stretch/>
        </p:blipFill>
        <p:spPr>
          <a:xfrm>
            <a:off x="1500198" y="4776948"/>
            <a:ext cx="9191604" cy="20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5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Необходимо отредактировать наш файл чтобы решить конфликт, открываем файл любой программой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24924" t="31307" r="24924" b="31757"/>
          <a:stretch/>
        </p:blipFill>
        <p:spPr>
          <a:xfrm>
            <a:off x="992513" y="1200329"/>
            <a:ext cx="10206973" cy="516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Необходимо отредактировать наш файл чтобы решить конфликт, открываем файл любой программой. Конфликт считается решенным, если нет специальных символов </a:t>
            </a:r>
            <a:r>
              <a:rPr lang="en-US" sz="2400" dirty="0" smtClean="0">
                <a:latin typeface="Bookman Old Style" panose="02050604050505020204" pitchFamily="18" charset="0"/>
              </a:rPr>
              <a:t>&lt;&lt;&lt;&lt;HEAD, ===, &gt;&gt;&gt;.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После чего нажимаем </a:t>
            </a:r>
            <a:r>
              <a:rPr lang="en-US" sz="2400" dirty="0" smtClean="0">
                <a:latin typeface="Bookman Old Style" panose="02050604050505020204" pitchFamily="18" charset="0"/>
              </a:rPr>
              <a:t>continue merge. </a:t>
            </a:r>
            <a:r>
              <a:rPr lang="ru-RU" sz="2400" dirty="0" smtClean="0">
                <a:latin typeface="Bookman Old Style" panose="02050604050505020204" pitchFamily="18" charset="0"/>
              </a:rPr>
              <a:t>Конфликт слияния решен, теперь ветка </a:t>
            </a:r>
            <a:r>
              <a:rPr lang="en-US" sz="2400" dirty="0" smtClean="0">
                <a:latin typeface="Bookman Old Style" panose="02050604050505020204" pitchFamily="18" charset="0"/>
              </a:rPr>
              <a:t>main </a:t>
            </a:r>
            <a:r>
              <a:rPr lang="ru-RU" sz="2400" dirty="0" smtClean="0">
                <a:latin typeface="Bookman Old Style" panose="02050604050505020204" pitchFamily="18" charset="0"/>
              </a:rPr>
              <a:t>содержит изменения Ивана.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2" y="1736872"/>
            <a:ext cx="5760347" cy="38162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r="28531"/>
          <a:stretch/>
        </p:blipFill>
        <p:spPr>
          <a:xfrm>
            <a:off x="6638196" y="1736872"/>
            <a:ext cx="5292548" cy="3822099"/>
          </a:xfrm>
          <a:prstGeom prst="rect">
            <a:avLst/>
          </a:prstGeom>
        </p:spPr>
      </p:pic>
      <p:cxnSp>
        <p:nvCxnSpPr>
          <p:cNvPr id="5" name="Прямая со стрелкой 4"/>
          <p:cNvCxnSpPr/>
          <p:nvPr/>
        </p:nvCxnSpPr>
        <p:spPr>
          <a:xfrm>
            <a:off x="5130800" y="3970383"/>
            <a:ext cx="1618343" cy="32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6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5872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Рассмотрим возможные при работе </a:t>
            </a:r>
            <a:r>
              <a:rPr lang="ru-RU" sz="2300" b="1" dirty="0" smtClean="0">
                <a:latin typeface="Bookman Old Style" panose="02050604050505020204" pitchFamily="18" charset="0"/>
              </a:rPr>
              <a:t>состояния </a:t>
            </a:r>
            <a:r>
              <a:rPr lang="ru-RU" sz="2300" b="1" dirty="0" err="1" smtClean="0">
                <a:latin typeface="Bookman Old Style" panose="02050604050505020204" pitchFamily="18" charset="0"/>
              </a:rPr>
              <a:t>репозитория</a:t>
            </a:r>
            <a:r>
              <a:rPr lang="ru-RU" sz="2300" dirty="0" smtClean="0">
                <a:latin typeface="Bookman Old Style" panose="020506040505050202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Изменений нет.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Проводим изменения в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300" dirty="0" smtClean="0">
                <a:latin typeface="Bookman Old Style" panose="02050604050505020204" pitchFamily="18" charset="0"/>
              </a:rPr>
              <a:t> (добавление/изменение/удаление).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Добавляем изменения в список для дальнейшей фиксации (сохранения) командой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b="1" dirty="0" smtClean="0">
                <a:latin typeface="Bookman Old Style" panose="02050604050505020204" pitchFamily="18" charset="0"/>
              </a:rPr>
              <a:t> add</a:t>
            </a:r>
            <a:r>
              <a:rPr lang="ru-RU" sz="2300" dirty="0" smtClean="0">
                <a:latin typeface="Bookman Old Style" panose="02050604050505020204" pitchFamily="18" charset="0"/>
              </a:rPr>
              <a:t>.</a:t>
            </a:r>
            <a:endParaRPr lang="en-US" sz="23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Фиксируем изменения с помощью команды</a:t>
            </a:r>
            <a:r>
              <a:rPr lang="en-US" sz="2300" dirty="0" smtClean="0">
                <a:latin typeface="Bookman Old Style" panose="02050604050505020204" pitchFamily="18" charset="0"/>
              </a:rPr>
              <a:t>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ru-RU" sz="2300" b="1" dirty="0" smtClean="0">
                <a:latin typeface="Bookman Old Style" panose="02050604050505020204" pitchFamily="18" charset="0"/>
              </a:rPr>
              <a:t> </a:t>
            </a:r>
            <a:r>
              <a:rPr lang="en-US" sz="2300" b="1" dirty="0" smtClean="0">
                <a:latin typeface="Bookman Old Style" panose="02050604050505020204" pitchFamily="18" charset="0"/>
              </a:rPr>
              <a:t>commit </a:t>
            </a:r>
            <a:r>
              <a:rPr lang="en-US" sz="2300" dirty="0" smtClean="0">
                <a:latin typeface="Bookman Old Style" panose="02050604050505020204" pitchFamily="18" charset="0"/>
              </a:rPr>
              <a:t>(</a:t>
            </a:r>
            <a:r>
              <a:rPr lang="ru-RU" sz="2300" dirty="0" smtClean="0">
                <a:latin typeface="Bookman Old Style" panose="02050604050505020204" pitchFamily="18" charset="0"/>
              </a:rPr>
              <a:t>данные сохраняются в локальном </a:t>
            </a:r>
            <a:r>
              <a:rPr lang="ru-RU" sz="2300" dirty="0" err="1" smtClean="0">
                <a:latin typeface="Bookman Old Style" panose="02050604050505020204" pitchFamily="18" charset="0"/>
              </a:rPr>
              <a:t>репозитории</a:t>
            </a:r>
            <a:r>
              <a:rPr lang="ru-RU" sz="2300" dirty="0" smtClean="0">
                <a:latin typeface="Bookman Old Style" panose="02050604050505020204" pitchFamily="18" charset="0"/>
              </a:rPr>
              <a:t> на ВАШЕМ компьютере</a:t>
            </a:r>
            <a:r>
              <a:rPr lang="en-US" sz="2300" dirty="0" smtClean="0">
                <a:latin typeface="Bookman Old Style" panose="02050604050505020204" pitchFamily="18" charset="0"/>
              </a:rPr>
              <a:t>).</a:t>
            </a:r>
            <a:endParaRPr lang="ru-RU" sz="2300" dirty="0" smtClean="0"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AutoNum type="arabicPeriod"/>
            </a:pPr>
            <a:r>
              <a:rPr lang="ru-RU" sz="2300" dirty="0" smtClean="0">
                <a:latin typeface="Bookman Old Style" panose="02050604050505020204" pitchFamily="18" charset="0"/>
              </a:rPr>
              <a:t>Отправка изменений на удаленный сервер командой </a:t>
            </a:r>
            <a:r>
              <a:rPr lang="en-US" sz="2300" b="1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b="1" dirty="0" smtClean="0">
                <a:latin typeface="Bookman Old Style" panose="02050604050505020204" pitchFamily="18" charset="0"/>
              </a:rPr>
              <a:t> push</a:t>
            </a:r>
            <a:r>
              <a:rPr lang="ru-RU" sz="2300" b="1" dirty="0" smtClean="0">
                <a:latin typeface="Bookman Old Style" panose="02050604050505020204" pitchFamily="18" charset="0"/>
              </a:rPr>
              <a:t> </a:t>
            </a:r>
            <a:r>
              <a:rPr lang="en-US" sz="2300" dirty="0">
                <a:latin typeface="Bookman Old Style" panose="02050604050505020204" pitchFamily="18" charset="0"/>
              </a:rPr>
              <a:t>(</a:t>
            </a:r>
            <a:r>
              <a:rPr lang="ru-RU" sz="2300" dirty="0">
                <a:latin typeface="Bookman Old Style" panose="02050604050505020204" pitchFamily="18" charset="0"/>
              </a:rPr>
              <a:t>данные сохраняются в </a:t>
            </a:r>
            <a:r>
              <a:rPr lang="ru-RU" sz="2300" dirty="0" smtClean="0">
                <a:latin typeface="Bookman Old Style" panose="02050604050505020204" pitchFamily="18" charset="0"/>
              </a:rPr>
              <a:t>удаленном </a:t>
            </a:r>
            <a:r>
              <a:rPr lang="ru-RU" sz="2300" dirty="0" err="1">
                <a:latin typeface="Bookman Old Style" panose="02050604050505020204" pitchFamily="18" charset="0"/>
              </a:rPr>
              <a:t>репозитории</a:t>
            </a:r>
            <a:r>
              <a:rPr lang="ru-RU" sz="2300" dirty="0">
                <a:latin typeface="Bookman Old Style" panose="02050604050505020204" pitchFamily="18" charset="0"/>
              </a:rPr>
              <a:t> на </a:t>
            </a:r>
            <a:r>
              <a:rPr lang="ru-RU" sz="2300" dirty="0" smtClean="0">
                <a:latin typeface="Bookman Old Style" panose="02050604050505020204" pitchFamily="18" charset="0"/>
              </a:rPr>
              <a:t>ДРУГОМ </a:t>
            </a:r>
            <a:r>
              <a:rPr lang="ru-RU" sz="2300" dirty="0">
                <a:latin typeface="Bookman Old Style" panose="02050604050505020204" pitchFamily="18" charset="0"/>
              </a:rPr>
              <a:t>компьютере</a:t>
            </a:r>
            <a:r>
              <a:rPr lang="en-US" sz="23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300" dirty="0" smtClean="0">
                <a:latin typeface="Bookman Old Style" panose="02050604050505020204" pitchFamily="18" charset="0"/>
              </a:rPr>
              <a:t>Важно помнить, что </a:t>
            </a:r>
            <a:r>
              <a:rPr lang="en-US" sz="2300" dirty="0" err="1" smtClean="0">
                <a:latin typeface="Bookman Old Style" panose="02050604050505020204" pitchFamily="18" charset="0"/>
              </a:rPr>
              <a:t>git</a:t>
            </a:r>
            <a:r>
              <a:rPr lang="en-US" sz="2300" dirty="0" smtClean="0">
                <a:latin typeface="Bookman Old Style" panose="02050604050505020204" pitchFamily="18" charset="0"/>
              </a:rPr>
              <a:t> </a:t>
            </a:r>
            <a:r>
              <a:rPr lang="ru-RU" sz="2300" dirty="0" smtClean="0">
                <a:latin typeface="Bookman Old Style" panose="02050604050505020204" pitchFamily="18" charset="0"/>
              </a:rPr>
              <a:t>хранит только изменения, он не хранит разные версии проектов по отдельности.</a:t>
            </a:r>
            <a:endParaRPr lang="ru-RU" sz="23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Итог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4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6096000" cy="447814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Скачивание кода архивом — это «путь новичка». Разработчики так не делают, потому что архив не содержит истории (папки .</a:t>
            </a:r>
            <a:r>
              <a:rPr lang="ru-RU" sz="2400" dirty="0" err="1">
                <a:latin typeface="Bookman Old Style" panose="02050604050505020204" pitchFamily="18" charset="0"/>
              </a:rPr>
              <a:t>git</a:t>
            </a:r>
            <a:r>
              <a:rPr lang="ru-RU" sz="2400" dirty="0">
                <a:latin typeface="Bookman Old Style" panose="02050604050505020204" pitchFamily="18" charset="0"/>
              </a:rPr>
              <a:t>) и не связан с сервером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err="1">
                <a:latin typeface="Bookman Old Style" panose="02050604050505020204" pitchFamily="18" charset="0"/>
              </a:rPr>
              <a:t>git</a:t>
            </a:r>
            <a:r>
              <a:rPr lang="en-US" sz="2300" dirty="0">
                <a:latin typeface="Bookman Old Style" panose="02050604050505020204" pitchFamily="18" charset="0"/>
              </a:rPr>
              <a:t> </a:t>
            </a:r>
            <a:r>
              <a:rPr lang="en-US" sz="2300" dirty="0" smtClean="0">
                <a:latin typeface="Bookman Old Style" panose="02050604050505020204" pitchFamily="18" charset="0"/>
              </a:rPr>
              <a:t>clone</a:t>
            </a:r>
            <a:endParaRPr lang="ru-RU" sz="23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300" dirty="0" smtClean="0">
                <a:latin typeface="Bookman Old Style" panose="02050604050505020204" pitchFamily="18" charset="0"/>
              </a:rPr>
              <a:t> </a:t>
            </a:r>
            <a:r>
              <a:rPr lang="en-US" sz="2300" dirty="0">
                <a:latin typeface="Bookman Old Style" panose="02050604050505020204" pitchFamily="18" charset="0"/>
              </a:rPr>
              <a:t>https://github.com/user/project.git</a:t>
            </a:r>
            <a:endParaRPr lang="ru-RU" sz="23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скачать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репозиторий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5675"/>
            <a:ext cx="5833039" cy="538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4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1691"/>
            <a:ext cx="12192000" cy="21559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300" b="1" dirty="0" err="1">
                <a:latin typeface="Bookman Old Style" panose="02050604050505020204" pitchFamily="18" charset="0"/>
              </a:rPr>
              <a:t>GitHub</a:t>
            </a:r>
            <a:r>
              <a:rPr lang="ru-RU" sz="2300" b="1" dirty="0">
                <a:latin typeface="Bookman Old Style" panose="02050604050505020204" pitchFamily="18" charset="0"/>
              </a:rPr>
              <a:t> </a:t>
            </a:r>
            <a:r>
              <a:rPr lang="ru-RU" sz="2300" b="1" dirty="0" err="1">
                <a:latin typeface="Bookman Old Style" panose="02050604050505020204" pitchFamily="18" charset="0"/>
              </a:rPr>
              <a:t>Projects</a:t>
            </a:r>
            <a:r>
              <a:rPr lang="ru-RU" sz="2300" b="1" dirty="0">
                <a:latin typeface="Bookman Old Style" panose="02050604050505020204" pitchFamily="18" charset="0"/>
              </a:rPr>
              <a:t> </a:t>
            </a:r>
            <a:r>
              <a:rPr lang="ru-RU" sz="2300" dirty="0">
                <a:latin typeface="Bookman Old Style" panose="02050604050505020204" pitchFamily="18" charset="0"/>
              </a:rPr>
              <a:t>— это гибкая доска задач (</a:t>
            </a:r>
            <a:r>
              <a:rPr lang="ru-RU" sz="2300" dirty="0" err="1">
                <a:latin typeface="Bookman Old Style" panose="02050604050505020204" pitchFamily="18" charset="0"/>
              </a:rPr>
              <a:t>канбан</a:t>
            </a:r>
            <a:r>
              <a:rPr lang="ru-RU" sz="2300" dirty="0">
                <a:latin typeface="Bookman Old Style" panose="02050604050505020204" pitchFamily="18" charset="0"/>
              </a:rPr>
              <a:t>), интегрированная с вашим </a:t>
            </a:r>
            <a:r>
              <a:rPr lang="ru-RU" sz="2300" dirty="0" err="1">
                <a:latin typeface="Bookman Old Style" panose="02050604050505020204" pitchFamily="18" charset="0"/>
              </a:rPr>
              <a:t>репозиторием</a:t>
            </a:r>
            <a:r>
              <a:rPr lang="ru-RU" sz="2300" dirty="0">
                <a:latin typeface="Bookman Old Style" panose="02050604050505020204" pitchFamily="18" charset="0"/>
              </a:rPr>
              <a:t>. Она помогает организовать работу, отслеживать прогресс и управлять сроками. Представьте себе цифровую доску со </a:t>
            </a:r>
            <a:r>
              <a:rPr lang="ru-RU" sz="2300" dirty="0" err="1">
                <a:latin typeface="Bookman Old Style" panose="02050604050505020204" pitchFamily="18" charset="0"/>
              </a:rPr>
              <a:t>стикерами</a:t>
            </a:r>
            <a:r>
              <a:rPr lang="ru-RU" sz="2300" dirty="0">
                <a:latin typeface="Bookman Old Style" panose="02050604050505020204" pitchFamily="18" charset="0"/>
              </a:rPr>
              <a:t>-задачами, которые можно перемещать между колонками.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Ведение проекта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9" y="2747597"/>
            <a:ext cx="10672601" cy="160502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t="62491"/>
          <a:stretch/>
        </p:blipFill>
        <p:spPr>
          <a:xfrm>
            <a:off x="779423" y="4355103"/>
            <a:ext cx="10877927" cy="25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5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b="52946"/>
          <a:stretch/>
        </p:blipFill>
        <p:spPr>
          <a:xfrm>
            <a:off x="0" y="305930"/>
            <a:ext cx="12063007" cy="439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3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b="1" dirty="0">
                <a:latin typeface="Bookman Old Style" panose="02050604050505020204" pitchFamily="18" charset="0"/>
              </a:rPr>
              <a:t>проекта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Перейдите на вкладку </a:t>
            </a:r>
            <a:r>
              <a:rPr lang="en-US" sz="2400" b="1" dirty="0">
                <a:latin typeface="Bookman Old Style" panose="02050604050505020204" pitchFamily="18" charset="0"/>
              </a:rPr>
              <a:t>Projects</a:t>
            </a:r>
            <a:r>
              <a:rPr lang="en-US" sz="2400" dirty="0">
                <a:latin typeface="Bookman Old Style" panose="02050604050505020204" pitchFamily="18" charset="0"/>
              </a:rPr>
              <a:t> </a:t>
            </a:r>
            <a:r>
              <a:rPr lang="ru-RU" sz="2400" dirty="0">
                <a:latin typeface="Bookman Old Style" panose="02050604050505020204" pitchFamily="18" charset="0"/>
              </a:rPr>
              <a:t>в вашем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репозитории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 </a:t>
            </a:r>
            <a:r>
              <a:rPr lang="en-US" sz="2400" b="1" dirty="0">
                <a:latin typeface="Bookman Old Style" panose="02050604050505020204" pitchFamily="18" charset="0"/>
              </a:rPr>
              <a:t>New Project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Выберите шаблон: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Basic </a:t>
            </a:r>
            <a:r>
              <a:rPr lang="en-US" sz="2400" b="1" dirty="0" err="1">
                <a:latin typeface="Bookman Old Style" panose="02050604050505020204" pitchFamily="18" charset="0"/>
              </a:rPr>
              <a:t>kanban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простого </a:t>
            </a:r>
            <a:r>
              <a:rPr lang="en-US" sz="2400" dirty="0">
                <a:latin typeface="Bookman Old Style" panose="02050604050505020204" pitchFamily="18" charset="0"/>
              </a:rPr>
              <a:t>workflow (To do / In progress / Done)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Automated </a:t>
            </a:r>
            <a:r>
              <a:rPr lang="en-US" sz="2400" b="1" dirty="0" err="1">
                <a:latin typeface="Bookman Old Style" panose="02050604050505020204" pitchFamily="18" charset="0"/>
              </a:rPr>
              <a:t>kanban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автоматическое перемещение задач по статусам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Bug triage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отслеживания ошибок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Team planning</a:t>
            </a:r>
            <a:r>
              <a:rPr lang="en-US" sz="2400" dirty="0">
                <a:latin typeface="Bookman Old Style" panose="02050604050505020204" pitchFamily="18" charset="0"/>
              </a:rPr>
              <a:t> — </a:t>
            </a:r>
            <a:r>
              <a:rPr lang="ru-RU" sz="2400" dirty="0">
                <a:latin typeface="Bookman Old Style" panose="02050604050505020204" pitchFamily="18" charset="0"/>
              </a:rPr>
              <a:t>для планирования </a:t>
            </a:r>
            <a:r>
              <a:rPr lang="ru-RU" sz="2400" dirty="0" smtClean="0">
                <a:latin typeface="Bookman Old Style" panose="02050604050505020204" pitchFamily="18" charset="0"/>
              </a:rPr>
              <a:t>спринтов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73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Создание </a:t>
            </a:r>
            <a:r>
              <a:rPr lang="ru-RU" sz="2400" b="1" dirty="0">
                <a:latin typeface="Bookman Old Style" panose="02050604050505020204" pitchFamily="18" charset="0"/>
              </a:rPr>
              <a:t>задачи: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 </a:t>
            </a:r>
            <a:r>
              <a:rPr lang="ru-RU" sz="2400" b="1" dirty="0">
                <a:latin typeface="Bookman Old Style" panose="02050604050505020204" pitchFamily="18" charset="0"/>
              </a:rPr>
              <a:t>+ </a:t>
            </a:r>
            <a:r>
              <a:rPr lang="ru-RU" sz="2400" b="1" dirty="0" err="1">
                <a:latin typeface="Bookman Old Style" panose="02050604050505020204" pitchFamily="18" charset="0"/>
              </a:rPr>
              <a:t>Add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item</a:t>
            </a:r>
            <a:r>
              <a:rPr lang="ru-RU" sz="2400" dirty="0">
                <a:latin typeface="Bookman Old Style" panose="02050604050505020204" pitchFamily="18" charset="0"/>
              </a:rPr>
              <a:t> в нужной колонке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Введите название задачи</a:t>
            </a: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Нажмите </a:t>
            </a:r>
            <a:r>
              <a:rPr lang="ru-RU" sz="2400" dirty="0" err="1">
                <a:latin typeface="Bookman Old Style" panose="02050604050505020204" pitchFamily="18" charset="0"/>
              </a:rPr>
              <a:t>Enter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531813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Кликните на карточку для </a:t>
            </a:r>
            <a:r>
              <a:rPr lang="ru-RU" sz="2400" dirty="0" smtClean="0">
                <a:latin typeface="Bookman Old Style" panose="02050604050505020204" pitchFamily="18" charset="0"/>
              </a:rPr>
              <a:t>деталей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Автоматизация (</a:t>
            </a:r>
            <a:r>
              <a:rPr lang="ru-RU" sz="2400" smtClean="0">
                <a:latin typeface="Bookman Old Style" panose="02050604050505020204" pitchFamily="18" charset="0"/>
              </a:rPr>
              <a:t>не обязательно):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Создайте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r>
              <a:rPr lang="ru-RU" sz="2400" dirty="0">
                <a:latin typeface="Bookman Old Style" panose="02050604050505020204" pitchFamily="18" charset="0"/>
              </a:rPr>
              <a:t> в </a:t>
            </a:r>
            <a:r>
              <a:rPr lang="ru-RU" sz="2400" dirty="0" err="1">
                <a:latin typeface="Bookman Old Style" panose="02050604050505020204" pitchFamily="18" charset="0"/>
              </a:rPr>
              <a:t>репозитории</a:t>
            </a:r>
            <a:r>
              <a:rPr lang="ru-RU" sz="2400" dirty="0">
                <a:latin typeface="Bookman Old Style" panose="02050604050505020204" pitchFamily="18" charset="0"/>
              </a:rPr>
              <a:t> с описанием задачи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проекте нажмите + </a:t>
            </a:r>
            <a:r>
              <a:rPr lang="ru-RU" sz="2400" dirty="0" err="1">
                <a:latin typeface="Bookman Old Style" panose="02050604050505020204" pitchFamily="18" charset="0"/>
              </a:rPr>
              <a:t>Add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item</a:t>
            </a:r>
            <a:r>
              <a:rPr lang="ru-RU" sz="2400" dirty="0">
                <a:latin typeface="Bookman Old Style" panose="02050604050505020204" pitchFamily="18" charset="0"/>
              </a:rPr>
              <a:t> и введите # + номер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Карточка автоматически свяжется с </a:t>
            </a:r>
            <a:r>
              <a:rPr lang="ru-RU" sz="2400" dirty="0" err="1">
                <a:latin typeface="Bookman Old Style" panose="02050604050505020204" pitchFamily="18" charset="0"/>
              </a:rPr>
              <a:t>Issue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При создании </a:t>
            </a:r>
            <a:r>
              <a:rPr lang="ru-RU" sz="2400" dirty="0" err="1">
                <a:latin typeface="Bookman Old Style" panose="02050604050505020204" pitchFamily="18" charset="0"/>
              </a:rPr>
              <a:t>Pull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Request</a:t>
            </a:r>
            <a:r>
              <a:rPr lang="ru-RU" sz="2400" dirty="0">
                <a:latin typeface="Bookman Old Style" panose="02050604050505020204" pitchFamily="18" charset="0"/>
              </a:rPr>
              <a:t> с ключевыми словами: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fixes</a:t>
            </a:r>
            <a:r>
              <a:rPr lang="ru-RU" sz="2400" dirty="0">
                <a:latin typeface="Bookman Old Style" panose="02050604050505020204" pitchFamily="18" charset="0"/>
              </a:rPr>
              <a:t> #1 — автоматически переместит карточку в "</a:t>
            </a:r>
            <a:r>
              <a:rPr lang="ru-RU" sz="2400" dirty="0" err="1">
                <a:latin typeface="Bookman Old Style" panose="02050604050505020204" pitchFamily="18" charset="0"/>
              </a:rPr>
              <a:t>Done</a:t>
            </a:r>
            <a:r>
              <a:rPr lang="ru-RU" sz="2400" dirty="0">
                <a:latin typeface="Bookman Old Style" panose="02050604050505020204" pitchFamily="18" charset="0"/>
              </a:rPr>
              <a:t>"</a:t>
            </a:r>
          </a:p>
          <a:p>
            <a:pPr lvl="1"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connects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to</a:t>
            </a:r>
            <a:r>
              <a:rPr lang="ru-RU" sz="2400" dirty="0">
                <a:latin typeface="Bookman Old Style" panose="02050604050505020204" pitchFamily="18" charset="0"/>
              </a:rPr>
              <a:t> #1 — свяжет PR с задачей</a:t>
            </a:r>
          </a:p>
        </p:txBody>
      </p:sp>
    </p:spTree>
    <p:extLst>
      <p:ext uri="{BB962C8B-B14F-4D97-AF65-F5344CB8AC3E}">
        <p14:creationId xmlns:p14="http://schemas.microsoft.com/office/powerpoint/2010/main" val="108735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15097</TotalTime>
  <Words>2282</Words>
  <Application>Microsoft Office PowerPoint</Application>
  <PresentationFormat>Широкоэкранный</PresentationFormat>
  <Paragraphs>476</Paragraphs>
  <Slides>70</Slides>
  <Notes>70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6" baseType="lpstr">
      <vt:lpstr>Arial</vt:lpstr>
      <vt:lpstr>Bookman Old Style</vt:lpstr>
      <vt:lpstr>Calibri</vt:lpstr>
      <vt:lpstr>Calibri Light</vt:lpstr>
      <vt:lpstr>Times New Roman</vt:lpstr>
      <vt:lpstr>Тема Office</vt:lpstr>
      <vt:lpstr>4 семестр Лекция 2.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m10</cp:lastModifiedBy>
  <cp:revision>810</cp:revision>
  <dcterms:modified xsi:type="dcterms:W3CDTF">2026-03-19T10:04:57Z</dcterms:modified>
</cp:coreProperties>
</file>