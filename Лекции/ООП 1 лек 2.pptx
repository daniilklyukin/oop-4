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4" r:id="rId1"/>
  </p:sldMasterIdLst>
  <p:notesMasterIdLst>
    <p:notesMasterId r:id="rId72"/>
  </p:notesMasterIdLst>
  <p:sldIdLst>
    <p:sldId id="273" r:id="rId2"/>
    <p:sldId id="969" r:id="rId3"/>
    <p:sldId id="1099" r:id="rId4"/>
    <p:sldId id="1068" r:id="rId5"/>
    <p:sldId id="1069" r:id="rId6"/>
    <p:sldId id="1052" r:id="rId7"/>
    <p:sldId id="995" r:id="rId8"/>
    <p:sldId id="1053" r:id="rId9"/>
    <p:sldId id="1054" r:id="rId10"/>
    <p:sldId id="997" r:id="rId11"/>
    <p:sldId id="1071" r:id="rId12"/>
    <p:sldId id="1079" r:id="rId13"/>
    <p:sldId id="1072" r:id="rId14"/>
    <p:sldId id="1073" r:id="rId15"/>
    <p:sldId id="1105" r:id="rId16"/>
    <p:sldId id="1106" r:id="rId17"/>
    <p:sldId id="1107" r:id="rId18"/>
    <p:sldId id="1082" r:id="rId19"/>
    <p:sldId id="1109" r:id="rId20"/>
    <p:sldId id="1110" r:id="rId21"/>
    <p:sldId id="1111" r:id="rId22"/>
    <p:sldId id="1108" r:id="rId23"/>
    <p:sldId id="1075" r:id="rId24"/>
    <p:sldId id="1084" r:id="rId25"/>
    <p:sldId id="1085" r:id="rId26"/>
    <p:sldId id="1087" r:id="rId27"/>
    <p:sldId id="1088" r:id="rId28"/>
    <p:sldId id="1089" r:id="rId29"/>
    <p:sldId id="1112" r:id="rId30"/>
    <p:sldId id="1113" r:id="rId31"/>
    <p:sldId id="1114" r:id="rId32"/>
    <p:sldId id="1116" r:id="rId33"/>
    <p:sldId id="1115" r:id="rId34"/>
    <p:sldId id="1090" r:id="rId35"/>
    <p:sldId id="1091" r:id="rId36"/>
    <p:sldId id="1092" r:id="rId37"/>
    <p:sldId id="1093" r:id="rId38"/>
    <p:sldId id="1094" r:id="rId39"/>
    <p:sldId id="1118" r:id="rId40"/>
    <p:sldId id="1119" r:id="rId41"/>
    <p:sldId id="1120" r:id="rId42"/>
    <p:sldId id="1121" r:id="rId43"/>
    <p:sldId id="1117" r:id="rId44"/>
    <p:sldId id="999" r:id="rId45"/>
    <p:sldId id="1096" r:id="rId46"/>
    <p:sldId id="1097" r:id="rId47"/>
    <p:sldId id="1062" r:id="rId48"/>
    <p:sldId id="1004" r:id="rId49"/>
    <p:sldId id="1007" r:id="rId50"/>
    <p:sldId id="1063" r:id="rId51"/>
    <p:sldId id="1008" r:id="rId52"/>
    <p:sldId id="1064" r:id="rId53"/>
    <p:sldId id="1009" r:id="rId54"/>
    <p:sldId id="1010" r:id="rId55"/>
    <p:sldId id="1011" r:id="rId56"/>
    <p:sldId id="1012" r:id="rId57"/>
    <p:sldId id="1065" r:id="rId58"/>
    <p:sldId id="1066" r:id="rId59"/>
    <p:sldId id="1013" r:id="rId60"/>
    <p:sldId id="1014" r:id="rId61"/>
    <p:sldId id="1067" r:id="rId62"/>
    <p:sldId id="1015" r:id="rId63"/>
    <p:sldId id="1016" r:id="rId64"/>
    <p:sldId id="1017" r:id="rId65"/>
    <p:sldId id="1098" r:id="rId66"/>
    <p:sldId id="1100" r:id="rId67"/>
    <p:sldId id="1101" r:id="rId68"/>
    <p:sldId id="1102" r:id="rId69"/>
    <p:sldId id="1103" r:id="rId70"/>
    <p:sldId id="1104" r:id="rId7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83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292929"/>
    <a:srgbClr val="BFEFC9"/>
    <a:srgbClr val="5A5A5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Средний стиль 2 — акцент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667" autoAdjust="0"/>
    <p:restoredTop sz="95343" autoAdjust="0"/>
  </p:normalViewPr>
  <p:slideViewPr>
    <p:cSldViewPr snapToGrid="0">
      <p:cViewPr>
        <p:scale>
          <a:sx n="100" d="100"/>
          <a:sy n="100" d="100"/>
        </p:scale>
        <p:origin x="816" y="366"/>
      </p:cViewPr>
      <p:guideLst>
        <p:guide orient="horz" pos="2183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75" d="100"/>
        <a:sy n="75" d="100"/>
      </p:scale>
      <p:origin x="0" y="-654"/>
    </p:cViewPr>
  </p:sorterViewPr>
  <p:notesViewPr>
    <p:cSldViewPr snapToGrid="0">
      <p:cViewPr varScale="1">
        <p:scale>
          <a:sx n="86" d="100"/>
          <a:sy n="86" d="100"/>
        </p:scale>
        <p:origin x="3786" y="7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notesMaster" Target="notesMasters/notesMaster1.xml"/><Relationship Id="rId73" Type="http://schemas.openxmlformats.org/officeDocument/2006/relationships/presProps" Target="presProps.xml"/><Relationship Id="rId74" Type="http://schemas.openxmlformats.org/officeDocument/2006/relationships/viewProps" Target="viewProps.xml"/><Relationship Id="rId75" Type="http://schemas.openxmlformats.org/officeDocument/2006/relationships/theme" Target="theme/theme1.xml"/><Relationship Id="rId7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A2F9473-F066-431E-A6E8-1D478C995A6B}" type="datetimeFigureOut">
              <a:rPr lang="en-US" smtClean="0"/>
              <a:pPr/>
              <a:t>3/19/2026</a:t>
            </a:fld>
            <a:endParaRPr lang="en-US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0F4E2F1-1521-4C3A-A563-2F7D19AB6E0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79755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948124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036545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241587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536782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613971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218463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436596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757504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830295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110540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547183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747612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610536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847333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888514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316180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263343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736954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912122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805762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0341515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442262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181400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221150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2766299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8586573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8516282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4375454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8857163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4812107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75522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525214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0493270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9781379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3553919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7722682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2029973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9365742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6441558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8683033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9063337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117480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8970755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7875385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1784114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7341598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1416349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7216597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9087217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2482494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230673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3972644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4364897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0164406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7295172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503421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7702932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5216189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5735446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961434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6841732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4928189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7483097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51067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5736473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312767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527502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272536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8447683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F4E2F1-1521-4C3A-A563-2F7D19AB6E0B}" type="slidenum">
              <a:rPr lang="en-US" smtClean="0"/>
              <a:pPr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9712882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Номер слайда 3">
            <a:extLst>
              <a:ext uri="{FF2B5EF4-FFF2-40B4-BE49-F238E27FC236}">
                <a16:creationId xmlns:a16="http://schemas.microsoft.com/office/drawing/2014/main" xmlns="" id="{3DF48714-7FE4-4364-BF9D-28B9C9E297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77600" y="6376266"/>
            <a:ext cx="914400" cy="481735"/>
          </a:xfrm>
          <a:prstGeom prst="rect">
            <a:avLst/>
          </a:prstGeom>
        </p:spPr>
        <p:txBody>
          <a:bodyPr/>
          <a:lstStyle/>
          <a:p>
            <a:fld id="{3EC42A18-3AB2-40E5-884A-7E072263AE64}" type="slidenum">
              <a:rPr lang="en-US" b="1" smtClean="0">
                <a:solidFill>
                  <a:srgbClr val="292929"/>
                </a:solidFill>
                <a:latin typeface="Bookman Old Style" panose="02050604050505020204" pitchFamily="18" charset="0"/>
              </a:rPr>
              <a:pPr/>
              <a:t>‹#›</a:t>
            </a:fld>
            <a:r>
              <a:rPr lang="en-US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/</a:t>
            </a:r>
            <a:r>
              <a:rPr lang="ru-RU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2</a:t>
            </a:r>
            <a:r>
              <a:rPr lang="en-US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0</a:t>
            </a:r>
            <a:endParaRPr lang="en-US" sz="1400" b="1" dirty="0">
              <a:solidFill>
                <a:srgbClr val="5A5A5A"/>
              </a:solidFill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477364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Пользовательский маке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0" y="5897"/>
            <a:ext cx="12192000" cy="949324"/>
          </a:xfrm>
        </p:spPr>
        <p:txBody>
          <a:bodyPr/>
          <a:lstStyle>
            <a:lvl1pPr algn="ctr">
              <a:defRPr sz="2700" b="1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7" name="Номер слайда 3">
            <a:extLst>
              <a:ext uri="{FF2B5EF4-FFF2-40B4-BE49-F238E27FC236}">
                <a16:creationId xmlns:a16="http://schemas.microsoft.com/office/drawing/2014/main" xmlns="" id="{3DF48714-7FE4-4364-BF9D-28B9C9E297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77600" y="6376266"/>
            <a:ext cx="914400" cy="481735"/>
          </a:xfrm>
          <a:prstGeom prst="rect">
            <a:avLst/>
          </a:prstGeom>
        </p:spPr>
        <p:txBody>
          <a:bodyPr/>
          <a:lstStyle/>
          <a:p>
            <a:fld id="{3EC42A18-3AB2-40E5-884A-7E072263AE64}" type="slidenum">
              <a:rPr lang="en-US" b="1" smtClean="0">
                <a:solidFill>
                  <a:srgbClr val="292929"/>
                </a:solidFill>
                <a:latin typeface="Bookman Old Style" panose="02050604050505020204" pitchFamily="18" charset="0"/>
              </a:rPr>
              <a:pPr/>
              <a:t>‹#›</a:t>
            </a:fld>
            <a:r>
              <a:rPr lang="en-US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/</a:t>
            </a:r>
            <a:r>
              <a:rPr lang="ru-RU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2</a:t>
            </a:r>
            <a:r>
              <a:rPr lang="en-US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0</a:t>
            </a:r>
            <a:endParaRPr lang="en-US" sz="1400" b="1" dirty="0">
              <a:solidFill>
                <a:srgbClr val="5A5A5A"/>
              </a:solidFill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62214736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dirty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9" name="Номер слайда 3">
            <a:extLst>
              <a:ext uri="{FF2B5EF4-FFF2-40B4-BE49-F238E27FC236}">
                <a16:creationId xmlns:a16="http://schemas.microsoft.com/office/drawing/2014/main" xmlns="" id="{3DF48714-7FE4-4364-BF9D-28B9C9E2979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7600" y="6376266"/>
            <a:ext cx="914400" cy="481735"/>
          </a:xfrm>
          <a:prstGeom prst="rect">
            <a:avLst/>
          </a:prstGeom>
        </p:spPr>
        <p:txBody>
          <a:bodyPr/>
          <a:lstStyle/>
          <a:p>
            <a:fld id="{3EC42A18-3AB2-40E5-884A-7E072263AE64}" type="slidenum">
              <a:rPr lang="en-US" b="1" smtClean="0">
                <a:solidFill>
                  <a:srgbClr val="292929"/>
                </a:solidFill>
                <a:latin typeface="Bookman Old Style" panose="02050604050505020204" pitchFamily="18" charset="0"/>
              </a:rPr>
              <a:pPr/>
              <a:t>‹#›</a:t>
            </a:fld>
            <a:r>
              <a:rPr lang="en-US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/</a:t>
            </a:r>
            <a:r>
              <a:rPr lang="ru-RU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2</a:t>
            </a:r>
            <a:r>
              <a:rPr lang="en-US" sz="1400" b="1" dirty="0" smtClean="0">
                <a:solidFill>
                  <a:srgbClr val="5A5A5A"/>
                </a:solidFill>
                <a:latin typeface="Bookman Old Style" panose="02050604050505020204" pitchFamily="18" charset="0"/>
              </a:rPr>
              <a:t>0</a:t>
            </a:r>
            <a:endParaRPr lang="en-US" sz="1400" b="1" dirty="0">
              <a:solidFill>
                <a:srgbClr val="5A5A5A"/>
              </a:solidFill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208929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86" r:id="rId2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hyperlink" Target="https://github.com/DaniilKlyukin/OOP-4" TargetMode="External"/><Relationship Id="rId4" Type="http://schemas.openxmlformats.org/officeDocument/2006/relationships/hyperlink" Target="https://github.com/DaniilKlyukin/OOP-6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git-scm.com/" TargetMode="External"/><Relationship Id="rId4" Type="http://schemas.openxmlformats.org/officeDocument/2006/relationships/hyperlink" Target="https://ru.hexlet.io/courses/intro_to_git" TargetMode="External"/><Relationship Id="rId5" Type="http://schemas.openxmlformats.org/officeDocument/2006/relationships/hyperlink" Target="https://githowto.com/ru/setup" TargetMode="External"/><Relationship Id="rId6" Type="http://schemas.openxmlformats.org/officeDocument/2006/relationships/hyperlink" Target="https://learngitbranching.js.org/?locale=ru_RU" TargetMode="External"/><Relationship Id="rId7" Type="http://schemas.openxmlformats.org/officeDocument/2006/relationships/hyperlink" Target="https://www.youtube.com/watch?v=zZBiln_2FhM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0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15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6.png"/><Relationship Id="rId4" Type="http://schemas.openxmlformats.org/officeDocument/2006/relationships/image" Target="../media/image17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8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19.png"/><Relationship Id="rId4" Type="http://schemas.openxmlformats.org/officeDocument/2006/relationships/image" Target="../media/image20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21.png"/><Relationship Id="rId4" Type="http://schemas.openxmlformats.org/officeDocument/2006/relationships/image" Target="../media/image22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23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24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25.png"/><Relationship Id="rId4" Type="http://schemas.openxmlformats.org/officeDocument/2006/relationships/image" Target="../media/image26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3.xml"/><Relationship Id="rId3" Type="http://schemas.openxmlformats.org/officeDocument/2006/relationships/hyperlink" Target="https://github.com/github/gitignore/blob/main/VisualStudio.gitignore" TargetMode="Externa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4.xml"/><Relationship Id="rId3" Type="http://schemas.openxmlformats.org/officeDocument/2006/relationships/image" Target="../media/image27.png"/><Relationship Id="rId4" Type="http://schemas.openxmlformats.org/officeDocument/2006/relationships/image" Target="../media/image28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5.xml"/><Relationship Id="rId3" Type="http://schemas.openxmlformats.org/officeDocument/2006/relationships/image" Target="../media/image29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6.xml"/><Relationship Id="rId3" Type="http://schemas.openxmlformats.org/officeDocument/2006/relationships/image" Target="../media/image30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7.xml"/><Relationship Id="rId3" Type="http://schemas.openxmlformats.org/officeDocument/2006/relationships/image" Target="../media/image31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8.xml"/><Relationship Id="rId3" Type="http://schemas.openxmlformats.org/officeDocument/2006/relationships/hyperlink" Target="https://github.com/" TargetMode="External"/><Relationship Id="rId4" Type="http://schemas.openxmlformats.org/officeDocument/2006/relationships/hyperlink" Target="https://desktop.github.com/" TargetMode="Externa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9.xml"/><Relationship Id="rId3" Type="http://schemas.openxmlformats.org/officeDocument/2006/relationships/image" Target="../media/image32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0.xml"/><Relationship Id="rId3" Type="http://schemas.openxmlformats.org/officeDocument/2006/relationships/image" Target="../media/image33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1.xml"/><Relationship Id="rId3" Type="http://schemas.openxmlformats.org/officeDocument/2006/relationships/image" Target="../media/image34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2.xml"/><Relationship Id="rId3" Type="http://schemas.openxmlformats.org/officeDocument/2006/relationships/image" Target="../media/image34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3.xml"/><Relationship Id="rId3" Type="http://schemas.openxmlformats.org/officeDocument/2006/relationships/image" Target="../media/image35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4.xml"/><Relationship Id="rId3" Type="http://schemas.openxmlformats.org/officeDocument/2006/relationships/image" Target="../media/image36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5.xml"/><Relationship Id="rId3" Type="http://schemas.openxmlformats.org/officeDocument/2006/relationships/image" Target="../media/image37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6.xml"/><Relationship Id="rId3" Type="http://schemas.openxmlformats.org/officeDocument/2006/relationships/image" Target="../media/image34.png"/><Relationship Id="rId4" Type="http://schemas.openxmlformats.org/officeDocument/2006/relationships/image" Target="../media/image38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7.xml"/><Relationship Id="rId3" Type="http://schemas.openxmlformats.org/officeDocument/2006/relationships/image" Target="../media/image39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8.xml"/><Relationship Id="rId3" Type="http://schemas.openxmlformats.org/officeDocument/2006/relationships/image" Target="../media/image40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9.xml"/><Relationship Id="rId3" Type="http://schemas.openxmlformats.org/officeDocument/2006/relationships/image" Target="../media/image41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0.xml"/><Relationship Id="rId3" Type="http://schemas.openxmlformats.org/officeDocument/2006/relationships/image" Target="../media/image42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1.xml"/><Relationship Id="rId3" Type="http://schemas.openxmlformats.org/officeDocument/2006/relationships/image" Target="../media/image43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2.xml"/><Relationship Id="rId3" Type="http://schemas.openxmlformats.org/officeDocument/2006/relationships/image" Target="../media/image44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3.xml"/><Relationship Id="rId3" Type="http://schemas.openxmlformats.org/officeDocument/2006/relationships/image" Target="../media/image45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4.xml"/><Relationship Id="rId3" Type="http://schemas.openxmlformats.org/officeDocument/2006/relationships/image" Target="../media/image46.png"/><Relationship Id="rId4" Type="http://schemas.openxmlformats.org/officeDocument/2006/relationships/image" Target="../media/image47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6.xml"/><Relationship Id="rId3" Type="http://schemas.openxmlformats.org/officeDocument/2006/relationships/image" Target="../media/image48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7.xml"/><Relationship Id="rId3" Type="http://schemas.openxmlformats.org/officeDocument/2006/relationships/image" Target="../media/image49.png"/><Relationship Id="rId4" Type="http://schemas.openxmlformats.org/officeDocument/2006/relationships/image" Target="../media/image50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8.xml"/><Relationship Id="rId3" Type="http://schemas.openxmlformats.org/officeDocument/2006/relationships/image" Target="../media/image51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/>
          <p:cNvSpPr txBox="1"/>
          <p:nvPr/>
        </p:nvSpPr>
        <p:spPr>
          <a:xfrm>
            <a:off x="0" y="801560"/>
            <a:ext cx="12192000" cy="1569658"/>
          </a:xfrm>
          <a:prstGeom prst="rect">
            <a:avLst/>
          </a:prstGeom>
          <a:noFill/>
        </p:spPr>
        <p:txBody>
          <a:bodyPr wrap="square" lIns="91438" tIns="45719" rIns="91438" bIns="45719" rtlCol="0">
            <a:spAutoFit/>
          </a:bodyPr>
          <a:lstStyle/>
          <a:p>
            <a:pPr indent="254000" algn="ctr">
              <a:spcBef>
                <a:spcPct val="20000"/>
              </a:spcBef>
            </a:pPr>
            <a:r>
              <a:rPr lang="ru-RU" sz="4800" b="1" dirty="0">
                <a:solidFill>
                  <a:schemeClr val="accent1">
                    <a:lumMod val="50000"/>
                  </a:schemeClr>
                </a:solidFill>
                <a:latin typeface="Bookman Old Style" pitchFamily="18" charset="0"/>
              </a:rPr>
              <a:t>Объектно-ориентированное программирование</a:t>
            </a:r>
            <a:endParaRPr lang="ru-RU" altLang="ru-RU" sz="4800" b="1" dirty="0">
              <a:solidFill>
                <a:schemeClr val="accent1">
                  <a:lumMod val="50000"/>
                </a:schemeClr>
              </a:solidFill>
              <a:latin typeface="Bookman Old Style" pitchFamily="18" charset="0"/>
            </a:endParaRPr>
          </a:p>
        </p:txBody>
      </p:sp>
      <p:sp>
        <p:nvSpPr>
          <p:cNvPr id="17" name="Заголовок 16">
            <a:extLst>
              <a:ext uri="{FF2B5EF4-FFF2-40B4-BE49-F238E27FC236}">
                <a16:creationId xmlns:a16="http://schemas.microsoft.com/office/drawing/2014/main" xmlns="" id="{D630362D-1F09-46B4-9DE4-AEA483AC82F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77032" y="3105858"/>
            <a:ext cx="9638568" cy="1384995"/>
          </a:xfrm>
        </p:spPr>
        <p:txBody>
          <a:bodyPr>
            <a:noAutofit/>
          </a:bodyPr>
          <a:lstStyle/>
          <a:p>
            <a:pPr algn="l"/>
            <a:r>
              <a:rPr lang="ru-RU" sz="2800" b="1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4 семестр</a:t>
            </a:r>
            <a:br>
              <a:rPr lang="ru-RU" sz="2800" b="1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</a:br>
            <a:r>
              <a:rPr lang="ru-RU" sz="2800" b="1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Лекция 2.</a:t>
            </a:r>
            <a:r>
              <a:rPr lang="ru-RU" sz="2800" b="1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/>
            </a:r>
            <a:br>
              <a:rPr lang="ru-RU" sz="2800" b="1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</a:br>
            <a:r>
              <a:rPr lang="en-US" sz="2800" b="1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/>
            </a:r>
            <a:br>
              <a:rPr lang="en-US" sz="2800" b="1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</a:br>
            <a:r>
              <a:rPr lang="ru-RU" sz="2800" b="1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Содержание лекции:</a:t>
            </a:r>
            <a:endParaRPr lang="ru-RU" sz="2800" dirty="0">
              <a:latin typeface="Bookman Old Style" panose="02050604050505020204" pitchFamily="18" charset="0"/>
            </a:endParaRPr>
          </a:p>
        </p:txBody>
      </p:sp>
      <p:sp>
        <p:nvSpPr>
          <p:cNvPr id="10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6336807"/>
            <a:ext cx="12192000" cy="521193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9050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indent="723900" algn="just"/>
            <a:r>
              <a:rPr lang="ru-RU" b="1" dirty="0">
                <a:solidFill>
                  <a:srgbClr val="292929"/>
                </a:solidFill>
                <a:latin typeface="Bookman Old Style" pitchFamily="18" charset="0"/>
              </a:rPr>
              <a:t>Преподаватель курса: Клюкин Даниил Анатольевич, ст. преподаватель каф. </a:t>
            </a:r>
            <a:r>
              <a:rPr lang="ru-RU" b="1">
                <a:solidFill>
                  <a:srgbClr val="292929"/>
                </a:solidFill>
                <a:latin typeface="Bookman Old Style" pitchFamily="18" charset="0"/>
              </a:rPr>
              <a:t>ПМиИТ</a:t>
            </a:r>
            <a:endParaRPr lang="ru-RU" b="1" dirty="0">
              <a:solidFill>
                <a:srgbClr val="292929"/>
              </a:solidFill>
              <a:latin typeface="Bookman Old Style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xmlns="" id="{F7B00361-5492-4290-B470-295172C16526}"/>
              </a:ext>
            </a:extLst>
          </p:cNvPr>
          <p:cNvSpPr txBox="1"/>
          <p:nvPr/>
        </p:nvSpPr>
        <p:spPr>
          <a:xfrm>
            <a:off x="877031" y="4490853"/>
            <a:ext cx="11041341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800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История создания </a:t>
            </a:r>
            <a:r>
              <a:rPr lang="en-US" sz="2800" dirty="0" err="1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Git</a:t>
            </a:r>
            <a:endParaRPr lang="en-US" sz="2800" dirty="0" smtClean="0">
              <a:solidFill>
                <a:schemeClr val="tx2">
                  <a:lumMod val="50000"/>
                </a:schemeClr>
              </a:solidFill>
              <a:latin typeface="Bookman Old Style" panose="020506040505050202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800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Работа в </a:t>
            </a:r>
            <a:r>
              <a:rPr lang="en-US" sz="2800" dirty="0" err="1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Git</a:t>
            </a:r>
            <a:endParaRPr lang="en-US" sz="2800" dirty="0" smtClean="0">
              <a:solidFill>
                <a:schemeClr val="tx2">
                  <a:lumMod val="50000"/>
                </a:schemeClr>
              </a:solidFill>
              <a:latin typeface="Bookman Old Style" panose="020506040505050202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800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Конфликт слияния веток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GitHub</a:t>
            </a:r>
            <a:endParaRPr lang="ru-RU" sz="2800" dirty="0">
              <a:solidFill>
                <a:schemeClr val="tx2">
                  <a:lumMod val="50000"/>
                </a:schemeClr>
              </a:solidFill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-1"/>
            <a:ext cx="12192000" cy="654357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5875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algn="ctr"/>
            <a:endParaRPr lang="ru-RU" sz="2800" b="1" dirty="0">
              <a:solidFill>
                <a:schemeClr val="tx2">
                  <a:lumMod val="50000"/>
                </a:schemeClr>
              </a:solidFill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Прямоугольник 6"/>
          <p:cNvSpPr/>
          <p:nvPr/>
        </p:nvSpPr>
        <p:spPr>
          <a:xfrm>
            <a:off x="1" y="654355"/>
            <a:ext cx="12192000" cy="3416320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b="1" dirty="0" smtClean="0">
                <a:latin typeface="Bookman Old Style" panose="02050604050505020204" pitchFamily="18" charset="0"/>
              </a:rPr>
              <a:t>Все материалы по ИТиП1-3, ООП1, ООП2 размещены на </a:t>
            </a:r>
            <a:r>
              <a:rPr lang="en-US" sz="2400" b="1" dirty="0" smtClean="0">
                <a:latin typeface="Bookman Old Style" panose="02050604050505020204" pitchFamily="18" charset="0"/>
              </a:rPr>
              <a:t>GitHub:</a:t>
            </a:r>
            <a:endParaRPr lang="en-US" sz="2400" b="1" dirty="0" smtClean="0">
              <a:latin typeface="Bookman Old Style" panose="02050604050505020204" pitchFamily="18" charset="0"/>
              <a:hlinkClick r:id="rId3"/>
            </a:endParaRPr>
          </a:p>
          <a:p>
            <a:pPr algn="just">
              <a:lnSpc>
                <a:spcPct val="150000"/>
              </a:lnSpc>
            </a:pPr>
            <a:r>
              <a:rPr lang="en-US" sz="2400" b="1" dirty="0">
                <a:latin typeface="Bookman Old Style" panose="02050604050505020204" pitchFamily="18" charset="0"/>
                <a:hlinkClick r:id="rId3"/>
              </a:rPr>
              <a:t>https://</a:t>
            </a:r>
            <a:r>
              <a:rPr lang="en-US" sz="2400" b="1" dirty="0" smtClean="0">
                <a:latin typeface="Bookman Old Style" panose="02050604050505020204" pitchFamily="18" charset="0"/>
                <a:hlinkClick r:id="rId3"/>
              </a:rPr>
              <a:t>github.com/DaniilKlyukin/ITiP-1</a:t>
            </a:r>
          </a:p>
          <a:p>
            <a:pPr algn="just">
              <a:lnSpc>
                <a:spcPct val="150000"/>
              </a:lnSpc>
            </a:pPr>
            <a:r>
              <a:rPr lang="en-US" sz="2400" b="1" dirty="0">
                <a:latin typeface="Bookman Old Style" panose="02050604050505020204" pitchFamily="18" charset="0"/>
                <a:hlinkClick r:id="rId3"/>
              </a:rPr>
              <a:t>https://</a:t>
            </a:r>
            <a:r>
              <a:rPr lang="en-US" sz="2400" b="1" dirty="0" smtClean="0">
                <a:latin typeface="Bookman Old Style" panose="02050604050505020204" pitchFamily="18" charset="0"/>
                <a:hlinkClick r:id="rId3"/>
              </a:rPr>
              <a:t>github.com/DaniilKlyukin/ITiP-2</a:t>
            </a:r>
          </a:p>
          <a:p>
            <a:pPr algn="just">
              <a:lnSpc>
                <a:spcPct val="150000"/>
              </a:lnSpc>
            </a:pPr>
            <a:r>
              <a:rPr lang="en-US" sz="2400" b="1" dirty="0">
                <a:latin typeface="Bookman Old Style" panose="02050604050505020204" pitchFamily="18" charset="0"/>
                <a:hlinkClick r:id="rId3"/>
              </a:rPr>
              <a:t>https://github.com/DaniilKlyukin/ITiP-3</a:t>
            </a:r>
          </a:p>
          <a:p>
            <a:pPr algn="just">
              <a:lnSpc>
                <a:spcPct val="150000"/>
              </a:lnSpc>
            </a:pPr>
            <a:r>
              <a:rPr lang="en-US" sz="2400" b="1" dirty="0" smtClean="0">
                <a:latin typeface="Bookman Old Style" panose="02050604050505020204" pitchFamily="18" charset="0"/>
                <a:hlinkClick r:id="rId3"/>
              </a:rPr>
              <a:t>https</a:t>
            </a:r>
            <a:r>
              <a:rPr lang="en-US" sz="2400" b="1" dirty="0">
                <a:latin typeface="Bookman Old Style" panose="02050604050505020204" pitchFamily="18" charset="0"/>
                <a:hlinkClick r:id="rId3"/>
              </a:rPr>
              <a:t>://</a:t>
            </a:r>
            <a:r>
              <a:rPr lang="en-US" sz="2400" b="1" dirty="0" smtClean="0">
                <a:latin typeface="Bookman Old Style" panose="02050604050505020204" pitchFamily="18" charset="0"/>
                <a:hlinkClick r:id="rId3"/>
              </a:rPr>
              <a:t>github.com/DaniilKlyukin/OOP-4</a:t>
            </a:r>
            <a:endParaRPr lang="en-US" sz="2400" b="1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en-US" sz="2400" b="1" dirty="0">
                <a:latin typeface="Bookman Old Style" panose="02050604050505020204" pitchFamily="18" charset="0"/>
                <a:hlinkClick r:id="rId4"/>
              </a:rPr>
              <a:t>https://</a:t>
            </a:r>
            <a:r>
              <a:rPr lang="en-US" sz="2400" b="1" dirty="0" smtClean="0">
                <a:latin typeface="Bookman Old Style" panose="02050604050505020204" pitchFamily="18" charset="0"/>
                <a:hlinkClick r:id="rId4"/>
              </a:rPr>
              <a:t>github.com/DaniilKlyukin/OOP-6</a:t>
            </a:r>
            <a:endParaRPr lang="en-US" sz="2400" b="1" dirty="0" smtClean="0"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7855514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-1"/>
            <a:ext cx="12192000" cy="654357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5875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US" sz="2800" b="1" dirty="0" err="1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Git</a:t>
            </a:r>
            <a:endParaRPr lang="ru-RU" sz="2800" b="1" dirty="0">
              <a:solidFill>
                <a:schemeClr val="tx2">
                  <a:lumMod val="50000"/>
                </a:schemeClr>
              </a:solidFill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Прямоугольник 6"/>
          <p:cNvSpPr/>
          <p:nvPr/>
        </p:nvSpPr>
        <p:spPr>
          <a:xfrm>
            <a:off x="1" y="654355"/>
            <a:ext cx="12192000" cy="5078313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b="1" dirty="0" err="1">
                <a:latin typeface="Bookman Old Style" panose="02050604050505020204" pitchFamily="18" charset="0"/>
              </a:rPr>
              <a:t>Git</a:t>
            </a:r>
            <a:r>
              <a:rPr lang="ru-RU" sz="2400" b="1" dirty="0">
                <a:latin typeface="Bookman Old Style" panose="02050604050505020204" pitchFamily="18" charset="0"/>
              </a:rPr>
              <a:t> </a:t>
            </a:r>
            <a:r>
              <a:rPr lang="ru-RU" sz="2400" dirty="0" smtClean="0">
                <a:latin typeface="Bookman Old Style" panose="02050604050505020204" pitchFamily="18" charset="0"/>
              </a:rPr>
              <a:t>– </a:t>
            </a:r>
            <a:r>
              <a:rPr lang="ru-RU" sz="2400" dirty="0">
                <a:latin typeface="Bookman Old Style" panose="02050604050505020204" pitchFamily="18" charset="0"/>
              </a:rPr>
              <a:t>это бесплатная распределенная система контроля версий с открытым исходным кодом, предназначенная для быстрой и эффективной работы со всеми проектами, от небольших до очень крупных</a:t>
            </a:r>
            <a:r>
              <a:rPr lang="ru-RU" sz="2400" dirty="0" smtClean="0">
                <a:latin typeface="Bookman Old Style" panose="02050604050505020204" pitchFamily="18" charset="0"/>
              </a:rPr>
              <a:t>.</a:t>
            </a:r>
          </a:p>
          <a:p>
            <a:pPr algn="just">
              <a:lnSpc>
                <a:spcPct val="150000"/>
              </a:lnSpc>
            </a:pPr>
            <a:r>
              <a:rPr lang="ru-RU" sz="2400" b="1" dirty="0" smtClean="0">
                <a:latin typeface="Bookman Old Style" panose="02050604050505020204" pitchFamily="18" charset="0"/>
              </a:rPr>
              <a:t>Применение: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400" dirty="0" smtClean="0">
                <a:latin typeface="Bookman Old Style" panose="02050604050505020204" pitchFamily="18" charset="0"/>
              </a:rPr>
              <a:t>Командная разработка отдельных модулей</a:t>
            </a:r>
            <a:r>
              <a:rPr lang="en-US" sz="2400" dirty="0" smtClean="0">
                <a:latin typeface="Bookman Old Style" panose="02050604050505020204" pitchFamily="18" charset="0"/>
              </a:rPr>
              <a:t>;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400" dirty="0" smtClean="0">
                <a:latin typeface="Bookman Old Style" panose="02050604050505020204" pitchFamily="18" charset="0"/>
              </a:rPr>
              <a:t>Возможность отката к любой из предыдущих версий программы</a:t>
            </a:r>
            <a:r>
              <a:rPr lang="en-US" sz="2400" dirty="0" smtClean="0">
                <a:latin typeface="Bookman Old Style" panose="02050604050505020204" pitchFamily="18" charset="0"/>
              </a:rPr>
              <a:t>. </a:t>
            </a:r>
            <a:r>
              <a:rPr lang="ru-RU" sz="2400" dirty="0" smtClean="0">
                <a:latin typeface="Bookman Old Style" panose="02050604050505020204" pitchFamily="18" charset="0"/>
              </a:rPr>
              <a:t>При этом важно знать, что </a:t>
            </a:r>
            <a:r>
              <a:rPr lang="en-US" sz="2400" dirty="0" err="1" smtClean="0">
                <a:latin typeface="Bookman Old Style" panose="02050604050505020204" pitchFamily="18" charset="0"/>
              </a:rPr>
              <a:t>Git</a:t>
            </a:r>
            <a:r>
              <a:rPr lang="en-US" sz="2400" dirty="0" smtClean="0">
                <a:latin typeface="Bookman Old Style" panose="02050604050505020204" pitchFamily="18" charset="0"/>
              </a:rPr>
              <a:t> </a:t>
            </a:r>
            <a:r>
              <a:rPr lang="ru-RU" sz="2400" dirty="0" smtClean="0">
                <a:latin typeface="Bookman Old Style" panose="02050604050505020204" pitchFamily="18" charset="0"/>
              </a:rPr>
              <a:t>хранит только изменения файлов, а не сами версии файлов, что существенно экономит ресурсы ПК</a:t>
            </a:r>
            <a:r>
              <a:rPr lang="ru-RU" sz="2400" dirty="0">
                <a:latin typeface="Bookman Old Style" panose="02050604050505020204" pitchFamily="18" charset="0"/>
              </a:rPr>
              <a:t>.</a:t>
            </a:r>
            <a:endParaRPr lang="en-US" sz="2400" dirty="0" smtClean="0">
              <a:latin typeface="Bookman Old Style" panose="02050604050505020204" pitchFamily="18" charset="0"/>
            </a:endParaRPr>
          </a:p>
        </p:txBody>
      </p:sp>
      <p:pic>
        <p:nvPicPr>
          <p:cNvPr id="1028" name="Picture 4" descr="upload.wikimedia.org/wikipedia/commons/thumb/e/...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667" y="35077"/>
            <a:ext cx="1397712" cy="584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389661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671691"/>
            <a:ext cx="12192000" cy="5872313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300" dirty="0" smtClean="0">
                <a:latin typeface="Bookman Old Style" panose="02050604050505020204" pitchFamily="18" charset="0"/>
              </a:rPr>
              <a:t>Ядро </a:t>
            </a:r>
            <a:r>
              <a:rPr lang="ru-RU" sz="2300" dirty="0" err="1">
                <a:latin typeface="Bookman Old Style" panose="02050604050505020204" pitchFamily="18" charset="0"/>
              </a:rPr>
              <a:t>Linux</a:t>
            </a:r>
            <a:r>
              <a:rPr lang="ru-RU" sz="2300" dirty="0">
                <a:latin typeface="Bookman Old Style" panose="02050604050505020204" pitchFamily="18" charset="0"/>
              </a:rPr>
              <a:t> </a:t>
            </a:r>
            <a:r>
              <a:rPr lang="en-US" sz="2300" dirty="0" smtClean="0">
                <a:latin typeface="Bookman Old Style" panose="02050604050505020204" pitchFamily="18" charset="0"/>
              </a:rPr>
              <a:t>-</a:t>
            </a:r>
            <a:r>
              <a:rPr lang="ru-RU" sz="2300" dirty="0">
                <a:latin typeface="Bookman Old Style" panose="02050604050505020204" pitchFamily="18" charset="0"/>
              </a:rPr>
              <a:t> это достаточно большой проект с открытым исходным кодом. Большую часть времени разработки ядра </a:t>
            </a:r>
            <a:r>
              <a:rPr lang="ru-RU" sz="2300" dirty="0" err="1">
                <a:latin typeface="Bookman Old Style" panose="02050604050505020204" pitchFamily="18" charset="0"/>
              </a:rPr>
              <a:t>Linux</a:t>
            </a:r>
            <a:r>
              <a:rPr lang="ru-RU" sz="2300" dirty="0">
                <a:latin typeface="Bookman Old Style" panose="02050604050505020204" pitchFamily="18" charset="0"/>
              </a:rPr>
              <a:t> (1991–2002 гг.) изменения передавались между разработчиками в виде </a:t>
            </a:r>
            <a:r>
              <a:rPr lang="ru-RU" sz="2300" dirty="0" err="1">
                <a:latin typeface="Bookman Old Style" panose="02050604050505020204" pitchFamily="18" charset="0"/>
              </a:rPr>
              <a:t>патчей</a:t>
            </a:r>
            <a:r>
              <a:rPr lang="ru-RU" sz="2300" dirty="0">
                <a:latin typeface="Bookman Old Style" panose="02050604050505020204" pitchFamily="18" charset="0"/>
              </a:rPr>
              <a:t> и архивов. В 2002 году проект ядра </a:t>
            </a:r>
            <a:r>
              <a:rPr lang="ru-RU" sz="2300" dirty="0" err="1">
                <a:latin typeface="Bookman Old Style" panose="02050604050505020204" pitchFamily="18" charset="0"/>
              </a:rPr>
              <a:t>Linux</a:t>
            </a:r>
            <a:r>
              <a:rPr lang="ru-RU" sz="2300" dirty="0">
                <a:latin typeface="Bookman Old Style" panose="02050604050505020204" pitchFamily="18" charset="0"/>
              </a:rPr>
              <a:t> начал использовать </a:t>
            </a:r>
            <a:r>
              <a:rPr lang="ru-RU" sz="2300" dirty="0" err="1">
                <a:latin typeface="Bookman Old Style" panose="02050604050505020204" pitchFamily="18" charset="0"/>
              </a:rPr>
              <a:t>проприетарную</a:t>
            </a:r>
            <a:r>
              <a:rPr lang="ru-RU" sz="2300" dirty="0">
                <a:latin typeface="Bookman Old Style" panose="02050604050505020204" pitchFamily="18" charset="0"/>
              </a:rPr>
              <a:t> децентрализованную систему контроля версий </a:t>
            </a:r>
            <a:r>
              <a:rPr lang="ru-RU" sz="2300" dirty="0" err="1">
                <a:latin typeface="Bookman Old Style" panose="02050604050505020204" pitchFamily="18" charset="0"/>
              </a:rPr>
              <a:t>BitKeeper</a:t>
            </a:r>
            <a:r>
              <a:rPr lang="ru-RU" sz="2300" dirty="0" smtClean="0">
                <a:latin typeface="Bookman Old Style" panose="02050604050505020204" pitchFamily="18" charset="0"/>
              </a:rPr>
              <a:t>.</a:t>
            </a:r>
            <a:endParaRPr lang="ru-RU" sz="23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300" dirty="0">
                <a:latin typeface="Bookman Old Style" panose="02050604050505020204" pitchFamily="18" charset="0"/>
              </a:rPr>
              <a:t>В 2005 году отношения между сообществом разработчиков ядра </a:t>
            </a:r>
            <a:r>
              <a:rPr lang="ru-RU" sz="2300" dirty="0" err="1">
                <a:latin typeface="Bookman Old Style" panose="02050604050505020204" pitchFamily="18" charset="0"/>
              </a:rPr>
              <a:t>Linux</a:t>
            </a:r>
            <a:r>
              <a:rPr lang="ru-RU" sz="2300" dirty="0">
                <a:latin typeface="Bookman Old Style" panose="02050604050505020204" pitchFamily="18" charset="0"/>
              </a:rPr>
              <a:t> и коммерческой компанией, которая разрабатывала </a:t>
            </a:r>
            <a:r>
              <a:rPr lang="ru-RU" sz="2300" dirty="0" err="1">
                <a:latin typeface="Bookman Old Style" panose="02050604050505020204" pitchFamily="18" charset="0"/>
              </a:rPr>
              <a:t>BitKeeper</a:t>
            </a:r>
            <a:r>
              <a:rPr lang="ru-RU" sz="2300" dirty="0">
                <a:latin typeface="Bookman Old Style" panose="02050604050505020204" pitchFamily="18" charset="0"/>
              </a:rPr>
              <a:t>, прекратились, и бесплатное использование утилиты стало невозможным. Это </a:t>
            </a:r>
            <a:r>
              <a:rPr lang="ru-RU" sz="2300" dirty="0" err="1">
                <a:latin typeface="Bookman Old Style" panose="02050604050505020204" pitchFamily="18" charset="0"/>
              </a:rPr>
              <a:t>сподвигло</a:t>
            </a:r>
            <a:r>
              <a:rPr lang="ru-RU" sz="2300" dirty="0">
                <a:latin typeface="Bookman Old Style" panose="02050604050505020204" pitchFamily="18" charset="0"/>
              </a:rPr>
              <a:t> сообщество разработчиков ядра </a:t>
            </a:r>
            <a:r>
              <a:rPr lang="ru-RU" sz="2300" dirty="0" err="1">
                <a:latin typeface="Bookman Old Style" panose="02050604050505020204" pitchFamily="18" charset="0"/>
              </a:rPr>
              <a:t>Linux</a:t>
            </a:r>
            <a:r>
              <a:rPr lang="ru-RU" sz="2300" dirty="0">
                <a:latin typeface="Bookman Old Style" panose="02050604050505020204" pitchFamily="18" charset="0"/>
              </a:rPr>
              <a:t> (а в частности </a:t>
            </a:r>
            <a:r>
              <a:rPr lang="ru-RU" sz="2300" dirty="0" err="1">
                <a:latin typeface="Bookman Old Style" panose="02050604050505020204" pitchFamily="18" charset="0"/>
              </a:rPr>
              <a:t>Линуса</a:t>
            </a:r>
            <a:r>
              <a:rPr lang="ru-RU" sz="2300" dirty="0">
                <a:latin typeface="Bookman Old Style" panose="02050604050505020204" pitchFamily="18" charset="0"/>
              </a:rPr>
              <a:t> </a:t>
            </a:r>
            <a:r>
              <a:rPr lang="ru-RU" sz="2300" dirty="0" err="1">
                <a:latin typeface="Bookman Old Style" panose="02050604050505020204" pitchFamily="18" charset="0"/>
              </a:rPr>
              <a:t>Торвальдса</a:t>
            </a:r>
            <a:r>
              <a:rPr lang="ru-RU" sz="2300" dirty="0">
                <a:latin typeface="Bookman Old Style" panose="02050604050505020204" pitchFamily="18" charset="0"/>
              </a:rPr>
              <a:t> — создателя </a:t>
            </a:r>
            <a:r>
              <a:rPr lang="ru-RU" sz="2300" dirty="0" err="1">
                <a:latin typeface="Bookman Old Style" panose="02050604050505020204" pitchFamily="18" charset="0"/>
              </a:rPr>
              <a:t>Linux</a:t>
            </a:r>
            <a:r>
              <a:rPr lang="ru-RU" sz="2300" dirty="0">
                <a:latin typeface="Bookman Old Style" panose="02050604050505020204" pitchFamily="18" charset="0"/>
              </a:rPr>
              <a:t>) разработать свою собственную утилиту, учитывая уроки, полученные при работе с </a:t>
            </a:r>
            <a:r>
              <a:rPr lang="ru-RU" sz="2300" dirty="0" err="1">
                <a:latin typeface="Bookman Old Style" panose="02050604050505020204" pitchFamily="18" charset="0"/>
              </a:rPr>
              <a:t>BitKeeper</a:t>
            </a:r>
            <a:r>
              <a:rPr lang="ru-RU" sz="2300" dirty="0">
                <a:latin typeface="Bookman Old Style" panose="02050604050505020204" pitchFamily="18" charset="0"/>
              </a:rPr>
              <a:t>. </a:t>
            </a:r>
            <a:endParaRPr lang="en-US" sz="2300" dirty="0" smtClean="0">
              <a:latin typeface="Bookman Old Style" panose="02050604050505020204" pitchFamily="18" charset="0"/>
            </a:endParaRPr>
          </a:p>
        </p:txBody>
      </p:sp>
      <p:sp>
        <p:nvSpPr>
          <p:cNvPr id="5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0"/>
            <a:ext cx="12192000" cy="654357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5875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ru-RU" sz="2800" b="1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История создания </a:t>
            </a:r>
            <a:r>
              <a:rPr lang="en-US" sz="2800" b="1" dirty="0" err="1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Git</a:t>
            </a:r>
            <a:endParaRPr lang="en-US" sz="2800" b="1" dirty="0">
              <a:solidFill>
                <a:schemeClr val="tx2">
                  <a:lumMod val="50000"/>
                </a:schemeClr>
              </a:solidFill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158543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1" y="0"/>
            <a:ext cx="12192000" cy="5078313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Некоторыми </a:t>
            </a:r>
            <a:r>
              <a:rPr lang="ru-RU" sz="2400" dirty="0">
                <a:latin typeface="Bookman Old Style" panose="02050604050505020204" pitchFamily="18" charset="0"/>
              </a:rPr>
              <a:t>целями, которые преследовала новая система, были</a:t>
            </a:r>
            <a:r>
              <a:rPr lang="ru-RU" sz="2400" dirty="0" smtClean="0">
                <a:latin typeface="Bookman Old Style" panose="02050604050505020204" pitchFamily="18" charset="0"/>
              </a:rPr>
              <a:t>:</a:t>
            </a:r>
            <a:endParaRPr lang="ru-RU" sz="2400" dirty="0">
              <a:latin typeface="Bookman Old Style" panose="02050604050505020204" pitchFamily="18" charset="0"/>
            </a:endParaRPr>
          </a:p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400" dirty="0" smtClean="0">
                <a:latin typeface="Bookman Old Style" panose="02050604050505020204" pitchFamily="18" charset="0"/>
              </a:rPr>
              <a:t>Скорость</a:t>
            </a:r>
            <a:endParaRPr lang="ru-RU" sz="2400" dirty="0">
              <a:latin typeface="Bookman Old Style" panose="02050604050505020204" pitchFamily="18" charset="0"/>
            </a:endParaRPr>
          </a:p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400" dirty="0">
                <a:latin typeface="Bookman Old Style" panose="02050604050505020204" pitchFamily="18" charset="0"/>
              </a:rPr>
              <a:t>Простая </a:t>
            </a:r>
            <a:r>
              <a:rPr lang="ru-RU" sz="2400" dirty="0" smtClean="0">
                <a:latin typeface="Bookman Old Style" panose="02050604050505020204" pitchFamily="18" charset="0"/>
              </a:rPr>
              <a:t>архитектура</a:t>
            </a:r>
            <a:endParaRPr lang="ru-RU" sz="2400" dirty="0">
              <a:latin typeface="Bookman Old Style" panose="02050604050505020204" pitchFamily="18" charset="0"/>
            </a:endParaRPr>
          </a:p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400" dirty="0">
                <a:latin typeface="Bookman Old Style" panose="02050604050505020204" pitchFamily="18" charset="0"/>
              </a:rPr>
              <a:t>Хорошая поддержка нелинейной разработки (тысячи параллельных веток</a:t>
            </a:r>
            <a:r>
              <a:rPr lang="ru-RU" sz="2400" dirty="0" smtClean="0">
                <a:latin typeface="Bookman Old Style" panose="02050604050505020204" pitchFamily="18" charset="0"/>
              </a:rPr>
              <a:t>)</a:t>
            </a:r>
            <a:endParaRPr lang="ru-RU" sz="2400" dirty="0">
              <a:latin typeface="Bookman Old Style" panose="02050604050505020204" pitchFamily="18" charset="0"/>
            </a:endParaRPr>
          </a:p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400" dirty="0">
                <a:latin typeface="Bookman Old Style" panose="02050604050505020204" pitchFamily="18" charset="0"/>
              </a:rPr>
              <a:t>Полная </a:t>
            </a:r>
            <a:r>
              <a:rPr lang="ru-RU" sz="2400" dirty="0" smtClean="0">
                <a:latin typeface="Bookman Old Style" panose="02050604050505020204" pitchFamily="18" charset="0"/>
              </a:rPr>
              <a:t>децентрализация</a:t>
            </a:r>
            <a:endParaRPr lang="ru-RU" sz="2400" dirty="0">
              <a:latin typeface="Bookman Old Style" panose="02050604050505020204" pitchFamily="18" charset="0"/>
            </a:endParaRPr>
          </a:p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400" dirty="0">
                <a:latin typeface="Bookman Old Style" panose="02050604050505020204" pitchFamily="18" charset="0"/>
              </a:rPr>
              <a:t>Возможность эффективного управления большими проектами, такими как ядро </a:t>
            </a:r>
            <a:r>
              <a:rPr lang="ru-RU" sz="2400" dirty="0" err="1">
                <a:latin typeface="Bookman Old Style" panose="02050604050505020204" pitchFamily="18" charset="0"/>
              </a:rPr>
              <a:t>Linux</a:t>
            </a:r>
            <a:r>
              <a:rPr lang="ru-RU" sz="2400" dirty="0">
                <a:latin typeface="Bookman Old Style" panose="02050604050505020204" pitchFamily="18" charset="0"/>
              </a:rPr>
              <a:t> (скорость работы и разумное использование дискового пространства)</a:t>
            </a:r>
            <a:endParaRPr lang="en-US" sz="2400" dirty="0" smtClean="0"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0173641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0"/>
            <a:ext cx="12107333" cy="3416320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b="1" dirty="0" smtClean="0">
                <a:latin typeface="Bookman Old Style" panose="02050604050505020204" pitchFamily="18" charset="0"/>
              </a:rPr>
              <a:t>Официальный сайт </a:t>
            </a:r>
            <a:r>
              <a:rPr lang="ru-RU" sz="2400" dirty="0" smtClean="0">
                <a:latin typeface="Bookman Old Style" panose="02050604050505020204" pitchFamily="18" charset="0"/>
              </a:rPr>
              <a:t>программы: </a:t>
            </a:r>
            <a:r>
              <a:rPr lang="en-US" sz="2400" dirty="0">
                <a:latin typeface="Bookman Old Style" panose="02050604050505020204" pitchFamily="18" charset="0"/>
                <a:hlinkClick r:id="rId3"/>
              </a:rPr>
              <a:t>https://git-scm.com</a:t>
            </a:r>
            <a:r>
              <a:rPr lang="en-US" sz="2400" dirty="0" smtClean="0">
                <a:latin typeface="Bookman Old Style" panose="02050604050505020204" pitchFamily="18" charset="0"/>
                <a:hlinkClick r:id="rId3"/>
              </a:rPr>
              <a:t>/</a:t>
            </a:r>
            <a:endParaRPr lang="ru-RU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b="1" dirty="0" smtClean="0">
                <a:latin typeface="Bookman Old Style" panose="02050604050505020204" pitchFamily="18" charset="0"/>
              </a:rPr>
              <a:t>Литература</a:t>
            </a:r>
            <a:r>
              <a:rPr lang="ru-RU" sz="2400" dirty="0" smtClean="0">
                <a:latin typeface="Bookman Old Style" panose="02050604050505020204" pitchFamily="18" charset="0"/>
              </a:rPr>
              <a:t> (полезные ссылки):</a:t>
            </a:r>
          </a:p>
          <a:p>
            <a:pPr marL="342900" indent="-342900" algn="just">
              <a:lnSpc>
                <a:spcPct val="150000"/>
              </a:lnSpc>
              <a:buFont typeface="+mj-lt"/>
              <a:buAutoNum type="arabicPeriod"/>
            </a:pPr>
            <a:r>
              <a:rPr lang="en-US" sz="2400" dirty="0">
                <a:latin typeface="Bookman Old Style" panose="02050604050505020204" pitchFamily="18" charset="0"/>
                <a:hlinkClick r:id="rId4"/>
              </a:rPr>
              <a:t>https://</a:t>
            </a:r>
            <a:r>
              <a:rPr lang="en-US" sz="2400" dirty="0" smtClean="0">
                <a:latin typeface="Bookman Old Style" panose="02050604050505020204" pitchFamily="18" charset="0"/>
                <a:hlinkClick r:id="rId4"/>
              </a:rPr>
              <a:t>ru.hexlet.io/courses/intro_to_git</a:t>
            </a:r>
            <a:r>
              <a:rPr lang="ru-RU" sz="2400" dirty="0" smtClean="0">
                <a:latin typeface="Bookman Old Style" panose="02050604050505020204" pitchFamily="18" charset="0"/>
              </a:rPr>
              <a:t> </a:t>
            </a:r>
          </a:p>
          <a:p>
            <a:pPr marL="342900" indent="-342900" algn="just">
              <a:lnSpc>
                <a:spcPct val="150000"/>
              </a:lnSpc>
              <a:buFont typeface="+mj-lt"/>
              <a:buAutoNum type="arabicPeriod"/>
            </a:pPr>
            <a:r>
              <a:rPr lang="en-US" sz="2400" dirty="0">
                <a:latin typeface="Bookman Old Style" panose="02050604050505020204" pitchFamily="18" charset="0"/>
                <a:hlinkClick r:id="rId5"/>
              </a:rPr>
              <a:t>https://</a:t>
            </a:r>
            <a:r>
              <a:rPr lang="en-US" sz="2400" dirty="0" smtClean="0">
                <a:latin typeface="Bookman Old Style" panose="02050604050505020204" pitchFamily="18" charset="0"/>
                <a:hlinkClick r:id="rId5"/>
              </a:rPr>
              <a:t>githowto.com/ru/setup</a:t>
            </a:r>
            <a:r>
              <a:rPr lang="ru-RU" sz="2400" dirty="0">
                <a:latin typeface="Bookman Old Style" panose="02050604050505020204" pitchFamily="18" charset="0"/>
              </a:rPr>
              <a:t> </a:t>
            </a:r>
            <a:endParaRPr lang="ru-RU" sz="2400" dirty="0" smtClean="0">
              <a:latin typeface="Bookman Old Style" panose="02050604050505020204" pitchFamily="18" charset="0"/>
            </a:endParaRPr>
          </a:p>
          <a:p>
            <a:pPr marL="342900" indent="-342900" algn="just">
              <a:lnSpc>
                <a:spcPct val="150000"/>
              </a:lnSpc>
              <a:buFont typeface="+mj-lt"/>
              <a:buAutoNum type="arabicPeriod"/>
            </a:pPr>
            <a:r>
              <a:rPr lang="en-US" sz="2400" dirty="0">
                <a:latin typeface="Bookman Old Style" panose="02050604050505020204" pitchFamily="18" charset="0"/>
                <a:hlinkClick r:id="rId6"/>
              </a:rPr>
              <a:t>https://learngitbranching.js.org/?</a:t>
            </a:r>
            <a:r>
              <a:rPr lang="en-US" sz="2400" dirty="0" smtClean="0">
                <a:latin typeface="Bookman Old Style" panose="02050604050505020204" pitchFamily="18" charset="0"/>
                <a:hlinkClick r:id="rId6"/>
              </a:rPr>
              <a:t>locale=ru_RU</a:t>
            </a:r>
            <a:r>
              <a:rPr lang="ru-RU" sz="2400" dirty="0" smtClean="0">
                <a:latin typeface="Bookman Old Style" panose="02050604050505020204" pitchFamily="18" charset="0"/>
              </a:rPr>
              <a:t> (тренажер по </a:t>
            </a:r>
            <a:r>
              <a:rPr lang="en-US" sz="2400" dirty="0" err="1" smtClean="0">
                <a:latin typeface="Bookman Old Style" panose="02050604050505020204" pitchFamily="18" charset="0"/>
              </a:rPr>
              <a:t>Git</a:t>
            </a:r>
            <a:r>
              <a:rPr lang="ru-RU" sz="2400" dirty="0" smtClean="0">
                <a:latin typeface="Bookman Old Style" panose="02050604050505020204" pitchFamily="18" charset="0"/>
              </a:rPr>
              <a:t>)</a:t>
            </a:r>
          </a:p>
          <a:p>
            <a:pPr marL="342900" indent="-342900" algn="just">
              <a:lnSpc>
                <a:spcPct val="150000"/>
              </a:lnSpc>
              <a:buFont typeface="+mj-lt"/>
              <a:buAutoNum type="arabicPeriod"/>
            </a:pPr>
            <a:r>
              <a:rPr lang="en-US" sz="2400" dirty="0">
                <a:latin typeface="Bookman Old Style" panose="02050604050505020204" pitchFamily="18" charset="0"/>
                <a:hlinkClick r:id="rId7"/>
              </a:rPr>
              <a:t>https://</a:t>
            </a:r>
            <a:r>
              <a:rPr lang="en-US" sz="2400" dirty="0" smtClean="0">
                <a:latin typeface="Bookman Old Style" panose="02050604050505020204" pitchFamily="18" charset="0"/>
                <a:hlinkClick r:id="rId7"/>
              </a:rPr>
              <a:t>www.youtube.com/watch?v=zZBiln_2FhM</a:t>
            </a:r>
            <a:r>
              <a:rPr lang="ru-RU" sz="2400" dirty="0" smtClean="0">
                <a:latin typeface="Bookman Old Style" panose="02050604050505020204" pitchFamily="18" charset="0"/>
              </a:rPr>
              <a:t> (видео-урок)</a:t>
            </a:r>
            <a:endParaRPr lang="ru-RU" sz="2400" dirty="0"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4577718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1" y="0"/>
            <a:ext cx="12192000" cy="4524315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b="1" dirty="0" smtClean="0">
                <a:latin typeface="Bookman Old Style" panose="02050604050505020204" pitchFamily="18" charset="0"/>
              </a:rPr>
              <a:t>Термины:</a:t>
            </a:r>
          </a:p>
          <a:p>
            <a:pPr algn="just">
              <a:lnSpc>
                <a:spcPct val="150000"/>
              </a:lnSpc>
            </a:pPr>
            <a:r>
              <a:rPr lang="ru-RU" sz="2400" dirty="0" err="1" smtClean="0">
                <a:latin typeface="Bookman Old Style" panose="02050604050505020204" pitchFamily="18" charset="0"/>
              </a:rPr>
              <a:t>Репозиторий</a:t>
            </a:r>
            <a:r>
              <a:rPr lang="ru-RU" sz="2400" dirty="0" smtClean="0">
                <a:latin typeface="Bookman Old Style" panose="02050604050505020204" pitchFamily="18" charset="0"/>
              </a:rPr>
              <a:t> – любая папка, в которой, например, находится наш проект.</a:t>
            </a: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Ветка (</a:t>
            </a:r>
            <a:r>
              <a:rPr lang="en-US" sz="2400" dirty="0" smtClean="0">
                <a:latin typeface="Bookman Old Style" panose="02050604050505020204" pitchFamily="18" charset="0"/>
              </a:rPr>
              <a:t>Branch</a:t>
            </a:r>
            <a:r>
              <a:rPr lang="ru-RU" sz="2400" dirty="0" smtClean="0">
                <a:latin typeface="Bookman Old Style" panose="02050604050505020204" pitchFamily="18" charset="0"/>
              </a:rPr>
              <a:t>)</a:t>
            </a:r>
            <a:r>
              <a:rPr lang="en-US" sz="2400" dirty="0" smtClean="0">
                <a:latin typeface="Bookman Old Style" panose="02050604050505020204" pitchFamily="18" charset="0"/>
              </a:rPr>
              <a:t> – </a:t>
            </a:r>
            <a:r>
              <a:rPr lang="ru-RU" sz="2400" dirty="0" smtClean="0">
                <a:latin typeface="Bookman Old Style" panose="02050604050505020204" pitchFamily="18" charset="0"/>
              </a:rPr>
              <a:t>представляет собой какую-то версию нашего проекта (</a:t>
            </a:r>
            <a:r>
              <a:rPr lang="ru-RU" sz="2400" dirty="0" err="1" smtClean="0">
                <a:latin typeface="Bookman Old Style" panose="02050604050505020204" pitchFamily="18" charset="0"/>
              </a:rPr>
              <a:t>репозитория</a:t>
            </a:r>
            <a:r>
              <a:rPr lang="ru-RU" sz="2400" dirty="0" smtClean="0">
                <a:latin typeface="Bookman Old Style" panose="02050604050505020204" pitchFamily="18" charset="0"/>
              </a:rPr>
              <a:t>).</a:t>
            </a:r>
            <a:endParaRPr lang="en-US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b="1" dirty="0" smtClean="0">
                <a:latin typeface="Bookman Old Style" panose="02050604050505020204" pitchFamily="18" charset="0"/>
              </a:rPr>
              <a:t>Шаги по работе с </a:t>
            </a:r>
            <a:r>
              <a:rPr lang="en-US" sz="2400" b="1" dirty="0" err="1" smtClean="0">
                <a:latin typeface="Bookman Old Style" panose="02050604050505020204" pitchFamily="18" charset="0"/>
              </a:rPr>
              <a:t>Git</a:t>
            </a:r>
            <a:r>
              <a:rPr lang="en-US" sz="2400" b="1" dirty="0">
                <a:latin typeface="Bookman Old Style" panose="02050604050505020204" pitchFamily="18" charset="0"/>
              </a:rPr>
              <a:t>:</a:t>
            </a:r>
            <a:endParaRPr lang="ru-RU" sz="2400" b="1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Устанавливаем </a:t>
            </a:r>
            <a:r>
              <a:rPr lang="en-US" sz="2400" dirty="0" err="1">
                <a:latin typeface="Bookman Old Style" panose="02050604050505020204" pitchFamily="18" charset="0"/>
              </a:rPr>
              <a:t>Git</a:t>
            </a:r>
            <a:r>
              <a:rPr lang="en-US" sz="2400" dirty="0">
                <a:latin typeface="Bookman Old Style" panose="02050604050505020204" pitchFamily="18" charset="0"/>
              </a:rPr>
              <a:t> (</a:t>
            </a:r>
            <a:r>
              <a:rPr lang="ru-RU" sz="2400" dirty="0">
                <a:latin typeface="Bookman Old Style" panose="02050604050505020204" pitchFamily="18" charset="0"/>
              </a:rPr>
              <a:t>все опции оставляем по умолчанию</a:t>
            </a:r>
            <a:r>
              <a:rPr lang="en-US" sz="2400" dirty="0" smtClean="0">
                <a:latin typeface="Bookman Old Style" panose="02050604050505020204" pitchFamily="18" charset="0"/>
              </a:rPr>
              <a:t>).</a:t>
            </a:r>
            <a:endParaRPr lang="ru-RU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Создаем </a:t>
            </a:r>
            <a:r>
              <a:rPr lang="ru-RU" sz="2400" dirty="0" err="1" smtClean="0">
                <a:latin typeface="Bookman Old Style" panose="02050604050505020204" pitchFamily="18" charset="0"/>
              </a:rPr>
              <a:t>репозиторий</a:t>
            </a:r>
            <a:r>
              <a:rPr lang="ru-RU" sz="2400" dirty="0" smtClean="0">
                <a:latin typeface="Bookman Old Style" panose="02050604050505020204" pitchFamily="18" charset="0"/>
              </a:rPr>
              <a:t> (папку).</a:t>
            </a: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 rotWithShape="1">
          <a:blip r:embed="rId3"/>
          <a:srcRect l="14250" t="5543" r="12151" b="13872"/>
          <a:stretch/>
        </p:blipFill>
        <p:spPr>
          <a:xfrm>
            <a:off x="5902036" y="3917487"/>
            <a:ext cx="2909455" cy="27764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43778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392400"/>
            <a:ext cx="12192000" cy="646331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Заходим в папку, нажимаем ПКМ и выбираем </a:t>
            </a:r>
            <a:r>
              <a:rPr lang="en-US" sz="2400" b="1" dirty="0" err="1" smtClean="0">
                <a:latin typeface="Bookman Old Style" panose="02050604050505020204" pitchFamily="18" charset="0"/>
              </a:rPr>
              <a:t>Git</a:t>
            </a:r>
            <a:r>
              <a:rPr lang="en-US" sz="2400" b="1" dirty="0" smtClean="0">
                <a:latin typeface="Bookman Old Style" panose="02050604050505020204" pitchFamily="18" charset="0"/>
              </a:rPr>
              <a:t> Bash Here</a:t>
            </a:r>
            <a:r>
              <a:rPr lang="en-US" sz="2400" dirty="0" smtClean="0">
                <a:latin typeface="Bookman Old Style" panose="02050604050505020204" pitchFamily="18" charset="0"/>
              </a:rPr>
              <a:t>.</a:t>
            </a:r>
          </a:p>
        </p:txBody>
      </p:sp>
      <p:pic>
        <p:nvPicPr>
          <p:cNvPr id="10" name="Рисунок 9"/>
          <p:cNvPicPr>
            <a:picLocks noChangeAspect="1"/>
          </p:cNvPicPr>
          <p:nvPr/>
        </p:nvPicPr>
        <p:blipFill rotWithShape="1">
          <a:blip r:embed="rId3"/>
          <a:srcRect l="18211" t="66698" r="16830"/>
          <a:stretch/>
        </p:blipFill>
        <p:spPr>
          <a:xfrm>
            <a:off x="3106417" y="1277256"/>
            <a:ext cx="8197431" cy="3973286"/>
          </a:xfrm>
          <a:prstGeom prst="rect">
            <a:avLst/>
          </a:prstGeom>
        </p:spPr>
      </p:pic>
      <p:cxnSp>
        <p:nvCxnSpPr>
          <p:cNvPr id="12" name="Прямая со стрелкой 11"/>
          <p:cNvCxnSpPr/>
          <p:nvPr/>
        </p:nvCxnSpPr>
        <p:spPr>
          <a:xfrm>
            <a:off x="1669143" y="4934858"/>
            <a:ext cx="1666817" cy="14514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9324682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2476337"/>
            <a:ext cx="12192000" cy="646331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Для инициализации </a:t>
            </a:r>
            <a:r>
              <a:rPr lang="ru-RU" sz="2400" dirty="0" err="1">
                <a:latin typeface="Bookman Old Style" panose="02050604050505020204" pitchFamily="18" charset="0"/>
              </a:rPr>
              <a:t>репозитория</a:t>
            </a:r>
            <a:r>
              <a:rPr lang="ru-RU" sz="2400" dirty="0">
                <a:latin typeface="Bookman Old Style" panose="02050604050505020204" pitchFamily="18" charset="0"/>
              </a:rPr>
              <a:t> пишем команду </a:t>
            </a:r>
            <a:r>
              <a:rPr lang="en-US" sz="2400" b="1" dirty="0" err="1">
                <a:latin typeface="Bookman Old Style" panose="02050604050505020204" pitchFamily="18" charset="0"/>
              </a:rPr>
              <a:t>git</a:t>
            </a:r>
            <a:r>
              <a:rPr lang="en-US" sz="2400" b="1" dirty="0">
                <a:latin typeface="Bookman Old Style" panose="02050604050505020204" pitchFamily="18" charset="0"/>
              </a:rPr>
              <a:t> </a:t>
            </a:r>
            <a:r>
              <a:rPr lang="en-US" sz="2400" b="1" dirty="0" err="1" smtClean="0">
                <a:latin typeface="Bookman Old Style" panose="02050604050505020204" pitchFamily="18" charset="0"/>
              </a:rPr>
              <a:t>init</a:t>
            </a:r>
            <a:endParaRPr lang="ru-RU" sz="2400" dirty="0">
              <a:latin typeface="Bookman Old Style" panose="02050604050505020204" pitchFamily="18" charset="0"/>
            </a:endParaRPr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 rotWithShape="1">
          <a:blip r:embed="rId3"/>
          <a:srcRect l="-1" r="39359" b="74168"/>
          <a:stretch/>
        </p:blipFill>
        <p:spPr>
          <a:xfrm>
            <a:off x="498764" y="0"/>
            <a:ext cx="11074399" cy="1220569"/>
          </a:xfrm>
          <a:prstGeom prst="rect">
            <a:avLst/>
          </a:prstGeom>
        </p:spPr>
      </p:pic>
      <p:pic>
        <p:nvPicPr>
          <p:cNvPr id="6" name="Рисунок 5"/>
          <p:cNvPicPr>
            <a:picLocks noChangeAspect="1"/>
          </p:cNvPicPr>
          <p:nvPr/>
        </p:nvPicPr>
        <p:blipFill rotWithShape="1">
          <a:blip r:embed="rId3"/>
          <a:srcRect l="60503" t="6988" b="74168"/>
          <a:stretch/>
        </p:blipFill>
        <p:spPr>
          <a:xfrm>
            <a:off x="498764" y="1202248"/>
            <a:ext cx="7212975" cy="890369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/>
        </p:nvPicPr>
        <p:blipFill rotWithShape="1">
          <a:blip r:embed="rId3"/>
          <a:srcRect l="-1" t="25924" r="30805" b="254"/>
          <a:stretch/>
        </p:blipFill>
        <p:spPr>
          <a:xfrm>
            <a:off x="498764" y="3348385"/>
            <a:ext cx="11205556" cy="30931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431521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1" y="0"/>
            <a:ext cx="12192000" cy="3970318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В </a:t>
            </a:r>
            <a:r>
              <a:rPr lang="ru-RU" sz="2400" dirty="0" err="1" smtClean="0">
                <a:latin typeface="Bookman Old Style" panose="02050604050505020204" pitchFamily="18" charset="0"/>
              </a:rPr>
              <a:t>репозиторий</a:t>
            </a:r>
            <a:r>
              <a:rPr lang="ru-RU" sz="2400" dirty="0" smtClean="0">
                <a:latin typeface="Bookman Old Style" panose="02050604050505020204" pitchFamily="18" charset="0"/>
              </a:rPr>
              <a:t> можно поместить абсолютно любой файл или папку.</a:t>
            </a:r>
            <a:endParaRPr lang="en-US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Создадим в </a:t>
            </a:r>
            <a:r>
              <a:rPr lang="ru-RU" sz="2400" dirty="0" err="1" smtClean="0">
                <a:latin typeface="Bookman Old Style" panose="02050604050505020204" pitchFamily="18" charset="0"/>
              </a:rPr>
              <a:t>репозитории</a:t>
            </a:r>
            <a:r>
              <a:rPr lang="ru-RU" sz="2400" dirty="0" smtClean="0">
                <a:latin typeface="Bookman Old Style" panose="02050604050505020204" pitchFamily="18" charset="0"/>
              </a:rPr>
              <a:t> текстовый файл (</a:t>
            </a:r>
            <a:r>
              <a:rPr lang="en-US" sz="2400" dirty="0" smtClean="0">
                <a:latin typeface="Bookman Old Style" panose="02050604050505020204" pitchFamily="18" charset="0"/>
              </a:rPr>
              <a:t>file</a:t>
            </a:r>
            <a:r>
              <a:rPr lang="ru-RU" sz="2400" dirty="0" smtClean="0">
                <a:latin typeface="Bookman Old Style" panose="02050604050505020204" pitchFamily="18" charset="0"/>
              </a:rPr>
              <a:t> 1.</a:t>
            </a:r>
            <a:r>
              <a:rPr lang="en-US" sz="2400" dirty="0" smtClean="0">
                <a:latin typeface="Bookman Old Style" panose="02050604050505020204" pitchFamily="18" charset="0"/>
              </a:rPr>
              <a:t>txt</a:t>
            </a:r>
            <a:r>
              <a:rPr lang="ru-RU" sz="2400" dirty="0" smtClean="0">
                <a:latin typeface="Bookman Old Style" panose="02050604050505020204" pitchFamily="18" charset="0"/>
              </a:rPr>
              <a:t>):</a:t>
            </a:r>
            <a:endParaRPr lang="en-US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en-US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en-US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en-US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Закроем файл и с помощью команды </a:t>
            </a:r>
            <a:r>
              <a:rPr lang="en-US" sz="2400" b="1" dirty="0" err="1" smtClean="0">
                <a:latin typeface="Bookman Old Style" panose="02050604050505020204" pitchFamily="18" charset="0"/>
              </a:rPr>
              <a:t>git</a:t>
            </a:r>
            <a:r>
              <a:rPr lang="en-US" sz="2400" b="1" dirty="0" smtClean="0">
                <a:latin typeface="Bookman Old Style" panose="02050604050505020204" pitchFamily="18" charset="0"/>
              </a:rPr>
              <a:t> status </a:t>
            </a:r>
            <a:r>
              <a:rPr lang="ru-RU" sz="2400" dirty="0" smtClean="0">
                <a:latin typeface="Bookman Old Style" panose="02050604050505020204" pitchFamily="18" charset="0"/>
              </a:rPr>
              <a:t>посмотрим на состояние </a:t>
            </a:r>
            <a:r>
              <a:rPr lang="ru-RU" sz="2400" dirty="0" err="1" smtClean="0">
                <a:latin typeface="Bookman Old Style" panose="02050604050505020204" pitchFamily="18" charset="0"/>
              </a:rPr>
              <a:t>репозитория</a:t>
            </a:r>
            <a:r>
              <a:rPr lang="ru-RU" sz="2400" dirty="0">
                <a:latin typeface="Bookman Old Style" panose="02050604050505020204" pitchFamily="18" charset="0"/>
              </a:rPr>
              <a:t>.</a:t>
            </a:r>
          </a:p>
        </p:txBody>
      </p:sp>
      <p:pic>
        <p:nvPicPr>
          <p:cNvPr id="6" name="Рисунок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60567" y="1294500"/>
            <a:ext cx="6468378" cy="13813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966248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1" y="0"/>
            <a:ext cx="12192000" cy="646331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Введем команду </a:t>
            </a:r>
            <a:r>
              <a:rPr lang="en-US" sz="2400" b="1" dirty="0" err="1" smtClean="0">
                <a:latin typeface="Bookman Old Style" panose="02050604050505020204" pitchFamily="18" charset="0"/>
              </a:rPr>
              <a:t>git</a:t>
            </a:r>
            <a:r>
              <a:rPr lang="en-US" sz="2400" b="1" dirty="0" smtClean="0">
                <a:latin typeface="Bookman Old Style" panose="02050604050505020204" pitchFamily="18" charset="0"/>
              </a:rPr>
              <a:t> status</a:t>
            </a:r>
            <a:endParaRPr lang="ru-RU" sz="2400" b="1" dirty="0" smtClean="0">
              <a:latin typeface="Bookman Old Style" panose="02050604050505020204" pitchFamily="18" charset="0"/>
            </a:endParaRP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461" y="583686"/>
            <a:ext cx="10655079" cy="56706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031681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1" y="0"/>
            <a:ext cx="12192000" cy="4524315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2400" b="1" dirty="0" smtClean="0">
                <a:latin typeface="Bookman Old Style" panose="02050604050505020204" pitchFamily="18" charset="0"/>
              </a:rPr>
              <a:t>On branch master </a:t>
            </a:r>
            <a:r>
              <a:rPr lang="ru-RU" sz="2400" dirty="0" smtClean="0">
                <a:latin typeface="Bookman Old Style" panose="02050604050505020204" pitchFamily="18" charset="0"/>
              </a:rPr>
              <a:t>говорит о том на какой ветке мы находимся (</a:t>
            </a:r>
            <a:r>
              <a:rPr lang="en-US" sz="2400" dirty="0" smtClean="0">
                <a:latin typeface="Bookman Old Style" panose="02050604050505020204" pitchFamily="18" charset="0"/>
              </a:rPr>
              <a:t>master</a:t>
            </a:r>
            <a:r>
              <a:rPr lang="ru-RU" sz="2400" dirty="0" smtClean="0">
                <a:latin typeface="Bookman Old Style" panose="02050604050505020204" pitchFamily="18" charset="0"/>
              </a:rPr>
              <a:t>).</a:t>
            </a:r>
          </a:p>
          <a:p>
            <a:pPr algn="just">
              <a:lnSpc>
                <a:spcPct val="150000"/>
              </a:lnSpc>
            </a:pPr>
            <a:r>
              <a:rPr lang="en-US" sz="2400" b="1" dirty="0" smtClean="0">
                <a:latin typeface="Bookman Old Style" panose="02050604050505020204" pitchFamily="18" charset="0"/>
              </a:rPr>
              <a:t>No commits yet </a:t>
            </a:r>
            <a:r>
              <a:rPr lang="ru-RU" sz="2400" dirty="0" smtClean="0">
                <a:latin typeface="Bookman Old Style" panose="02050604050505020204" pitchFamily="18" charset="0"/>
              </a:rPr>
              <a:t>означает, что мы ещё не фиксировали изменения в </a:t>
            </a:r>
            <a:r>
              <a:rPr lang="ru-RU" sz="2400" dirty="0" err="1" smtClean="0">
                <a:latin typeface="Bookman Old Style" panose="02050604050505020204" pitchFamily="18" charset="0"/>
              </a:rPr>
              <a:t>репозитории</a:t>
            </a:r>
            <a:r>
              <a:rPr lang="ru-RU" sz="2400" dirty="0" smtClean="0">
                <a:latin typeface="Bookman Old Style" panose="02050604050505020204" pitchFamily="18" charset="0"/>
              </a:rPr>
              <a:t>.</a:t>
            </a:r>
          </a:p>
          <a:p>
            <a:pPr algn="just">
              <a:lnSpc>
                <a:spcPct val="150000"/>
              </a:lnSpc>
            </a:pPr>
            <a:r>
              <a:rPr lang="en-US" sz="2400" b="1" dirty="0" smtClean="0">
                <a:latin typeface="Bookman Old Style" panose="02050604050505020204" pitchFamily="18" charset="0"/>
              </a:rPr>
              <a:t>Untracked files </a:t>
            </a:r>
            <a:r>
              <a:rPr lang="ru-RU" sz="2400" dirty="0" smtClean="0">
                <a:latin typeface="Bookman Old Style" panose="02050604050505020204" pitchFamily="18" charset="0"/>
              </a:rPr>
              <a:t>содержит список файлов, которые были изменены или добавлены, но эти действия ещё не добавлены в список для фиксации.</a:t>
            </a:r>
            <a:endParaRPr lang="en-US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В данном случае это файл </a:t>
            </a:r>
            <a:r>
              <a:rPr lang="en-US" sz="2400" b="1" dirty="0" smtClean="0">
                <a:latin typeface="Bookman Old Style" panose="02050604050505020204" pitchFamily="18" charset="0"/>
              </a:rPr>
              <a:t>file 1.txt</a:t>
            </a:r>
            <a:endParaRPr lang="ru-RU" sz="2400" b="1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en-US" sz="2400" b="1" dirty="0" smtClean="0">
                <a:latin typeface="Bookman Old Style" panose="02050604050505020204" pitchFamily="18" charset="0"/>
              </a:rPr>
              <a:t>Nothing added to commit </a:t>
            </a:r>
            <a:r>
              <a:rPr lang="ru-RU" sz="2400" dirty="0" smtClean="0">
                <a:latin typeface="Bookman Old Style" panose="02050604050505020204" pitchFamily="18" charset="0"/>
              </a:rPr>
              <a:t>говорит о том, что мы ничего не добавили для фиксации изменений в </a:t>
            </a:r>
            <a:r>
              <a:rPr lang="ru-RU" sz="2400" dirty="0" err="1" smtClean="0">
                <a:latin typeface="Bookman Old Style" panose="02050604050505020204" pitchFamily="18" charset="0"/>
              </a:rPr>
              <a:t>репозитории</a:t>
            </a:r>
            <a:r>
              <a:rPr lang="ru-RU" sz="2400" dirty="0" smtClean="0">
                <a:latin typeface="Bookman Old Style" panose="02050604050505020204" pitchFamily="18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4930397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1" y="0"/>
            <a:ext cx="12192000" cy="3970318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Добавим </a:t>
            </a:r>
            <a:r>
              <a:rPr lang="ru-RU" sz="2400" dirty="0">
                <a:latin typeface="Bookman Old Style" panose="02050604050505020204" pitchFamily="18" charset="0"/>
              </a:rPr>
              <a:t>изменения командой </a:t>
            </a:r>
            <a:r>
              <a:rPr lang="en-US" sz="2400" b="1" dirty="0" err="1">
                <a:latin typeface="Bookman Old Style" panose="02050604050505020204" pitchFamily="18" charset="0"/>
              </a:rPr>
              <a:t>git</a:t>
            </a:r>
            <a:r>
              <a:rPr lang="en-US" sz="2400" b="1" dirty="0">
                <a:latin typeface="Bookman Old Style" panose="02050604050505020204" pitchFamily="18" charset="0"/>
              </a:rPr>
              <a:t> add</a:t>
            </a:r>
            <a:r>
              <a:rPr lang="ru-RU" sz="2400" b="1" dirty="0">
                <a:latin typeface="Bookman Old Style" panose="02050604050505020204" pitchFamily="18" charset="0"/>
              </a:rPr>
              <a:t> «название файла или папки»</a:t>
            </a:r>
            <a:r>
              <a:rPr lang="ru-RU" sz="2400" dirty="0">
                <a:latin typeface="Bookman Old Style" panose="02050604050505020204" pitchFamily="18" charset="0"/>
              </a:rPr>
              <a:t>, чтобы добавить все изменения необходимо ввести </a:t>
            </a:r>
            <a:r>
              <a:rPr lang="ru-RU" sz="2400" b="1" dirty="0">
                <a:latin typeface="Bookman Old Style" panose="02050604050505020204" pitchFamily="18" charset="0"/>
              </a:rPr>
              <a:t>«</a:t>
            </a:r>
            <a:r>
              <a:rPr lang="en-US" sz="2400" b="1" dirty="0" err="1">
                <a:latin typeface="Bookman Old Style" panose="02050604050505020204" pitchFamily="18" charset="0"/>
              </a:rPr>
              <a:t>git</a:t>
            </a:r>
            <a:r>
              <a:rPr lang="en-US" sz="2400" b="1" dirty="0">
                <a:latin typeface="Bookman Old Style" panose="02050604050505020204" pitchFamily="18" charset="0"/>
              </a:rPr>
              <a:t> add .</a:t>
            </a:r>
            <a:r>
              <a:rPr lang="ru-RU" sz="2400" b="1" dirty="0" smtClean="0">
                <a:latin typeface="Bookman Old Style" panose="02050604050505020204" pitchFamily="18" charset="0"/>
              </a:rPr>
              <a:t>»</a:t>
            </a:r>
          </a:p>
          <a:p>
            <a:pPr algn="just">
              <a:lnSpc>
                <a:spcPct val="150000"/>
              </a:lnSpc>
            </a:pPr>
            <a:endParaRPr lang="ru-RU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ru-RU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ru-RU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Если </a:t>
            </a:r>
            <a:r>
              <a:rPr lang="ru-RU" sz="2400" dirty="0">
                <a:latin typeface="Bookman Old Style" panose="02050604050505020204" pitchFamily="18" charset="0"/>
              </a:rPr>
              <a:t>ввести </a:t>
            </a:r>
            <a:r>
              <a:rPr lang="en-US" sz="2400" b="1" dirty="0" err="1">
                <a:latin typeface="Bookman Old Style" panose="02050604050505020204" pitchFamily="18" charset="0"/>
              </a:rPr>
              <a:t>git</a:t>
            </a:r>
            <a:r>
              <a:rPr lang="en-US" sz="2400" b="1" dirty="0">
                <a:latin typeface="Bookman Old Style" panose="02050604050505020204" pitchFamily="18" charset="0"/>
              </a:rPr>
              <a:t> status</a:t>
            </a:r>
            <a:r>
              <a:rPr lang="en-US" sz="2400" dirty="0">
                <a:latin typeface="Bookman Old Style" panose="02050604050505020204" pitchFamily="18" charset="0"/>
              </a:rPr>
              <a:t>, </a:t>
            </a:r>
            <a:r>
              <a:rPr lang="ru-RU" sz="2400" dirty="0">
                <a:latin typeface="Bookman Old Style" panose="02050604050505020204" pitchFamily="18" charset="0"/>
              </a:rPr>
              <a:t>то можно увидеть какие файлы ожидают фиксации (сейчас они ещё не сохранены</a:t>
            </a:r>
            <a:r>
              <a:rPr lang="ru-RU" sz="2400" dirty="0" smtClean="0">
                <a:latin typeface="Bookman Old Style" panose="02050604050505020204" pitchFamily="18" charset="0"/>
              </a:rPr>
              <a:t>).</a:t>
            </a:r>
            <a:endParaRPr lang="ru-RU" sz="2400" dirty="0" smtClean="0"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 rotWithShape="1">
          <a:blip r:embed="rId3"/>
          <a:srcRect t="51837" b="26192"/>
          <a:stretch/>
        </p:blipFill>
        <p:spPr>
          <a:xfrm>
            <a:off x="475465" y="1288963"/>
            <a:ext cx="11441257" cy="1337859"/>
          </a:xfrm>
          <a:prstGeom prst="rect">
            <a:avLst/>
          </a:prstGeom>
        </p:spPr>
      </p:pic>
      <p:pic>
        <p:nvPicPr>
          <p:cNvPr id="3" name="Рисунок 2"/>
          <p:cNvPicPr>
            <a:picLocks noChangeAspect="1"/>
          </p:cNvPicPr>
          <p:nvPr/>
        </p:nvPicPr>
        <p:blipFill rotWithShape="1">
          <a:blip r:embed="rId4"/>
          <a:srcRect t="16567" b="33441"/>
          <a:stretch/>
        </p:blipFill>
        <p:spPr>
          <a:xfrm>
            <a:off x="475465" y="3867150"/>
            <a:ext cx="11241069" cy="2990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89178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1" y="0"/>
            <a:ext cx="12192000" cy="5632311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Зафиксируем изменения (сохраним) с помощью команды </a:t>
            </a:r>
            <a:r>
              <a:rPr lang="en-US" sz="2400" b="1" dirty="0" err="1" smtClean="0">
                <a:latin typeface="Bookman Old Style" panose="02050604050505020204" pitchFamily="18" charset="0"/>
              </a:rPr>
              <a:t>git</a:t>
            </a:r>
            <a:r>
              <a:rPr lang="en-US" sz="2400" b="1" dirty="0" smtClean="0">
                <a:latin typeface="Bookman Old Style" panose="02050604050505020204" pitchFamily="18" charset="0"/>
              </a:rPr>
              <a:t> commit –m </a:t>
            </a:r>
            <a:r>
              <a:rPr lang="ru-RU" sz="2400" b="1" dirty="0" smtClean="0">
                <a:latin typeface="Bookman Old Style" panose="02050604050505020204" pitchFamily="18" charset="0"/>
              </a:rPr>
              <a:t>«Любой текст, описание </a:t>
            </a:r>
            <a:r>
              <a:rPr lang="ru-RU" sz="2400" b="1" dirty="0" err="1" smtClean="0">
                <a:latin typeface="Bookman Old Style" panose="02050604050505020204" pitchFamily="18" charset="0"/>
              </a:rPr>
              <a:t>комита</a:t>
            </a:r>
            <a:r>
              <a:rPr lang="ru-RU" sz="2400" b="1" dirty="0" smtClean="0">
                <a:latin typeface="Bookman Old Style" panose="02050604050505020204" pitchFamily="18" charset="0"/>
              </a:rPr>
              <a:t>»</a:t>
            </a:r>
            <a:r>
              <a:rPr lang="ru-RU" sz="2400" dirty="0" smtClean="0">
                <a:latin typeface="Bookman Old Style" panose="02050604050505020204" pitchFamily="18" charset="0"/>
              </a:rPr>
              <a:t>.</a:t>
            </a:r>
            <a:endParaRPr lang="en-US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en-US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en-US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en-US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en-US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en-US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Фиксация изменений выполнена успешно, 1 файл изменен.</a:t>
            </a: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Можно делать множество изменений, удалять, добавлять, изменять файлы.</a:t>
            </a: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 rotWithShape="1">
          <a:blip r:embed="rId3"/>
          <a:srcRect t="34387" b="26128"/>
          <a:stretch/>
        </p:blipFill>
        <p:spPr>
          <a:xfrm>
            <a:off x="360219" y="1200329"/>
            <a:ext cx="11471564" cy="24106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718421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654357"/>
            <a:ext cx="12192000" cy="3416320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Показывает подробную историю:</a:t>
            </a:r>
          </a:p>
          <a:p>
            <a:pPr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400" b="1" dirty="0" err="1">
                <a:latin typeface="Bookman Old Style" panose="02050604050505020204" pitchFamily="18" charset="0"/>
              </a:rPr>
              <a:t>Author</a:t>
            </a:r>
            <a:r>
              <a:rPr lang="ru-RU" sz="2400" b="1" dirty="0">
                <a:latin typeface="Bookman Old Style" panose="02050604050505020204" pitchFamily="18" charset="0"/>
              </a:rPr>
              <a:t>:</a:t>
            </a:r>
            <a:r>
              <a:rPr lang="ru-RU" sz="2400" dirty="0">
                <a:latin typeface="Bookman Old Style" panose="02050604050505020204" pitchFamily="18" charset="0"/>
              </a:rPr>
              <a:t> Кто сделал (важно для командной работы).</a:t>
            </a:r>
          </a:p>
          <a:p>
            <a:pPr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400" b="1" dirty="0" err="1">
                <a:latin typeface="Bookman Old Style" panose="02050604050505020204" pitchFamily="18" charset="0"/>
              </a:rPr>
              <a:t>Date</a:t>
            </a:r>
            <a:r>
              <a:rPr lang="ru-RU" sz="2400" b="1" dirty="0">
                <a:latin typeface="Bookman Old Style" panose="02050604050505020204" pitchFamily="18" charset="0"/>
              </a:rPr>
              <a:t>:</a:t>
            </a:r>
            <a:r>
              <a:rPr lang="ru-RU" sz="2400" dirty="0">
                <a:latin typeface="Bookman Old Style" panose="02050604050505020204" pitchFamily="18" charset="0"/>
              </a:rPr>
              <a:t> Когда это произошло.</a:t>
            </a:r>
          </a:p>
          <a:p>
            <a:pPr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400" b="1" dirty="0" err="1">
                <a:latin typeface="Bookman Old Style" panose="02050604050505020204" pitchFamily="18" charset="0"/>
              </a:rPr>
              <a:t>Commit</a:t>
            </a:r>
            <a:r>
              <a:rPr lang="ru-RU" sz="2400" b="1" dirty="0">
                <a:latin typeface="Bookman Old Style" panose="02050604050505020204" pitchFamily="18" charset="0"/>
              </a:rPr>
              <a:t> </a:t>
            </a:r>
            <a:r>
              <a:rPr lang="ru-RU" sz="2400" b="1" dirty="0" err="1">
                <a:latin typeface="Bookman Old Style" panose="02050604050505020204" pitchFamily="18" charset="0"/>
              </a:rPr>
              <a:t>Message</a:t>
            </a:r>
            <a:r>
              <a:rPr lang="ru-RU" sz="2400" b="1" dirty="0">
                <a:latin typeface="Bookman Old Style" panose="02050604050505020204" pitchFamily="18" charset="0"/>
              </a:rPr>
              <a:t>:</a:t>
            </a:r>
            <a:r>
              <a:rPr lang="ru-RU" sz="2400" dirty="0">
                <a:latin typeface="Bookman Old Style" panose="02050604050505020204" pitchFamily="18" charset="0"/>
              </a:rPr>
              <a:t> Описание того, что было сделано.</a:t>
            </a:r>
          </a:p>
          <a:p>
            <a:pPr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400" b="1" dirty="0" err="1">
                <a:latin typeface="Bookman Old Style" panose="02050604050505020204" pitchFamily="18" charset="0"/>
              </a:rPr>
              <a:t>Хеш</a:t>
            </a:r>
            <a:r>
              <a:rPr lang="ru-RU" sz="2400" b="1" dirty="0">
                <a:latin typeface="Bookman Old Style" panose="02050604050505020204" pitchFamily="18" charset="0"/>
              </a:rPr>
              <a:t> (SHA-1):</a:t>
            </a:r>
            <a:r>
              <a:rPr lang="ru-RU" sz="2400" dirty="0">
                <a:latin typeface="Bookman Old Style" panose="02050604050505020204" pitchFamily="18" charset="0"/>
              </a:rPr>
              <a:t> Длинная строка вида f7a3b2... — это «паспорт» вашего </a:t>
            </a:r>
            <a:r>
              <a:rPr lang="ru-RU" sz="2400" dirty="0" err="1">
                <a:latin typeface="Bookman Old Style" panose="02050604050505020204" pitchFamily="18" charset="0"/>
              </a:rPr>
              <a:t>коммита</a:t>
            </a:r>
            <a:r>
              <a:rPr lang="ru-RU" sz="2400" dirty="0">
                <a:latin typeface="Bookman Old Style" panose="02050604050505020204" pitchFamily="18" charset="0"/>
              </a:rPr>
              <a:t>.</a:t>
            </a:r>
            <a:endParaRPr lang="ru-RU" sz="2400" b="0" i="0" dirty="0">
              <a:effectLst/>
              <a:latin typeface="Bookman Old Style" panose="02050604050505020204" pitchFamily="18" charset="0"/>
            </a:endParaRPr>
          </a:p>
        </p:txBody>
      </p:sp>
      <p:sp>
        <p:nvSpPr>
          <p:cNvPr id="4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0"/>
            <a:ext cx="12192000" cy="654357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5875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ru-RU" sz="2800" b="1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Базовая команда: </a:t>
            </a:r>
            <a:r>
              <a:rPr lang="en-US" sz="2800" b="1" dirty="0" err="1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git</a:t>
            </a:r>
            <a:r>
              <a:rPr lang="en-US" sz="2800" b="1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 log</a:t>
            </a:r>
            <a:endParaRPr lang="en-US" sz="2800" b="1" dirty="0">
              <a:solidFill>
                <a:schemeClr val="tx2">
                  <a:lumMod val="50000"/>
                </a:schemeClr>
              </a:solidFill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2103882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0"/>
            <a:ext cx="12192000" cy="3907673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b="1" dirty="0" err="1">
                <a:latin typeface="Bookman Old Style" panose="02050604050505020204" pitchFamily="18" charset="0"/>
              </a:rPr>
              <a:t>git</a:t>
            </a:r>
            <a:r>
              <a:rPr lang="ru-RU" sz="2400" b="1" dirty="0">
                <a:latin typeface="Bookman Old Style" panose="02050604050505020204" pitchFamily="18" charset="0"/>
              </a:rPr>
              <a:t> </a:t>
            </a:r>
            <a:r>
              <a:rPr lang="ru-RU" sz="2400" b="1" dirty="0" err="1">
                <a:latin typeface="Bookman Old Style" panose="02050604050505020204" pitchFamily="18" charset="0"/>
              </a:rPr>
              <a:t>log</a:t>
            </a:r>
            <a:r>
              <a:rPr lang="ru-RU" sz="2400" b="1" dirty="0">
                <a:latin typeface="Bookman Old Style" panose="02050604050505020204" pitchFamily="18" charset="0"/>
              </a:rPr>
              <a:t> --</a:t>
            </a:r>
            <a:r>
              <a:rPr lang="ru-RU" sz="2400" b="1" dirty="0" err="1">
                <a:latin typeface="Bookman Old Style" panose="02050604050505020204" pitchFamily="18" charset="0"/>
              </a:rPr>
              <a:t>oneline</a:t>
            </a:r>
            <a:endParaRPr lang="ru-RU" sz="2400" b="1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Самая используемая команда в консоли. </a:t>
            </a:r>
            <a:r>
              <a:rPr lang="ru-RU" sz="2400" dirty="0" err="1">
                <a:latin typeface="Bookman Old Style" panose="02050604050505020204" pitchFamily="18" charset="0"/>
              </a:rPr>
              <a:t>Схлопывает</a:t>
            </a:r>
            <a:r>
              <a:rPr lang="ru-RU" sz="2400" dirty="0">
                <a:latin typeface="Bookman Old Style" panose="02050604050505020204" pitchFamily="18" charset="0"/>
              </a:rPr>
              <a:t> историю в компактный список.</a:t>
            </a:r>
          </a:p>
          <a:p>
            <a:pPr algn="just">
              <a:lnSpc>
                <a:spcPct val="150000"/>
              </a:lnSpc>
            </a:pPr>
            <a:r>
              <a:rPr lang="ru-RU" sz="2400" b="1" dirty="0">
                <a:latin typeface="Bookman Old Style" panose="02050604050505020204" pitchFamily="18" charset="0"/>
              </a:rPr>
              <a:t>Пример вывода:</a:t>
            </a:r>
          </a:p>
          <a:p>
            <a:pPr algn="just"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a1b2c3d Добавлена авторизация пользователя</a:t>
            </a:r>
          </a:p>
          <a:p>
            <a:pPr algn="just"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e5f6g7h Исправлен баг в расчете корзины</a:t>
            </a:r>
          </a:p>
          <a:p>
            <a:pPr algn="just"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z9x8y7w Начало разработки (</a:t>
            </a:r>
            <a:r>
              <a:rPr lang="ru-RU" sz="2400" dirty="0" err="1">
                <a:latin typeface="Bookman Old Style" panose="02050604050505020204" pitchFamily="18" charset="0"/>
              </a:rPr>
              <a:t>Initial</a:t>
            </a:r>
            <a:r>
              <a:rPr lang="ru-RU" sz="2400" dirty="0">
                <a:latin typeface="Bookman Old Style" panose="02050604050505020204" pitchFamily="18" charset="0"/>
              </a:rPr>
              <a:t> </a:t>
            </a:r>
            <a:r>
              <a:rPr lang="ru-RU" sz="2400" dirty="0" err="1">
                <a:latin typeface="Bookman Old Style" panose="02050604050505020204" pitchFamily="18" charset="0"/>
              </a:rPr>
              <a:t>commit</a:t>
            </a:r>
            <a:r>
              <a:rPr lang="ru-RU" sz="2400" dirty="0">
                <a:latin typeface="Bookman Old Style" panose="02050604050505020204" pitchFamily="18" charset="0"/>
              </a:rPr>
              <a:t>)</a:t>
            </a:r>
            <a:endParaRPr lang="ru-RU" sz="2400" b="0" i="0" dirty="0">
              <a:effectLst/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7990962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0"/>
            <a:ext cx="12192000" cy="3359061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b="1" dirty="0">
                <a:latin typeface="Bookman Old Style" panose="02050604050505020204" pitchFamily="18" charset="0"/>
              </a:rPr>
              <a:t>Что такое </a:t>
            </a:r>
            <a:r>
              <a:rPr lang="ru-RU" sz="2400" b="1" dirty="0" err="1">
                <a:latin typeface="Bookman Old Style" panose="02050604050505020204" pitchFamily="18" charset="0"/>
              </a:rPr>
              <a:t>Хеш</a:t>
            </a:r>
            <a:r>
              <a:rPr lang="ru-RU" sz="2400" b="1" dirty="0">
                <a:latin typeface="Bookman Old Style" panose="02050604050505020204" pitchFamily="18" charset="0"/>
              </a:rPr>
              <a:t> </a:t>
            </a:r>
            <a:r>
              <a:rPr lang="ru-RU" sz="2400" b="1" dirty="0" err="1">
                <a:latin typeface="Bookman Old Style" panose="02050604050505020204" pitchFamily="18" charset="0"/>
              </a:rPr>
              <a:t>коммита</a:t>
            </a:r>
            <a:r>
              <a:rPr lang="ru-RU" sz="2400" b="1" dirty="0">
                <a:latin typeface="Bookman Old Style" panose="02050604050505020204" pitchFamily="18" charset="0"/>
              </a:rPr>
              <a:t>?</a:t>
            </a:r>
          </a:p>
          <a:p>
            <a:pPr algn="just"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Это уникальный ID (отпечаток пальца) состояния вашего проекта.</a:t>
            </a:r>
          </a:p>
          <a:p>
            <a:pPr algn="just">
              <a:lnSpc>
                <a:spcPct val="150000"/>
              </a:lnSpc>
            </a:pPr>
            <a:r>
              <a:rPr lang="ru-RU" sz="2400" b="1" dirty="0">
                <a:latin typeface="Bookman Old Style" panose="02050604050505020204" pitchFamily="18" charset="0"/>
              </a:rPr>
              <a:t>Зачем он нужен?</a:t>
            </a:r>
            <a:r>
              <a:rPr lang="ru-RU" sz="2400" dirty="0">
                <a:latin typeface="Bookman Old Style" panose="02050604050505020204" pitchFamily="18" charset="0"/>
              </a:rPr>
              <a:t> Это «адрес» во времени. Если вы захотите вернуться к версии «Добавлена авторизация», вам понадобится его </a:t>
            </a:r>
            <a:r>
              <a:rPr lang="ru-RU" sz="2400" dirty="0" err="1">
                <a:latin typeface="Bookman Old Style" panose="02050604050505020204" pitchFamily="18" charset="0"/>
              </a:rPr>
              <a:t>хеш</a:t>
            </a:r>
            <a:r>
              <a:rPr lang="ru-RU" sz="2400" dirty="0">
                <a:latin typeface="Bookman Old Style" panose="02050604050505020204" pitchFamily="18" charset="0"/>
              </a:rPr>
              <a:t> a1b2c3d.</a:t>
            </a:r>
          </a:p>
          <a:p>
            <a:pPr algn="just">
              <a:lnSpc>
                <a:spcPct val="150000"/>
              </a:lnSpc>
            </a:pPr>
            <a:r>
              <a:rPr lang="ru-RU" sz="2400" b="1" dirty="0" err="1">
                <a:latin typeface="Bookman Old Style" panose="02050604050505020204" pitchFamily="18" charset="0"/>
              </a:rPr>
              <a:t>Лайфхак</a:t>
            </a:r>
            <a:r>
              <a:rPr lang="ru-RU" sz="2400" b="1" dirty="0">
                <a:latin typeface="Bookman Old Style" panose="02050604050505020204" pitchFamily="18" charset="0"/>
              </a:rPr>
              <a:t>:</a:t>
            </a:r>
            <a:r>
              <a:rPr lang="ru-RU" sz="2400" dirty="0">
                <a:latin typeface="Bookman Old Style" panose="02050604050505020204" pitchFamily="18" charset="0"/>
              </a:rPr>
              <a:t> Вам не нужно копировать все 40 символов. </a:t>
            </a:r>
            <a:r>
              <a:rPr lang="ru-RU" sz="2400" dirty="0" err="1">
                <a:latin typeface="Bookman Old Style" panose="02050604050505020204" pitchFamily="18" charset="0"/>
              </a:rPr>
              <a:t>Git</a:t>
            </a:r>
            <a:r>
              <a:rPr lang="ru-RU" sz="2400" dirty="0">
                <a:latin typeface="Bookman Old Style" panose="02050604050505020204" pitchFamily="18" charset="0"/>
              </a:rPr>
              <a:t> поймет вас, если вы укажете первые </a:t>
            </a:r>
            <a:r>
              <a:rPr lang="ru-RU" sz="2400" b="1" dirty="0">
                <a:latin typeface="Bookman Old Style" panose="02050604050505020204" pitchFamily="18" charset="0"/>
              </a:rPr>
              <a:t>7 символов</a:t>
            </a:r>
            <a:r>
              <a:rPr lang="ru-RU" sz="2400" dirty="0">
                <a:latin typeface="Bookman Old Style" panose="02050604050505020204" pitchFamily="18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60453559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654357"/>
            <a:ext cx="12192000" cy="5809732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>
              <a:lnSpc>
                <a:spcPct val="130000"/>
              </a:lnSpc>
            </a:pPr>
            <a:r>
              <a:rPr lang="ru-RU" sz="2400" b="1" dirty="0">
                <a:latin typeface="Bookman Old Style" panose="02050604050505020204" pitchFamily="18" charset="0"/>
              </a:rPr>
              <a:t>Ситуация: «Я всё сломал, верните как было!»</a:t>
            </a:r>
          </a:p>
          <a:p>
            <a:pPr>
              <a:lnSpc>
                <a:spcPct val="130000"/>
              </a:lnSpc>
            </a:pPr>
            <a:r>
              <a:rPr lang="ru-RU" sz="2400" i="1" dirty="0">
                <a:latin typeface="Bookman Old Style" panose="02050604050505020204" pitchFamily="18" charset="0"/>
              </a:rPr>
              <a:t>(Отмена изменений до </a:t>
            </a:r>
            <a:r>
              <a:rPr lang="ru-RU" sz="2400" i="1" dirty="0" err="1">
                <a:latin typeface="Bookman Old Style" panose="02050604050505020204" pitchFamily="18" charset="0"/>
              </a:rPr>
              <a:t>коммита</a:t>
            </a:r>
            <a:r>
              <a:rPr lang="ru-RU" sz="2400" i="1" dirty="0">
                <a:latin typeface="Bookman Old Style" panose="02050604050505020204" pitchFamily="18" charset="0"/>
              </a:rPr>
              <a:t>)</a:t>
            </a:r>
            <a:endParaRPr lang="ru-RU" sz="2400" dirty="0">
              <a:latin typeface="Bookman Old Style" panose="02050604050505020204" pitchFamily="18" charset="0"/>
            </a:endParaRPr>
          </a:p>
          <a:p>
            <a:pPr>
              <a:lnSpc>
                <a:spcPct val="130000"/>
              </a:lnSpc>
            </a:pPr>
            <a:r>
              <a:rPr lang="ru-RU" sz="2400" b="1" dirty="0">
                <a:latin typeface="Bookman Old Style" panose="02050604050505020204" pitchFamily="18" charset="0"/>
              </a:rPr>
              <a:t>Сценарий:</a:t>
            </a:r>
            <a:r>
              <a:rPr lang="ru-RU" sz="2400" dirty="0">
                <a:latin typeface="Bookman Old Style" panose="02050604050505020204" pitchFamily="18" charset="0"/>
              </a:rPr>
              <a:t> Вы весь день писали код, запутались, программа не запускается. Вы хотите просто стереть всё, что написали после последнего «сохранения» (</a:t>
            </a:r>
            <a:r>
              <a:rPr lang="ru-RU" sz="2400" dirty="0" err="1">
                <a:latin typeface="Bookman Old Style" panose="02050604050505020204" pitchFamily="18" charset="0"/>
              </a:rPr>
              <a:t>коммита</a:t>
            </a:r>
            <a:r>
              <a:rPr lang="ru-RU" sz="2400" dirty="0">
                <a:latin typeface="Bookman Old Style" panose="02050604050505020204" pitchFamily="18" charset="0"/>
              </a:rPr>
              <a:t>), и начать утро заново.</a:t>
            </a:r>
          </a:p>
          <a:p>
            <a:pPr>
              <a:lnSpc>
                <a:spcPct val="130000"/>
              </a:lnSpc>
            </a:pPr>
            <a:r>
              <a:rPr lang="ru-RU" sz="2400" b="1" dirty="0">
                <a:latin typeface="Bookman Old Style" panose="02050604050505020204" pitchFamily="18" charset="0"/>
              </a:rPr>
              <a:t>Команда:</a:t>
            </a:r>
            <a:r>
              <a:rPr lang="ru-RU" sz="2400" dirty="0">
                <a:latin typeface="Bookman Old Style" panose="02050604050505020204" pitchFamily="18" charset="0"/>
              </a:rPr>
              <a:t> </a:t>
            </a:r>
            <a:r>
              <a:rPr lang="ru-RU" sz="2400" dirty="0" err="1">
                <a:latin typeface="Bookman Old Style" panose="02050604050505020204" pitchFamily="18" charset="0"/>
              </a:rPr>
              <a:t>git</a:t>
            </a:r>
            <a:r>
              <a:rPr lang="ru-RU" sz="2400" dirty="0">
                <a:latin typeface="Bookman Old Style" panose="02050604050505020204" pitchFamily="18" charset="0"/>
              </a:rPr>
              <a:t> </a:t>
            </a:r>
            <a:r>
              <a:rPr lang="ru-RU" sz="2400" dirty="0" err="1">
                <a:latin typeface="Bookman Old Style" panose="02050604050505020204" pitchFamily="18" charset="0"/>
              </a:rPr>
              <a:t>restore</a:t>
            </a:r>
            <a:r>
              <a:rPr lang="ru-RU" sz="2400" dirty="0">
                <a:latin typeface="Bookman Old Style" panose="02050604050505020204" pitchFamily="18" charset="0"/>
              </a:rPr>
              <a:t> &lt;</a:t>
            </a:r>
            <a:r>
              <a:rPr lang="ru-RU" sz="2400" dirty="0" err="1">
                <a:latin typeface="Bookman Old Style" panose="02050604050505020204" pitchFamily="18" charset="0"/>
              </a:rPr>
              <a:t>имя_файла</a:t>
            </a:r>
            <a:r>
              <a:rPr lang="ru-RU" sz="2400" dirty="0">
                <a:latin typeface="Bookman Old Style" panose="02050604050505020204" pitchFamily="18" charset="0"/>
              </a:rPr>
              <a:t>&gt;</a:t>
            </a:r>
          </a:p>
          <a:p>
            <a:pPr>
              <a:lnSpc>
                <a:spcPct val="130000"/>
              </a:lnSpc>
            </a:pPr>
            <a:r>
              <a:rPr lang="ru-RU" sz="2400" b="1" dirty="0">
                <a:latin typeface="Bookman Old Style" panose="02050604050505020204" pitchFamily="18" charset="0"/>
              </a:rPr>
              <a:t>Что произойдет:</a:t>
            </a:r>
            <a:r>
              <a:rPr lang="ru-RU" sz="2400" dirty="0">
                <a:latin typeface="Bookman Old Style" panose="02050604050505020204" pitchFamily="18" charset="0"/>
              </a:rPr>
              <a:t> Файл мгновенно вернется к тому состоянию, в котором он был в момент последнего </a:t>
            </a:r>
            <a:r>
              <a:rPr lang="ru-RU" sz="2400" dirty="0" err="1">
                <a:latin typeface="Bookman Old Style" panose="02050604050505020204" pitchFamily="18" charset="0"/>
              </a:rPr>
              <a:t>коммита</a:t>
            </a:r>
            <a:r>
              <a:rPr lang="ru-RU" sz="2400" dirty="0">
                <a:latin typeface="Bookman Old Style" panose="02050604050505020204" pitchFamily="18" charset="0"/>
              </a:rPr>
              <a:t>. Все ваши текущие (</a:t>
            </a:r>
            <a:r>
              <a:rPr lang="ru-RU" sz="2400" dirty="0" err="1">
                <a:latin typeface="Bookman Old Style" panose="02050604050505020204" pitchFamily="18" charset="0"/>
              </a:rPr>
              <a:t>незакоммиченные</a:t>
            </a:r>
            <a:r>
              <a:rPr lang="ru-RU" sz="2400" dirty="0">
                <a:latin typeface="Bookman Old Style" panose="02050604050505020204" pitchFamily="18" charset="0"/>
              </a:rPr>
              <a:t>) правки удалятся навсегда.</a:t>
            </a:r>
          </a:p>
          <a:p>
            <a:pPr>
              <a:lnSpc>
                <a:spcPct val="130000"/>
              </a:lnSpc>
            </a:pPr>
            <a:r>
              <a:rPr lang="ru-RU" sz="2400" b="1" dirty="0">
                <a:latin typeface="Bookman Old Style" panose="02050604050505020204" pitchFamily="18" charset="0"/>
              </a:rPr>
              <a:t>Для всей папки сразу:</a:t>
            </a:r>
            <a:r>
              <a:rPr lang="ru-RU" sz="2400" dirty="0">
                <a:latin typeface="Bookman Old Style" panose="02050604050505020204" pitchFamily="18" charset="0"/>
              </a:rPr>
              <a:t> </a:t>
            </a:r>
            <a:r>
              <a:rPr lang="ru-RU" sz="2400" dirty="0" err="1">
                <a:latin typeface="Bookman Old Style" panose="02050604050505020204" pitchFamily="18" charset="0"/>
              </a:rPr>
              <a:t>git</a:t>
            </a:r>
            <a:r>
              <a:rPr lang="ru-RU" sz="2400" dirty="0">
                <a:latin typeface="Bookman Old Style" panose="02050604050505020204" pitchFamily="18" charset="0"/>
              </a:rPr>
              <a:t> </a:t>
            </a:r>
            <a:r>
              <a:rPr lang="ru-RU" sz="2400" dirty="0" err="1">
                <a:latin typeface="Bookman Old Style" panose="02050604050505020204" pitchFamily="18" charset="0"/>
              </a:rPr>
              <a:t>restore</a:t>
            </a:r>
            <a:r>
              <a:rPr lang="ru-RU" sz="2400" dirty="0">
                <a:latin typeface="Bookman Old Style" panose="02050604050505020204" pitchFamily="18" charset="0"/>
              </a:rPr>
              <a:t> </a:t>
            </a:r>
            <a:r>
              <a:rPr lang="ru-RU" sz="2400" dirty="0" smtClean="0">
                <a:latin typeface="Bookman Old Style" panose="02050604050505020204" pitchFamily="18" charset="0"/>
              </a:rPr>
              <a:t>.</a:t>
            </a:r>
          </a:p>
          <a:p>
            <a:pPr>
              <a:lnSpc>
                <a:spcPct val="13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Раньше для этого использовали </a:t>
            </a:r>
            <a:r>
              <a:rPr lang="ru-RU" sz="2400" dirty="0" err="1">
                <a:latin typeface="Bookman Old Style" panose="02050604050505020204" pitchFamily="18" charset="0"/>
              </a:rPr>
              <a:t>git</a:t>
            </a:r>
            <a:r>
              <a:rPr lang="ru-RU" sz="2400" dirty="0">
                <a:latin typeface="Bookman Old Style" panose="02050604050505020204" pitchFamily="18" charset="0"/>
              </a:rPr>
              <a:t> </a:t>
            </a:r>
            <a:r>
              <a:rPr lang="ru-RU" sz="2400" dirty="0" err="1">
                <a:latin typeface="Bookman Old Style" panose="02050604050505020204" pitchFamily="18" charset="0"/>
              </a:rPr>
              <a:t>checkout</a:t>
            </a:r>
            <a:r>
              <a:rPr lang="ru-RU" sz="2400" dirty="0">
                <a:latin typeface="Bookman Old Style" panose="02050604050505020204" pitchFamily="18" charset="0"/>
              </a:rPr>
              <a:t> -- &lt;файл&gt;. Вы встретите это в старых </a:t>
            </a:r>
            <a:r>
              <a:rPr lang="ru-RU" sz="2400" dirty="0" err="1">
                <a:latin typeface="Bookman Old Style" panose="02050604050505020204" pitchFamily="18" charset="0"/>
              </a:rPr>
              <a:t>туториалах</a:t>
            </a:r>
            <a:r>
              <a:rPr lang="ru-RU" sz="2400" dirty="0">
                <a:latin typeface="Bookman Old Style" panose="02050604050505020204" pitchFamily="18" charset="0"/>
              </a:rPr>
              <a:t>, но </a:t>
            </a:r>
            <a:r>
              <a:rPr lang="ru-RU" sz="2400" dirty="0" err="1">
                <a:latin typeface="Bookman Old Style" panose="02050604050505020204" pitchFamily="18" charset="0"/>
              </a:rPr>
              <a:t>restore</a:t>
            </a:r>
            <a:r>
              <a:rPr lang="ru-RU" sz="2400" dirty="0">
                <a:latin typeface="Bookman Old Style" panose="02050604050505020204" pitchFamily="18" charset="0"/>
              </a:rPr>
              <a:t> — современный и понятный стандарт.</a:t>
            </a:r>
            <a:endParaRPr lang="ru-RU" sz="2400" dirty="0">
              <a:latin typeface="Bookman Old Style" panose="02050604050505020204" pitchFamily="18" charset="0"/>
            </a:endParaRPr>
          </a:p>
        </p:txBody>
      </p:sp>
      <p:sp>
        <p:nvSpPr>
          <p:cNvPr id="4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0"/>
            <a:ext cx="12192000" cy="654357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5875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ru-RU" sz="2800" b="1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Как исправлять ошибки?</a:t>
            </a:r>
            <a:endParaRPr lang="en-US" sz="2800" b="1" dirty="0">
              <a:solidFill>
                <a:schemeClr val="tx2">
                  <a:lumMod val="50000"/>
                </a:schemeClr>
              </a:solidFill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906539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0"/>
            <a:ext cx="12192000" cy="6677662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400" i="1" dirty="0">
                <a:latin typeface="Bookman Old Style" panose="02050604050505020204" pitchFamily="18" charset="0"/>
              </a:rPr>
              <a:t>(Если плохой код уже попал в историю)</a:t>
            </a:r>
            <a:endParaRPr lang="ru-RU" sz="2400" dirty="0">
              <a:latin typeface="Bookman Old Style" panose="02050604050505020204" pitchFamily="18" charset="0"/>
            </a:endParaRPr>
          </a:p>
          <a:p>
            <a:pPr>
              <a:lnSpc>
                <a:spcPct val="150000"/>
              </a:lnSpc>
            </a:pPr>
            <a:r>
              <a:rPr lang="ru-RU" sz="2400" b="1" dirty="0">
                <a:latin typeface="Bookman Old Style" panose="02050604050505020204" pitchFamily="18" charset="0"/>
              </a:rPr>
              <a:t>Сценарий:</a:t>
            </a:r>
            <a:r>
              <a:rPr lang="ru-RU" sz="2400" dirty="0">
                <a:latin typeface="Bookman Old Style" panose="02050604050505020204" pitchFamily="18" charset="0"/>
              </a:rPr>
              <a:t> Вы сделали </a:t>
            </a:r>
            <a:r>
              <a:rPr lang="ru-RU" sz="2400" dirty="0" err="1">
                <a:latin typeface="Bookman Old Style" panose="02050604050505020204" pitchFamily="18" charset="0"/>
              </a:rPr>
              <a:t>коммит</a:t>
            </a:r>
            <a:r>
              <a:rPr lang="ru-RU" sz="2400" dirty="0">
                <a:latin typeface="Bookman Old Style" panose="02050604050505020204" pitchFamily="18" charset="0"/>
              </a:rPr>
              <a:t>, а через час поняли, что эта </a:t>
            </a:r>
            <a:r>
              <a:rPr lang="ru-RU" sz="2400" dirty="0" err="1">
                <a:latin typeface="Bookman Old Style" panose="02050604050505020204" pitchFamily="18" charset="0"/>
              </a:rPr>
              <a:t>фича</a:t>
            </a:r>
            <a:r>
              <a:rPr lang="ru-RU" sz="2400" dirty="0">
                <a:latin typeface="Bookman Old Style" panose="02050604050505020204" pitchFamily="18" charset="0"/>
              </a:rPr>
              <a:t> не нужна или она всё ломает. Но удалять историю нельзя (вы уже отправили код коллегам).</a:t>
            </a:r>
          </a:p>
          <a:p>
            <a:pPr>
              <a:lnSpc>
                <a:spcPct val="150000"/>
              </a:lnSpc>
            </a:pPr>
            <a:r>
              <a:rPr lang="ru-RU" sz="2400" b="1" dirty="0">
                <a:latin typeface="Bookman Old Style" panose="02050604050505020204" pitchFamily="18" charset="0"/>
              </a:rPr>
              <a:t>Команда:</a:t>
            </a:r>
            <a:r>
              <a:rPr lang="ru-RU" sz="2400" dirty="0">
                <a:latin typeface="Bookman Old Style" panose="02050604050505020204" pitchFamily="18" charset="0"/>
              </a:rPr>
              <a:t> </a:t>
            </a:r>
            <a:r>
              <a:rPr lang="ru-RU" sz="2400" dirty="0" err="1">
                <a:latin typeface="Bookman Old Style" panose="02050604050505020204" pitchFamily="18" charset="0"/>
              </a:rPr>
              <a:t>git</a:t>
            </a:r>
            <a:r>
              <a:rPr lang="ru-RU" sz="2400" dirty="0">
                <a:latin typeface="Bookman Old Style" panose="02050604050505020204" pitchFamily="18" charset="0"/>
              </a:rPr>
              <a:t> </a:t>
            </a:r>
            <a:r>
              <a:rPr lang="ru-RU" sz="2400" dirty="0" err="1">
                <a:latin typeface="Bookman Old Style" panose="02050604050505020204" pitchFamily="18" charset="0"/>
              </a:rPr>
              <a:t>revert</a:t>
            </a:r>
            <a:r>
              <a:rPr lang="ru-RU" sz="2400" dirty="0">
                <a:latin typeface="Bookman Old Style" panose="02050604050505020204" pitchFamily="18" charset="0"/>
              </a:rPr>
              <a:t> &lt;</a:t>
            </a:r>
            <a:r>
              <a:rPr lang="ru-RU" sz="2400" dirty="0" err="1">
                <a:latin typeface="Bookman Old Style" panose="02050604050505020204" pitchFamily="18" charset="0"/>
              </a:rPr>
              <a:t>хеш_коммита</a:t>
            </a:r>
            <a:r>
              <a:rPr lang="ru-RU" sz="2400" dirty="0">
                <a:latin typeface="Bookman Old Style" panose="02050604050505020204" pitchFamily="18" charset="0"/>
              </a:rPr>
              <a:t>&gt;</a:t>
            </a:r>
          </a:p>
          <a:p>
            <a:pPr>
              <a:lnSpc>
                <a:spcPct val="150000"/>
              </a:lnSpc>
            </a:pPr>
            <a:r>
              <a:rPr lang="ru-RU" sz="2400" b="1" dirty="0">
                <a:latin typeface="Bookman Old Style" panose="02050604050505020204" pitchFamily="18" charset="0"/>
              </a:rPr>
              <a:t>Как это работает:</a:t>
            </a:r>
            <a:r>
              <a:rPr lang="ru-RU" sz="2400" dirty="0">
                <a:latin typeface="Bookman Old Style" panose="02050604050505020204" pitchFamily="18" charset="0"/>
              </a:rPr>
              <a:t> </a:t>
            </a:r>
            <a:r>
              <a:rPr lang="ru-RU" sz="2400" dirty="0" err="1">
                <a:latin typeface="Bookman Old Style" panose="02050604050505020204" pitchFamily="18" charset="0"/>
              </a:rPr>
              <a:t>Git</a:t>
            </a:r>
            <a:r>
              <a:rPr lang="ru-RU" sz="2400" dirty="0">
                <a:latin typeface="Bookman Old Style" panose="02050604050505020204" pitchFamily="18" charset="0"/>
              </a:rPr>
              <a:t> не удаляет старый «плохой» </a:t>
            </a:r>
            <a:r>
              <a:rPr lang="ru-RU" sz="2400" dirty="0" err="1">
                <a:latin typeface="Bookman Old Style" panose="02050604050505020204" pitchFamily="18" charset="0"/>
              </a:rPr>
              <a:t>коммит</a:t>
            </a:r>
            <a:r>
              <a:rPr lang="ru-RU" sz="2400" dirty="0">
                <a:latin typeface="Bookman Old Style" panose="02050604050505020204" pitchFamily="18" charset="0"/>
              </a:rPr>
              <a:t>. Он создает </a:t>
            </a:r>
            <a:r>
              <a:rPr lang="ru-RU" sz="2400" b="1" dirty="0">
                <a:latin typeface="Bookman Old Style" panose="02050604050505020204" pitchFamily="18" charset="0"/>
              </a:rPr>
              <a:t>новый</a:t>
            </a:r>
            <a:r>
              <a:rPr lang="ru-RU" sz="2400" dirty="0">
                <a:latin typeface="Bookman Old Style" panose="02050604050505020204" pitchFamily="18" charset="0"/>
              </a:rPr>
              <a:t> </a:t>
            </a:r>
            <a:r>
              <a:rPr lang="ru-RU" sz="2400" dirty="0" err="1">
                <a:latin typeface="Bookman Old Style" panose="02050604050505020204" pitchFamily="18" charset="0"/>
              </a:rPr>
              <a:t>коммит</a:t>
            </a:r>
            <a:r>
              <a:rPr lang="ru-RU" sz="2400" dirty="0">
                <a:latin typeface="Bookman Old Style" panose="02050604050505020204" pitchFamily="18" charset="0"/>
              </a:rPr>
              <a:t>, который делает всё наоборот (удаляет добавленные строки, возвращает удаленные).</a:t>
            </a:r>
          </a:p>
          <a:p>
            <a:pPr>
              <a:lnSpc>
                <a:spcPct val="150000"/>
              </a:lnSpc>
            </a:pPr>
            <a:r>
              <a:rPr lang="ru-RU" sz="2400" b="1" dirty="0">
                <a:latin typeface="Bookman Old Style" panose="02050604050505020204" pitchFamily="18" charset="0"/>
              </a:rPr>
              <a:t>Плюсы:</a:t>
            </a:r>
            <a:endParaRPr lang="ru-RU" sz="2400" dirty="0">
              <a:latin typeface="Bookman Old Style" panose="02050604050505020204" pitchFamily="18" charset="0"/>
            </a:endParaRPr>
          </a:p>
          <a:p>
            <a:pPr lvl="1"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Безопасно для команды (история идет только вперед).</a:t>
            </a:r>
          </a:p>
          <a:p>
            <a:pPr lvl="1"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Вы всегда видите, кто и почему отменил изменения.</a:t>
            </a:r>
          </a:p>
          <a:p>
            <a:pPr lvl="1"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Никаких конфликтов при синхронизации.</a:t>
            </a:r>
          </a:p>
        </p:txBody>
      </p:sp>
    </p:spTree>
    <p:extLst>
      <p:ext uri="{BB962C8B-B14F-4D97-AF65-F5344CB8AC3E}">
        <p14:creationId xmlns:p14="http://schemas.microsoft.com/office/powerpoint/2010/main" val="184181747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0"/>
            <a:ext cx="12192000" cy="6769995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>
              <a:lnSpc>
                <a:spcPct val="130000"/>
              </a:lnSpc>
            </a:pPr>
            <a:r>
              <a:rPr lang="ru-RU" sz="2400" i="1" dirty="0">
                <a:latin typeface="Bookman Old Style" panose="02050604050505020204" pitchFamily="18" charset="0"/>
              </a:rPr>
              <a:t>(Удаление </a:t>
            </a:r>
            <a:r>
              <a:rPr lang="ru-RU" sz="2400" i="1" dirty="0" err="1">
                <a:latin typeface="Bookman Old Style" panose="02050604050505020204" pitchFamily="18" charset="0"/>
              </a:rPr>
              <a:t>коммитов</a:t>
            </a:r>
            <a:r>
              <a:rPr lang="ru-RU" sz="2400" i="1" dirty="0">
                <a:latin typeface="Bookman Old Style" panose="02050604050505020204" pitchFamily="18" charset="0"/>
              </a:rPr>
              <a:t> из истории — использовать осторожно!)</a:t>
            </a:r>
            <a:endParaRPr lang="ru-RU" sz="2400" dirty="0">
              <a:latin typeface="Bookman Old Style" panose="02050604050505020204" pitchFamily="18" charset="0"/>
            </a:endParaRPr>
          </a:p>
          <a:p>
            <a:pPr>
              <a:lnSpc>
                <a:spcPct val="130000"/>
              </a:lnSpc>
            </a:pPr>
            <a:r>
              <a:rPr lang="ru-RU" sz="2400" b="1" dirty="0">
                <a:latin typeface="Bookman Old Style" panose="02050604050505020204" pitchFamily="18" charset="0"/>
              </a:rPr>
              <a:t>Сценарий:</a:t>
            </a:r>
            <a:r>
              <a:rPr lang="ru-RU" sz="2400" dirty="0">
                <a:latin typeface="Bookman Old Style" panose="02050604050505020204" pitchFamily="18" charset="0"/>
              </a:rPr>
              <a:t> Вы наделали «мусорных» </a:t>
            </a:r>
            <a:r>
              <a:rPr lang="ru-RU" sz="2400" dirty="0" err="1">
                <a:latin typeface="Bookman Old Style" panose="02050604050505020204" pitchFamily="18" charset="0"/>
              </a:rPr>
              <a:t>коммитов</a:t>
            </a:r>
            <a:r>
              <a:rPr lang="ru-RU" sz="2400" dirty="0">
                <a:latin typeface="Bookman Old Style" panose="02050604050505020204" pitchFamily="18" charset="0"/>
              </a:rPr>
              <a:t> у себя на компьютере и хотите их стереть, как будто их никогда не было.</a:t>
            </a:r>
          </a:p>
          <a:p>
            <a:pPr>
              <a:lnSpc>
                <a:spcPct val="130000"/>
              </a:lnSpc>
            </a:pPr>
            <a:r>
              <a:rPr lang="ru-RU" sz="2400" b="1" dirty="0">
                <a:latin typeface="Bookman Old Style" panose="02050604050505020204" pitchFamily="18" charset="0"/>
              </a:rPr>
              <a:t>Мягкий метод (</a:t>
            </a:r>
            <a:r>
              <a:rPr lang="ru-RU" sz="2400" b="1" dirty="0" err="1">
                <a:latin typeface="Bookman Old Style" panose="02050604050505020204" pitchFamily="18" charset="0"/>
              </a:rPr>
              <a:t>Soft</a:t>
            </a:r>
            <a:r>
              <a:rPr lang="ru-RU" sz="2400" b="1" dirty="0">
                <a:latin typeface="Bookman Old Style" panose="02050604050505020204" pitchFamily="18" charset="0"/>
              </a:rPr>
              <a:t>):</a:t>
            </a:r>
            <a:r>
              <a:rPr lang="ru-RU" sz="2400" dirty="0">
                <a:latin typeface="Bookman Old Style" panose="02050604050505020204" pitchFamily="18" charset="0"/>
              </a:rPr>
              <a:t> </a:t>
            </a:r>
            <a:r>
              <a:rPr lang="ru-RU" sz="2400" dirty="0" err="1">
                <a:latin typeface="Bookman Old Style" panose="02050604050505020204" pitchFamily="18" charset="0"/>
              </a:rPr>
              <a:t>git</a:t>
            </a:r>
            <a:r>
              <a:rPr lang="ru-RU" sz="2400" dirty="0">
                <a:latin typeface="Bookman Old Style" panose="02050604050505020204" pitchFamily="18" charset="0"/>
              </a:rPr>
              <a:t> </a:t>
            </a:r>
            <a:r>
              <a:rPr lang="ru-RU" sz="2400" dirty="0" err="1">
                <a:latin typeface="Bookman Old Style" panose="02050604050505020204" pitchFamily="18" charset="0"/>
              </a:rPr>
              <a:t>reset</a:t>
            </a:r>
            <a:r>
              <a:rPr lang="ru-RU" sz="2400" dirty="0">
                <a:latin typeface="Bookman Old Style" panose="02050604050505020204" pitchFamily="18" charset="0"/>
              </a:rPr>
              <a:t> --</a:t>
            </a:r>
            <a:r>
              <a:rPr lang="ru-RU" sz="2400" dirty="0" err="1">
                <a:latin typeface="Bookman Old Style" panose="02050604050505020204" pitchFamily="18" charset="0"/>
              </a:rPr>
              <a:t>soft</a:t>
            </a:r>
            <a:r>
              <a:rPr lang="ru-RU" sz="2400" dirty="0">
                <a:latin typeface="Bookman Old Style" panose="02050604050505020204" pitchFamily="18" charset="0"/>
              </a:rPr>
              <a:t> HEAD~1</a:t>
            </a:r>
          </a:p>
          <a:p>
            <a:pPr lvl="1">
              <a:lnSpc>
                <a:spcPct val="130000"/>
              </a:lnSpc>
            </a:pPr>
            <a:r>
              <a:rPr lang="ru-RU" sz="2400" i="1" dirty="0">
                <a:latin typeface="Bookman Old Style" panose="02050604050505020204" pitchFamily="18" charset="0"/>
              </a:rPr>
              <a:t>Результат:</a:t>
            </a:r>
            <a:r>
              <a:rPr lang="ru-RU" sz="2400" dirty="0">
                <a:latin typeface="Bookman Old Style" panose="02050604050505020204" pitchFamily="18" charset="0"/>
              </a:rPr>
              <a:t> Последний </a:t>
            </a:r>
            <a:r>
              <a:rPr lang="ru-RU" sz="2400" dirty="0" err="1">
                <a:latin typeface="Bookman Old Style" panose="02050604050505020204" pitchFamily="18" charset="0"/>
              </a:rPr>
              <a:t>коммит</a:t>
            </a:r>
            <a:r>
              <a:rPr lang="ru-RU" sz="2400" dirty="0">
                <a:latin typeface="Bookman Old Style" panose="02050604050505020204" pitchFamily="18" charset="0"/>
              </a:rPr>
              <a:t> исчезает из истории, но </a:t>
            </a:r>
            <a:r>
              <a:rPr lang="ru-RU" sz="2400" b="1" dirty="0">
                <a:latin typeface="Bookman Old Style" panose="02050604050505020204" pitchFamily="18" charset="0"/>
              </a:rPr>
              <a:t>весь ваш код остается в редакторе</a:t>
            </a:r>
            <a:r>
              <a:rPr lang="ru-RU" sz="2400" dirty="0">
                <a:latin typeface="Bookman Old Style" panose="02050604050505020204" pitchFamily="18" charset="0"/>
              </a:rPr>
              <a:t>.</a:t>
            </a:r>
          </a:p>
          <a:p>
            <a:pPr lvl="1">
              <a:lnSpc>
                <a:spcPct val="130000"/>
              </a:lnSpc>
            </a:pPr>
            <a:r>
              <a:rPr lang="ru-RU" sz="2400" i="1" dirty="0">
                <a:latin typeface="Bookman Old Style" panose="02050604050505020204" pitchFamily="18" charset="0"/>
              </a:rPr>
              <a:t>Зачем:</a:t>
            </a:r>
            <a:r>
              <a:rPr lang="ru-RU" sz="2400" dirty="0">
                <a:latin typeface="Bookman Old Style" panose="02050604050505020204" pitchFamily="18" charset="0"/>
              </a:rPr>
              <a:t> Если вы сделали </a:t>
            </a:r>
            <a:r>
              <a:rPr lang="ru-RU" sz="2400" dirty="0" err="1">
                <a:latin typeface="Bookman Old Style" panose="02050604050505020204" pitchFamily="18" charset="0"/>
              </a:rPr>
              <a:t>коммит</a:t>
            </a:r>
            <a:r>
              <a:rPr lang="ru-RU" sz="2400" dirty="0">
                <a:latin typeface="Bookman Old Style" panose="02050604050505020204" pitchFamily="18" charset="0"/>
              </a:rPr>
              <a:t> слишком рано или хотите переписать текст сообщения.</a:t>
            </a:r>
          </a:p>
          <a:p>
            <a:pPr>
              <a:lnSpc>
                <a:spcPct val="130000"/>
              </a:lnSpc>
            </a:pPr>
            <a:r>
              <a:rPr lang="ru-RU" sz="2400" b="1" dirty="0">
                <a:latin typeface="Bookman Old Style" panose="02050604050505020204" pitchFamily="18" charset="0"/>
              </a:rPr>
              <a:t>Жесткий метод (</a:t>
            </a:r>
            <a:r>
              <a:rPr lang="ru-RU" sz="2400" b="1" dirty="0" err="1">
                <a:latin typeface="Bookman Old Style" panose="02050604050505020204" pitchFamily="18" charset="0"/>
              </a:rPr>
              <a:t>Hard</a:t>
            </a:r>
            <a:r>
              <a:rPr lang="ru-RU" sz="2400" b="1" dirty="0">
                <a:latin typeface="Bookman Old Style" panose="02050604050505020204" pitchFamily="18" charset="0"/>
              </a:rPr>
              <a:t>):</a:t>
            </a:r>
            <a:r>
              <a:rPr lang="ru-RU" sz="2400" dirty="0">
                <a:latin typeface="Bookman Old Style" panose="02050604050505020204" pitchFamily="18" charset="0"/>
              </a:rPr>
              <a:t> </a:t>
            </a:r>
            <a:r>
              <a:rPr lang="ru-RU" sz="2400" dirty="0" err="1">
                <a:latin typeface="Bookman Old Style" panose="02050604050505020204" pitchFamily="18" charset="0"/>
              </a:rPr>
              <a:t>git</a:t>
            </a:r>
            <a:r>
              <a:rPr lang="ru-RU" sz="2400" dirty="0">
                <a:latin typeface="Bookman Old Style" panose="02050604050505020204" pitchFamily="18" charset="0"/>
              </a:rPr>
              <a:t> </a:t>
            </a:r>
            <a:r>
              <a:rPr lang="ru-RU" sz="2400" dirty="0" err="1">
                <a:latin typeface="Bookman Old Style" panose="02050604050505020204" pitchFamily="18" charset="0"/>
              </a:rPr>
              <a:t>reset</a:t>
            </a:r>
            <a:r>
              <a:rPr lang="ru-RU" sz="2400" dirty="0">
                <a:latin typeface="Bookman Old Style" panose="02050604050505020204" pitchFamily="18" charset="0"/>
              </a:rPr>
              <a:t> --</a:t>
            </a:r>
            <a:r>
              <a:rPr lang="ru-RU" sz="2400" dirty="0" err="1">
                <a:latin typeface="Bookman Old Style" panose="02050604050505020204" pitchFamily="18" charset="0"/>
              </a:rPr>
              <a:t>hard</a:t>
            </a:r>
            <a:r>
              <a:rPr lang="ru-RU" sz="2400" dirty="0">
                <a:latin typeface="Bookman Old Style" panose="02050604050505020204" pitchFamily="18" charset="0"/>
              </a:rPr>
              <a:t> HEAD~1 ⚠️ </a:t>
            </a:r>
            <a:r>
              <a:rPr lang="ru-RU" sz="2400" b="1" dirty="0">
                <a:latin typeface="Bookman Old Style" panose="02050604050505020204" pitchFamily="18" charset="0"/>
              </a:rPr>
              <a:t>ОПАСНО</a:t>
            </a:r>
            <a:endParaRPr lang="ru-RU" sz="2400" dirty="0">
              <a:latin typeface="Bookman Old Style" panose="02050604050505020204" pitchFamily="18" charset="0"/>
            </a:endParaRPr>
          </a:p>
          <a:p>
            <a:pPr lvl="1">
              <a:lnSpc>
                <a:spcPct val="130000"/>
              </a:lnSpc>
            </a:pPr>
            <a:r>
              <a:rPr lang="ru-RU" sz="2400" i="1" dirty="0">
                <a:latin typeface="Bookman Old Style" panose="02050604050505020204" pitchFamily="18" charset="0"/>
              </a:rPr>
              <a:t>Результат:</a:t>
            </a:r>
            <a:r>
              <a:rPr lang="ru-RU" sz="2400" dirty="0">
                <a:latin typeface="Bookman Old Style" panose="02050604050505020204" pitchFamily="18" charset="0"/>
              </a:rPr>
              <a:t> </a:t>
            </a:r>
            <a:r>
              <a:rPr lang="ru-RU" sz="2400" dirty="0" err="1">
                <a:latin typeface="Bookman Old Style" panose="02050604050505020204" pitchFamily="18" charset="0"/>
              </a:rPr>
              <a:t>Коммит</a:t>
            </a:r>
            <a:r>
              <a:rPr lang="ru-RU" sz="2400" dirty="0">
                <a:latin typeface="Bookman Old Style" panose="02050604050505020204" pitchFamily="18" charset="0"/>
              </a:rPr>
              <a:t> удаляется, и </a:t>
            </a:r>
            <a:r>
              <a:rPr lang="ru-RU" sz="2400" b="1" dirty="0">
                <a:latin typeface="Bookman Old Style" panose="02050604050505020204" pitchFamily="18" charset="0"/>
              </a:rPr>
              <a:t>весь код внутри него стирается</a:t>
            </a:r>
            <a:r>
              <a:rPr lang="ru-RU" sz="2400" dirty="0">
                <a:latin typeface="Bookman Old Style" panose="02050604050505020204" pitchFamily="18" charset="0"/>
              </a:rPr>
              <a:t>.</a:t>
            </a:r>
          </a:p>
          <a:p>
            <a:pPr lvl="1">
              <a:lnSpc>
                <a:spcPct val="130000"/>
              </a:lnSpc>
            </a:pPr>
            <a:r>
              <a:rPr lang="ru-RU" sz="2400" i="1" dirty="0">
                <a:latin typeface="Bookman Old Style" panose="02050604050505020204" pitchFamily="18" charset="0"/>
              </a:rPr>
              <a:t>Зачем:</a:t>
            </a:r>
            <a:r>
              <a:rPr lang="ru-RU" sz="2400" dirty="0">
                <a:latin typeface="Bookman Old Style" panose="02050604050505020204" pitchFamily="18" charset="0"/>
              </a:rPr>
              <a:t> Полная очистка от неудачного эксперимента</a:t>
            </a:r>
            <a:r>
              <a:rPr lang="ru-RU" sz="2400" dirty="0" smtClean="0">
                <a:latin typeface="Bookman Old Style" panose="02050604050505020204" pitchFamily="18" charset="0"/>
              </a:rPr>
              <a:t>.</a:t>
            </a:r>
            <a:endParaRPr lang="en-US" sz="2400" dirty="0">
              <a:latin typeface="Bookman Old Style" panose="02050604050505020204" pitchFamily="18" charset="0"/>
            </a:endParaRPr>
          </a:p>
          <a:p>
            <a:pPr marL="0" lvl="1">
              <a:lnSpc>
                <a:spcPct val="130000"/>
              </a:lnSpc>
            </a:pPr>
            <a:endParaRPr lang="en-US" sz="2400" dirty="0">
              <a:latin typeface="Bookman Old Style" panose="02050604050505020204" pitchFamily="18" charset="0"/>
            </a:endParaRPr>
          </a:p>
          <a:p>
            <a:pPr marL="0" lvl="1">
              <a:lnSpc>
                <a:spcPct val="130000"/>
              </a:lnSpc>
            </a:pPr>
            <a:r>
              <a:rPr lang="ru-RU" sz="2400" b="1" dirty="0">
                <a:latin typeface="Bookman Old Style" panose="02050604050505020204" pitchFamily="18" charset="0"/>
              </a:rPr>
              <a:t>Золотое правило:</a:t>
            </a:r>
            <a:r>
              <a:rPr lang="ru-RU" sz="2400" dirty="0">
                <a:latin typeface="Bookman Old Style" panose="02050604050505020204" pitchFamily="18" charset="0"/>
              </a:rPr>
              <a:t> Никогда не делайте </a:t>
            </a:r>
            <a:r>
              <a:rPr lang="ru-RU" sz="2400" dirty="0" err="1">
                <a:latin typeface="Bookman Old Style" panose="02050604050505020204" pitchFamily="18" charset="0"/>
              </a:rPr>
              <a:t>reset</a:t>
            </a:r>
            <a:r>
              <a:rPr lang="ru-RU" sz="2400" dirty="0">
                <a:latin typeface="Bookman Old Style" panose="02050604050505020204" pitchFamily="18" charset="0"/>
              </a:rPr>
              <a:t>, если вы уже отправили (</a:t>
            </a:r>
            <a:r>
              <a:rPr lang="ru-RU" sz="2400" dirty="0" err="1">
                <a:latin typeface="Bookman Old Style" panose="02050604050505020204" pitchFamily="18" charset="0"/>
              </a:rPr>
              <a:t>push</a:t>
            </a:r>
            <a:r>
              <a:rPr lang="ru-RU" sz="2400" dirty="0">
                <a:latin typeface="Bookman Old Style" panose="02050604050505020204" pitchFamily="18" charset="0"/>
              </a:rPr>
              <a:t>) эти </a:t>
            </a:r>
            <a:r>
              <a:rPr lang="ru-RU" sz="2400" dirty="0" err="1">
                <a:latin typeface="Bookman Old Style" panose="02050604050505020204" pitchFamily="18" charset="0"/>
              </a:rPr>
              <a:t>коммиты</a:t>
            </a:r>
            <a:r>
              <a:rPr lang="ru-RU" sz="2400" dirty="0">
                <a:latin typeface="Bookman Old Style" panose="02050604050505020204" pitchFamily="18" charset="0"/>
              </a:rPr>
              <a:t> в </a:t>
            </a:r>
            <a:r>
              <a:rPr lang="ru-RU" sz="2400" dirty="0" err="1">
                <a:latin typeface="Bookman Old Style" panose="02050604050505020204" pitchFamily="18" charset="0"/>
              </a:rPr>
              <a:t>GitHub</a:t>
            </a:r>
            <a:r>
              <a:rPr lang="ru-RU" sz="2400" dirty="0">
                <a:latin typeface="Bookman Old Style" panose="02050604050505020204" pitchFamily="18" charset="0"/>
              </a:rPr>
              <a:t>. Это «сломает» </a:t>
            </a:r>
            <a:r>
              <a:rPr lang="ru-RU" sz="2400" dirty="0" err="1">
                <a:latin typeface="Bookman Old Style" panose="02050604050505020204" pitchFamily="18" charset="0"/>
              </a:rPr>
              <a:t>репозитории</a:t>
            </a:r>
            <a:r>
              <a:rPr lang="ru-RU" sz="2400" dirty="0">
                <a:latin typeface="Bookman Old Style" panose="02050604050505020204" pitchFamily="18" charset="0"/>
              </a:rPr>
              <a:t> ваших коллег.</a:t>
            </a:r>
            <a:endParaRPr lang="en-US" sz="2400" dirty="0"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1449475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0"/>
            <a:ext cx="12192000" cy="1005403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>
              <a:lnSpc>
                <a:spcPct val="130000"/>
              </a:lnSpc>
            </a:pPr>
            <a:r>
              <a:rPr lang="ru-RU" sz="2400" b="1" i="1" dirty="0">
                <a:latin typeface="Bookman Old Style" panose="02050604050505020204" pitchFamily="18" charset="0"/>
              </a:rPr>
              <a:t>Шпаргалка: Что выбрать</a:t>
            </a:r>
            <a:r>
              <a:rPr lang="ru-RU" sz="2400" b="1" i="1" dirty="0" smtClean="0">
                <a:latin typeface="Bookman Old Style" panose="02050604050505020204" pitchFamily="18" charset="0"/>
              </a:rPr>
              <a:t>?</a:t>
            </a:r>
            <a:endParaRPr lang="en-US" sz="2400" b="1" i="1" dirty="0" smtClean="0">
              <a:latin typeface="Bookman Old Style" panose="02050604050505020204" pitchFamily="18" charset="0"/>
            </a:endParaRPr>
          </a:p>
          <a:p>
            <a:pPr>
              <a:lnSpc>
                <a:spcPct val="130000"/>
              </a:lnSpc>
            </a:pPr>
            <a:endParaRPr lang="en-US" sz="2400" dirty="0">
              <a:latin typeface="Bookman Old Style" panose="02050604050505020204" pitchFamily="18" charset="0"/>
            </a:endParaRPr>
          </a:p>
        </p:txBody>
      </p:sp>
      <p:graphicFrame>
        <p:nvGraphicFramePr>
          <p:cNvPr id="3" name="Таблица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01113106"/>
              </p:ext>
            </p:extLst>
          </p:nvPr>
        </p:nvGraphicFramePr>
        <p:xfrm>
          <a:off x="561975" y="564640"/>
          <a:ext cx="11220450" cy="6606540"/>
        </p:xfrm>
        <a:graphic>
          <a:graphicData uri="http://schemas.openxmlformats.org/drawingml/2006/table">
            <a:tbl>
              <a:tblPr/>
              <a:tblGrid>
                <a:gridCol w="3740150"/>
                <a:gridCol w="3740150"/>
                <a:gridCol w="3740150"/>
              </a:tblGrid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ru-RU" sz="2400" b="1" dirty="0">
                          <a:solidFill>
                            <a:schemeClr val="tx1"/>
                          </a:solidFill>
                          <a:effectLst/>
                          <a:latin typeface="Bookman Old Style" panose="02050604050505020204" pitchFamily="18" charset="0"/>
                        </a:rPr>
                        <a:t>Ситуация</a:t>
                      </a:r>
                    </a:p>
                  </a:txBody>
                  <a:tcPr marL="114300" marR="114300" marT="57150" marB="571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ru-RU" sz="2400" b="1" dirty="0">
                          <a:solidFill>
                            <a:schemeClr val="tx1"/>
                          </a:solidFill>
                          <a:effectLst/>
                          <a:latin typeface="Bookman Old Style" panose="02050604050505020204" pitchFamily="18" charset="0"/>
                        </a:rPr>
                        <a:t>Команда</a:t>
                      </a:r>
                    </a:p>
                  </a:txBody>
                  <a:tcPr marL="114300" marR="114300" marT="57150" marB="571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ru-RU" sz="2400" b="1">
                          <a:solidFill>
                            <a:schemeClr val="tx1"/>
                          </a:solidFill>
                          <a:effectLst/>
                          <a:latin typeface="Bookman Old Style" panose="02050604050505020204" pitchFamily="18" charset="0"/>
                        </a:rPr>
                        <a:t>Последствия</a:t>
                      </a:r>
                    </a:p>
                  </a:txBody>
                  <a:tcPr marL="114300" marR="114300" marT="57150" marB="571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ru-RU" sz="2400" b="0" dirty="0">
                          <a:solidFill>
                            <a:schemeClr val="tx1"/>
                          </a:solidFill>
                          <a:effectLst/>
                          <a:latin typeface="Bookman Old Style" panose="02050604050505020204" pitchFamily="18" charset="0"/>
                        </a:rPr>
                        <a:t>Ошибка в файле, еще не в </a:t>
                      </a:r>
                      <a:r>
                        <a:rPr lang="ru-RU" sz="2400" b="0" dirty="0" err="1">
                          <a:solidFill>
                            <a:schemeClr val="tx1"/>
                          </a:solidFill>
                          <a:effectLst/>
                          <a:latin typeface="Bookman Old Style" panose="02050604050505020204" pitchFamily="18" charset="0"/>
                        </a:rPr>
                        <a:t>коммите</a:t>
                      </a:r>
                      <a:endParaRPr lang="ru-RU" sz="2400" b="0" dirty="0">
                        <a:solidFill>
                          <a:schemeClr val="tx1"/>
                        </a:solidFill>
                        <a:effectLst/>
                        <a:latin typeface="Bookman Old Style" panose="02050604050505020204" pitchFamily="18" charset="0"/>
                      </a:endParaRPr>
                    </a:p>
                  </a:txBody>
                  <a:tcPr marL="114300" marR="114300" marT="57150" marB="571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sz="2400" b="0" dirty="0" err="1">
                          <a:solidFill>
                            <a:schemeClr val="tx1"/>
                          </a:solidFill>
                          <a:effectLst/>
                          <a:latin typeface="Bookman Old Style" panose="02050604050505020204" pitchFamily="18" charset="0"/>
                        </a:rPr>
                        <a:t>git</a:t>
                      </a:r>
                      <a:r>
                        <a:rPr lang="en-US" sz="2400" b="0" dirty="0">
                          <a:solidFill>
                            <a:schemeClr val="tx1"/>
                          </a:solidFill>
                          <a:effectLst/>
                          <a:latin typeface="Bookman Old Style" panose="02050604050505020204" pitchFamily="18" charset="0"/>
                        </a:rPr>
                        <a:t> restore</a:t>
                      </a:r>
                    </a:p>
                  </a:txBody>
                  <a:tcPr marL="114300" marR="114300" marT="57150" marB="571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ru-RU" sz="2400" b="0">
                          <a:solidFill>
                            <a:schemeClr val="tx1"/>
                          </a:solidFill>
                          <a:effectLst/>
                          <a:latin typeface="Bookman Old Style" panose="02050604050505020204" pitchFamily="18" charset="0"/>
                        </a:rPr>
                        <a:t>Файл откатится, правки удалятся.</a:t>
                      </a:r>
                    </a:p>
                  </a:txBody>
                  <a:tcPr marL="114300" marR="114300" marT="57150" marB="571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ru-RU" sz="2400" b="0" dirty="0">
                          <a:solidFill>
                            <a:schemeClr val="tx1"/>
                          </a:solidFill>
                          <a:effectLst/>
                          <a:latin typeface="Bookman Old Style" panose="02050604050505020204" pitchFamily="18" charset="0"/>
                        </a:rPr>
                        <a:t>Нужно отменить старый </a:t>
                      </a:r>
                      <a:r>
                        <a:rPr lang="ru-RU" sz="2400" b="0" dirty="0" err="1">
                          <a:solidFill>
                            <a:schemeClr val="tx1"/>
                          </a:solidFill>
                          <a:effectLst/>
                          <a:latin typeface="Bookman Old Style" panose="02050604050505020204" pitchFamily="18" charset="0"/>
                        </a:rPr>
                        <a:t>коммит</a:t>
                      </a:r>
                      <a:r>
                        <a:rPr lang="ru-RU" sz="2400" b="0" dirty="0">
                          <a:solidFill>
                            <a:schemeClr val="tx1"/>
                          </a:solidFill>
                          <a:effectLst/>
                          <a:latin typeface="Bookman Old Style" panose="02050604050505020204" pitchFamily="18" charset="0"/>
                        </a:rPr>
                        <a:t> безопасно</a:t>
                      </a:r>
                    </a:p>
                  </a:txBody>
                  <a:tcPr marL="114300" marR="114300" marT="57150" marB="571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sz="2400" b="0">
                          <a:solidFill>
                            <a:schemeClr val="tx1"/>
                          </a:solidFill>
                          <a:effectLst/>
                          <a:latin typeface="Bookman Old Style" panose="02050604050505020204" pitchFamily="18" charset="0"/>
                        </a:rPr>
                        <a:t>git revert</a:t>
                      </a:r>
                    </a:p>
                  </a:txBody>
                  <a:tcPr marL="114300" marR="114300" marT="57150" marB="571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ru-RU" sz="2400" b="0">
                          <a:solidFill>
                            <a:schemeClr val="tx1"/>
                          </a:solidFill>
                          <a:effectLst/>
                          <a:latin typeface="Bookman Old Style" panose="02050604050505020204" pitchFamily="18" charset="0"/>
                        </a:rPr>
                        <a:t>Появится новый коммит «отмены». Безопасно.</a:t>
                      </a:r>
                    </a:p>
                  </a:txBody>
                  <a:tcPr marL="114300" marR="114300" marT="57150" marB="571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ru-RU" sz="2400" b="0">
                          <a:solidFill>
                            <a:schemeClr val="tx1"/>
                          </a:solidFill>
                          <a:effectLst/>
                          <a:latin typeface="Bookman Old Style" panose="02050604050505020204" pitchFamily="18" charset="0"/>
                        </a:rPr>
                        <a:t>Нужно переделать последний коммит</a:t>
                      </a:r>
                    </a:p>
                  </a:txBody>
                  <a:tcPr marL="114300" marR="114300" marT="57150" marB="571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sz="2400" b="0">
                          <a:solidFill>
                            <a:schemeClr val="tx1"/>
                          </a:solidFill>
                          <a:effectLst/>
                          <a:latin typeface="Bookman Old Style" panose="02050604050505020204" pitchFamily="18" charset="0"/>
                        </a:rPr>
                        <a:t>git reset --soft</a:t>
                      </a:r>
                    </a:p>
                  </a:txBody>
                  <a:tcPr marL="114300" marR="114300" marT="57150" marB="571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ru-RU" sz="2400" b="0">
                          <a:solidFill>
                            <a:schemeClr val="tx1"/>
                          </a:solidFill>
                          <a:effectLst/>
                          <a:latin typeface="Bookman Old Style" panose="02050604050505020204" pitchFamily="18" charset="0"/>
                        </a:rPr>
                        <a:t>Коммит исчезнет, код останется у вас.</a:t>
                      </a:r>
                    </a:p>
                  </a:txBody>
                  <a:tcPr marL="114300" marR="114300" marT="57150" marB="571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ru-RU" sz="2400" b="0">
                          <a:solidFill>
                            <a:schemeClr val="tx1"/>
                          </a:solidFill>
                          <a:effectLst/>
                          <a:latin typeface="Bookman Old Style" panose="02050604050505020204" pitchFamily="18" charset="0"/>
                        </a:rPr>
                        <a:t>Нужно всё сжечь и забыть</a:t>
                      </a:r>
                    </a:p>
                  </a:txBody>
                  <a:tcPr marL="114300" marR="114300" marT="57150" marB="571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sz="2400" b="0">
                          <a:solidFill>
                            <a:schemeClr val="tx1"/>
                          </a:solidFill>
                          <a:effectLst/>
                          <a:latin typeface="Bookman Old Style" panose="02050604050505020204" pitchFamily="18" charset="0"/>
                        </a:rPr>
                        <a:t>git reset --hard</a:t>
                      </a:r>
                    </a:p>
                  </a:txBody>
                  <a:tcPr marL="114300" marR="114300" marT="57150" marB="571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</a:pPr>
                      <a:r>
                        <a:rPr lang="ru-RU" sz="2400" b="0" dirty="0">
                          <a:solidFill>
                            <a:schemeClr val="tx1"/>
                          </a:solidFill>
                          <a:effectLst/>
                          <a:latin typeface="Bookman Old Style" panose="02050604050505020204" pitchFamily="18" charset="0"/>
                        </a:rPr>
                        <a:t>История и код удалятся безвозвратно.</a:t>
                      </a:r>
                    </a:p>
                  </a:txBody>
                  <a:tcPr marL="114300" marR="114300" marT="57150" marB="571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8924979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654357"/>
            <a:ext cx="12192000" cy="5632311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Чтобы не отслеживать изменения некоторых файлов, необходимо создать специальный файл с расширением </a:t>
            </a:r>
            <a:r>
              <a:rPr lang="en-US" sz="2400" dirty="0" smtClean="0">
                <a:latin typeface="Bookman Old Style" panose="02050604050505020204" pitchFamily="18" charset="0"/>
              </a:rPr>
              <a:t>.</a:t>
            </a:r>
            <a:r>
              <a:rPr lang="en-US" sz="2400" dirty="0" err="1" smtClean="0">
                <a:latin typeface="Bookman Old Style" panose="02050604050505020204" pitchFamily="18" charset="0"/>
              </a:rPr>
              <a:t>gitignore</a:t>
            </a:r>
            <a:endParaRPr lang="en-US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В данном файле перечисляются шаблоны (или конкретные названия) файлов, которые не будут отслеживаться </a:t>
            </a:r>
            <a:r>
              <a:rPr lang="en-US" sz="2400" dirty="0" err="1" smtClean="0">
                <a:latin typeface="Bookman Old Style" panose="02050604050505020204" pitchFamily="18" charset="0"/>
              </a:rPr>
              <a:t>git</a:t>
            </a:r>
            <a:r>
              <a:rPr lang="en-US" sz="2400" dirty="0" smtClean="0">
                <a:latin typeface="Bookman Old Style" panose="02050604050505020204" pitchFamily="18" charset="0"/>
              </a:rPr>
              <a:t>.</a:t>
            </a:r>
            <a:r>
              <a:rPr lang="ru-RU" sz="2400" dirty="0" smtClean="0">
                <a:latin typeface="Bookman Old Style" panose="02050604050505020204" pitchFamily="18" charset="0"/>
              </a:rPr>
              <a:t> </a:t>
            </a:r>
            <a:endParaRPr lang="en-US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Создадим такой файл со следующим содержимым:</a:t>
            </a: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в </a:t>
            </a:r>
            <a:r>
              <a:rPr lang="ru-RU" sz="2400" dirty="0" err="1" smtClean="0">
                <a:latin typeface="Bookman Old Style" panose="02050604050505020204" pitchFamily="18" charset="0"/>
              </a:rPr>
              <a:t>репозиторий</a:t>
            </a:r>
            <a:r>
              <a:rPr lang="ru-RU" sz="2400" dirty="0" smtClean="0">
                <a:latin typeface="Bookman Old Style" panose="02050604050505020204" pitchFamily="18" charset="0"/>
              </a:rPr>
              <a:t> не попадет файл с именем </a:t>
            </a:r>
            <a:r>
              <a:rPr lang="en-US" sz="2400" dirty="0" smtClean="0">
                <a:latin typeface="Bookman Old Style" panose="02050604050505020204" pitchFamily="18" charset="0"/>
              </a:rPr>
              <a:t>file 2.txt</a:t>
            </a:r>
            <a:r>
              <a:rPr lang="ru-RU" sz="2400" dirty="0" smtClean="0">
                <a:latin typeface="Bookman Old Style" panose="02050604050505020204" pitchFamily="18" charset="0"/>
              </a:rPr>
              <a:t>, а также файлы с расширением </a:t>
            </a:r>
            <a:r>
              <a:rPr lang="en-US" sz="2400" dirty="0" smtClean="0">
                <a:latin typeface="Bookman Old Style" panose="02050604050505020204" pitchFamily="18" charset="0"/>
              </a:rPr>
              <a:t>.csv</a:t>
            </a:r>
            <a:endParaRPr lang="ru-RU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b="1" dirty="0" smtClean="0">
                <a:latin typeface="Bookman Old Style" panose="02050604050505020204" pitchFamily="18" charset="0"/>
              </a:rPr>
              <a:t>ОБЯЗАТЕЛЬНО</a:t>
            </a:r>
            <a:r>
              <a:rPr lang="ru-RU" sz="2400" dirty="0" smtClean="0">
                <a:latin typeface="Bookman Old Style" panose="02050604050505020204" pitchFamily="18" charset="0"/>
              </a:rPr>
              <a:t> нужно зафиксировать </a:t>
            </a:r>
            <a:r>
              <a:rPr lang="en-US" sz="2400" dirty="0" err="1" smtClean="0">
                <a:latin typeface="Bookman Old Style" panose="02050604050505020204" pitchFamily="18" charset="0"/>
              </a:rPr>
              <a:t>gitignore</a:t>
            </a:r>
            <a:r>
              <a:rPr lang="en-US" sz="2400" dirty="0" smtClean="0">
                <a:latin typeface="Bookman Old Style" panose="02050604050505020204" pitchFamily="18" charset="0"/>
              </a:rPr>
              <a:t> </a:t>
            </a:r>
            <a:r>
              <a:rPr lang="ru-RU" sz="2400" dirty="0" smtClean="0">
                <a:latin typeface="Bookman Old Style" panose="02050604050505020204" pitchFamily="18" charset="0"/>
              </a:rPr>
              <a:t>файл</a:t>
            </a: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отдельным </a:t>
            </a:r>
            <a:r>
              <a:rPr lang="ru-RU" sz="2400" dirty="0" err="1" smtClean="0">
                <a:latin typeface="Bookman Old Style" panose="02050604050505020204" pitchFamily="18" charset="0"/>
              </a:rPr>
              <a:t>комитом</a:t>
            </a:r>
            <a:r>
              <a:rPr lang="ru-RU" sz="2400" dirty="0" smtClean="0">
                <a:latin typeface="Bookman Old Style" panose="02050604050505020204" pitchFamily="18" charset="0"/>
              </a:rPr>
              <a:t> ДО добавления файлов, </a:t>
            </a: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которые нужно игнорировать.</a:t>
            </a:r>
            <a:endParaRPr lang="en-US" sz="2400" dirty="0" smtClean="0">
              <a:latin typeface="Bookman Old Style" panose="02050604050505020204" pitchFamily="18" charset="0"/>
            </a:endParaRPr>
          </a:p>
        </p:txBody>
      </p:sp>
      <p:sp>
        <p:nvSpPr>
          <p:cNvPr id="4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0"/>
            <a:ext cx="12192000" cy="654357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5875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ru-RU" sz="2800" b="1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Игнорирование файлов, файл </a:t>
            </a:r>
            <a:r>
              <a:rPr lang="en-US" sz="2800" b="1" dirty="0" err="1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gitignore</a:t>
            </a:r>
            <a:endParaRPr lang="en-US" sz="2800" b="1" dirty="0">
              <a:solidFill>
                <a:schemeClr val="tx2">
                  <a:lumMod val="50000"/>
                </a:schemeClr>
              </a:solidFill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24782" y="4086051"/>
            <a:ext cx="3009243" cy="2200617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69784470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1" y="0"/>
            <a:ext cx="12192000" cy="6186309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Зафиксируем изменения с помощью команд </a:t>
            </a:r>
            <a:r>
              <a:rPr lang="en-US" sz="2400" dirty="0" smtClean="0">
                <a:latin typeface="Bookman Old Style" panose="02050604050505020204" pitchFamily="18" charset="0"/>
              </a:rPr>
              <a:t>add</a:t>
            </a:r>
            <a:r>
              <a:rPr lang="ru-RU" sz="2400" dirty="0" smtClean="0">
                <a:latin typeface="Bookman Old Style" panose="02050604050505020204" pitchFamily="18" charset="0"/>
              </a:rPr>
              <a:t> и</a:t>
            </a:r>
            <a:r>
              <a:rPr lang="en-US" sz="2400" dirty="0" smtClean="0">
                <a:latin typeface="Bookman Old Style" panose="02050604050505020204" pitchFamily="18" charset="0"/>
              </a:rPr>
              <a:t> commit</a:t>
            </a:r>
            <a:r>
              <a:rPr lang="ru-RU" sz="2400" dirty="0" smtClean="0">
                <a:latin typeface="Bookman Old Style" panose="02050604050505020204" pitchFamily="18" charset="0"/>
              </a:rPr>
              <a:t>.</a:t>
            </a:r>
            <a:endParaRPr lang="en-US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en-US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en-US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en-US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en-US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en-US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ru-RU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ru-RU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ru-RU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Далее эти команды можно совмещать</a:t>
            </a:r>
            <a:r>
              <a:rPr lang="en-US" sz="2400" dirty="0" smtClean="0">
                <a:latin typeface="Bookman Old Style" panose="02050604050505020204" pitchFamily="18" charset="0"/>
              </a:rPr>
              <a:t> </a:t>
            </a:r>
            <a:r>
              <a:rPr lang="ru-RU" sz="2400" dirty="0" smtClean="0">
                <a:latin typeface="Bookman Old Style" panose="02050604050505020204" pitchFamily="18" charset="0"/>
              </a:rPr>
              <a:t>с помощью одной команды:</a:t>
            </a:r>
          </a:p>
          <a:p>
            <a:pPr algn="just">
              <a:lnSpc>
                <a:spcPct val="150000"/>
              </a:lnSpc>
            </a:pPr>
            <a:r>
              <a:rPr lang="en-US" sz="2400" b="1" dirty="0" err="1" smtClean="0">
                <a:latin typeface="Bookman Old Style" panose="02050604050505020204" pitchFamily="18" charset="0"/>
              </a:rPr>
              <a:t>git</a:t>
            </a:r>
            <a:r>
              <a:rPr lang="en-US" sz="2400" b="1" dirty="0" smtClean="0">
                <a:latin typeface="Bookman Old Style" panose="02050604050505020204" pitchFamily="18" charset="0"/>
              </a:rPr>
              <a:t> </a:t>
            </a:r>
            <a:r>
              <a:rPr lang="en-US" sz="2400" b="1" dirty="0">
                <a:latin typeface="Bookman Old Style" panose="02050604050505020204" pitchFamily="18" charset="0"/>
              </a:rPr>
              <a:t>commit </a:t>
            </a:r>
            <a:r>
              <a:rPr lang="en-US" sz="2400" b="1" dirty="0" smtClean="0">
                <a:latin typeface="Bookman Old Style" panose="02050604050505020204" pitchFamily="18" charset="0"/>
              </a:rPr>
              <a:t>-am </a:t>
            </a:r>
            <a:r>
              <a:rPr lang="ru-RU" sz="2400" b="1" dirty="0" smtClean="0">
                <a:latin typeface="Bookman Old Style" panose="02050604050505020204" pitchFamily="18" charset="0"/>
              </a:rPr>
              <a:t>«</a:t>
            </a:r>
            <a:r>
              <a:rPr lang="en-US" sz="2400" b="1" dirty="0" smtClean="0">
                <a:latin typeface="Bookman Old Style" panose="02050604050505020204" pitchFamily="18" charset="0"/>
              </a:rPr>
              <a:t>add </a:t>
            </a:r>
            <a:r>
              <a:rPr lang="en-US" sz="2400" b="1" dirty="0" err="1" smtClean="0">
                <a:latin typeface="Bookman Old Style" panose="02050604050505020204" pitchFamily="18" charset="0"/>
              </a:rPr>
              <a:t>gitignore</a:t>
            </a:r>
            <a:r>
              <a:rPr lang="ru-RU" sz="2400" b="1" dirty="0" smtClean="0">
                <a:latin typeface="Bookman Old Style" panose="02050604050505020204" pitchFamily="18" charset="0"/>
              </a:rPr>
              <a:t>»</a:t>
            </a:r>
            <a:endParaRPr lang="en-US" sz="2400" b="1" dirty="0" smtClean="0">
              <a:latin typeface="Bookman Old Style" panose="02050604050505020204" pitchFamily="18" charset="0"/>
            </a:endParaRP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 rotWithShape="1">
          <a:blip r:embed="rId3"/>
          <a:srcRect t="33867" b="26967"/>
          <a:stretch/>
        </p:blipFill>
        <p:spPr>
          <a:xfrm>
            <a:off x="352426" y="647329"/>
            <a:ext cx="11490440" cy="2395130"/>
          </a:xfrm>
          <a:prstGeom prst="rect">
            <a:avLst/>
          </a:prstGeom>
        </p:spPr>
      </p:pic>
      <p:pic>
        <p:nvPicPr>
          <p:cNvPr id="5" name="Рисунок 4"/>
          <p:cNvPicPr>
            <a:picLocks noChangeAspect="1"/>
          </p:cNvPicPr>
          <p:nvPr/>
        </p:nvPicPr>
        <p:blipFill rotWithShape="1">
          <a:blip r:embed="rId4"/>
          <a:srcRect l="10859" t="11064" b="9151"/>
          <a:stretch/>
        </p:blipFill>
        <p:spPr>
          <a:xfrm>
            <a:off x="7777249" y="2330225"/>
            <a:ext cx="3467100" cy="24404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1750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1" y="0"/>
            <a:ext cx="12192000" cy="6186309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Теперь попробуем добавить файлы, которые должны </a:t>
            </a:r>
            <a:r>
              <a:rPr lang="ru-RU" sz="2400" dirty="0" smtClean="0">
                <a:latin typeface="Bookman Old Style" panose="02050604050505020204" pitchFamily="18" charset="0"/>
              </a:rPr>
              <a:t>игнорироваться</a:t>
            </a:r>
            <a:endParaRPr lang="en-US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en-US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en-US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en-US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en-US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en-US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en-US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en-US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en-US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Видим, что изменения </a:t>
            </a:r>
            <a:r>
              <a:rPr lang="ru-RU" sz="2400" dirty="0" err="1" smtClean="0">
                <a:latin typeface="Bookman Old Style" panose="02050604050505020204" pitchFamily="18" charset="0"/>
              </a:rPr>
              <a:t>репозитория</a:t>
            </a:r>
            <a:r>
              <a:rPr lang="ru-RU" sz="2400" dirty="0" smtClean="0">
                <a:latin typeface="Bookman Old Style" panose="02050604050505020204" pitchFamily="18" charset="0"/>
              </a:rPr>
              <a:t> не найдены. </a:t>
            </a:r>
            <a:r>
              <a:rPr lang="en-US" sz="2400" dirty="0" smtClean="0">
                <a:latin typeface="Bookman Old Style" panose="02050604050505020204" pitchFamily="18" charset="0"/>
              </a:rPr>
              <a:t>file 2.txt </a:t>
            </a:r>
            <a:r>
              <a:rPr lang="ru-RU" sz="2400" dirty="0" smtClean="0">
                <a:latin typeface="Bookman Old Style" panose="02050604050505020204" pitchFamily="18" charset="0"/>
              </a:rPr>
              <a:t>и </a:t>
            </a:r>
            <a:r>
              <a:rPr lang="en-US" sz="2400" dirty="0" smtClean="0">
                <a:latin typeface="Bookman Old Style" panose="02050604050505020204" pitchFamily="18" charset="0"/>
              </a:rPr>
              <a:t>file 3.csv </a:t>
            </a:r>
            <a:r>
              <a:rPr lang="ru-RU" sz="2400" dirty="0" smtClean="0">
                <a:latin typeface="Bookman Old Style" panose="02050604050505020204" pitchFamily="18" charset="0"/>
              </a:rPr>
              <a:t>не обнаруживаются </a:t>
            </a:r>
            <a:r>
              <a:rPr lang="en-US" sz="2400" dirty="0" err="1" smtClean="0">
                <a:latin typeface="Bookman Old Style" panose="02050604050505020204" pitchFamily="18" charset="0"/>
              </a:rPr>
              <a:t>git</a:t>
            </a:r>
            <a:r>
              <a:rPr lang="ru-RU" sz="2400" dirty="0" smtClean="0">
                <a:latin typeface="Bookman Old Style" panose="02050604050505020204" pitchFamily="18" charset="0"/>
              </a:rPr>
              <a:t>-ом</a:t>
            </a:r>
            <a:r>
              <a:rPr lang="en-US" sz="2400" dirty="0">
                <a:latin typeface="Bookman Old Style" panose="02050604050505020204" pitchFamily="18" charset="0"/>
              </a:rPr>
              <a:t>.</a:t>
            </a:r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" y="583686"/>
            <a:ext cx="3443354" cy="4243323"/>
          </a:xfrm>
          <a:prstGeom prst="rect">
            <a:avLst/>
          </a:prstGeom>
        </p:spPr>
      </p:pic>
      <p:pic>
        <p:nvPicPr>
          <p:cNvPr id="4" name="Рисунок 3"/>
          <p:cNvPicPr>
            <a:picLocks noChangeAspect="1"/>
          </p:cNvPicPr>
          <p:nvPr/>
        </p:nvPicPr>
        <p:blipFill rotWithShape="1">
          <a:blip r:embed="rId4"/>
          <a:srcRect t="39492" r="30928" b="27391"/>
          <a:stretch/>
        </p:blipFill>
        <p:spPr>
          <a:xfrm>
            <a:off x="3443356" y="2607840"/>
            <a:ext cx="7928455" cy="20111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99958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654357"/>
            <a:ext cx="12192000" cy="4524315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b="1" dirty="0">
                <a:latin typeface="Bookman Old Style" panose="02050604050505020204" pitchFamily="18" charset="0"/>
              </a:rPr>
              <a:t>Ветка</a:t>
            </a:r>
            <a:r>
              <a:rPr lang="ru-RU" sz="2400" dirty="0">
                <a:latin typeface="Bookman Old Style" panose="02050604050505020204" pitchFamily="18" charset="0"/>
              </a:rPr>
              <a:t> представляет собой независимое направление </a:t>
            </a:r>
            <a:r>
              <a:rPr lang="ru-RU" sz="2400" dirty="0" smtClean="0">
                <a:latin typeface="Bookman Old Style" panose="02050604050505020204" pitchFamily="18" charset="0"/>
              </a:rPr>
              <a:t>разработки.</a:t>
            </a:r>
            <a:endParaRPr lang="en-US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Допустим </a:t>
            </a:r>
            <a:r>
              <a:rPr lang="ru-RU" sz="2400" dirty="0">
                <a:latin typeface="Bookman Old Style" panose="02050604050505020204" pitchFamily="18" charset="0"/>
              </a:rPr>
              <a:t>мы хотим добавить новый функционал в </a:t>
            </a:r>
            <a:r>
              <a:rPr lang="ru-RU" sz="2400" dirty="0" smtClean="0">
                <a:latin typeface="Bookman Old Style" panose="02050604050505020204" pitchFamily="18" charset="0"/>
              </a:rPr>
              <a:t>наш проект (программу), </a:t>
            </a:r>
            <a:r>
              <a:rPr lang="ru-RU" sz="2400" dirty="0">
                <a:latin typeface="Bookman Old Style" panose="02050604050505020204" pitchFamily="18" charset="0"/>
              </a:rPr>
              <a:t>но не уверены, понравится ли он заказчику, поэтому в случае чего хотим отменить изменения</a:t>
            </a:r>
            <a:r>
              <a:rPr lang="ru-RU" sz="2400" dirty="0" smtClean="0">
                <a:latin typeface="Bookman Old Style" panose="02050604050505020204" pitchFamily="18" charset="0"/>
              </a:rPr>
              <a:t>. Для этого существуют ветки, обычно основная версия программа хранится в ветке </a:t>
            </a:r>
            <a:r>
              <a:rPr lang="en-US" sz="2400" dirty="0" smtClean="0">
                <a:latin typeface="Bookman Old Style" panose="02050604050505020204" pitchFamily="18" charset="0"/>
              </a:rPr>
              <a:t>main </a:t>
            </a:r>
            <a:r>
              <a:rPr lang="ru-RU" sz="2400" dirty="0" smtClean="0">
                <a:latin typeface="Bookman Old Style" panose="02050604050505020204" pitchFamily="18" charset="0"/>
              </a:rPr>
              <a:t>или </a:t>
            </a:r>
            <a:r>
              <a:rPr lang="en-US" sz="2400" dirty="0" smtClean="0">
                <a:latin typeface="Bookman Old Style" panose="02050604050505020204" pitchFamily="18" charset="0"/>
              </a:rPr>
              <a:t>master, </a:t>
            </a:r>
            <a:r>
              <a:rPr lang="ru-RU" sz="2400" dirty="0" smtClean="0">
                <a:latin typeface="Bookman Old Style" panose="02050604050505020204" pitchFamily="18" charset="0"/>
              </a:rPr>
              <a:t>а разработчики создают отдельные ветки, в которых работают над программой, добавляют функционал, изменяют программу, что-то тестируют.</a:t>
            </a:r>
          </a:p>
        </p:txBody>
      </p:sp>
      <p:sp>
        <p:nvSpPr>
          <p:cNvPr id="4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0"/>
            <a:ext cx="12192000" cy="654357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5875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ru-RU" sz="2800" b="1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Ветки</a:t>
            </a:r>
            <a:endParaRPr lang="en-US" sz="2800" b="1" dirty="0">
              <a:solidFill>
                <a:schemeClr val="tx2">
                  <a:lumMod val="50000"/>
                </a:schemeClr>
              </a:solidFill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6572714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0"/>
            <a:ext cx="12192000" cy="5078313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Чтобы создать ветку напишем команду </a:t>
            </a:r>
            <a:r>
              <a:rPr lang="en-US" sz="2400" b="1" dirty="0" err="1" smtClean="0">
                <a:latin typeface="Bookman Old Style" panose="02050604050505020204" pitchFamily="18" charset="0"/>
              </a:rPr>
              <a:t>git</a:t>
            </a:r>
            <a:r>
              <a:rPr lang="en-US" sz="2400" b="1" dirty="0" smtClean="0">
                <a:latin typeface="Bookman Old Style" panose="02050604050505020204" pitchFamily="18" charset="0"/>
              </a:rPr>
              <a:t> branch test</a:t>
            </a:r>
            <a:r>
              <a:rPr lang="en-US" sz="2400" dirty="0" smtClean="0">
                <a:latin typeface="Bookman Old Style" panose="02050604050505020204" pitchFamily="18" charset="0"/>
              </a:rPr>
              <a:t> </a:t>
            </a:r>
            <a:r>
              <a:rPr lang="ru-RU" sz="2400" dirty="0" smtClean="0">
                <a:latin typeface="Bookman Old Style" panose="02050604050505020204" pitchFamily="18" charset="0"/>
              </a:rPr>
              <a:t>и перейдем на данную ветку командой </a:t>
            </a:r>
            <a:r>
              <a:rPr lang="en-US" sz="2400" b="1" dirty="0" err="1" smtClean="0">
                <a:latin typeface="Bookman Old Style" panose="02050604050505020204" pitchFamily="18" charset="0"/>
              </a:rPr>
              <a:t>git</a:t>
            </a:r>
            <a:r>
              <a:rPr lang="en-US" sz="2400" b="1" dirty="0" smtClean="0">
                <a:latin typeface="Bookman Old Style" panose="02050604050505020204" pitchFamily="18" charset="0"/>
              </a:rPr>
              <a:t> checkout test</a:t>
            </a:r>
          </a:p>
          <a:p>
            <a:pPr algn="just">
              <a:lnSpc>
                <a:spcPct val="150000"/>
              </a:lnSpc>
            </a:pPr>
            <a:endParaRPr lang="en-US" sz="2400" b="1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en-US" sz="2400" b="1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en-US" sz="2400" b="1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en-US" sz="2400" b="1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en-US" sz="2400" b="1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en-US" sz="2400" b="1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Заметим, что теперь в скобках отображается </a:t>
            </a:r>
            <a:r>
              <a:rPr lang="en-US" sz="2400" b="1" dirty="0" smtClean="0">
                <a:latin typeface="Bookman Old Style" panose="02050604050505020204" pitchFamily="18" charset="0"/>
              </a:rPr>
              <a:t>test </a:t>
            </a:r>
            <a:r>
              <a:rPr lang="en-US" sz="2400" dirty="0" smtClean="0">
                <a:latin typeface="Bookman Old Style" panose="02050604050505020204" pitchFamily="18" charset="0"/>
              </a:rPr>
              <a:t>– </a:t>
            </a:r>
            <a:r>
              <a:rPr lang="ru-RU" sz="2400" dirty="0" smtClean="0">
                <a:latin typeface="Bookman Old Style" panose="02050604050505020204" pitchFamily="18" charset="0"/>
              </a:rPr>
              <a:t>текущая ветка.</a:t>
            </a:r>
            <a:endParaRPr lang="ru-RU" sz="2400" dirty="0">
              <a:latin typeface="Bookman Old Style" panose="02050604050505020204" pitchFamily="18" charset="0"/>
            </a:endParaRP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 rotWithShape="1">
          <a:blip r:embed="rId3"/>
          <a:srcRect t="45231"/>
          <a:stretch/>
        </p:blipFill>
        <p:spPr>
          <a:xfrm>
            <a:off x="442123" y="1186919"/>
            <a:ext cx="11307753" cy="3276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009414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0"/>
            <a:ext cx="12192000" cy="3416320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Изменим наш файл </a:t>
            </a:r>
            <a:r>
              <a:rPr lang="en-US" sz="2400" dirty="0" smtClean="0">
                <a:latin typeface="Bookman Old Style" panose="02050604050505020204" pitchFamily="18" charset="0"/>
              </a:rPr>
              <a:t>file 1.txt</a:t>
            </a:r>
            <a:endParaRPr lang="en-US" sz="2400" b="1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en-US" sz="2400" b="1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en-US" sz="2400" b="1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en-US" sz="2400" b="1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en-US" sz="2400" b="1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Фиксируем изменения </a:t>
            </a:r>
            <a:r>
              <a:rPr lang="en-US" sz="2400" b="1" dirty="0" err="1">
                <a:latin typeface="Bookman Old Style" panose="02050604050505020204" pitchFamily="18" charset="0"/>
              </a:rPr>
              <a:t>git</a:t>
            </a:r>
            <a:r>
              <a:rPr lang="en-US" sz="2400" b="1" dirty="0">
                <a:latin typeface="Bookman Old Style" panose="02050604050505020204" pitchFamily="18" charset="0"/>
              </a:rPr>
              <a:t> commit -am </a:t>
            </a:r>
            <a:r>
              <a:rPr lang="ru-RU" sz="2400" b="1" dirty="0" smtClean="0">
                <a:latin typeface="Bookman Old Style" panose="02050604050505020204" pitchFamily="18" charset="0"/>
              </a:rPr>
              <a:t>«</a:t>
            </a:r>
            <a:r>
              <a:rPr lang="en-US" sz="2400" b="1" dirty="0" smtClean="0">
                <a:latin typeface="Bookman Old Style" panose="02050604050505020204" pitchFamily="18" charset="0"/>
              </a:rPr>
              <a:t>edit file2</a:t>
            </a:r>
            <a:r>
              <a:rPr lang="ru-RU" sz="2400" b="1" dirty="0" smtClean="0">
                <a:latin typeface="Bookman Old Style" panose="02050604050505020204" pitchFamily="18" charset="0"/>
              </a:rPr>
              <a:t>»</a:t>
            </a:r>
            <a:endParaRPr lang="en-US" sz="2400" b="1" dirty="0">
              <a:latin typeface="Bookman Old Style" panose="02050604050505020204" pitchFamily="18" charset="0"/>
            </a:endParaRPr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2225" y="703975"/>
            <a:ext cx="7067550" cy="2008370"/>
          </a:xfrm>
          <a:prstGeom prst="rect">
            <a:avLst/>
          </a:prstGeom>
        </p:spPr>
      </p:pic>
      <p:pic>
        <p:nvPicPr>
          <p:cNvPr id="4" name="Рисунок 3"/>
          <p:cNvPicPr>
            <a:picLocks noChangeAspect="1"/>
          </p:cNvPicPr>
          <p:nvPr/>
        </p:nvPicPr>
        <p:blipFill rotWithShape="1">
          <a:blip r:embed="rId4"/>
          <a:srcRect t="40333" b="4140"/>
          <a:stretch/>
        </p:blipFill>
        <p:spPr>
          <a:xfrm>
            <a:off x="442123" y="3416320"/>
            <a:ext cx="11307753" cy="33219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34038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0"/>
            <a:ext cx="12192000" cy="6740307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Чтобы наши изменения перешли в ветку </a:t>
            </a:r>
            <a:r>
              <a:rPr lang="en-US" sz="2400" dirty="0" smtClean="0">
                <a:latin typeface="Bookman Old Style" panose="02050604050505020204" pitchFamily="18" charset="0"/>
              </a:rPr>
              <a:t>master </a:t>
            </a:r>
            <a:r>
              <a:rPr lang="ru-RU" sz="2400" dirty="0" smtClean="0">
                <a:latin typeface="Bookman Old Style" panose="02050604050505020204" pitchFamily="18" charset="0"/>
              </a:rPr>
              <a:t>необходимо перейти в </a:t>
            </a:r>
            <a:r>
              <a:rPr lang="en-US" sz="2400" dirty="0" smtClean="0">
                <a:latin typeface="Bookman Old Style" panose="02050604050505020204" pitchFamily="18" charset="0"/>
              </a:rPr>
              <a:t>master </a:t>
            </a:r>
            <a:r>
              <a:rPr lang="ru-RU" sz="2400" dirty="0" smtClean="0">
                <a:latin typeface="Bookman Old Style" panose="02050604050505020204" pitchFamily="18" charset="0"/>
              </a:rPr>
              <a:t>и выполнить слияние с веткой </a:t>
            </a:r>
            <a:r>
              <a:rPr lang="en-US" sz="2400" dirty="0" smtClean="0">
                <a:latin typeface="Bookman Old Style" panose="02050604050505020204" pitchFamily="18" charset="0"/>
              </a:rPr>
              <a:t>test:</a:t>
            </a:r>
          </a:p>
          <a:p>
            <a:pPr algn="just">
              <a:lnSpc>
                <a:spcPct val="150000"/>
              </a:lnSpc>
            </a:pPr>
            <a:r>
              <a:rPr lang="en-US" sz="2400" b="1" dirty="0" err="1">
                <a:latin typeface="Bookman Old Style" panose="02050604050505020204" pitchFamily="18" charset="0"/>
              </a:rPr>
              <a:t>git</a:t>
            </a:r>
            <a:r>
              <a:rPr lang="en-US" sz="2400" b="1" dirty="0">
                <a:latin typeface="Bookman Old Style" panose="02050604050505020204" pitchFamily="18" charset="0"/>
              </a:rPr>
              <a:t> </a:t>
            </a:r>
            <a:r>
              <a:rPr lang="en-US" sz="2400" b="1" dirty="0" smtClean="0">
                <a:latin typeface="Bookman Old Style" panose="02050604050505020204" pitchFamily="18" charset="0"/>
              </a:rPr>
              <a:t>checkout master</a:t>
            </a:r>
            <a:endParaRPr lang="en-US" sz="2400" b="1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en-US" sz="2400" b="1" dirty="0" err="1" smtClean="0">
                <a:latin typeface="Bookman Old Style" panose="02050604050505020204" pitchFamily="18" charset="0"/>
              </a:rPr>
              <a:t>git</a:t>
            </a:r>
            <a:r>
              <a:rPr lang="en-US" sz="2400" b="1" dirty="0" smtClean="0">
                <a:latin typeface="Bookman Old Style" panose="02050604050505020204" pitchFamily="18" charset="0"/>
              </a:rPr>
              <a:t> merge test</a:t>
            </a:r>
            <a:endParaRPr lang="ru-RU" sz="2400" b="1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ru-RU" sz="2400" b="1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ru-RU" sz="2400" b="1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ru-RU" sz="2400" b="1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ru-RU" sz="2400" b="1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ru-RU" sz="2400" b="1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Теперь ветка </a:t>
            </a:r>
            <a:r>
              <a:rPr lang="en-US" sz="2400" dirty="0" smtClean="0">
                <a:latin typeface="Bookman Old Style" panose="02050604050505020204" pitchFamily="18" charset="0"/>
              </a:rPr>
              <a:t>master </a:t>
            </a:r>
            <a:r>
              <a:rPr lang="ru-RU" sz="2400" dirty="0" smtClean="0">
                <a:latin typeface="Bookman Old Style" panose="02050604050505020204" pitchFamily="18" charset="0"/>
              </a:rPr>
              <a:t>содержит изменения из </a:t>
            </a:r>
            <a:r>
              <a:rPr lang="en-US" sz="2400" dirty="0" smtClean="0">
                <a:latin typeface="Bookman Old Style" panose="02050604050505020204" pitchFamily="18" charset="0"/>
              </a:rPr>
              <a:t>test. </a:t>
            </a:r>
            <a:r>
              <a:rPr lang="ru-RU" sz="2400" dirty="0" smtClean="0">
                <a:latin typeface="Bookman Old Style" panose="02050604050505020204" pitchFamily="18" charset="0"/>
              </a:rPr>
              <a:t>Если бы мы решили, что изменения из </a:t>
            </a:r>
            <a:r>
              <a:rPr lang="en-US" sz="2400" dirty="0" smtClean="0">
                <a:latin typeface="Bookman Old Style" panose="02050604050505020204" pitchFamily="18" charset="0"/>
              </a:rPr>
              <a:t>test </a:t>
            </a:r>
            <a:r>
              <a:rPr lang="ru-RU" sz="2400" dirty="0" smtClean="0">
                <a:latin typeface="Bookman Old Style" panose="02050604050505020204" pitchFamily="18" charset="0"/>
              </a:rPr>
              <a:t>нам не нужны (неудачная версия проекта), то мы бы не делали слияние.</a:t>
            </a:r>
            <a:endParaRPr lang="en-US" sz="2400" dirty="0">
              <a:latin typeface="Bookman Old Style" panose="02050604050505020204" pitchFamily="18" charset="0"/>
            </a:endParaRP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 rotWithShape="1">
          <a:blip r:embed="rId3"/>
          <a:srcRect t="28028" b="26755"/>
          <a:stretch/>
        </p:blipFill>
        <p:spPr>
          <a:xfrm>
            <a:off x="442123" y="2275073"/>
            <a:ext cx="11307753" cy="2705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035373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654357"/>
            <a:ext cx="12192000" cy="5632311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Раньше команда </a:t>
            </a:r>
            <a:r>
              <a:rPr lang="ru-RU" sz="2400" dirty="0" err="1">
                <a:latin typeface="Bookman Old Style" panose="02050604050505020204" pitchFamily="18" charset="0"/>
              </a:rPr>
              <a:t>git</a:t>
            </a:r>
            <a:r>
              <a:rPr lang="ru-RU" sz="2400" dirty="0">
                <a:latin typeface="Bookman Old Style" panose="02050604050505020204" pitchFamily="18" charset="0"/>
              </a:rPr>
              <a:t> </a:t>
            </a:r>
            <a:r>
              <a:rPr lang="ru-RU" sz="2400" dirty="0" err="1">
                <a:latin typeface="Bookman Old Style" panose="02050604050505020204" pitchFamily="18" charset="0"/>
              </a:rPr>
              <a:t>checkout</a:t>
            </a:r>
            <a:r>
              <a:rPr lang="ru-RU" sz="2400" dirty="0">
                <a:latin typeface="Bookman Old Style" panose="02050604050505020204" pitchFamily="18" charset="0"/>
              </a:rPr>
              <a:t> делала слишком много: и переключала ветки, и откатывала файлы. Это путало новичков. С версии </a:t>
            </a:r>
            <a:r>
              <a:rPr lang="ru-RU" sz="2400" dirty="0" err="1">
                <a:latin typeface="Bookman Old Style" panose="02050604050505020204" pitchFamily="18" charset="0"/>
              </a:rPr>
              <a:t>Git</a:t>
            </a:r>
            <a:r>
              <a:rPr lang="ru-RU" sz="2400" dirty="0">
                <a:latin typeface="Bookman Old Style" panose="02050604050505020204" pitchFamily="18" charset="0"/>
              </a:rPr>
              <a:t> 2.23 появились специализированные команды.</a:t>
            </a:r>
          </a:p>
          <a:p>
            <a:pPr>
              <a:lnSpc>
                <a:spcPct val="150000"/>
              </a:lnSpc>
            </a:pPr>
            <a:r>
              <a:rPr lang="ru-RU" sz="2400" b="1" dirty="0">
                <a:latin typeface="Bookman Old Style" panose="02050604050505020204" pitchFamily="18" charset="0"/>
              </a:rPr>
              <a:t>Перейти на существующую ветку:</a:t>
            </a:r>
            <a:r>
              <a:rPr lang="ru-RU" sz="2400" dirty="0">
                <a:latin typeface="Bookman Old Style" panose="02050604050505020204" pitchFamily="18" charset="0"/>
              </a:rPr>
              <a:t/>
            </a:r>
            <a:br>
              <a:rPr lang="ru-RU" sz="2400" dirty="0">
                <a:latin typeface="Bookman Old Style" panose="02050604050505020204" pitchFamily="18" charset="0"/>
              </a:rPr>
            </a:br>
            <a:r>
              <a:rPr lang="ru-RU" sz="2400" dirty="0" err="1">
                <a:latin typeface="Bookman Old Style" panose="02050604050505020204" pitchFamily="18" charset="0"/>
              </a:rPr>
              <a:t>git</a:t>
            </a:r>
            <a:r>
              <a:rPr lang="ru-RU" sz="2400" dirty="0">
                <a:latin typeface="Bookman Old Style" panose="02050604050505020204" pitchFamily="18" charset="0"/>
              </a:rPr>
              <a:t> </a:t>
            </a:r>
            <a:r>
              <a:rPr lang="ru-RU" sz="2400" dirty="0" err="1">
                <a:latin typeface="Bookman Old Style" panose="02050604050505020204" pitchFamily="18" charset="0"/>
              </a:rPr>
              <a:t>switch</a:t>
            </a:r>
            <a:r>
              <a:rPr lang="ru-RU" sz="2400" dirty="0">
                <a:latin typeface="Bookman Old Style" panose="02050604050505020204" pitchFamily="18" charset="0"/>
              </a:rPr>
              <a:t> &lt;</a:t>
            </a:r>
            <a:r>
              <a:rPr lang="ru-RU" sz="2400" dirty="0" err="1">
                <a:latin typeface="Bookman Old Style" panose="02050604050505020204" pitchFamily="18" charset="0"/>
              </a:rPr>
              <a:t>имя_ветки</a:t>
            </a:r>
            <a:r>
              <a:rPr lang="ru-RU" sz="2400" dirty="0">
                <a:latin typeface="Bookman Old Style" panose="02050604050505020204" pitchFamily="18" charset="0"/>
              </a:rPr>
              <a:t>&gt; (вместо </a:t>
            </a:r>
            <a:r>
              <a:rPr lang="ru-RU" sz="2400" dirty="0" err="1">
                <a:latin typeface="Bookman Old Style" panose="02050604050505020204" pitchFamily="18" charset="0"/>
              </a:rPr>
              <a:t>git</a:t>
            </a:r>
            <a:r>
              <a:rPr lang="ru-RU" sz="2400" dirty="0">
                <a:latin typeface="Bookman Old Style" panose="02050604050505020204" pitchFamily="18" charset="0"/>
              </a:rPr>
              <a:t> </a:t>
            </a:r>
            <a:r>
              <a:rPr lang="ru-RU" sz="2400" dirty="0" err="1">
                <a:latin typeface="Bookman Old Style" panose="02050604050505020204" pitchFamily="18" charset="0"/>
              </a:rPr>
              <a:t>checkout</a:t>
            </a:r>
            <a:r>
              <a:rPr lang="ru-RU" sz="2400" dirty="0">
                <a:latin typeface="Bookman Old Style" panose="02050604050505020204" pitchFamily="18" charset="0"/>
              </a:rPr>
              <a:t> &lt;имя&gt;)</a:t>
            </a:r>
          </a:p>
          <a:p>
            <a:pPr>
              <a:lnSpc>
                <a:spcPct val="150000"/>
              </a:lnSpc>
            </a:pPr>
            <a:r>
              <a:rPr lang="ru-RU" sz="2400" b="1" dirty="0">
                <a:latin typeface="Bookman Old Style" panose="02050604050505020204" pitchFamily="18" charset="0"/>
              </a:rPr>
              <a:t>Создать новую ветку и сразу перейти в неё:</a:t>
            </a:r>
            <a:r>
              <a:rPr lang="ru-RU" sz="2400" dirty="0">
                <a:latin typeface="Bookman Old Style" panose="02050604050505020204" pitchFamily="18" charset="0"/>
              </a:rPr>
              <a:t/>
            </a:r>
            <a:br>
              <a:rPr lang="ru-RU" sz="2400" dirty="0">
                <a:latin typeface="Bookman Old Style" panose="02050604050505020204" pitchFamily="18" charset="0"/>
              </a:rPr>
            </a:br>
            <a:r>
              <a:rPr lang="ru-RU" sz="2400" dirty="0" err="1">
                <a:latin typeface="Bookman Old Style" panose="02050604050505020204" pitchFamily="18" charset="0"/>
              </a:rPr>
              <a:t>git</a:t>
            </a:r>
            <a:r>
              <a:rPr lang="ru-RU" sz="2400" dirty="0">
                <a:latin typeface="Bookman Old Style" panose="02050604050505020204" pitchFamily="18" charset="0"/>
              </a:rPr>
              <a:t> </a:t>
            </a:r>
            <a:r>
              <a:rPr lang="ru-RU" sz="2400" dirty="0" err="1">
                <a:latin typeface="Bookman Old Style" panose="02050604050505020204" pitchFamily="18" charset="0"/>
              </a:rPr>
              <a:t>switch</a:t>
            </a:r>
            <a:r>
              <a:rPr lang="ru-RU" sz="2400" dirty="0">
                <a:latin typeface="Bookman Old Style" panose="02050604050505020204" pitchFamily="18" charset="0"/>
              </a:rPr>
              <a:t> -c &lt;</a:t>
            </a:r>
            <a:r>
              <a:rPr lang="ru-RU" sz="2400" dirty="0" err="1">
                <a:latin typeface="Bookman Old Style" panose="02050604050505020204" pitchFamily="18" charset="0"/>
              </a:rPr>
              <a:t>имя_ветки</a:t>
            </a:r>
            <a:r>
              <a:rPr lang="ru-RU" sz="2400" dirty="0">
                <a:latin typeface="Bookman Old Style" panose="02050604050505020204" pitchFamily="18" charset="0"/>
              </a:rPr>
              <a:t>&gt; (вместо </a:t>
            </a:r>
            <a:r>
              <a:rPr lang="ru-RU" sz="2400" dirty="0" err="1">
                <a:latin typeface="Bookman Old Style" panose="02050604050505020204" pitchFamily="18" charset="0"/>
              </a:rPr>
              <a:t>git</a:t>
            </a:r>
            <a:r>
              <a:rPr lang="ru-RU" sz="2400" dirty="0">
                <a:latin typeface="Bookman Old Style" panose="02050604050505020204" pitchFamily="18" charset="0"/>
              </a:rPr>
              <a:t> </a:t>
            </a:r>
            <a:r>
              <a:rPr lang="ru-RU" sz="2400" dirty="0" err="1">
                <a:latin typeface="Bookman Old Style" panose="02050604050505020204" pitchFamily="18" charset="0"/>
              </a:rPr>
              <a:t>checkout</a:t>
            </a:r>
            <a:r>
              <a:rPr lang="ru-RU" sz="2400" dirty="0">
                <a:latin typeface="Bookman Old Style" panose="02050604050505020204" pitchFamily="18" charset="0"/>
              </a:rPr>
              <a:t> -b &lt;имя</a:t>
            </a:r>
            <a:r>
              <a:rPr lang="ru-RU" sz="2400" dirty="0" smtClean="0">
                <a:latin typeface="Bookman Old Style" panose="02050604050505020204" pitchFamily="18" charset="0"/>
              </a:rPr>
              <a:t>&gt;)</a:t>
            </a:r>
          </a:p>
          <a:p>
            <a:pPr>
              <a:lnSpc>
                <a:spcPct val="150000"/>
              </a:lnSpc>
            </a:pPr>
            <a:endParaRPr lang="ru-RU" sz="2400" dirty="0">
              <a:latin typeface="Bookman Old Style" panose="02050604050505020204" pitchFamily="18" charset="0"/>
            </a:endParaRPr>
          </a:p>
          <a:p>
            <a:pPr>
              <a:lnSpc>
                <a:spcPct val="150000"/>
              </a:lnSpc>
            </a:pPr>
            <a:r>
              <a:rPr lang="ru-RU" sz="2400" b="1" dirty="0">
                <a:latin typeface="Bookman Old Style" panose="02050604050505020204" pitchFamily="18" charset="0"/>
              </a:rPr>
              <a:t>Совет:</a:t>
            </a:r>
            <a:r>
              <a:rPr lang="ru-RU" sz="2400" dirty="0">
                <a:latin typeface="Bookman Old Style" panose="02050604050505020204" pitchFamily="18" charset="0"/>
              </a:rPr>
              <a:t> Используйте </a:t>
            </a:r>
            <a:r>
              <a:rPr lang="ru-RU" sz="2400" dirty="0" err="1">
                <a:latin typeface="Bookman Old Style" panose="02050604050505020204" pitchFamily="18" charset="0"/>
              </a:rPr>
              <a:t>switch</a:t>
            </a:r>
            <a:r>
              <a:rPr lang="ru-RU" sz="2400" dirty="0">
                <a:latin typeface="Bookman Old Style" panose="02050604050505020204" pitchFamily="18" charset="0"/>
              </a:rPr>
              <a:t> для веток, а </a:t>
            </a:r>
            <a:r>
              <a:rPr lang="ru-RU" sz="2400" dirty="0" err="1">
                <a:latin typeface="Bookman Old Style" panose="02050604050505020204" pitchFamily="18" charset="0"/>
              </a:rPr>
              <a:t>restore</a:t>
            </a:r>
            <a:r>
              <a:rPr lang="ru-RU" sz="2400" dirty="0">
                <a:latin typeface="Bookman Old Style" panose="02050604050505020204" pitchFamily="18" charset="0"/>
              </a:rPr>
              <a:t> — для файлов. Это современный стандарт.</a:t>
            </a:r>
          </a:p>
        </p:txBody>
      </p:sp>
      <p:sp>
        <p:nvSpPr>
          <p:cNvPr id="4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0"/>
            <a:ext cx="12192000" cy="654357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5875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ru-RU" sz="2800" b="1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Современное переключение веток: </a:t>
            </a:r>
            <a:r>
              <a:rPr lang="ru-RU" sz="2800" b="1" dirty="0" err="1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git</a:t>
            </a:r>
            <a:r>
              <a:rPr lang="ru-RU" sz="2800" b="1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 </a:t>
            </a:r>
            <a:r>
              <a:rPr lang="ru-RU" sz="2800" b="1" dirty="0" err="1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switch</a:t>
            </a:r>
            <a:endParaRPr lang="en-US" sz="2800" b="1" dirty="0">
              <a:solidFill>
                <a:schemeClr val="tx2">
                  <a:lumMod val="50000"/>
                </a:schemeClr>
              </a:solidFill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784710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654357"/>
            <a:ext cx="12192000" cy="6054414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>
              <a:lnSpc>
                <a:spcPct val="125000"/>
              </a:lnSpc>
            </a:pPr>
            <a:r>
              <a:rPr lang="ru-RU" sz="2400" b="1" dirty="0">
                <a:latin typeface="Bookman Old Style" panose="02050604050505020204" pitchFamily="18" charset="0"/>
              </a:rPr>
              <a:t>Сценарий:</a:t>
            </a:r>
            <a:r>
              <a:rPr lang="ru-RU" sz="2400" dirty="0">
                <a:latin typeface="Bookman Old Style" panose="02050604050505020204" pitchFamily="18" charset="0"/>
              </a:rPr>
              <a:t> Вы пишете сложную </a:t>
            </a:r>
            <a:r>
              <a:rPr lang="ru-RU" sz="2400" dirty="0" err="1">
                <a:latin typeface="Bookman Old Style" panose="02050604050505020204" pitchFamily="18" charset="0"/>
              </a:rPr>
              <a:t>фичу</a:t>
            </a:r>
            <a:r>
              <a:rPr lang="ru-RU" sz="2400" dirty="0">
                <a:latin typeface="Bookman Old Style" panose="02050604050505020204" pitchFamily="18" charset="0"/>
              </a:rPr>
              <a:t> в ветке </a:t>
            </a:r>
            <a:r>
              <a:rPr lang="ru-RU" sz="2400" dirty="0" err="1">
                <a:latin typeface="Bookman Old Style" panose="02050604050505020204" pitchFamily="18" charset="0"/>
              </a:rPr>
              <a:t>feature</a:t>
            </a:r>
            <a:r>
              <a:rPr lang="ru-RU" sz="2400" dirty="0">
                <a:latin typeface="Bookman Old Style" panose="02050604050505020204" pitchFamily="18" charset="0"/>
              </a:rPr>
              <a:t>-X. Код еще «сырой» и не компилируется. Вдруг прилетает критический баг в </a:t>
            </a:r>
            <a:r>
              <a:rPr lang="ru-RU" sz="2400" dirty="0" err="1">
                <a:latin typeface="Bookman Old Style" panose="02050604050505020204" pitchFamily="18" charset="0"/>
              </a:rPr>
              <a:t>main</a:t>
            </a:r>
            <a:r>
              <a:rPr lang="ru-RU" sz="2400" dirty="0">
                <a:latin typeface="Bookman Old Style" panose="02050604050505020204" pitchFamily="18" charset="0"/>
              </a:rPr>
              <a:t>, который нужно исправить СЕЙЧАС.</a:t>
            </a:r>
            <a:br>
              <a:rPr lang="ru-RU" sz="2400" dirty="0">
                <a:latin typeface="Bookman Old Style" panose="02050604050505020204" pitchFamily="18" charset="0"/>
              </a:rPr>
            </a:br>
            <a:r>
              <a:rPr lang="ru-RU" sz="2400" i="1" dirty="0">
                <a:latin typeface="Bookman Old Style" panose="02050604050505020204" pitchFamily="18" charset="0"/>
              </a:rPr>
              <a:t>Проблема:</a:t>
            </a:r>
            <a:r>
              <a:rPr lang="ru-RU" sz="2400" dirty="0">
                <a:latin typeface="Bookman Old Style" panose="02050604050505020204" pitchFamily="18" charset="0"/>
              </a:rPr>
              <a:t> </a:t>
            </a:r>
            <a:r>
              <a:rPr lang="ru-RU" sz="2400" dirty="0" err="1">
                <a:latin typeface="Bookman Old Style" panose="02050604050505020204" pitchFamily="18" charset="0"/>
              </a:rPr>
              <a:t>Git</a:t>
            </a:r>
            <a:r>
              <a:rPr lang="ru-RU" sz="2400" dirty="0">
                <a:latin typeface="Bookman Old Style" panose="02050604050505020204" pitchFamily="18" charset="0"/>
              </a:rPr>
              <a:t> не даст переключить ветку, пока у вас есть </a:t>
            </a:r>
            <a:r>
              <a:rPr lang="ru-RU" sz="2400" dirty="0" err="1">
                <a:latin typeface="Bookman Old Style" panose="02050604050505020204" pitchFamily="18" charset="0"/>
              </a:rPr>
              <a:t>незакоммиченные</a:t>
            </a:r>
            <a:r>
              <a:rPr lang="ru-RU" sz="2400" dirty="0">
                <a:latin typeface="Bookman Old Style" panose="02050604050505020204" pitchFamily="18" charset="0"/>
              </a:rPr>
              <a:t> изменения. Делать «плохой» </a:t>
            </a:r>
            <a:r>
              <a:rPr lang="ru-RU" sz="2400" dirty="0" err="1">
                <a:latin typeface="Bookman Old Style" panose="02050604050505020204" pitchFamily="18" charset="0"/>
              </a:rPr>
              <a:t>коммит</a:t>
            </a:r>
            <a:r>
              <a:rPr lang="ru-RU" sz="2400" dirty="0">
                <a:latin typeface="Bookman Old Style" panose="02050604050505020204" pitchFamily="18" charset="0"/>
              </a:rPr>
              <a:t> не хочется.</a:t>
            </a:r>
          </a:p>
          <a:p>
            <a:pPr>
              <a:lnSpc>
                <a:spcPct val="125000"/>
              </a:lnSpc>
            </a:pPr>
            <a:r>
              <a:rPr lang="ru-RU" sz="2400" b="1" dirty="0">
                <a:latin typeface="Bookman Old Style" panose="02050604050505020204" pitchFamily="18" charset="0"/>
              </a:rPr>
              <a:t>Решение:</a:t>
            </a:r>
            <a:endParaRPr lang="ru-RU" sz="2400" dirty="0">
              <a:latin typeface="Bookman Old Style" panose="02050604050505020204" pitchFamily="18" charset="0"/>
            </a:endParaRPr>
          </a:p>
          <a:p>
            <a:pPr>
              <a:lnSpc>
                <a:spcPct val="125000"/>
              </a:lnSpc>
            </a:pPr>
            <a:r>
              <a:rPr lang="ru-RU" sz="2400" dirty="0" err="1">
                <a:latin typeface="Bookman Old Style" panose="02050604050505020204" pitchFamily="18" charset="0"/>
              </a:rPr>
              <a:t>git</a:t>
            </a:r>
            <a:r>
              <a:rPr lang="ru-RU" sz="2400" dirty="0">
                <a:latin typeface="Bookman Old Style" panose="02050604050505020204" pitchFamily="18" charset="0"/>
              </a:rPr>
              <a:t> </a:t>
            </a:r>
            <a:r>
              <a:rPr lang="ru-RU" sz="2400" dirty="0" err="1">
                <a:latin typeface="Bookman Old Style" panose="02050604050505020204" pitchFamily="18" charset="0"/>
              </a:rPr>
              <a:t>stash</a:t>
            </a:r>
            <a:r>
              <a:rPr lang="ru-RU" sz="2400" dirty="0">
                <a:latin typeface="Bookman Old Style" panose="02050604050505020204" pitchFamily="18" charset="0"/>
              </a:rPr>
              <a:t> — Прячем текущие изменения в «карман» (временное хранилище). Рабочая директория становится чистой.</a:t>
            </a:r>
          </a:p>
          <a:p>
            <a:pPr>
              <a:lnSpc>
                <a:spcPct val="125000"/>
              </a:lnSpc>
            </a:pPr>
            <a:r>
              <a:rPr lang="ru-RU" sz="2400" dirty="0" err="1">
                <a:latin typeface="Bookman Old Style" panose="02050604050505020204" pitchFamily="18" charset="0"/>
              </a:rPr>
              <a:t>git</a:t>
            </a:r>
            <a:r>
              <a:rPr lang="ru-RU" sz="2400" dirty="0">
                <a:latin typeface="Bookman Old Style" panose="02050604050505020204" pitchFamily="18" charset="0"/>
              </a:rPr>
              <a:t> </a:t>
            </a:r>
            <a:r>
              <a:rPr lang="ru-RU" sz="2400" dirty="0" err="1">
                <a:latin typeface="Bookman Old Style" panose="02050604050505020204" pitchFamily="18" charset="0"/>
              </a:rPr>
              <a:t>switch</a:t>
            </a:r>
            <a:r>
              <a:rPr lang="ru-RU" sz="2400" dirty="0">
                <a:latin typeface="Bookman Old Style" panose="02050604050505020204" pitchFamily="18" charset="0"/>
              </a:rPr>
              <a:t> </a:t>
            </a:r>
            <a:r>
              <a:rPr lang="ru-RU" sz="2400" dirty="0" err="1">
                <a:latin typeface="Bookman Old Style" panose="02050604050505020204" pitchFamily="18" charset="0"/>
              </a:rPr>
              <a:t>main</a:t>
            </a:r>
            <a:r>
              <a:rPr lang="ru-RU" sz="2400" dirty="0">
                <a:latin typeface="Bookman Old Style" panose="02050604050505020204" pitchFamily="18" charset="0"/>
              </a:rPr>
              <a:t> — Спокойно переходим в главную ветку.</a:t>
            </a:r>
          </a:p>
          <a:p>
            <a:pPr>
              <a:lnSpc>
                <a:spcPct val="125000"/>
              </a:lnSpc>
            </a:pPr>
            <a:r>
              <a:rPr lang="ru-RU" sz="2400" i="1" dirty="0">
                <a:latin typeface="Bookman Old Style" panose="02050604050505020204" pitchFamily="18" charset="0"/>
              </a:rPr>
              <a:t>...чиним баг, делаем </a:t>
            </a:r>
            <a:r>
              <a:rPr lang="ru-RU" sz="2400" i="1" dirty="0" err="1">
                <a:latin typeface="Bookman Old Style" panose="02050604050505020204" pitchFamily="18" charset="0"/>
              </a:rPr>
              <a:t>коммит</a:t>
            </a:r>
            <a:r>
              <a:rPr lang="ru-RU" sz="2400" i="1" dirty="0">
                <a:latin typeface="Bookman Old Style" panose="02050604050505020204" pitchFamily="18" charset="0"/>
              </a:rPr>
              <a:t>, пушим...</a:t>
            </a:r>
            <a:endParaRPr lang="ru-RU" sz="2400" dirty="0">
              <a:latin typeface="Bookman Old Style" panose="02050604050505020204" pitchFamily="18" charset="0"/>
            </a:endParaRPr>
          </a:p>
          <a:p>
            <a:pPr>
              <a:lnSpc>
                <a:spcPct val="125000"/>
              </a:lnSpc>
            </a:pPr>
            <a:r>
              <a:rPr lang="ru-RU" sz="2400" dirty="0" err="1">
                <a:latin typeface="Bookman Old Style" panose="02050604050505020204" pitchFamily="18" charset="0"/>
              </a:rPr>
              <a:t>git</a:t>
            </a:r>
            <a:r>
              <a:rPr lang="ru-RU" sz="2400" dirty="0">
                <a:latin typeface="Bookman Old Style" panose="02050604050505020204" pitchFamily="18" charset="0"/>
              </a:rPr>
              <a:t> </a:t>
            </a:r>
            <a:r>
              <a:rPr lang="ru-RU" sz="2400" dirty="0" err="1">
                <a:latin typeface="Bookman Old Style" panose="02050604050505020204" pitchFamily="18" charset="0"/>
              </a:rPr>
              <a:t>switch</a:t>
            </a:r>
            <a:r>
              <a:rPr lang="ru-RU" sz="2400" dirty="0">
                <a:latin typeface="Bookman Old Style" panose="02050604050505020204" pitchFamily="18" charset="0"/>
              </a:rPr>
              <a:t> </a:t>
            </a:r>
            <a:r>
              <a:rPr lang="ru-RU" sz="2400" dirty="0" err="1">
                <a:latin typeface="Bookman Old Style" panose="02050604050505020204" pitchFamily="18" charset="0"/>
              </a:rPr>
              <a:t>feature</a:t>
            </a:r>
            <a:r>
              <a:rPr lang="ru-RU" sz="2400" dirty="0">
                <a:latin typeface="Bookman Old Style" panose="02050604050505020204" pitchFamily="18" charset="0"/>
              </a:rPr>
              <a:t>-X — Возвращаемся к работе над </a:t>
            </a:r>
            <a:r>
              <a:rPr lang="ru-RU" sz="2400" dirty="0" err="1">
                <a:latin typeface="Bookman Old Style" panose="02050604050505020204" pitchFamily="18" charset="0"/>
              </a:rPr>
              <a:t>фичей</a:t>
            </a:r>
            <a:r>
              <a:rPr lang="ru-RU" sz="2400" dirty="0">
                <a:latin typeface="Bookman Old Style" panose="02050604050505020204" pitchFamily="18" charset="0"/>
              </a:rPr>
              <a:t>.</a:t>
            </a:r>
          </a:p>
          <a:p>
            <a:pPr>
              <a:lnSpc>
                <a:spcPct val="125000"/>
              </a:lnSpc>
            </a:pPr>
            <a:r>
              <a:rPr lang="ru-RU" sz="2400" dirty="0" err="1">
                <a:latin typeface="Bookman Old Style" panose="02050604050505020204" pitchFamily="18" charset="0"/>
              </a:rPr>
              <a:t>git</a:t>
            </a:r>
            <a:r>
              <a:rPr lang="ru-RU" sz="2400" dirty="0">
                <a:latin typeface="Bookman Old Style" panose="02050604050505020204" pitchFamily="18" charset="0"/>
              </a:rPr>
              <a:t> </a:t>
            </a:r>
            <a:r>
              <a:rPr lang="ru-RU" sz="2400" dirty="0" err="1">
                <a:latin typeface="Bookman Old Style" panose="02050604050505020204" pitchFamily="18" charset="0"/>
              </a:rPr>
              <a:t>stash</a:t>
            </a:r>
            <a:r>
              <a:rPr lang="ru-RU" sz="2400" dirty="0">
                <a:latin typeface="Bookman Old Style" panose="02050604050505020204" pitchFamily="18" charset="0"/>
              </a:rPr>
              <a:t> </a:t>
            </a:r>
            <a:r>
              <a:rPr lang="ru-RU" sz="2400" dirty="0" err="1">
                <a:latin typeface="Bookman Old Style" panose="02050604050505020204" pitchFamily="18" charset="0"/>
              </a:rPr>
              <a:t>pop</a:t>
            </a:r>
            <a:r>
              <a:rPr lang="ru-RU" sz="2400" dirty="0">
                <a:latin typeface="Bookman Old Style" panose="02050604050505020204" pitchFamily="18" charset="0"/>
              </a:rPr>
              <a:t> — Достаем изменения из «кармана». Код возвращается в редактор!</a:t>
            </a:r>
          </a:p>
        </p:txBody>
      </p:sp>
      <p:sp>
        <p:nvSpPr>
          <p:cNvPr id="4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0"/>
            <a:ext cx="12192000" cy="654357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5875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ru-RU" sz="2800" b="1" dirty="0" err="1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git</a:t>
            </a:r>
            <a:r>
              <a:rPr lang="ru-RU" sz="2800" b="1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 </a:t>
            </a:r>
            <a:r>
              <a:rPr lang="ru-RU" sz="2800" b="1" dirty="0" err="1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stash</a:t>
            </a:r>
            <a:r>
              <a:rPr lang="ru-RU" sz="2800" b="1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 — Карман для кода (Сохранение контекста)</a:t>
            </a:r>
            <a:endParaRPr lang="en-US" sz="2800" b="1" dirty="0">
              <a:solidFill>
                <a:schemeClr val="tx2">
                  <a:lumMod val="50000"/>
                </a:schemeClr>
              </a:solidFill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2236730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654357"/>
            <a:ext cx="12192000" cy="4967514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>
              <a:lnSpc>
                <a:spcPct val="11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Когда вы хотите забрать свежий код из </a:t>
            </a:r>
            <a:r>
              <a:rPr lang="ru-RU" sz="2400" dirty="0" err="1">
                <a:latin typeface="Bookman Old Style" panose="02050604050505020204" pitchFamily="18" charset="0"/>
              </a:rPr>
              <a:t>main</a:t>
            </a:r>
            <a:r>
              <a:rPr lang="ru-RU" sz="2400" dirty="0">
                <a:latin typeface="Bookman Old Style" panose="02050604050505020204" pitchFamily="18" charset="0"/>
              </a:rPr>
              <a:t> в свою ветку, у вас есть два пути:</a:t>
            </a:r>
          </a:p>
          <a:p>
            <a:pPr>
              <a:lnSpc>
                <a:spcPct val="110000"/>
              </a:lnSpc>
            </a:pPr>
            <a:r>
              <a:rPr lang="ru-RU" sz="2400" b="1" dirty="0">
                <a:latin typeface="Bookman Old Style" panose="02050604050505020204" pitchFamily="18" charset="0"/>
              </a:rPr>
              <a:t>1. </a:t>
            </a:r>
            <a:r>
              <a:rPr lang="ru-RU" sz="2400" b="1" dirty="0" err="1">
                <a:latin typeface="Bookman Old Style" panose="02050604050505020204" pitchFamily="18" charset="0"/>
              </a:rPr>
              <a:t>git</a:t>
            </a:r>
            <a:r>
              <a:rPr lang="ru-RU" sz="2400" b="1" dirty="0">
                <a:latin typeface="Bookman Old Style" panose="02050604050505020204" pitchFamily="18" charset="0"/>
              </a:rPr>
              <a:t> </a:t>
            </a:r>
            <a:r>
              <a:rPr lang="ru-RU" sz="2400" b="1" dirty="0" err="1">
                <a:latin typeface="Bookman Old Style" panose="02050604050505020204" pitchFamily="18" charset="0"/>
              </a:rPr>
              <a:t>merge</a:t>
            </a:r>
            <a:r>
              <a:rPr lang="ru-RU" sz="2400" b="1" dirty="0">
                <a:latin typeface="Bookman Old Style" panose="02050604050505020204" pitchFamily="18" charset="0"/>
              </a:rPr>
              <a:t> (Слияние)</a:t>
            </a:r>
          </a:p>
          <a:p>
            <a:pPr>
              <a:lnSpc>
                <a:spcPct val="110000"/>
              </a:lnSpc>
            </a:pPr>
            <a:r>
              <a:rPr lang="ru-RU" sz="2400" b="1" dirty="0">
                <a:latin typeface="Bookman Old Style" panose="02050604050505020204" pitchFamily="18" charset="0"/>
              </a:rPr>
              <a:t>Как работает:</a:t>
            </a:r>
            <a:r>
              <a:rPr lang="ru-RU" sz="2400" dirty="0">
                <a:latin typeface="Bookman Old Style" panose="02050604050505020204" pitchFamily="18" charset="0"/>
              </a:rPr>
              <a:t> Создает специальный «</a:t>
            </a:r>
            <a:r>
              <a:rPr lang="ru-RU" sz="2400" dirty="0" err="1">
                <a:latin typeface="Bookman Old Style" panose="02050604050505020204" pitchFamily="18" charset="0"/>
              </a:rPr>
              <a:t>мерж-коммит</a:t>
            </a:r>
            <a:r>
              <a:rPr lang="ru-RU" sz="2400" dirty="0">
                <a:latin typeface="Bookman Old Style" panose="02050604050505020204" pitchFamily="18" charset="0"/>
              </a:rPr>
              <a:t>», который связывает две ветки.</a:t>
            </a:r>
          </a:p>
          <a:p>
            <a:pPr>
              <a:lnSpc>
                <a:spcPct val="110000"/>
              </a:lnSpc>
            </a:pPr>
            <a:r>
              <a:rPr lang="ru-RU" sz="2400" b="1" dirty="0" smtClean="0">
                <a:latin typeface="Bookman Old Style" panose="02050604050505020204" pitchFamily="18" charset="0"/>
              </a:rPr>
              <a:t>Плюс</a:t>
            </a:r>
            <a:r>
              <a:rPr lang="ru-RU" sz="2400" b="1" dirty="0">
                <a:latin typeface="Bookman Old Style" panose="02050604050505020204" pitchFamily="18" charset="0"/>
              </a:rPr>
              <a:t>:</a:t>
            </a:r>
            <a:r>
              <a:rPr lang="ru-RU" sz="2400" dirty="0">
                <a:latin typeface="Bookman Old Style" panose="02050604050505020204" pitchFamily="18" charset="0"/>
              </a:rPr>
              <a:t> Сохраняет реальную хронологию событий</a:t>
            </a:r>
            <a:r>
              <a:rPr lang="ru-RU" sz="2400" dirty="0" smtClean="0">
                <a:latin typeface="Bookman Old Style" panose="02050604050505020204" pitchFamily="18" charset="0"/>
              </a:rPr>
              <a:t>.</a:t>
            </a:r>
          </a:p>
          <a:p>
            <a:pPr>
              <a:lnSpc>
                <a:spcPct val="110000"/>
              </a:lnSpc>
            </a:pPr>
            <a:endParaRPr lang="ru-RU" sz="2400" dirty="0">
              <a:latin typeface="Bookman Old Style" panose="02050604050505020204" pitchFamily="18" charset="0"/>
            </a:endParaRPr>
          </a:p>
          <a:p>
            <a:pPr>
              <a:lnSpc>
                <a:spcPct val="110000"/>
              </a:lnSpc>
            </a:pPr>
            <a:r>
              <a:rPr lang="ru-RU" sz="2400" dirty="0" err="1">
                <a:latin typeface="Bookman Old Style" panose="02050604050505020204" pitchFamily="18" charset="0"/>
              </a:rPr>
              <a:t>git</a:t>
            </a:r>
            <a:r>
              <a:rPr lang="ru-RU" sz="2400" dirty="0">
                <a:latin typeface="Bookman Old Style" panose="02050604050505020204" pitchFamily="18" charset="0"/>
              </a:rPr>
              <a:t> </a:t>
            </a:r>
            <a:r>
              <a:rPr lang="ru-RU" sz="2400" dirty="0" err="1">
                <a:latin typeface="Bookman Old Style" panose="02050604050505020204" pitchFamily="18" charset="0"/>
              </a:rPr>
              <a:t>switch</a:t>
            </a:r>
            <a:r>
              <a:rPr lang="ru-RU" sz="2400" dirty="0">
                <a:latin typeface="Bookman Old Style" panose="02050604050505020204" pitchFamily="18" charset="0"/>
              </a:rPr>
              <a:t> </a:t>
            </a:r>
            <a:r>
              <a:rPr lang="ru-RU" sz="2400" dirty="0" err="1">
                <a:latin typeface="Bookman Old Style" panose="02050604050505020204" pitchFamily="18" charset="0"/>
              </a:rPr>
              <a:t>feature-login</a:t>
            </a:r>
            <a:r>
              <a:rPr lang="ru-RU" sz="2400" dirty="0">
                <a:latin typeface="Bookman Old Style" panose="02050604050505020204" pitchFamily="18" charset="0"/>
              </a:rPr>
              <a:t>  # Убеждаемся, что мы в своей ветке</a:t>
            </a:r>
          </a:p>
          <a:p>
            <a:pPr>
              <a:lnSpc>
                <a:spcPct val="110000"/>
              </a:lnSpc>
            </a:pPr>
            <a:r>
              <a:rPr lang="ru-RU" sz="2400" dirty="0" err="1">
                <a:latin typeface="Bookman Old Style" panose="02050604050505020204" pitchFamily="18" charset="0"/>
              </a:rPr>
              <a:t>git</a:t>
            </a:r>
            <a:r>
              <a:rPr lang="ru-RU" sz="2400" dirty="0">
                <a:latin typeface="Bookman Old Style" panose="02050604050505020204" pitchFamily="18" charset="0"/>
              </a:rPr>
              <a:t> </a:t>
            </a:r>
            <a:r>
              <a:rPr lang="ru-RU" sz="2400" dirty="0" err="1">
                <a:latin typeface="Bookman Old Style" panose="02050604050505020204" pitchFamily="18" charset="0"/>
              </a:rPr>
              <a:t>merge</a:t>
            </a:r>
            <a:r>
              <a:rPr lang="ru-RU" sz="2400" dirty="0">
                <a:latin typeface="Bookman Old Style" panose="02050604050505020204" pitchFamily="18" charset="0"/>
              </a:rPr>
              <a:t> </a:t>
            </a:r>
            <a:r>
              <a:rPr lang="ru-RU" sz="2400" dirty="0" err="1">
                <a:latin typeface="Bookman Old Style" panose="02050604050505020204" pitchFamily="18" charset="0"/>
              </a:rPr>
              <a:t>main</a:t>
            </a:r>
            <a:r>
              <a:rPr lang="ru-RU" sz="2400" dirty="0">
                <a:latin typeface="Bookman Old Style" panose="02050604050505020204" pitchFamily="18" charset="0"/>
              </a:rPr>
              <a:t>            # "Влить" изменения из </a:t>
            </a:r>
            <a:r>
              <a:rPr lang="ru-RU" sz="2400" dirty="0" err="1">
                <a:latin typeface="Bookman Old Style" panose="02050604050505020204" pitchFamily="18" charset="0"/>
              </a:rPr>
              <a:t>main</a:t>
            </a:r>
            <a:r>
              <a:rPr lang="ru-RU" sz="2400" dirty="0">
                <a:latin typeface="Bookman Old Style" panose="02050604050505020204" pitchFamily="18" charset="0"/>
              </a:rPr>
              <a:t> в текущую </a:t>
            </a:r>
            <a:r>
              <a:rPr lang="ru-RU" sz="2400" dirty="0" smtClean="0">
                <a:latin typeface="Bookman Old Style" panose="02050604050505020204" pitchFamily="18" charset="0"/>
              </a:rPr>
              <a:t>ветку</a:t>
            </a:r>
          </a:p>
          <a:p>
            <a:pPr>
              <a:lnSpc>
                <a:spcPct val="110000"/>
              </a:lnSpc>
            </a:pPr>
            <a:endParaRPr lang="ru-RU" sz="2400" dirty="0" smtClean="0">
              <a:latin typeface="Bookman Old Style" panose="02050604050505020204" pitchFamily="18" charset="0"/>
            </a:endParaRPr>
          </a:p>
          <a:p>
            <a:pPr>
              <a:lnSpc>
                <a:spcPct val="110000"/>
              </a:lnSpc>
            </a:pPr>
            <a:r>
              <a:rPr lang="ru-RU" sz="2400" b="1" dirty="0" smtClean="0">
                <a:latin typeface="Bookman Old Style" panose="02050604050505020204" pitchFamily="18" charset="0"/>
              </a:rPr>
              <a:t>Что </a:t>
            </a:r>
            <a:r>
              <a:rPr lang="ru-RU" sz="2400" b="1" dirty="0">
                <a:latin typeface="Bookman Old Style" panose="02050604050505020204" pitchFamily="18" charset="0"/>
              </a:rPr>
              <a:t>произойдет: </a:t>
            </a:r>
            <a:r>
              <a:rPr lang="ru-RU" sz="2400" dirty="0">
                <a:latin typeface="Bookman Old Style" panose="02050604050505020204" pitchFamily="18" charset="0"/>
              </a:rPr>
              <a:t>В истории появится новый </a:t>
            </a:r>
            <a:r>
              <a:rPr lang="ru-RU" sz="2400" dirty="0" err="1">
                <a:latin typeface="Bookman Old Style" panose="02050604050505020204" pitchFamily="18" charset="0"/>
              </a:rPr>
              <a:t>коммит</a:t>
            </a:r>
            <a:r>
              <a:rPr lang="ru-RU" sz="2400" dirty="0">
                <a:latin typeface="Bookman Old Style" panose="02050604050505020204" pitchFamily="18" charset="0"/>
              </a:rPr>
              <a:t>: "</a:t>
            </a:r>
            <a:r>
              <a:rPr lang="ru-RU" sz="2400" dirty="0" err="1">
                <a:latin typeface="Bookman Old Style" panose="02050604050505020204" pitchFamily="18" charset="0"/>
              </a:rPr>
              <a:t>Merge</a:t>
            </a:r>
            <a:r>
              <a:rPr lang="ru-RU" sz="2400" dirty="0">
                <a:latin typeface="Bookman Old Style" panose="02050604050505020204" pitchFamily="18" charset="0"/>
              </a:rPr>
              <a:t> </a:t>
            </a:r>
            <a:r>
              <a:rPr lang="ru-RU" sz="2400" dirty="0" err="1">
                <a:latin typeface="Bookman Old Style" panose="02050604050505020204" pitchFamily="18" charset="0"/>
              </a:rPr>
              <a:t>branch</a:t>
            </a:r>
            <a:r>
              <a:rPr lang="ru-RU" sz="2400" dirty="0">
                <a:latin typeface="Bookman Old Style" panose="02050604050505020204" pitchFamily="18" charset="0"/>
              </a:rPr>
              <a:t> '</a:t>
            </a:r>
            <a:r>
              <a:rPr lang="ru-RU" sz="2400" dirty="0" err="1">
                <a:latin typeface="Bookman Old Style" panose="02050604050505020204" pitchFamily="18" charset="0"/>
              </a:rPr>
              <a:t>main</a:t>
            </a:r>
            <a:r>
              <a:rPr lang="ru-RU" sz="2400" dirty="0">
                <a:latin typeface="Bookman Old Style" panose="02050604050505020204" pitchFamily="18" charset="0"/>
              </a:rPr>
              <a:t>' </a:t>
            </a:r>
            <a:r>
              <a:rPr lang="ru-RU" sz="2400" dirty="0" err="1">
                <a:latin typeface="Bookman Old Style" panose="02050604050505020204" pitchFamily="18" charset="0"/>
              </a:rPr>
              <a:t>into</a:t>
            </a:r>
            <a:r>
              <a:rPr lang="ru-RU" sz="2400" dirty="0">
                <a:latin typeface="Bookman Old Style" panose="02050604050505020204" pitchFamily="18" charset="0"/>
              </a:rPr>
              <a:t> </a:t>
            </a:r>
            <a:r>
              <a:rPr lang="ru-RU" sz="2400" dirty="0" err="1">
                <a:latin typeface="Bookman Old Style" panose="02050604050505020204" pitchFamily="18" charset="0"/>
              </a:rPr>
              <a:t>feature-login</a:t>
            </a:r>
            <a:r>
              <a:rPr lang="ru-RU" sz="2400" dirty="0">
                <a:latin typeface="Bookman Old Style" panose="02050604050505020204" pitchFamily="18" charset="0"/>
              </a:rPr>
              <a:t>".</a:t>
            </a:r>
            <a:endParaRPr lang="ru-RU" sz="2400" dirty="0">
              <a:latin typeface="Bookman Old Style" panose="02050604050505020204" pitchFamily="18" charset="0"/>
            </a:endParaRPr>
          </a:p>
        </p:txBody>
      </p:sp>
      <p:sp>
        <p:nvSpPr>
          <p:cNvPr id="4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0"/>
            <a:ext cx="12192000" cy="654357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5875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ru-RU" sz="2800" b="1" dirty="0" err="1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Merge</a:t>
            </a:r>
            <a:r>
              <a:rPr lang="ru-RU" sz="2800" b="1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 </a:t>
            </a:r>
            <a:r>
              <a:rPr lang="ru-RU" sz="2800" b="1" dirty="0" err="1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vs</a:t>
            </a:r>
            <a:r>
              <a:rPr lang="ru-RU" sz="2800" b="1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 </a:t>
            </a:r>
            <a:r>
              <a:rPr lang="ru-RU" sz="2800" b="1" dirty="0" err="1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Rebase</a:t>
            </a:r>
            <a:r>
              <a:rPr lang="ru-RU" sz="2800" b="1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: Как объединять код?</a:t>
            </a:r>
            <a:endParaRPr lang="en-US" sz="2800" b="1" dirty="0">
              <a:solidFill>
                <a:schemeClr val="tx2">
                  <a:lumMod val="50000"/>
                </a:schemeClr>
              </a:solidFill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3905079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0"/>
            <a:ext cx="12192000" cy="4967514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>
              <a:lnSpc>
                <a:spcPct val="110000"/>
              </a:lnSpc>
            </a:pPr>
            <a:r>
              <a:rPr lang="ru-RU" sz="2400" b="1" dirty="0" smtClean="0">
                <a:latin typeface="Bookman Old Style" panose="02050604050505020204" pitchFamily="18" charset="0"/>
              </a:rPr>
              <a:t>2</a:t>
            </a:r>
            <a:r>
              <a:rPr lang="ru-RU" sz="2400" b="1" dirty="0">
                <a:latin typeface="Bookman Old Style" panose="02050604050505020204" pitchFamily="18" charset="0"/>
              </a:rPr>
              <a:t>. </a:t>
            </a:r>
            <a:r>
              <a:rPr lang="ru-RU" sz="2400" b="1" dirty="0" err="1">
                <a:latin typeface="Bookman Old Style" panose="02050604050505020204" pitchFamily="18" charset="0"/>
              </a:rPr>
              <a:t>git</a:t>
            </a:r>
            <a:r>
              <a:rPr lang="ru-RU" sz="2400" b="1" dirty="0">
                <a:latin typeface="Bookman Old Style" panose="02050604050505020204" pitchFamily="18" charset="0"/>
              </a:rPr>
              <a:t> </a:t>
            </a:r>
            <a:r>
              <a:rPr lang="ru-RU" sz="2400" b="1" dirty="0" err="1">
                <a:latin typeface="Bookman Old Style" panose="02050604050505020204" pitchFamily="18" charset="0"/>
              </a:rPr>
              <a:t>rebase</a:t>
            </a:r>
            <a:r>
              <a:rPr lang="ru-RU" sz="2400" b="1" dirty="0">
                <a:latin typeface="Bookman Old Style" panose="02050604050505020204" pitchFamily="18" charset="0"/>
              </a:rPr>
              <a:t> (Перебазирование)</a:t>
            </a:r>
          </a:p>
          <a:p>
            <a:pPr>
              <a:lnSpc>
                <a:spcPct val="110000"/>
              </a:lnSpc>
            </a:pPr>
            <a:r>
              <a:rPr lang="ru-RU" sz="2400" b="1" dirty="0">
                <a:latin typeface="Bookman Old Style" panose="02050604050505020204" pitchFamily="18" charset="0"/>
              </a:rPr>
              <a:t>Как работает:</a:t>
            </a:r>
            <a:r>
              <a:rPr lang="ru-RU" sz="2400" dirty="0">
                <a:latin typeface="Bookman Old Style" panose="02050604050505020204" pitchFamily="18" charset="0"/>
              </a:rPr>
              <a:t> Берет ваши </a:t>
            </a:r>
            <a:r>
              <a:rPr lang="ru-RU" sz="2400" dirty="0" err="1">
                <a:latin typeface="Bookman Old Style" panose="02050604050505020204" pitchFamily="18" charset="0"/>
              </a:rPr>
              <a:t>коммиты</a:t>
            </a:r>
            <a:r>
              <a:rPr lang="ru-RU" sz="2400" dirty="0">
                <a:latin typeface="Bookman Old Style" panose="02050604050505020204" pitchFamily="18" charset="0"/>
              </a:rPr>
              <a:t>, временно откладывает их, обновляет начало вашей ветки до самого свежего </a:t>
            </a:r>
            <a:r>
              <a:rPr lang="ru-RU" sz="2400" dirty="0" err="1">
                <a:latin typeface="Bookman Old Style" panose="02050604050505020204" pitchFamily="18" charset="0"/>
              </a:rPr>
              <a:t>коммита</a:t>
            </a:r>
            <a:r>
              <a:rPr lang="ru-RU" sz="2400" dirty="0">
                <a:latin typeface="Bookman Old Style" panose="02050604050505020204" pitchFamily="18" charset="0"/>
              </a:rPr>
              <a:t> в </a:t>
            </a:r>
            <a:r>
              <a:rPr lang="ru-RU" sz="2400" dirty="0" err="1">
                <a:latin typeface="Bookman Old Style" panose="02050604050505020204" pitchFamily="18" charset="0"/>
              </a:rPr>
              <a:t>main</a:t>
            </a:r>
            <a:r>
              <a:rPr lang="ru-RU" sz="2400" dirty="0">
                <a:latin typeface="Bookman Old Style" panose="02050604050505020204" pitchFamily="18" charset="0"/>
              </a:rPr>
              <a:t>, и «накладывает» ваши </a:t>
            </a:r>
            <a:r>
              <a:rPr lang="ru-RU" sz="2400" dirty="0" err="1">
                <a:latin typeface="Bookman Old Style" panose="02050604050505020204" pitchFamily="18" charset="0"/>
              </a:rPr>
              <a:t>коммиты</a:t>
            </a:r>
            <a:r>
              <a:rPr lang="ru-RU" sz="2400" dirty="0">
                <a:latin typeface="Bookman Old Style" panose="02050604050505020204" pitchFamily="18" charset="0"/>
              </a:rPr>
              <a:t> сверху.</a:t>
            </a:r>
          </a:p>
          <a:p>
            <a:pPr>
              <a:lnSpc>
                <a:spcPct val="110000"/>
              </a:lnSpc>
            </a:pPr>
            <a:r>
              <a:rPr lang="ru-RU" sz="2400" b="1" dirty="0" smtClean="0">
                <a:latin typeface="Bookman Old Style" panose="02050604050505020204" pitchFamily="18" charset="0"/>
              </a:rPr>
              <a:t>Плюс</a:t>
            </a:r>
            <a:r>
              <a:rPr lang="ru-RU" sz="2400" b="1" dirty="0">
                <a:latin typeface="Bookman Old Style" panose="02050604050505020204" pitchFamily="18" charset="0"/>
              </a:rPr>
              <a:t>:</a:t>
            </a:r>
            <a:r>
              <a:rPr lang="ru-RU" sz="2400" dirty="0">
                <a:latin typeface="Bookman Old Style" panose="02050604050505020204" pitchFamily="18" charset="0"/>
              </a:rPr>
              <a:t> История выглядит чисто, как будто вы начали писать код только что</a:t>
            </a:r>
            <a:r>
              <a:rPr lang="ru-RU" sz="2400" dirty="0" smtClean="0">
                <a:latin typeface="Bookman Old Style" panose="02050604050505020204" pitchFamily="18" charset="0"/>
              </a:rPr>
              <a:t>.</a:t>
            </a:r>
          </a:p>
          <a:p>
            <a:pPr>
              <a:lnSpc>
                <a:spcPct val="110000"/>
              </a:lnSpc>
            </a:pPr>
            <a:endParaRPr lang="ru-RU" sz="2400" dirty="0">
              <a:latin typeface="Bookman Old Style" panose="02050604050505020204" pitchFamily="18" charset="0"/>
            </a:endParaRPr>
          </a:p>
          <a:p>
            <a:pPr>
              <a:lnSpc>
                <a:spcPct val="110000"/>
              </a:lnSpc>
            </a:pPr>
            <a:r>
              <a:rPr lang="en-US" sz="2400" dirty="0" err="1">
                <a:latin typeface="Bookman Old Style" panose="02050604050505020204" pitchFamily="18" charset="0"/>
              </a:rPr>
              <a:t>git</a:t>
            </a:r>
            <a:r>
              <a:rPr lang="en-US" sz="2400" dirty="0">
                <a:latin typeface="Bookman Old Style" panose="02050604050505020204" pitchFamily="18" charset="0"/>
              </a:rPr>
              <a:t> switch feature-login</a:t>
            </a:r>
          </a:p>
          <a:p>
            <a:pPr>
              <a:lnSpc>
                <a:spcPct val="110000"/>
              </a:lnSpc>
            </a:pPr>
            <a:r>
              <a:rPr lang="en-US" sz="2400" dirty="0" err="1">
                <a:latin typeface="Bookman Old Style" panose="02050604050505020204" pitchFamily="18" charset="0"/>
              </a:rPr>
              <a:t>git</a:t>
            </a:r>
            <a:r>
              <a:rPr lang="en-US" sz="2400" dirty="0">
                <a:latin typeface="Bookman Old Style" panose="02050604050505020204" pitchFamily="18" charset="0"/>
              </a:rPr>
              <a:t> rebase </a:t>
            </a:r>
            <a:r>
              <a:rPr lang="en-US" sz="2400" dirty="0" smtClean="0">
                <a:latin typeface="Bookman Old Style" panose="02050604050505020204" pitchFamily="18" charset="0"/>
              </a:rPr>
              <a:t>main</a:t>
            </a:r>
            <a:endParaRPr lang="ru-RU" sz="2400" dirty="0" smtClean="0">
              <a:latin typeface="Bookman Old Style" panose="02050604050505020204" pitchFamily="18" charset="0"/>
            </a:endParaRPr>
          </a:p>
          <a:p>
            <a:pPr>
              <a:lnSpc>
                <a:spcPct val="110000"/>
              </a:lnSpc>
            </a:pPr>
            <a:endParaRPr lang="ru-RU" sz="2400" dirty="0" smtClean="0">
              <a:latin typeface="Bookman Old Style" panose="02050604050505020204" pitchFamily="18" charset="0"/>
            </a:endParaRPr>
          </a:p>
          <a:p>
            <a:pPr>
              <a:lnSpc>
                <a:spcPct val="110000"/>
              </a:lnSpc>
            </a:pPr>
            <a:r>
              <a:rPr lang="ru-RU" sz="2400" i="1" dirty="0">
                <a:latin typeface="Bookman Old Style" panose="02050604050505020204" pitchFamily="18" charset="0"/>
              </a:rPr>
              <a:t>Что произойдет:</a:t>
            </a:r>
            <a:r>
              <a:rPr lang="ru-RU" sz="2400" dirty="0">
                <a:latin typeface="Bookman Old Style" panose="02050604050505020204" pitchFamily="18" charset="0"/>
              </a:rPr>
              <a:t> Ваши локальные </a:t>
            </a:r>
            <a:r>
              <a:rPr lang="ru-RU" sz="2400" dirty="0" err="1">
                <a:latin typeface="Bookman Old Style" panose="02050604050505020204" pitchFamily="18" charset="0"/>
              </a:rPr>
              <a:t>коммиты</a:t>
            </a:r>
            <a:r>
              <a:rPr lang="ru-RU" sz="2400" dirty="0">
                <a:latin typeface="Bookman Old Style" panose="02050604050505020204" pitchFamily="18" charset="0"/>
              </a:rPr>
              <a:t> временно отсоединятся и приклеятся </a:t>
            </a:r>
            <a:r>
              <a:rPr lang="ru-RU" sz="2400" b="1" dirty="0">
                <a:latin typeface="Bookman Old Style" panose="02050604050505020204" pitchFamily="18" charset="0"/>
              </a:rPr>
              <a:t>после</a:t>
            </a:r>
            <a:r>
              <a:rPr lang="ru-RU" sz="2400" dirty="0">
                <a:latin typeface="Bookman Old Style" panose="02050604050505020204" pitchFamily="18" charset="0"/>
              </a:rPr>
              <a:t> самых свежих </a:t>
            </a:r>
            <a:r>
              <a:rPr lang="ru-RU" sz="2400" dirty="0" err="1">
                <a:latin typeface="Bookman Old Style" panose="02050604050505020204" pitchFamily="18" charset="0"/>
              </a:rPr>
              <a:t>коммитов</a:t>
            </a:r>
            <a:r>
              <a:rPr lang="ru-RU" sz="2400" dirty="0">
                <a:latin typeface="Bookman Old Style" panose="02050604050505020204" pitchFamily="18" charset="0"/>
              </a:rPr>
              <a:t> из </a:t>
            </a:r>
            <a:r>
              <a:rPr lang="ru-RU" sz="2400" dirty="0" err="1">
                <a:latin typeface="Bookman Old Style" panose="02050604050505020204" pitchFamily="18" charset="0"/>
              </a:rPr>
              <a:t>main</a:t>
            </a:r>
            <a:r>
              <a:rPr lang="ru-RU" sz="2400" dirty="0">
                <a:latin typeface="Bookman Old Style" panose="02050604050505020204" pitchFamily="18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14826352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654357"/>
            <a:ext cx="12192000" cy="4967514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>
              <a:lnSpc>
                <a:spcPct val="110000"/>
              </a:lnSpc>
            </a:pPr>
            <a:r>
              <a:rPr lang="ru-RU" sz="2400" b="1" dirty="0">
                <a:latin typeface="Bookman Old Style" panose="02050604050505020204" pitchFamily="18" charset="0"/>
              </a:rPr>
              <a:t>До </a:t>
            </a:r>
            <a:r>
              <a:rPr lang="en-US" sz="2400" b="1" dirty="0">
                <a:latin typeface="Bookman Old Style" panose="02050604050505020204" pitchFamily="18" charset="0"/>
              </a:rPr>
              <a:t>Rebase:</a:t>
            </a:r>
            <a:endParaRPr lang="ru-RU" sz="2400" b="1" dirty="0" smtClean="0">
              <a:latin typeface="Bookman Old Style" panose="02050604050505020204" pitchFamily="18" charset="0"/>
            </a:endParaRPr>
          </a:p>
          <a:p>
            <a:pPr>
              <a:lnSpc>
                <a:spcPct val="110000"/>
              </a:lnSpc>
            </a:pPr>
            <a:r>
              <a:rPr lang="en-US" sz="2400" dirty="0" smtClean="0">
                <a:latin typeface="Bookman Old Style" panose="02050604050505020204" pitchFamily="18" charset="0"/>
              </a:rPr>
              <a:t>A-</a:t>
            </a:r>
            <a:r>
              <a:rPr lang="en-US" sz="2400" dirty="0">
                <a:latin typeface="Bookman Old Style" panose="02050604050505020204" pitchFamily="18" charset="0"/>
              </a:rPr>
              <a:t>--B (feature)</a:t>
            </a:r>
          </a:p>
          <a:p>
            <a:pPr>
              <a:lnSpc>
                <a:spcPct val="110000"/>
              </a:lnSpc>
            </a:pPr>
            <a:r>
              <a:rPr lang="en-US" sz="2400" dirty="0">
                <a:latin typeface="Bookman Old Style" panose="02050604050505020204" pitchFamily="18" charset="0"/>
              </a:rPr>
              <a:t>     /</a:t>
            </a:r>
          </a:p>
          <a:p>
            <a:pPr>
              <a:lnSpc>
                <a:spcPct val="110000"/>
              </a:lnSpc>
            </a:pPr>
            <a:r>
              <a:rPr lang="en-US" sz="2400" dirty="0">
                <a:latin typeface="Bookman Old Style" panose="02050604050505020204" pitchFamily="18" charset="0"/>
              </a:rPr>
              <a:t>D---E---F (main</a:t>
            </a:r>
            <a:r>
              <a:rPr lang="en-US" sz="2400" dirty="0" smtClean="0">
                <a:latin typeface="Bookman Old Style" panose="02050604050505020204" pitchFamily="18" charset="0"/>
              </a:rPr>
              <a:t>)</a:t>
            </a:r>
            <a:endParaRPr lang="ru-RU" sz="2400" dirty="0" smtClean="0">
              <a:latin typeface="Bookman Old Style" panose="02050604050505020204" pitchFamily="18" charset="0"/>
            </a:endParaRPr>
          </a:p>
          <a:p>
            <a:pPr>
              <a:lnSpc>
                <a:spcPct val="110000"/>
              </a:lnSpc>
            </a:pPr>
            <a:endParaRPr lang="ru-RU" sz="2400" dirty="0">
              <a:latin typeface="Bookman Old Style" panose="02050604050505020204" pitchFamily="18" charset="0"/>
            </a:endParaRPr>
          </a:p>
          <a:p>
            <a:pPr>
              <a:lnSpc>
                <a:spcPct val="110000"/>
              </a:lnSpc>
            </a:pPr>
            <a:r>
              <a:rPr lang="ru-RU" sz="2400" b="1" dirty="0">
                <a:latin typeface="Bookman Old Style" panose="02050604050505020204" pitchFamily="18" charset="0"/>
              </a:rPr>
              <a:t>После </a:t>
            </a:r>
            <a:r>
              <a:rPr lang="ru-RU" sz="2400" b="1" dirty="0" err="1">
                <a:latin typeface="Bookman Old Style" panose="02050604050505020204" pitchFamily="18" charset="0"/>
              </a:rPr>
              <a:t>Rebase</a:t>
            </a:r>
            <a:r>
              <a:rPr lang="ru-RU" sz="2400" b="1" dirty="0">
                <a:latin typeface="Bookman Old Style" panose="02050604050505020204" pitchFamily="18" charset="0"/>
              </a:rPr>
              <a:t> </a:t>
            </a:r>
            <a:r>
              <a:rPr lang="ru-RU" sz="2400" dirty="0">
                <a:latin typeface="Bookman Old Style" panose="02050604050505020204" pitchFamily="18" charset="0"/>
              </a:rPr>
              <a:t>(ваши </a:t>
            </a:r>
            <a:r>
              <a:rPr lang="ru-RU" sz="2400" dirty="0" err="1">
                <a:latin typeface="Bookman Old Style" panose="02050604050505020204" pitchFamily="18" charset="0"/>
              </a:rPr>
              <a:t>коммиты</a:t>
            </a:r>
            <a:r>
              <a:rPr lang="ru-RU" sz="2400" dirty="0">
                <a:latin typeface="Bookman Old Style" panose="02050604050505020204" pitchFamily="18" charset="0"/>
              </a:rPr>
              <a:t> A и B «переехали</a:t>
            </a:r>
            <a:r>
              <a:rPr lang="ru-RU" sz="2400" dirty="0" smtClean="0">
                <a:latin typeface="Bookman Old Style" panose="02050604050505020204" pitchFamily="18" charset="0"/>
              </a:rPr>
              <a:t>»):</a:t>
            </a:r>
          </a:p>
          <a:p>
            <a:pPr>
              <a:lnSpc>
                <a:spcPct val="110000"/>
              </a:lnSpc>
            </a:pPr>
            <a:r>
              <a:rPr lang="en-US" sz="2400" dirty="0">
                <a:latin typeface="Bookman Old Style" panose="02050604050505020204" pitchFamily="18" charset="0"/>
              </a:rPr>
              <a:t>A'---B' (feature)</a:t>
            </a:r>
          </a:p>
          <a:p>
            <a:pPr>
              <a:lnSpc>
                <a:spcPct val="110000"/>
              </a:lnSpc>
            </a:pPr>
            <a:r>
              <a:rPr lang="en-US" sz="2400" dirty="0">
                <a:latin typeface="Bookman Old Style" panose="02050604050505020204" pitchFamily="18" charset="0"/>
              </a:rPr>
              <a:t>         /</a:t>
            </a:r>
          </a:p>
          <a:p>
            <a:pPr>
              <a:lnSpc>
                <a:spcPct val="110000"/>
              </a:lnSpc>
            </a:pPr>
            <a:r>
              <a:rPr lang="en-US" sz="2400" dirty="0">
                <a:latin typeface="Bookman Old Style" panose="02050604050505020204" pitchFamily="18" charset="0"/>
              </a:rPr>
              <a:t>D---E---F (main</a:t>
            </a:r>
            <a:r>
              <a:rPr lang="en-US" sz="2400" dirty="0" smtClean="0">
                <a:latin typeface="Bookman Old Style" panose="02050604050505020204" pitchFamily="18" charset="0"/>
              </a:rPr>
              <a:t>)</a:t>
            </a:r>
            <a:endParaRPr lang="ru-RU" sz="2400" dirty="0" smtClean="0">
              <a:latin typeface="Bookman Old Style" panose="02050604050505020204" pitchFamily="18" charset="0"/>
            </a:endParaRPr>
          </a:p>
          <a:p>
            <a:pPr>
              <a:lnSpc>
                <a:spcPct val="110000"/>
              </a:lnSpc>
            </a:pPr>
            <a:endParaRPr lang="ru-RU" sz="2400" dirty="0" smtClean="0">
              <a:latin typeface="Bookman Old Style" panose="02050604050505020204" pitchFamily="18" charset="0"/>
            </a:endParaRPr>
          </a:p>
          <a:p>
            <a:pPr>
              <a:lnSpc>
                <a:spcPct val="110000"/>
              </a:lnSpc>
            </a:pPr>
            <a:r>
              <a:rPr lang="ru-RU" sz="2400" b="1" dirty="0">
                <a:latin typeface="Bookman Old Style" panose="02050604050505020204" pitchFamily="18" charset="0"/>
              </a:rPr>
              <a:t>Суть:</a:t>
            </a:r>
            <a:r>
              <a:rPr lang="ru-RU" sz="2400" dirty="0">
                <a:latin typeface="Bookman Old Style" panose="02050604050505020204" pitchFamily="18" charset="0"/>
              </a:rPr>
              <a:t> Ваши изменения A и B теперь базируются на самом свежем состоянии проекта F.</a:t>
            </a:r>
            <a:endParaRPr lang="ru-RU" sz="2400" dirty="0">
              <a:latin typeface="Bookman Old Style" panose="02050604050505020204" pitchFamily="18" charset="0"/>
            </a:endParaRPr>
          </a:p>
        </p:txBody>
      </p:sp>
      <p:sp>
        <p:nvSpPr>
          <p:cNvPr id="4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0"/>
            <a:ext cx="12192000" cy="654357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5875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ru-RU" sz="2800" b="1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Визуализация </a:t>
            </a:r>
            <a:r>
              <a:rPr lang="en-US" sz="2800" b="1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Rebase</a:t>
            </a:r>
          </a:p>
        </p:txBody>
      </p:sp>
    </p:spTree>
    <p:extLst>
      <p:ext uri="{BB962C8B-B14F-4D97-AF65-F5344CB8AC3E}">
        <p14:creationId xmlns:p14="http://schemas.microsoft.com/office/powerpoint/2010/main" val="390513975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0"/>
            <a:ext cx="12192000" cy="654357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5875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ru-RU" sz="2800" b="1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Конфликт слияния веток</a:t>
            </a:r>
            <a:endParaRPr lang="en-US" sz="2800" b="1" dirty="0">
              <a:solidFill>
                <a:schemeClr val="tx2">
                  <a:lumMod val="50000"/>
                </a:schemeClr>
              </a:solidFill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Прямоугольник 6"/>
          <p:cNvSpPr/>
          <p:nvPr/>
        </p:nvSpPr>
        <p:spPr>
          <a:xfrm>
            <a:off x="0" y="654357"/>
            <a:ext cx="12192000" cy="3416320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Конфликт слияния веток возникает только тогда, когда был изменен </a:t>
            </a:r>
            <a:r>
              <a:rPr lang="ru-RU" sz="2400" dirty="0">
                <a:latin typeface="Bookman Old Style" panose="02050604050505020204" pitchFamily="18" charset="0"/>
              </a:rPr>
              <a:t>разным способом</a:t>
            </a:r>
            <a:r>
              <a:rPr lang="ru-RU" sz="2400" dirty="0" smtClean="0">
                <a:latin typeface="Bookman Old Style" panose="02050604050505020204" pitchFamily="18" charset="0"/>
              </a:rPr>
              <a:t> один и тот же файл в одной и той же ветке, либо когда производится слияние веток с разными изменениями одного и того же файла.</a:t>
            </a: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Смоделируем конфликт слияния:</a:t>
            </a: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в ветке </a:t>
            </a:r>
            <a:r>
              <a:rPr lang="en-US" sz="2400" dirty="0" smtClean="0">
                <a:latin typeface="Bookman Old Style" panose="02050604050505020204" pitchFamily="18" charset="0"/>
              </a:rPr>
              <a:t>master </a:t>
            </a:r>
            <a:r>
              <a:rPr lang="ru-RU" sz="2400" dirty="0" smtClean="0">
                <a:latin typeface="Bookman Old Style" panose="02050604050505020204" pitchFamily="18" charset="0"/>
              </a:rPr>
              <a:t>изменим </a:t>
            </a:r>
            <a:r>
              <a:rPr lang="en-US" sz="2400" dirty="0" smtClean="0">
                <a:latin typeface="Bookman Old Style" panose="02050604050505020204" pitchFamily="18" charset="0"/>
              </a:rPr>
              <a:t>file 1.txt </a:t>
            </a:r>
            <a:r>
              <a:rPr lang="ru-RU" sz="2400" dirty="0" smtClean="0">
                <a:latin typeface="Bookman Old Style" panose="02050604050505020204" pitchFamily="18" charset="0"/>
              </a:rPr>
              <a:t>и зафиксируем изменения</a:t>
            </a:r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4070678"/>
            <a:ext cx="6131197" cy="2319426"/>
          </a:xfrm>
          <a:prstGeom prst="rect">
            <a:avLst/>
          </a:prstGeom>
        </p:spPr>
      </p:pic>
      <p:pic>
        <p:nvPicPr>
          <p:cNvPr id="6" name="Рисунок 5"/>
          <p:cNvPicPr>
            <a:picLocks noChangeAspect="1"/>
          </p:cNvPicPr>
          <p:nvPr/>
        </p:nvPicPr>
        <p:blipFill rotWithShape="1">
          <a:blip r:embed="rId4"/>
          <a:srcRect t="52111" r="50647" b="13499"/>
          <a:stretch/>
        </p:blipFill>
        <p:spPr>
          <a:xfrm>
            <a:off x="6496958" y="4070677"/>
            <a:ext cx="5240614" cy="19320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253781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0"/>
            <a:ext cx="12192000" cy="646331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в ветке </a:t>
            </a:r>
            <a:r>
              <a:rPr lang="en-US" sz="2400" dirty="0" smtClean="0">
                <a:latin typeface="Bookman Old Style" panose="02050604050505020204" pitchFamily="18" charset="0"/>
              </a:rPr>
              <a:t>test </a:t>
            </a:r>
            <a:r>
              <a:rPr lang="ru-RU" sz="2400" dirty="0" smtClean="0">
                <a:latin typeface="Bookman Old Style" panose="02050604050505020204" pitchFamily="18" charset="0"/>
              </a:rPr>
              <a:t>изменим </a:t>
            </a:r>
            <a:r>
              <a:rPr lang="en-US" sz="2400" dirty="0" smtClean="0">
                <a:latin typeface="Bookman Old Style" panose="02050604050505020204" pitchFamily="18" charset="0"/>
              </a:rPr>
              <a:t>file 1.txt </a:t>
            </a:r>
            <a:r>
              <a:rPr lang="ru-RU" sz="2400" dirty="0" smtClean="0">
                <a:latin typeface="Bookman Old Style" panose="02050604050505020204" pitchFamily="18" charset="0"/>
              </a:rPr>
              <a:t>другим образом и зафиксируем изменения</a:t>
            </a: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2732" y="646331"/>
            <a:ext cx="6706536" cy="2591162"/>
          </a:xfrm>
          <a:prstGeom prst="rect">
            <a:avLst/>
          </a:prstGeom>
        </p:spPr>
      </p:pic>
      <p:pic>
        <p:nvPicPr>
          <p:cNvPr id="3" name="Рисунок 2"/>
          <p:cNvPicPr>
            <a:picLocks noChangeAspect="1"/>
          </p:cNvPicPr>
          <p:nvPr/>
        </p:nvPicPr>
        <p:blipFill rotWithShape="1">
          <a:blip r:embed="rId4"/>
          <a:srcRect l="-2" t="38326" r="-743" b="25692"/>
          <a:stretch/>
        </p:blipFill>
        <p:spPr>
          <a:xfrm>
            <a:off x="400050" y="3237493"/>
            <a:ext cx="11391900" cy="2152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613736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0"/>
            <a:ext cx="12192000" cy="6186309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Теперь перенесем изменения из </a:t>
            </a:r>
            <a:r>
              <a:rPr lang="en-US" sz="2400" dirty="0" smtClean="0">
                <a:latin typeface="Bookman Old Style" panose="02050604050505020204" pitchFamily="18" charset="0"/>
              </a:rPr>
              <a:t>test </a:t>
            </a:r>
            <a:r>
              <a:rPr lang="ru-RU" sz="2400" dirty="0" smtClean="0">
                <a:latin typeface="Bookman Old Style" panose="02050604050505020204" pitchFamily="18" charset="0"/>
              </a:rPr>
              <a:t>в </a:t>
            </a:r>
            <a:r>
              <a:rPr lang="en-US" sz="2400" dirty="0" smtClean="0">
                <a:latin typeface="Bookman Old Style" panose="02050604050505020204" pitchFamily="18" charset="0"/>
              </a:rPr>
              <a:t>master. </a:t>
            </a:r>
            <a:r>
              <a:rPr lang="ru-RU" sz="2400" dirty="0" smtClean="0">
                <a:latin typeface="Bookman Old Style" panose="02050604050505020204" pitchFamily="18" charset="0"/>
              </a:rPr>
              <a:t>Для этого переходим в ветку </a:t>
            </a:r>
            <a:r>
              <a:rPr lang="en-US" sz="2400" dirty="0" smtClean="0">
                <a:latin typeface="Bookman Old Style" panose="02050604050505020204" pitchFamily="18" charset="0"/>
              </a:rPr>
              <a:t>master </a:t>
            </a:r>
            <a:r>
              <a:rPr lang="ru-RU" sz="2400" dirty="0" smtClean="0">
                <a:latin typeface="Bookman Old Style" panose="02050604050505020204" pitchFamily="18" charset="0"/>
              </a:rPr>
              <a:t>и делаем слияние: </a:t>
            </a:r>
            <a:r>
              <a:rPr lang="en-US" sz="2400" b="1" dirty="0" err="1" smtClean="0">
                <a:latin typeface="Bookman Old Style" panose="02050604050505020204" pitchFamily="18" charset="0"/>
              </a:rPr>
              <a:t>git</a:t>
            </a:r>
            <a:r>
              <a:rPr lang="en-US" sz="2400" b="1" dirty="0" smtClean="0">
                <a:latin typeface="Bookman Old Style" panose="02050604050505020204" pitchFamily="18" charset="0"/>
              </a:rPr>
              <a:t> checkout master        </a:t>
            </a:r>
            <a:r>
              <a:rPr lang="en-US" sz="2400" b="1" dirty="0" err="1" smtClean="0">
                <a:latin typeface="Bookman Old Style" panose="02050604050505020204" pitchFamily="18" charset="0"/>
              </a:rPr>
              <a:t>git</a:t>
            </a:r>
            <a:r>
              <a:rPr lang="en-US" sz="2400" b="1" dirty="0" smtClean="0">
                <a:latin typeface="Bookman Old Style" panose="02050604050505020204" pitchFamily="18" charset="0"/>
              </a:rPr>
              <a:t> merge test</a:t>
            </a:r>
          </a:p>
          <a:p>
            <a:pPr algn="just">
              <a:lnSpc>
                <a:spcPct val="150000"/>
              </a:lnSpc>
            </a:pPr>
            <a:endParaRPr lang="en-US" sz="2400" b="1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en-US" sz="2400" b="1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en-US" sz="2400" b="1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en-US" sz="2400" b="1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en-US" sz="2400" b="1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en-US" sz="2400" b="1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en-US" sz="2400" b="1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Сейчас мы находимся в процессе слияния, нужно вручную выполнить слияние веток. Из текста видно, что конфликтует файл </a:t>
            </a:r>
            <a:r>
              <a:rPr lang="en-US" sz="2400" dirty="0" smtClean="0">
                <a:latin typeface="Bookman Old Style" panose="02050604050505020204" pitchFamily="18" charset="0"/>
              </a:rPr>
              <a:t>file 1.txt</a:t>
            </a:r>
            <a:endParaRPr lang="ru-RU" sz="2400" dirty="0" smtClean="0">
              <a:latin typeface="Bookman Old Style" panose="02050604050505020204" pitchFamily="18" charset="0"/>
            </a:endParaRPr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 rotWithShape="1">
          <a:blip r:embed="rId3"/>
          <a:srcRect t="27710" b="9560"/>
          <a:stretch/>
        </p:blipFill>
        <p:spPr>
          <a:xfrm>
            <a:off x="442123" y="1216729"/>
            <a:ext cx="11307753" cy="3752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365818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0"/>
            <a:ext cx="12192000" cy="6186309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Заходим в конфликтующий файл</a:t>
            </a:r>
            <a:r>
              <a:rPr lang="en-US" sz="2400" dirty="0" smtClean="0">
                <a:latin typeface="Bookman Old Style" panose="02050604050505020204" pitchFamily="18" charset="0"/>
              </a:rPr>
              <a:t>.</a:t>
            </a: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Видим, что в файле отображаются</a:t>
            </a: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изменения из обеих веток,</a:t>
            </a: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нам исправить файл так как мы считаем</a:t>
            </a: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нужным. Конфликт считается решенным,</a:t>
            </a: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если в файле нет спец. строк</a:t>
            </a:r>
          </a:p>
          <a:p>
            <a:pPr algn="just"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&lt;&lt;&lt;&lt;&lt;&lt;&lt; HEAD</a:t>
            </a: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=======</a:t>
            </a:r>
            <a:endParaRPr lang="ru-RU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&gt;&gt;&gt;&gt;&gt;&gt;&gt; </a:t>
            </a:r>
            <a:r>
              <a:rPr lang="ru-RU" sz="2400" dirty="0" err="1" smtClean="0">
                <a:latin typeface="Bookman Old Style" panose="02050604050505020204" pitchFamily="18" charset="0"/>
              </a:rPr>
              <a:t>test</a:t>
            </a:r>
            <a:endParaRPr lang="en-US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Допустим, что мы хотим оставить и те и другие изменения, просто сотрем эти спец. строки.</a:t>
            </a:r>
            <a:endParaRPr lang="en-US" sz="2400" dirty="0" smtClean="0">
              <a:latin typeface="Bookman Old Style" panose="02050604050505020204" pitchFamily="18" charset="0"/>
            </a:endParaRP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 rotWithShape="1">
          <a:blip r:embed="rId3"/>
          <a:srcRect r="2024"/>
          <a:stretch/>
        </p:blipFill>
        <p:spPr>
          <a:xfrm>
            <a:off x="6989697" y="332511"/>
            <a:ext cx="4840137" cy="38571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586212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0"/>
            <a:ext cx="12192000" cy="4524315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После редактирования файла</a:t>
            </a: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получили следующее:</a:t>
            </a:r>
          </a:p>
          <a:p>
            <a:pPr algn="just">
              <a:lnSpc>
                <a:spcPct val="150000"/>
              </a:lnSpc>
            </a:pPr>
            <a:endParaRPr lang="ru-RU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ru-RU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ru-RU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ru-RU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Далее сохраняем файл и</a:t>
            </a:r>
            <a:r>
              <a:rPr lang="en-US" sz="2400" dirty="0" smtClean="0">
                <a:latin typeface="Bookman Old Style" panose="02050604050505020204" pitchFamily="18" charset="0"/>
              </a:rPr>
              <a:t> </a:t>
            </a:r>
            <a:r>
              <a:rPr lang="ru-RU" sz="2400" dirty="0" smtClean="0">
                <a:latin typeface="Bookman Old Style" panose="02050604050505020204" pitchFamily="18" charset="0"/>
              </a:rPr>
              <a:t>завершаем слияние командой </a:t>
            </a:r>
            <a:r>
              <a:rPr lang="en-US" sz="2400" dirty="0" err="1" smtClean="0">
                <a:latin typeface="Bookman Old Style" panose="02050604050505020204" pitchFamily="18" charset="0"/>
              </a:rPr>
              <a:t>add+commit</a:t>
            </a:r>
            <a:r>
              <a:rPr lang="en-US" sz="2400" dirty="0" smtClean="0">
                <a:latin typeface="Bookman Old Style" panose="02050604050505020204" pitchFamily="18" charset="0"/>
              </a:rPr>
              <a:t>:</a:t>
            </a:r>
          </a:p>
          <a:p>
            <a:pPr algn="just">
              <a:lnSpc>
                <a:spcPct val="150000"/>
              </a:lnSpc>
            </a:pPr>
            <a:r>
              <a:rPr lang="en-US" sz="2400" b="1" dirty="0" err="1">
                <a:latin typeface="Bookman Old Style" panose="02050604050505020204" pitchFamily="18" charset="0"/>
              </a:rPr>
              <a:t>git</a:t>
            </a:r>
            <a:r>
              <a:rPr lang="en-US" sz="2400" b="1" dirty="0">
                <a:latin typeface="Bookman Old Style" panose="02050604050505020204" pitchFamily="18" charset="0"/>
              </a:rPr>
              <a:t> commit -am "merged"</a:t>
            </a:r>
            <a:endParaRPr lang="en-US" sz="2400" b="1" dirty="0" smtClean="0">
              <a:latin typeface="Bookman Old Style" panose="02050604050505020204" pitchFamily="18" charset="0"/>
            </a:endParaRPr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42516" y="339773"/>
            <a:ext cx="6329048" cy="2984916"/>
          </a:xfrm>
          <a:prstGeom prst="rect">
            <a:avLst/>
          </a:prstGeom>
        </p:spPr>
      </p:pic>
      <p:pic>
        <p:nvPicPr>
          <p:cNvPr id="5" name="Рисунок 4"/>
          <p:cNvPicPr>
            <a:picLocks noChangeAspect="1"/>
          </p:cNvPicPr>
          <p:nvPr/>
        </p:nvPicPr>
        <p:blipFill rotWithShape="1">
          <a:blip r:embed="rId4"/>
          <a:srcRect t="21979" b="51592"/>
          <a:stretch/>
        </p:blipFill>
        <p:spPr>
          <a:xfrm>
            <a:off x="457200" y="4524315"/>
            <a:ext cx="11277600" cy="15769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086167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0"/>
            <a:ext cx="12192000" cy="654357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5875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ru-RU" sz="2800" b="1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Локальный ПК </a:t>
            </a:r>
            <a:r>
              <a:rPr lang="ru-RU" sz="2800" b="1" dirty="0" err="1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vs</a:t>
            </a:r>
            <a:r>
              <a:rPr lang="ru-RU" sz="2800" b="1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 Облако (</a:t>
            </a:r>
            <a:r>
              <a:rPr lang="ru-RU" sz="2800" b="1" dirty="0" err="1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GitHub</a:t>
            </a:r>
            <a:r>
              <a:rPr lang="ru-RU" sz="2800" b="1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)</a:t>
            </a:r>
            <a:endParaRPr lang="en-US" sz="2800" b="1" dirty="0">
              <a:solidFill>
                <a:schemeClr val="tx2">
                  <a:lumMod val="50000"/>
                </a:schemeClr>
              </a:solidFill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Прямоугольник 7"/>
          <p:cNvSpPr/>
          <p:nvPr/>
        </p:nvSpPr>
        <p:spPr>
          <a:xfrm>
            <a:off x="0" y="654357"/>
            <a:ext cx="12192000" cy="5015027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400" i="1" dirty="0">
                <a:latin typeface="Bookman Old Style" panose="02050604050505020204" pitchFamily="18" charset="0"/>
              </a:rPr>
              <a:t>Вводим концепцию удаленного </a:t>
            </a:r>
            <a:r>
              <a:rPr lang="ru-RU" sz="2400" i="1" dirty="0" err="1">
                <a:latin typeface="Bookman Old Style" panose="02050604050505020204" pitchFamily="18" charset="0"/>
              </a:rPr>
              <a:t>репозитория</a:t>
            </a:r>
            <a:r>
              <a:rPr lang="ru-RU" sz="2400" i="1" dirty="0">
                <a:latin typeface="Bookman Old Style" panose="02050604050505020204" pitchFamily="18" charset="0"/>
              </a:rPr>
              <a:t> (</a:t>
            </a:r>
            <a:r>
              <a:rPr lang="ru-RU" sz="2400" i="1" dirty="0" err="1">
                <a:latin typeface="Bookman Old Style" panose="02050604050505020204" pitchFamily="18" charset="0"/>
              </a:rPr>
              <a:t>Remote</a:t>
            </a:r>
            <a:r>
              <a:rPr lang="ru-RU" sz="2400" i="1" dirty="0">
                <a:latin typeface="Bookman Old Style" panose="02050604050505020204" pitchFamily="18" charset="0"/>
              </a:rPr>
              <a:t>).</a:t>
            </a:r>
            <a:endParaRPr lang="ru-RU" sz="2400" dirty="0">
              <a:latin typeface="Bookman Old Style" panose="02050604050505020204" pitchFamily="18" charset="0"/>
            </a:endParaRPr>
          </a:p>
          <a:p>
            <a:pPr>
              <a:lnSpc>
                <a:spcPct val="150000"/>
              </a:lnSpc>
            </a:pPr>
            <a:r>
              <a:rPr lang="ru-RU" sz="2400" b="1" dirty="0" err="1">
                <a:latin typeface="Bookman Old Style" panose="02050604050505020204" pitchFamily="18" charset="0"/>
              </a:rPr>
              <a:t>Git</a:t>
            </a:r>
            <a:r>
              <a:rPr lang="ru-RU" sz="2400" b="1" dirty="0">
                <a:latin typeface="Bookman Old Style" panose="02050604050505020204" pitchFamily="18" charset="0"/>
              </a:rPr>
              <a:t> — это распределенная система.</a:t>
            </a:r>
            <a:endParaRPr lang="ru-RU" sz="2400" dirty="0">
              <a:latin typeface="Bookman Old Style" panose="02050604050505020204" pitchFamily="18" charset="0"/>
            </a:endParaRPr>
          </a:p>
          <a:p>
            <a:pPr>
              <a:lnSpc>
                <a:spcPct val="150000"/>
              </a:lnSpc>
            </a:pPr>
            <a:r>
              <a:rPr lang="ru-RU" sz="2400" b="1" dirty="0" err="1">
                <a:latin typeface="Bookman Old Style" panose="02050604050505020204" pitchFamily="18" charset="0"/>
              </a:rPr>
              <a:t>Local</a:t>
            </a:r>
            <a:r>
              <a:rPr lang="ru-RU" sz="2400" b="1" dirty="0">
                <a:latin typeface="Bookman Old Style" panose="02050604050505020204" pitchFamily="18" charset="0"/>
              </a:rPr>
              <a:t> (Ваш ПК):</a:t>
            </a:r>
            <a:r>
              <a:rPr lang="ru-RU" sz="2400" dirty="0">
                <a:latin typeface="Bookman Old Style" panose="02050604050505020204" pitchFamily="18" charset="0"/>
              </a:rPr>
              <a:t> Здесь вы делаете </a:t>
            </a:r>
            <a:r>
              <a:rPr lang="ru-RU" sz="2400" dirty="0" err="1">
                <a:latin typeface="Bookman Old Style" panose="02050604050505020204" pitchFamily="18" charset="0"/>
              </a:rPr>
              <a:t>коммиты</a:t>
            </a:r>
            <a:r>
              <a:rPr lang="ru-RU" sz="2400" dirty="0">
                <a:latin typeface="Bookman Old Style" panose="02050604050505020204" pitchFamily="18" charset="0"/>
              </a:rPr>
              <a:t>, переключаете ветки и можете работать без интернета.</a:t>
            </a:r>
          </a:p>
          <a:p>
            <a:pPr>
              <a:lnSpc>
                <a:spcPct val="150000"/>
              </a:lnSpc>
            </a:pPr>
            <a:r>
              <a:rPr lang="ru-RU" sz="2400" b="1" dirty="0" err="1">
                <a:latin typeface="Bookman Old Style" panose="02050604050505020204" pitchFamily="18" charset="0"/>
              </a:rPr>
              <a:t>Remote</a:t>
            </a:r>
            <a:r>
              <a:rPr lang="ru-RU" sz="2400" b="1" dirty="0">
                <a:latin typeface="Bookman Old Style" panose="02050604050505020204" pitchFamily="18" charset="0"/>
              </a:rPr>
              <a:t> (</a:t>
            </a:r>
            <a:r>
              <a:rPr lang="ru-RU" sz="2400" b="1" dirty="0" err="1">
                <a:latin typeface="Bookman Old Style" panose="02050604050505020204" pitchFamily="18" charset="0"/>
              </a:rPr>
              <a:t>GitHub</a:t>
            </a:r>
            <a:r>
              <a:rPr lang="ru-RU" sz="2400" b="1" dirty="0">
                <a:latin typeface="Bookman Old Style" panose="02050604050505020204" pitchFamily="18" charset="0"/>
              </a:rPr>
              <a:t>/</a:t>
            </a:r>
            <a:r>
              <a:rPr lang="ru-RU" sz="2400" b="1" dirty="0" err="1">
                <a:latin typeface="Bookman Old Style" panose="02050604050505020204" pitchFamily="18" charset="0"/>
              </a:rPr>
              <a:t>GitLab</a:t>
            </a:r>
            <a:r>
              <a:rPr lang="ru-RU" sz="2400" b="1" dirty="0">
                <a:latin typeface="Bookman Old Style" panose="02050604050505020204" pitchFamily="18" charset="0"/>
              </a:rPr>
              <a:t>):</a:t>
            </a:r>
            <a:r>
              <a:rPr lang="ru-RU" sz="2400" dirty="0">
                <a:latin typeface="Bookman Old Style" panose="02050604050505020204" pitchFamily="18" charset="0"/>
              </a:rPr>
              <a:t> Это «сервер правды». Место, где код хранится в безопасности и откуда его берут другие участники команды.</a:t>
            </a:r>
          </a:p>
          <a:p>
            <a:pPr>
              <a:lnSpc>
                <a:spcPct val="150000"/>
              </a:lnSpc>
            </a:pPr>
            <a:r>
              <a:rPr lang="ru-RU" sz="2400" b="1" dirty="0" err="1">
                <a:latin typeface="Bookman Old Style" panose="02050604050505020204" pitchFamily="18" charset="0"/>
              </a:rPr>
              <a:t>origin</a:t>
            </a:r>
            <a:r>
              <a:rPr lang="ru-RU" sz="2400" dirty="0">
                <a:latin typeface="Bookman Old Style" panose="02050604050505020204" pitchFamily="18" charset="0"/>
              </a:rPr>
              <a:t> — стандартное имя для вашего основного удаленного </a:t>
            </a:r>
            <a:r>
              <a:rPr lang="ru-RU" sz="2400" dirty="0" err="1">
                <a:latin typeface="Bookman Old Style" panose="02050604050505020204" pitchFamily="18" charset="0"/>
              </a:rPr>
              <a:t>репозитория</a:t>
            </a:r>
            <a:r>
              <a:rPr lang="ru-RU" sz="2400" dirty="0">
                <a:latin typeface="Bookman Old Style" panose="02050604050505020204" pitchFamily="18" charset="0"/>
              </a:rPr>
              <a:t> на </a:t>
            </a:r>
            <a:r>
              <a:rPr lang="ru-RU" sz="2400" dirty="0" err="1">
                <a:latin typeface="Bookman Old Style" panose="02050604050505020204" pitchFamily="18" charset="0"/>
              </a:rPr>
              <a:t>GitHub</a:t>
            </a:r>
            <a:r>
              <a:rPr lang="ru-RU" sz="2400" dirty="0">
                <a:latin typeface="Bookman Old Style" panose="02050604050505020204" pitchFamily="18" charset="0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ru-RU" sz="2400" b="1" dirty="0" err="1">
                <a:latin typeface="Bookman Old Style" panose="02050604050505020204" pitchFamily="18" charset="0"/>
              </a:rPr>
              <a:t>main</a:t>
            </a:r>
            <a:r>
              <a:rPr lang="ru-RU" sz="2400" dirty="0">
                <a:latin typeface="Bookman Old Style" panose="02050604050505020204" pitchFamily="18" charset="0"/>
              </a:rPr>
              <a:t> — основная ветка (сюжетная линия) проекта.</a:t>
            </a:r>
          </a:p>
        </p:txBody>
      </p:sp>
    </p:spTree>
    <p:extLst>
      <p:ext uri="{BB962C8B-B14F-4D97-AF65-F5344CB8AC3E}">
        <p14:creationId xmlns:p14="http://schemas.microsoft.com/office/powerpoint/2010/main" val="206009066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0"/>
            <a:ext cx="12192000" cy="654357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5875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ru-RU" sz="2800" b="1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Как забрать изменения? </a:t>
            </a:r>
            <a:r>
              <a:rPr lang="ru-RU" sz="2800" b="1" dirty="0" err="1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fetch</a:t>
            </a:r>
            <a:r>
              <a:rPr lang="ru-RU" sz="2800" b="1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 </a:t>
            </a:r>
            <a:r>
              <a:rPr lang="ru-RU" sz="2800" b="1" dirty="0" err="1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vs</a:t>
            </a:r>
            <a:r>
              <a:rPr lang="ru-RU" sz="2800" b="1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 </a:t>
            </a:r>
            <a:r>
              <a:rPr lang="ru-RU" sz="2800" b="1" dirty="0" err="1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pull</a:t>
            </a:r>
            <a:endParaRPr lang="en-US" sz="2800" b="1" dirty="0">
              <a:solidFill>
                <a:schemeClr val="tx2">
                  <a:lumMod val="50000"/>
                </a:schemeClr>
              </a:solidFill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Прямоугольник 7"/>
          <p:cNvSpPr/>
          <p:nvPr/>
        </p:nvSpPr>
        <p:spPr>
          <a:xfrm>
            <a:off x="0" y="654357"/>
            <a:ext cx="12192000" cy="6289222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>
              <a:lnSpc>
                <a:spcPct val="125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Представьте: ваш коллега Вася уже залил свой код на </a:t>
            </a:r>
            <a:r>
              <a:rPr lang="ru-RU" sz="2400" dirty="0" err="1">
                <a:latin typeface="Bookman Old Style" panose="02050604050505020204" pitchFamily="18" charset="0"/>
              </a:rPr>
              <a:t>GitHub</a:t>
            </a:r>
            <a:r>
              <a:rPr lang="ru-RU" sz="2400" dirty="0">
                <a:latin typeface="Bookman Old Style" panose="02050604050505020204" pitchFamily="18" charset="0"/>
              </a:rPr>
              <a:t>. Вам нужно его получить.</a:t>
            </a:r>
          </a:p>
          <a:p>
            <a:pPr>
              <a:lnSpc>
                <a:spcPct val="125000"/>
              </a:lnSpc>
            </a:pPr>
            <a:r>
              <a:rPr lang="ru-RU" sz="2400" b="1" dirty="0">
                <a:latin typeface="Bookman Old Style" panose="02050604050505020204" pitchFamily="18" charset="0"/>
              </a:rPr>
              <a:t>1. </a:t>
            </a:r>
            <a:r>
              <a:rPr lang="ru-RU" sz="2400" b="1" dirty="0" err="1">
                <a:latin typeface="Bookman Old Style" panose="02050604050505020204" pitchFamily="18" charset="0"/>
              </a:rPr>
              <a:t>git</a:t>
            </a:r>
            <a:r>
              <a:rPr lang="ru-RU" sz="2400" b="1" dirty="0">
                <a:latin typeface="Bookman Old Style" panose="02050604050505020204" pitchFamily="18" charset="0"/>
              </a:rPr>
              <a:t> </a:t>
            </a:r>
            <a:r>
              <a:rPr lang="ru-RU" sz="2400" b="1" dirty="0" err="1">
                <a:latin typeface="Bookman Old Style" panose="02050604050505020204" pitchFamily="18" charset="0"/>
              </a:rPr>
              <a:t>fetch</a:t>
            </a:r>
            <a:r>
              <a:rPr lang="ru-RU" sz="2400" b="1" dirty="0">
                <a:latin typeface="Bookman Old Style" panose="02050604050505020204" pitchFamily="18" charset="0"/>
              </a:rPr>
              <a:t> (Разведка)</a:t>
            </a:r>
          </a:p>
          <a:p>
            <a:pPr>
              <a:lnSpc>
                <a:spcPct val="125000"/>
              </a:lnSpc>
            </a:pPr>
            <a:r>
              <a:rPr lang="ru-RU" sz="2400" b="1" dirty="0">
                <a:latin typeface="Bookman Old Style" panose="02050604050505020204" pitchFamily="18" charset="0"/>
              </a:rPr>
              <a:t>Суть:</a:t>
            </a:r>
            <a:r>
              <a:rPr lang="ru-RU" sz="2400" dirty="0">
                <a:latin typeface="Bookman Old Style" panose="02050604050505020204" pitchFamily="18" charset="0"/>
              </a:rPr>
              <a:t> Скачивает данные о новых </a:t>
            </a:r>
            <a:r>
              <a:rPr lang="ru-RU" sz="2400" dirty="0" err="1">
                <a:latin typeface="Bookman Old Style" panose="02050604050505020204" pitchFamily="18" charset="0"/>
              </a:rPr>
              <a:t>коммитах</a:t>
            </a:r>
            <a:r>
              <a:rPr lang="ru-RU" sz="2400" dirty="0">
                <a:latin typeface="Bookman Old Style" panose="02050604050505020204" pitchFamily="18" charset="0"/>
              </a:rPr>
              <a:t> с сервера, но </a:t>
            </a:r>
            <a:r>
              <a:rPr lang="ru-RU" sz="2400" b="1" dirty="0">
                <a:latin typeface="Bookman Old Style" panose="02050604050505020204" pitchFamily="18" charset="0"/>
              </a:rPr>
              <a:t>не меняет ваши файлы</a:t>
            </a:r>
            <a:r>
              <a:rPr lang="ru-RU" sz="2400" dirty="0">
                <a:latin typeface="Bookman Old Style" panose="02050604050505020204" pitchFamily="18" charset="0"/>
              </a:rPr>
              <a:t>.</a:t>
            </a:r>
          </a:p>
          <a:p>
            <a:pPr>
              <a:lnSpc>
                <a:spcPct val="125000"/>
              </a:lnSpc>
            </a:pPr>
            <a:r>
              <a:rPr lang="ru-RU" sz="2400" b="1" dirty="0">
                <a:latin typeface="Bookman Old Style" panose="02050604050505020204" pitchFamily="18" charset="0"/>
              </a:rPr>
              <a:t>Зачем:</a:t>
            </a:r>
            <a:r>
              <a:rPr lang="ru-RU" sz="2400" dirty="0">
                <a:latin typeface="Bookman Old Style" panose="02050604050505020204" pitchFamily="18" charset="0"/>
              </a:rPr>
              <a:t> Просто посмотреть: "А что там нового?". Ваша рабочая область остается нетронутой.</a:t>
            </a:r>
          </a:p>
          <a:p>
            <a:pPr>
              <a:lnSpc>
                <a:spcPct val="125000"/>
              </a:lnSpc>
            </a:pPr>
            <a:r>
              <a:rPr lang="ru-RU" sz="2400" b="1" dirty="0">
                <a:latin typeface="Bookman Old Style" panose="02050604050505020204" pitchFamily="18" charset="0"/>
              </a:rPr>
              <a:t>2. </a:t>
            </a:r>
            <a:r>
              <a:rPr lang="ru-RU" sz="2400" b="1" dirty="0" err="1">
                <a:latin typeface="Bookman Old Style" panose="02050604050505020204" pitchFamily="18" charset="0"/>
              </a:rPr>
              <a:t>git</a:t>
            </a:r>
            <a:r>
              <a:rPr lang="ru-RU" sz="2400" b="1" dirty="0">
                <a:latin typeface="Bookman Old Style" panose="02050604050505020204" pitchFamily="18" charset="0"/>
              </a:rPr>
              <a:t> </a:t>
            </a:r>
            <a:r>
              <a:rPr lang="ru-RU" sz="2400" b="1" dirty="0" err="1">
                <a:latin typeface="Bookman Old Style" panose="02050604050505020204" pitchFamily="18" charset="0"/>
              </a:rPr>
              <a:t>pull</a:t>
            </a:r>
            <a:r>
              <a:rPr lang="ru-RU" sz="2400" b="1" dirty="0">
                <a:latin typeface="Bookman Old Style" panose="02050604050505020204" pitchFamily="18" charset="0"/>
              </a:rPr>
              <a:t> (Забрать и применить)</a:t>
            </a:r>
          </a:p>
          <a:p>
            <a:pPr>
              <a:lnSpc>
                <a:spcPct val="125000"/>
              </a:lnSpc>
            </a:pPr>
            <a:r>
              <a:rPr lang="ru-RU" sz="2400" b="1" dirty="0">
                <a:latin typeface="Bookman Old Style" panose="02050604050505020204" pitchFamily="18" charset="0"/>
              </a:rPr>
              <a:t>Суть:</a:t>
            </a:r>
            <a:r>
              <a:rPr lang="ru-RU" sz="2400" dirty="0">
                <a:latin typeface="Bookman Old Style" panose="02050604050505020204" pitchFamily="18" charset="0"/>
              </a:rPr>
              <a:t> Скачивает изменения и </a:t>
            </a:r>
            <a:r>
              <a:rPr lang="ru-RU" sz="2400" b="1" dirty="0">
                <a:latin typeface="Bookman Old Style" panose="02050604050505020204" pitchFamily="18" charset="0"/>
              </a:rPr>
              <a:t>сразу вливает</a:t>
            </a:r>
            <a:r>
              <a:rPr lang="ru-RU" sz="2400" dirty="0">
                <a:latin typeface="Bookman Old Style" panose="02050604050505020204" pitchFamily="18" charset="0"/>
              </a:rPr>
              <a:t> (</a:t>
            </a:r>
            <a:r>
              <a:rPr lang="ru-RU" sz="2400" dirty="0" err="1">
                <a:latin typeface="Bookman Old Style" panose="02050604050505020204" pitchFamily="18" charset="0"/>
              </a:rPr>
              <a:t>merge</a:t>
            </a:r>
            <a:r>
              <a:rPr lang="ru-RU" sz="2400" dirty="0">
                <a:latin typeface="Bookman Old Style" panose="02050604050505020204" pitchFamily="18" charset="0"/>
              </a:rPr>
              <a:t>) их в вашу текущую ветку.</a:t>
            </a:r>
          </a:p>
          <a:p>
            <a:pPr>
              <a:lnSpc>
                <a:spcPct val="125000"/>
              </a:lnSpc>
            </a:pPr>
            <a:r>
              <a:rPr lang="ru-RU" sz="2400" b="1" dirty="0">
                <a:latin typeface="Bookman Old Style" panose="02050604050505020204" pitchFamily="18" charset="0"/>
              </a:rPr>
              <a:t>Формула:</a:t>
            </a:r>
            <a:r>
              <a:rPr lang="ru-RU" sz="2400" dirty="0">
                <a:latin typeface="Bookman Old Style" panose="02050604050505020204" pitchFamily="18" charset="0"/>
              </a:rPr>
              <a:t> </a:t>
            </a:r>
            <a:r>
              <a:rPr lang="ru-RU" sz="2400" dirty="0" err="1">
                <a:latin typeface="Bookman Old Style" panose="02050604050505020204" pitchFamily="18" charset="0"/>
              </a:rPr>
              <a:t>git</a:t>
            </a:r>
            <a:r>
              <a:rPr lang="ru-RU" sz="2400" dirty="0">
                <a:latin typeface="Bookman Old Style" panose="02050604050505020204" pitchFamily="18" charset="0"/>
              </a:rPr>
              <a:t> </a:t>
            </a:r>
            <a:r>
              <a:rPr lang="ru-RU" sz="2400" dirty="0" err="1">
                <a:latin typeface="Bookman Old Style" panose="02050604050505020204" pitchFamily="18" charset="0"/>
              </a:rPr>
              <a:t>pull</a:t>
            </a:r>
            <a:r>
              <a:rPr lang="ru-RU" sz="2400" dirty="0">
                <a:latin typeface="Bookman Old Style" panose="02050604050505020204" pitchFamily="18" charset="0"/>
              </a:rPr>
              <a:t> = </a:t>
            </a:r>
            <a:r>
              <a:rPr lang="ru-RU" sz="2400" dirty="0" err="1">
                <a:latin typeface="Bookman Old Style" panose="02050604050505020204" pitchFamily="18" charset="0"/>
              </a:rPr>
              <a:t>git</a:t>
            </a:r>
            <a:r>
              <a:rPr lang="ru-RU" sz="2400" dirty="0">
                <a:latin typeface="Bookman Old Style" panose="02050604050505020204" pitchFamily="18" charset="0"/>
              </a:rPr>
              <a:t> </a:t>
            </a:r>
            <a:r>
              <a:rPr lang="ru-RU" sz="2400" dirty="0" err="1">
                <a:latin typeface="Bookman Old Style" panose="02050604050505020204" pitchFamily="18" charset="0"/>
              </a:rPr>
              <a:t>fetch</a:t>
            </a:r>
            <a:r>
              <a:rPr lang="ru-RU" sz="2400" dirty="0">
                <a:latin typeface="Bookman Old Style" panose="02050604050505020204" pitchFamily="18" charset="0"/>
              </a:rPr>
              <a:t> + </a:t>
            </a:r>
            <a:r>
              <a:rPr lang="ru-RU" sz="2400" dirty="0" err="1">
                <a:latin typeface="Bookman Old Style" panose="02050604050505020204" pitchFamily="18" charset="0"/>
              </a:rPr>
              <a:t>git</a:t>
            </a:r>
            <a:r>
              <a:rPr lang="ru-RU" sz="2400" dirty="0">
                <a:latin typeface="Bookman Old Style" panose="02050604050505020204" pitchFamily="18" charset="0"/>
              </a:rPr>
              <a:t> </a:t>
            </a:r>
            <a:r>
              <a:rPr lang="ru-RU" sz="2400" dirty="0" err="1">
                <a:latin typeface="Bookman Old Style" panose="02050604050505020204" pitchFamily="18" charset="0"/>
              </a:rPr>
              <a:t>merge</a:t>
            </a:r>
            <a:endParaRPr lang="ru-RU" sz="2400" dirty="0">
              <a:latin typeface="Bookman Old Style" panose="02050604050505020204" pitchFamily="18" charset="0"/>
            </a:endParaRPr>
          </a:p>
          <a:p>
            <a:pPr>
              <a:lnSpc>
                <a:spcPct val="125000"/>
              </a:lnSpc>
            </a:pPr>
            <a:r>
              <a:rPr lang="ru-RU" sz="2400" b="1" dirty="0">
                <a:latin typeface="Bookman Old Style" panose="02050604050505020204" pitchFamily="18" charset="0"/>
              </a:rPr>
              <a:t>Риск:</a:t>
            </a:r>
            <a:r>
              <a:rPr lang="ru-RU" sz="2400" dirty="0">
                <a:latin typeface="Bookman Old Style" panose="02050604050505020204" pitchFamily="18" charset="0"/>
              </a:rPr>
              <a:t> Если вы меняли те же строки, что и Вася, именно на этой команде возникнет </a:t>
            </a:r>
            <a:r>
              <a:rPr lang="ru-RU" sz="2400" b="1" dirty="0">
                <a:latin typeface="Bookman Old Style" panose="02050604050505020204" pitchFamily="18" charset="0"/>
              </a:rPr>
              <a:t>конфликт</a:t>
            </a:r>
            <a:r>
              <a:rPr lang="ru-RU" sz="2400" dirty="0">
                <a:latin typeface="Bookman Old Style" panose="02050604050505020204" pitchFamily="18" charset="0"/>
              </a:rPr>
              <a:t>, который нужно будет решить.</a:t>
            </a:r>
          </a:p>
        </p:txBody>
      </p:sp>
    </p:spTree>
    <p:extLst>
      <p:ext uri="{BB962C8B-B14F-4D97-AF65-F5344CB8AC3E}">
        <p14:creationId xmlns:p14="http://schemas.microsoft.com/office/powerpoint/2010/main" val="204495768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0"/>
            <a:ext cx="12192000" cy="654357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5875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ru-RU" sz="2800" b="1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Как отправить свой код? </a:t>
            </a:r>
            <a:r>
              <a:rPr lang="ru-RU" sz="2800" b="1" dirty="0" err="1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git</a:t>
            </a:r>
            <a:r>
              <a:rPr lang="ru-RU" sz="2800" b="1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 </a:t>
            </a:r>
            <a:r>
              <a:rPr lang="ru-RU" sz="2800" b="1" dirty="0" err="1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push</a:t>
            </a:r>
            <a:endParaRPr lang="en-US" sz="2800" b="1" dirty="0">
              <a:solidFill>
                <a:schemeClr val="tx2">
                  <a:lumMod val="50000"/>
                </a:schemeClr>
              </a:solidFill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Прямоугольник 7"/>
          <p:cNvSpPr/>
          <p:nvPr/>
        </p:nvSpPr>
        <p:spPr>
          <a:xfrm>
            <a:off x="0" y="654357"/>
            <a:ext cx="12192000" cy="6123664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Вы сделали крутую </a:t>
            </a:r>
            <a:r>
              <a:rPr lang="ru-RU" sz="2400" dirty="0" err="1">
                <a:latin typeface="Bookman Old Style" panose="02050604050505020204" pitchFamily="18" charset="0"/>
              </a:rPr>
              <a:t>фичу</a:t>
            </a:r>
            <a:r>
              <a:rPr lang="ru-RU" sz="2400" dirty="0">
                <a:latin typeface="Bookman Old Style" panose="02050604050505020204" pitchFamily="18" charset="0"/>
              </a:rPr>
              <a:t>, </a:t>
            </a:r>
            <a:r>
              <a:rPr lang="ru-RU" sz="2400" dirty="0" err="1">
                <a:latin typeface="Bookman Old Style" panose="02050604050505020204" pitchFamily="18" charset="0"/>
              </a:rPr>
              <a:t>закоммитили</a:t>
            </a:r>
            <a:r>
              <a:rPr lang="ru-RU" sz="2400" dirty="0">
                <a:latin typeface="Bookman Old Style" panose="02050604050505020204" pitchFamily="18" charset="0"/>
              </a:rPr>
              <a:t> её локально. Теперь её нужно «запушить» на сервер, чтобы её увидел </a:t>
            </a:r>
            <a:r>
              <a:rPr lang="ru-RU" sz="2400" dirty="0" err="1">
                <a:latin typeface="Bookman Old Style" panose="02050604050505020204" pitchFamily="18" charset="0"/>
              </a:rPr>
              <a:t>тимлид</a:t>
            </a:r>
            <a:r>
              <a:rPr lang="ru-RU" sz="2400" dirty="0">
                <a:latin typeface="Bookman Old Style" panose="02050604050505020204" pitchFamily="18" charset="0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ru-RU" sz="2400" b="1" dirty="0">
                <a:latin typeface="Bookman Old Style" panose="02050604050505020204" pitchFamily="18" charset="0"/>
              </a:rPr>
              <a:t>Команда:</a:t>
            </a:r>
            <a:r>
              <a:rPr lang="ru-RU" sz="2400" dirty="0">
                <a:latin typeface="Bookman Old Style" panose="02050604050505020204" pitchFamily="18" charset="0"/>
              </a:rPr>
              <a:t> </a:t>
            </a:r>
            <a:r>
              <a:rPr lang="ru-RU" sz="2400" dirty="0" err="1">
                <a:latin typeface="Bookman Old Style" panose="02050604050505020204" pitchFamily="18" charset="0"/>
              </a:rPr>
              <a:t>git</a:t>
            </a:r>
            <a:r>
              <a:rPr lang="ru-RU" sz="2400" dirty="0">
                <a:latin typeface="Bookman Old Style" panose="02050604050505020204" pitchFamily="18" charset="0"/>
              </a:rPr>
              <a:t> </a:t>
            </a:r>
            <a:r>
              <a:rPr lang="ru-RU" sz="2400" dirty="0" err="1">
                <a:latin typeface="Bookman Old Style" panose="02050604050505020204" pitchFamily="18" charset="0"/>
              </a:rPr>
              <a:t>push</a:t>
            </a:r>
            <a:r>
              <a:rPr lang="ru-RU" sz="2400" dirty="0">
                <a:latin typeface="Bookman Old Style" panose="02050604050505020204" pitchFamily="18" charset="0"/>
              </a:rPr>
              <a:t> </a:t>
            </a:r>
            <a:r>
              <a:rPr lang="ru-RU" sz="2400" dirty="0" err="1">
                <a:latin typeface="Bookman Old Style" panose="02050604050505020204" pitchFamily="18" charset="0"/>
              </a:rPr>
              <a:t>origin</a:t>
            </a:r>
            <a:r>
              <a:rPr lang="ru-RU" sz="2400" dirty="0">
                <a:latin typeface="Bookman Old Style" panose="02050604050505020204" pitchFamily="18" charset="0"/>
              </a:rPr>
              <a:t> </a:t>
            </a:r>
            <a:r>
              <a:rPr lang="ru-RU" sz="2400" dirty="0" err="1">
                <a:latin typeface="Bookman Old Style" panose="02050604050505020204" pitchFamily="18" charset="0"/>
              </a:rPr>
              <a:t>feature-name</a:t>
            </a:r>
            <a:endParaRPr lang="ru-RU" sz="2400" dirty="0">
              <a:latin typeface="Bookman Old Style" panose="02050604050505020204" pitchFamily="18" charset="0"/>
            </a:endParaRPr>
          </a:p>
          <a:p>
            <a:pPr>
              <a:lnSpc>
                <a:spcPct val="150000"/>
              </a:lnSpc>
            </a:pPr>
            <a:r>
              <a:rPr lang="ru-RU" sz="2400" b="1" dirty="0">
                <a:latin typeface="Bookman Old Style" panose="02050604050505020204" pitchFamily="18" charset="0"/>
              </a:rPr>
              <a:t>Важное условие:</a:t>
            </a:r>
            <a:r>
              <a:rPr lang="ru-RU" sz="2400" dirty="0">
                <a:latin typeface="Bookman Old Style" panose="02050604050505020204" pitchFamily="18" charset="0"/>
              </a:rPr>
              <a:t> Вы не сможете сделать </a:t>
            </a:r>
            <a:r>
              <a:rPr lang="ru-RU" sz="2400" dirty="0" err="1">
                <a:latin typeface="Bookman Old Style" panose="02050604050505020204" pitchFamily="18" charset="0"/>
              </a:rPr>
              <a:t>push</a:t>
            </a:r>
            <a:r>
              <a:rPr lang="ru-RU" sz="2400" dirty="0">
                <a:latin typeface="Bookman Old Style" panose="02050604050505020204" pitchFamily="18" charset="0"/>
              </a:rPr>
              <a:t>, если на сервере есть чужие </a:t>
            </a:r>
            <a:r>
              <a:rPr lang="ru-RU" sz="2400" dirty="0" err="1">
                <a:latin typeface="Bookman Old Style" panose="02050604050505020204" pitchFamily="18" charset="0"/>
              </a:rPr>
              <a:t>коммиты</a:t>
            </a:r>
            <a:r>
              <a:rPr lang="ru-RU" sz="2400" dirty="0">
                <a:latin typeface="Bookman Old Style" panose="02050604050505020204" pitchFamily="18" charset="0"/>
              </a:rPr>
              <a:t>, которых нет у вас.</a:t>
            </a:r>
          </a:p>
          <a:p>
            <a:pPr>
              <a:lnSpc>
                <a:spcPct val="150000"/>
              </a:lnSpc>
            </a:pPr>
            <a:r>
              <a:rPr lang="ru-RU" sz="2400" b="1" dirty="0">
                <a:latin typeface="Bookman Old Style" panose="02050604050505020204" pitchFamily="18" charset="0"/>
              </a:rPr>
              <a:t>Правильный порядок действий:</a:t>
            </a:r>
            <a:endParaRPr lang="ru-RU" sz="2400" dirty="0">
              <a:latin typeface="Bookman Old Style" panose="02050604050505020204" pitchFamily="18" charset="0"/>
            </a:endParaRPr>
          </a:p>
          <a:p>
            <a:pPr lvl="1">
              <a:lnSpc>
                <a:spcPct val="150000"/>
              </a:lnSpc>
            </a:pPr>
            <a:r>
              <a:rPr lang="ru-RU" sz="2400" dirty="0" err="1">
                <a:latin typeface="Bookman Old Style" panose="02050604050505020204" pitchFamily="18" charset="0"/>
              </a:rPr>
              <a:t>git</a:t>
            </a:r>
            <a:r>
              <a:rPr lang="ru-RU" sz="2400" dirty="0">
                <a:latin typeface="Bookman Old Style" panose="02050604050505020204" pitchFamily="18" charset="0"/>
              </a:rPr>
              <a:t> </a:t>
            </a:r>
            <a:r>
              <a:rPr lang="ru-RU" sz="2400" dirty="0" err="1">
                <a:latin typeface="Bookman Old Style" panose="02050604050505020204" pitchFamily="18" charset="0"/>
              </a:rPr>
              <a:t>add</a:t>
            </a:r>
            <a:r>
              <a:rPr lang="ru-RU" sz="2400" dirty="0">
                <a:latin typeface="Bookman Old Style" panose="02050604050505020204" pitchFamily="18" charset="0"/>
              </a:rPr>
              <a:t> .</a:t>
            </a:r>
          </a:p>
          <a:p>
            <a:pPr lvl="1">
              <a:lnSpc>
                <a:spcPct val="150000"/>
              </a:lnSpc>
            </a:pPr>
            <a:r>
              <a:rPr lang="ru-RU" sz="2400" dirty="0" err="1">
                <a:latin typeface="Bookman Old Style" panose="02050604050505020204" pitchFamily="18" charset="0"/>
              </a:rPr>
              <a:t>git</a:t>
            </a:r>
            <a:r>
              <a:rPr lang="ru-RU" sz="2400" dirty="0">
                <a:latin typeface="Bookman Old Style" panose="02050604050505020204" pitchFamily="18" charset="0"/>
              </a:rPr>
              <a:t> </a:t>
            </a:r>
            <a:r>
              <a:rPr lang="ru-RU" sz="2400" dirty="0" err="1">
                <a:latin typeface="Bookman Old Style" panose="02050604050505020204" pitchFamily="18" charset="0"/>
              </a:rPr>
              <a:t>commit</a:t>
            </a:r>
            <a:r>
              <a:rPr lang="ru-RU" sz="2400" dirty="0">
                <a:latin typeface="Bookman Old Style" panose="02050604050505020204" pitchFamily="18" charset="0"/>
              </a:rPr>
              <a:t> -m "</a:t>
            </a:r>
            <a:r>
              <a:rPr lang="ru-RU" sz="2400" dirty="0" err="1">
                <a:latin typeface="Bookman Old Style" panose="02050604050505020204" pitchFamily="18" charset="0"/>
              </a:rPr>
              <a:t>Done</a:t>
            </a:r>
            <a:r>
              <a:rPr lang="ru-RU" sz="2400" dirty="0">
                <a:latin typeface="Bookman Old Style" panose="02050604050505020204" pitchFamily="18" charset="0"/>
              </a:rPr>
              <a:t> </a:t>
            </a:r>
            <a:r>
              <a:rPr lang="ru-RU" sz="2400" dirty="0" err="1">
                <a:latin typeface="Bookman Old Style" panose="02050604050505020204" pitchFamily="18" charset="0"/>
              </a:rPr>
              <a:t>feature</a:t>
            </a:r>
            <a:r>
              <a:rPr lang="ru-RU" sz="2400" dirty="0">
                <a:latin typeface="Bookman Old Style" panose="02050604050505020204" pitchFamily="18" charset="0"/>
              </a:rPr>
              <a:t>"</a:t>
            </a:r>
          </a:p>
          <a:p>
            <a:pPr lvl="1">
              <a:lnSpc>
                <a:spcPct val="150000"/>
              </a:lnSpc>
            </a:pPr>
            <a:r>
              <a:rPr lang="ru-RU" sz="2400" dirty="0" err="1">
                <a:latin typeface="Bookman Old Style" panose="02050604050505020204" pitchFamily="18" charset="0"/>
              </a:rPr>
              <a:t>git</a:t>
            </a:r>
            <a:r>
              <a:rPr lang="ru-RU" sz="2400" dirty="0">
                <a:latin typeface="Bookman Old Style" panose="02050604050505020204" pitchFamily="18" charset="0"/>
              </a:rPr>
              <a:t> </a:t>
            </a:r>
            <a:r>
              <a:rPr lang="ru-RU" sz="2400" dirty="0" err="1">
                <a:latin typeface="Bookman Old Style" panose="02050604050505020204" pitchFamily="18" charset="0"/>
              </a:rPr>
              <a:t>pull</a:t>
            </a:r>
            <a:r>
              <a:rPr lang="ru-RU" sz="2400" dirty="0">
                <a:latin typeface="Bookman Old Style" panose="02050604050505020204" pitchFamily="18" charset="0"/>
              </a:rPr>
              <a:t> (проверяем, нет ли обновлений от коллег)</a:t>
            </a:r>
          </a:p>
          <a:p>
            <a:pPr lvl="1">
              <a:lnSpc>
                <a:spcPct val="150000"/>
              </a:lnSpc>
            </a:pPr>
            <a:r>
              <a:rPr lang="ru-RU" sz="2400" i="1" dirty="0">
                <a:latin typeface="Bookman Old Style" panose="02050604050505020204" pitchFamily="18" charset="0"/>
              </a:rPr>
              <a:t>Решаем конфликты, если они есть</a:t>
            </a:r>
            <a:endParaRPr lang="ru-RU" sz="2400" dirty="0">
              <a:latin typeface="Bookman Old Style" panose="02050604050505020204" pitchFamily="18" charset="0"/>
            </a:endParaRPr>
          </a:p>
          <a:p>
            <a:pPr lvl="1">
              <a:lnSpc>
                <a:spcPct val="150000"/>
              </a:lnSpc>
            </a:pPr>
            <a:r>
              <a:rPr lang="ru-RU" sz="2400" dirty="0" err="1">
                <a:latin typeface="Bookman Old Style" panose="02050604050505020204" pitchFamily="18" charset="0"/>
              </a:rPr>
              <a:t>git</a:t>
            </a:r>
            <a:r>
              <a:rPr lang="ru-RU" sz="2400" dirty="0">
                <a:latin typeface="Bookman Old Style" panose="02050604050505020204" pitchFamily="18" charset="0"/>
              </a:rPr>
              <a:t> </a:t>
            </a:r>
            <a:r>
              <a:rPr lang="ru-RU" sz="2400" dirty="0" err="1">
                <a:latin typeface="Bookman Old Style" panose="02050604050505020204" pitchFamily="18" charset="0"/>
              </a:rPr>
              <a:t>push</a:t>
            </a:r>
            <a:endParaRPr lang="ru-RU" sz="2400" dirty="0"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2961344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0"/>
            <a:ext cx="12192000" cy="654357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5875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ru-RU" sz="2800" b="1" dirty="0" err="1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Pull</a:t>
            </a:r>
            <a:r>
              <a:rPr lang="ru-RU" sz="2800" b="1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 </a:t>
            </a:r>
            <a:r>
              <a:rPr lang="ru-RU" sz="2800" b="1" dirty="0" err="1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Request</a:t>
            </a:r>
            <a:r>
              <a:rPr lang="ru-RU" sz="2800" b="1" dirty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 (PR) — Главная кнопка в IT</a:t>
            </a:r>
            <a:endParaRPr lang="en-US" sz="2800" b="1" dirty="0">
              <a:solidFill>
                <a:schemeClr val="tx2">
                  <a:lumMod val="50000"/>
                </a:schemeClr>
              </a:solidFill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Прямоугольник 7"/>
          <p:cNvSpPr/>
          <p:nvPr/>
        </p:nvSpPr>
        <p:spPr>
          <a:xfrm>
            <a:off x="0" y="654357"/>
            <a:ext cx="12192000" cy="5078313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В серьезных компаниях никто не пушит код напрямую в ветку </a:t>
            </a:r>
            <a:r>
              <a:rPr lang="ru-RU" sz="2400" dirty="0" err="1">
                <a:latin typeface="Bookman Old Style" panose="02050604050505020204" pitchFamily="18" charset="0"/>
              </a:rPr>
              <a:t>main</a:t>
            </a:r>
            <a:r>
              <a:rPr lang="ru-RU" sz="2400" dirty="0">
                <a:latin typeface="Bookman Old Style" panose="02050604050505020204" pitchFamily="18" charset="0"/>
              </a:rPr>
              <a:t>. Это запрещено настройками.</a:t>
            </a:r>
          </a:p>
          <a:p>
            <a:pPr>
              <a:lnSpc>
                <a:spcPct val="150000"/>
              </a:lnSpc>
            </a:pPr>
            <a:r>
              <a:rPr lang="ru-RU" sz="2400" b="1" dirty="0">
                <a:latin typeface="Bookman Old Style" panose="02050604050505020204" pitchFamily="18" charset="0"/>
              </a:rPr>
              <a:t>Как выглядит работа на самом деле:</a:t>
            </a:r>
            <a:endParaRPr lang="ru-RU" sz="2400" dirty="0">
              <a:latin typeface="Bookman Old Style" panose="02050604050505020204" pitchFamily="18" charset="0"/>
            </a:endParaRP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ru-RU" sz="2400" dirty="0">
                <a:latin typeface="Bookman Old Style" panose="02050604050505020204" pitchFamily="18" charset="0"/>
              </a:rPr>
              <a:t>Вы создаете свою ветку: </a:t>
            </a:r>
            <a:r>
              <a:rPr lang="ru-RU" sz="2400" dirty="0" err="1">
                <a:latin typeface="Bookman Old Style" panose="02050604050505020204" pitchFamily="18" charset="0"/>
              </a:rPr>
              <a:t>git</a:t>
            </a:r>
            <a:r>
              <a:rPr lang="ru-RU" sz="2400" dirty="0">
                <a:latin typeface="Bookman Old Style" panose="02050604050505020204" pitchFamily="18" charset="0"/>
              </a:rPr>
              <a:t> </a:t>
            </a:r>
            <a:r>
              <a:rPr lang="ru-RU" sz="2400" dirty="0" err="1">
                <a:latin typeface="Bookman Old Style" panose="02050604050505020204" pitchFamily="18" charset="0"/>
              </a:rPr>
              <a:t>switch</a:t>
            </a:r>
            <a:r>
              <a:rPr lang="ru-RU" sz="2400" dirty="0">
                <a:latin typeface="Bookman Old Style" panose="02050604050505020204" pitchFamily="18" charset="0"/>
              </a:rPr>
              <a:t> -c </a:t>
            </a:r>
            <a:r>
              <a:rPr lang="ru-RU" sz="2400" dirty="0" err="1">
                <a:latin typeface="Bookman Old Style" panose="02050604050505020204" pitchFamily="18" charset="0"/>
              </a:rPr>
              <a:t>my-feature</a:t>
            </a:r>
            <a:r>
              <a:rPr lang="ru-RU" sz="2400" dirty="0">
                <a:latin typeface="Bookman Old Style" panose="02050604050505020204" pitchFamily="18" charset="0"/>
              </a:rPr>
              <a:t>.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ru-RU" sz="2400" dirty="0">
                <a:latin typeface="Bookman Old Style" panose="02050604050505020204" pitchFamily="18" charset="0"/>
              </a:rPr>
              <a:t>Пишете код, делаете </a:t>
            </a:r>
            <a:r>
              <a:rPr lang="ru-RU" sz="2400" dirty="0" err="1">
                <a:latin typeface="Bookman Old Style" panose="02050604050505020204" pitchFamily="18" charset="0"/>
              </a:rPr>
              <a:t>коммиты</a:t>
            </a:r>
            <a:r>
              <a:rPr lang="ru-RU" sz="2400" dirty="0">
                <a:latin typeface="Bookman Old Style" panose="02050604050505020204" pitchFamily="18" charset="0"/>
              </a:rPr>
              <a:t>.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ru-RU" sz="2400" dirty="0">
                <a:latin typeface="Bookman Old Style" panose="02050604050505020204" pitchFamily="18" charset="0"/>
              </a:rPr>
              <a:t>Делаете </a:t>
            </a:r>
            <a:r>
              <a:rPr lang="ru-RU" sz="2400" dirty="0" err="1">
                <a:latin typeface="Bookman Old Style" panose="02050604050505020204" pitchFamily="18" charset="0"/>
              </a:rPr>
              <a:t>git</a:t>
            </a:r>
            <a:r>
              <a:rPr lang="ru-RU" sz="2400" dirty="0">
                <a:latin typeface="Bookman Old Style" panose="02050604050505020204" pitchFamily="18" charset="0"/>
              </a:rPr>
              <a:t> </a:t>
            </a:r>
            <a:r>
              <a:rPr lang="ru-RU" sz="2400" dirty="0" err="1">
                <a:latin typeface="Bookman Old Style" panose="02050604050505020204" pitchFamily="18" charset="0"/>
              </a:rPr>
              <a:t>push</a:t>
            </a:r>
            <a:r>
              <a:rPr lang="ru-RU" sz="2400" dirty="0">
                <a:latin typeface="Bookman Old Style" panose="02050604050505020204" pitchFamily="18" charset="0"/>
              </a:rPr>
              <a:t> своей ветки на </a:t>
            </a:r>
            <a:r>
              <a:rPr lang="ru-RU" sz="2400" dirty="0" err="1">
                <a:latin typeface="Bookman Old Style" panose="02050604050505020204" pitchFamily="18" charset="0"/>
              </a:rPr>
              <a:t>GitHub</a:t>
            </a:r>
            <a:r>
              <a:rPr lang="ru-RU" sz="2400" dirty="0">
                <a:latin typeface="Bookman Old Style" panose="02050604050505020204" pitchFamily="18" charset="0"/>
              </a:rPr>
              <a:t>.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ru-RU" sz="2400" dirty="0">
                <a:latin typeface="Bookman Old Style" panose="02050604050505020204" pitchFamily="18" charset="0"/>
              </a:rPr>
              <a:t>На сайте </a:t>
            </a:r>
            <a:r>
              <a:rPr lang="ru-RU" sz="2400" dirty="0" err="1">
                <a:latin typeface="Bookman Old Style" panose="02050604050505020204" pitchFamily="18" charset="0"/>
              </a:rPr>
              <a:t>GitHub</a:t>
            </a:r>
            <a:r>
              <a:rPr lang="ru-RU" sz="2400" dirty="0">
                <a:latin typeface="Bookman Old Style" panose="02050604050505020204" pitchFamily="18" charset="0"/>
              </a:rPr>
              <a:t> нажимаете </a:t>
            </a:r>
            <a:r>
              <a:rPr lang="ru-RU" sz="2400" b="1" dirty="0">
                <a:latin typeface="Bookman Old Style" panose="02050604050505020204" pitchFamily="18" charset="0"/>
              </a:rPr>
              <a:t>"</a:t>
            </a:r>
            <a:r>
              <a:rPr lang="ru-RU" sz="2400" b="1" dirty="0" err="1">
                <a:latin typeface="Bookman Old Style" panose="02050604050505020204" pitchFamily="18" charset="0"/>
              </a:rPr>
              <a:t>New</a:t>
            </a:r>
            <a:r>
              <a:rPr lang="ru-RU" sz="2400" b="1" dirty="0">
                <a:latin typeface="Bookman Old Style" panose="02050604050505020204" pitchFamily="18" charset="0"/>
              </a:rPr>
              <a:t> </a:t>
            </a:r>
            <a:r>
              <a:rPr lang="ru-RU" sz="2400" b="1" dirty="0" err="1">
                <a:latin typeface="Bookman Old Style" panose="02050604050505020204" pitchFamily="18" charset="0"/>
              </a:rPr>
              <a:t>Pull</a:t>
            </a:r>
            <a:r>
              <a:rPr lang="ru-RU" sz="2400" b="1" dirty="0">
                <a:latin typeface="Bookman Old Style" panose="02050604050505020204" pitchFamily="18" charset="0"/>
              </a:rPr>
              <a:t> </a:t>
            </a:r>
            <a:r>
              <a:rPr lang="ru-RU" sz="2400" b="1" dirty="0" err="1">
                <a:latin typeface="Bookman Old Style" panose="02050604050505020204" pitchFamily="18" charset="0"/>
              </a:rPr>
              <a:t>Request</a:t>
            </a:r>
            <a:r>
              <a:rPr lang="ru-RU" sz="2400" b="1" dirty="0">
                <a:latin typeface="Bookman Old Style" panose="02050604050505020204" pitchFamily="18" charset="0"/>
              </a:rPr>
              <a:t>"</a:t>
            </a:r>
            <a:r>
              <a:rPr lang="ru-RU" sz="2400" dirty="0">
                <a:latin typeface="Bookman Old Style" panose="02050604050505020204" pitchFamily="18" charset="0"/>
              </a:rPr>
              <a:t>.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ru-RU" sz="2400" dirty="0" err="1">
                <a:latin typeface="Bookman Old Style" panose="02050604050505020204" pitchFamily="18" charset="0"/>
              </a:rPr>
              <a:t>Тимлид</a:t>
            </a:r>
            <a:r>
              <a:rPr lang="ru-RU" sz="2400" dirty="0">
                <a:latin typeface="Bookman Old Style" panose="02050604050505020204" pitchFamily="18" charset="0"/>
              </a:rPr>
              <a:t> смотрит ваш код (</a:t>
            </a:r>
            <a:r>
              <a:rPr lang="ru-RU" sz="2400" dirty="0" err="1">
                <a:latin typeface="Bookman Old Style" panose="02050604050505020204" pitchFamily="18" charset="0"/>
              </a:rPr>
              <a:t>Code</a:t>
            </a:r>
            <a:r>
              <a:rPr lang="ru-RU" sz="2400" dirty="0">
                <a:latin typeface="Bookman Old Style" panose="02050604050505020204" pitchFamily="18" charset="0"/>
              </a:rPr>
              <a:t> </a:t>
            </a:r>
            <a:r>
              <a:rPr lang="ru-RU" sz="2400" dirty="0" err="1">
                <a:latin typeface="Bookman Old Style" panose="02050604050505020204" pitchFamily="18" charset="0"/>
              </a:rPr>
              <a:t>Review</a:t>
            </a:r>
            <a:r>
              <a:rPr lang="ru-RU" sz="2400" dirty="0">
                <a:latin typeface="Bookman Old Style" panose="02050604050505020204" pitchFamily="18" charset="0"/>
              </a:rPr>
              <a:t>), пишет замечания.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ru-RU" sz="2400" dirty="0">
                <a:latin typeface="Bookman Old Style" panose="02050604050505020204" pitchFamily="18" charset="0"/>
              </a:rPr>
              <a:t>Когда всё </a:t>
            </a:r>
            <a:r>
              <a:rPr lang="ru-RU" sz="2400" dirty="0" err="1">
                <a:latin typeface="Bookman Old Style" panose="02050604050505020204" pitchFamily="18" charset="0"/>
              </a:rPr>
              <a:t>ок</a:t>
            </a:r>
            <a:r>
              <a:rPr lang="ru-RU" sz="2400" dirty="0">
                <a:latin typeface="Bookman Old Style" panose="02050604050505020204" pitchFamily="18" charset="0"/>
              </a:rPr>
              <a:t>, </a:t>
            </a:r>
            <a:r>
              <a:rPr lang="ru-RU" sz="2400" dirty="0" err="1">
                <a:latin typeface="Bookman Old Style" panose="02050604050505020204" pitchFamily="18" charset="0"/>
              </a:rPr>
              <a:t>тимлид</a:t>
            </a:r>
            <a:r>
              <a:rPr lang="ru-RU" sz="2400" dirty="0">
                <a:latin typeface="Bookman Old Style" panose="02050604050505020204" pitchFamily="18" charset="0"/>
              </a:rPr>
              <a:t> жмет </a:t>
            </a:r>
            <a:r>
              <a:rPr lang="ru-RU" sz="2400" b="1" dirty="0">
                <a:latin typeface="Bookman Old Style" panose="02050604050505020204" pitchFamily="18" charset="0"/>
              </a:rPr>
              <a:t>"</a:t>
            </a:r>
            <a:r>
              <a:rPr lang="ru-RU" sz="2400" b="1" dirty="0" err="1">
                <a:latin typeface="Bookman Old Style" panose="02050604050505020204" pitchFamily="18" charset="0"/>
              </a:rPr>
              <a:t>Merge</a:t>
            </a:r>
            <a:r>
              <a:rPr lang="ru-RU" sz="2400" b="1" dirty="0">
                <a:latin typeface="Bookman Old Style" panose="02050604050505020204" pitchFamily="18" charset="0"/>
              </a:rPr>
              <a:t>"</a:t>
            </a:r>
            <a:r>
              <a:rPr lang="ru-RU" sz="2400" dirty="0">
                <a:latin typeface="Bookman Old Style" panose="02050604050505020204" pitchFamily="18" charset="0"/>
              </a:rPr>
              <a:t>, и ваш код попадает в </a:t>
            </a:r>
            <a:r>
              <a:rPr lang="ru-RU" sz="2400" dirty="0" err="1">
                <a:latin typeface="Bookman Old Style" panose="02050604050505020204" pitchFamily="18" charset="0"/>
              </a:rPr>
              <a:t>main</a:t>
            </a:r>
            <a:r>
              <a:rPr lang="ru-RU" sz="2400" dirty="0">
                <a:latin typeface="Bookman Old Style" panose="02050604050505020204" pitchFamily="18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55414305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0"/>
            <a:ext cx="12192000" cy="654357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5875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ru-RU" sz="2800" b="1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Программирование и </a:t>
            </a:r>
            <a:r>
              <a:rPr lang="en-US" sz="2800" b="1" dirty="0" err="1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git</a:t>
            </a:r>
            <a:endParaRPr lang="en-US" sz="2800" b="1" dirty="0">
              <a:solidFill>
                <a:schemeClr val="tx2">
                  <a:lumMod val="50000"/>
                </a:schemeClr>
              </a:solidFill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Прямоугольник 7"/>
          <p:cNvSpPr/>
          <p:nvPr/>
        </p:nvSpPr>
        <p:spPr>
          <a:xfrm>
            <a:off x="0" y="654357"/>
            <a:ext cx="12192000" cy="6186309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Рассмотрим этапы работы с </a:t>
            </a:r>
            <a:r>
              <a:rPr lang="en-US" sz="2400" dirty="0" err="1" smtClean="0">
                <a:latin typeface="Bookman Old Style" panose="02050604050505020204" pitchFamily="18" charset="0"/>
              </a:rPr>
              <a:t>git</a:t>
            </a:r>
            <a:r>
              <a:rPr lang="en-US" sz="2400" dirty="0" smtClean="0">
                <a:latin typeface="Bookman Old Style" panose="02050604050505020204" pitchFamily="18" charset="0"/>
              </a:rPr>
              <a:t> </a:t>
            </a:r>
            <a:r>
              <a:rPr lang="ru-RU" sz="2400" dirty="0" smtClean="0">
                <a:latin typeface="Bookman Old Style" panose="02050604050505020204" pitchFamily="18" charset="0"/>
              </a:rPr>
              <a:t>при написании программ.</a:t>
            </a: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Ещё раз отметим, что </a:t>
            </a:r>
            <a:r>
              <a:rPr lang="ru-RU" sz="2400" dirty="0" err="1" smtClean="0">
                <a:latin typeface="Bookman Old Style" panose="02050604050505020204" pitchFamily="18" charset="0"/>
              </a:rPr>
              <a:t>репозиторий</a:t>
            </a:r>
            <a:r>
              <a:rPr lang="ru-RU" sz="2400" dirty="0" smtClean="0">
                <a:latin typeface="Bookman Old Style" panose="02050604050505020204" pitchFamily="18" charset="0"/>
              </a:rPr>
              <a:t> это обычная папка, в которой может храниться все что угодно.</a:t>
            </a: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Однако при написании программ, например, на </a:t>
            </a:r>
            <a:r>
              <a:rPr lang="en-US" sz="2400" dirty="0" smtClean="0">
                <a:latin typeface="Bookman Old Style" panose="02050604050505020204" pitchFamily="18" charset="0"/>
              </a:rPr>
              <a:t>C#</a:t>
            </a:r>
            <a:r>
              <a:rPr lang="ru-RU" sz="2400" dirty="0" smtClean="0">
                <a:latin typeface="Bookman Old Style" panose="02050604050505020204" pitchFamily="18" charset="0"/>
              </a:rPr>
              <a:t> в папке с проектом создается огромное количество вспомогательных файлов, которые пересоздаются при компиляции и которые не нужно сохранять в </a:t>
            </a:r>
            <a:r>
              <a:rPr lang="ru-RU" sz="2400" dirty="0" err="1" smtClean="0">
                <a:latin typeface="Bookman Old Style" panose="02050604050505020204" pitchFamily="18" charset="0"/>
              </a:rPr>
              <a:t>репозитории</a:t>
            </a:r>
            <a:r>
              <a:rPr lang="ru-RU" sz="2400" dirty="0" smtClean="0">
                <a:latin typeface="Bookman Old Style" panose="02050604050505020204" pitchFamily="18" charset="0"/>
              </a:rPr>
              <a:t>. </a:t>
            </a: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Поэтому</a:t>
            </a:r>
            <a:r>
              <a:rPr lang="ru-RU" sz="2400" b="1" dirty="0" smtClean="0">
                <a:latin typeface="Bookman Old Style" panose="02050604050505020204" pitchFamily="18" charset="0"/>
              </a:rPr>
              <a:t> важнейшим этапом </a:t>
            </a:r>
            <a:r>
              <a:rPr lang="ru-RU" sz="2400" dirty="0" smtClean="0">
                <a:latin typeface="Bookman Old Style" panose="02050604050505020204" pitchFamily="18" charset="0"/>
              </a:rPr>
              <a:t>здесь является добавление </a:t>
            </a:r>
            <a:r>
              <a:rPr lang="en-US" sz="2400" b="1" dirty="0" err="1" smtClean="0">
                <a:latin typeface="Bookman Old Style" panose="02050604050505020204" pitchFamily="18" charset="0"/>
              </a:rPr>
              <a:t>gitignore</a:t>
            </a:r>
            <a:r>
              <a:rPr lang="en-US" sz="2400" dirty="0" smtClean="0">
                <a:latin typeface="Bookman Old Style" panose="02050604050505020204" pitchFamily="18" charset="0"/>
              </a:rPr>
              <a:t> </a:t>
            </a:r>
            <a:r>
              <a:rPr lang="ru-RU" sz="2400" dirty="0" smtClean="0">
                <a:latin typeface="Bookman Old Style" panose="02050604050505020204" pitchFamily="18" charset="0"/>
              </a:rPr>
              <a:t>файла с правильным содержимым. Добавить его нужно </a:t>
            </a:r>
            <a:r>
              <a:rPr lang="ru-RU" sz="2400" b="1" dirty="0" smtClean="0">
                <a:latin typeface="Bookman Old Style" panose="02050604050505020204" pitchFamily="18" charset="0"/>
              </a:rPr>
              <a:t>ДО</a:t>
            </a:r>
            <a:r>
              <a:rPr lang="ru-RU" sz="2400" dirty="0" smtClean="0">
                <a:latin typeface="Bookman Old Style" panose="02050604050505020204" pitchFamily="18" charset="0"/>
              </a:rPr>
              <a:t> создания программы в </a:t>
            </a:r>
            <a:r>
              <a:rPr lang="ru-RU" sz="2400" dirty="0" err="1" smtClean="0">
                <a:latin typeface="Bookman Old Style" panose="02050604050505020204" pitchFamily="18" charset="0"/>
              </a:rPr>
              <a:t>репозитории</a:t>
            </a:r>
            <a:r>
              <a:rPr lang="ru-RU" sz="2400" dirty="0" smtClean="0">
                <a:latin typeface="Bookman Old Style" panose="02050604050505020204" pitchFamily="18" charset="0"/>
              </a:rPr>
              <a:t>. </a:t>
            </a:r>
            <a:r>
              <a:rPr lang="ru-RU" sz="2400" dirty="0">
                <a:latin typeface="Bookman Old Style" panose="02050604050505020204" pitchFamily="18" charset="0"/>
              </a:rPr>
              <a:t>Данный файл для </a:t>
            </a:r>
            <a:r>
              <a:rPr lang="en-US" sz="2400" dirty="0">
                <a:latin typeface="Bookman Old Style" panose="02050604050505020204" pitchFamily="18" charset="0"/>
              </a:rPr>
              <a:t>C# </a:t>
            </a:r>
            <a:r>
              <a:rPr lang="ru-RU" sz="2400" dirty="0">
                <a:latin typeface="Bookman Old Style" panose="02050604050505020204" pitchFamily="18" charset="0"/>
              </a:rPr>
              <a:t>можно скачать по ссылке </a:t>
            </a:r>
            <a:r>
              <a:rPr lang="en-US" sz="2200" dirty="0" smtClean="0">
                <a:latin typeface="Bookman Old Style" panose="02050604050505020204" pitchFamily="18" charset="0"/>
                <a:hlinkClick r:id="rId3"/>
              </a:rPr>
              <a:t>https</a:t>
            </a:r>
            <a:r>
              <a:rPr lang="en-US" sz="2200" dirty="0">
                <a:latin typeface="Bookman Old Style" panose="02050604050505020204" pitchFamily="18" charset="0"/>
                <a:hlinkClick r:id="rId3"/>
              </a:rPr>
              <a:t>://</a:t>
            </a:r>
            <a:r>
              <a:rPr lang="en-US" sz="2200" dirty="0" smtClean="0">
                <a:latin typeface="Bookman Old Style" panose="02050604050505020204" pitchFamily="18" charset="0"/>
                <a:hlinkClick r:id="rId3"/>
              </a:rPr>
              <a:t>github.com/github/gitignore/blob/main/VisualStudio.gitignore</a:t>
            </a:r>
            <a:endParaRPr lang="en-US" sz="2200" dirty="0"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8333187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1" y="0"/>
            <a:ext cx="12192000" cy="6740307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Очистим </a:t>
            </a:r>
            <a:r>
              <a:rPr lang="ru-RU" sz="2400" dirty="0" err="1" smtClean="0">
                <a:latin typeface="Bookman Old Style" panose="02050604050505020204" pitchFamily="18" charset="0"/>
              </a:rPr>
              <a:t>репозиторий</a:t>
            </a:r>
            <a:r>
              <a:rPr lang="ru-RU" sz="2400" dirty="0">
                <a:latin typeface="Bookman Old Style" panose="02050604050505020204" pitchFamily="18" charset="0"/>
              </a:rPr>
              <a:t>,</a:t>
            </a:r>
            <a:r>
              <a:rPr lang="ru-RU" sz="2400" dirty="0" smtClean="0">
                <a:latin typeface="Bookman Old Style" panose="02050604050505020204" pitchFamily="18" charset="0"/>
              </a:rPr>
              <a:t> добавим </a:t>
            </a:r>
            <a:r>
              <a:rPr lang="en-US" sz="2400" dirty="0" err="1" smtClean="0">
                <a:latin typeface="Bookman Old Style" panose="02050604050505020204" pitchFamily="18" charset="0"/>
              </a:rPr>
              <a:t>gitignore</a:t>
            </a:r>
            <a:r>
              <a:rPr lang="en-US" sz="2400" dirty="0" smtClean="0">
                <a:latin typeface="Bookman Old Style" panose="02050604050505020204" pitchFamily="18" charset="0"/>
              </a:rPr>
              <a:t> </a:t>
            </a:r>
            <a:r>
              <a:rPr lang="ru-RU" sz="2400" dirty="0" smtClean="0">
                <a:latin typeface="Bookman Old Style" panose="02050604050505020204" pitchFamily="18" charset="0"/>
              </a:rPr>
              <a:t>файл и зафиксируем изменения.</a:t>
            </a:r>
            <a:endParaRPr lang="en-US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en-US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en-US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en-US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en-US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en-US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Далее создадим проект, в качестве местоположения проекта выберем </a:t>
            </a:r>
            <a:r>
              <a:rPr lang="ru-RU" sz="2400" dirty="0" err="1" smtClean="0">
                <a:latin typeface="Bookman Old Style" panose="02050604050505020204" pitchFamily="18" charset="0"/>
              </a:rPr>
              <a:t>репозиторий</a:t>
            </a:r>
            <a:r>
              <a:rPr lang="ru-RU" sz="2400" dirty="0" smtClean="0">
                <a:latin typeface="Bookman Old Style" panose="02050604050505020204" pitchFamily="18" charset="0"/>
              </a:rPr>
              <a:t>. </a:t>
            </a:r>
          </a:p>
          <a:p>
            <a:pPr algn="just">
              <a:lnSpc>
                <a:spcPct val="150000"/>
              </a:lnSpc>
            </a:pPr>
            <a:endParaRPr lang="ru-RU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Зеленая полоска слева означает, что этой строки не было и она добавлена.</a:t>
            </a:r>
            <a:endParaRPr lang="en-US" sz="2400" dirty="0" smtClean="0">
              <a:latin typeface="Bookman Old Style" panose="02050604050505020204" pitchFamily="18" charset="0"/>
            </a:endParaRP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 rotWithShape="1">
          <a:blip r:embed="rId3"/>
          <a:srcRect t="27818" b="26329"/>
          <a:stretch/>
        </p:blipFill>
        <p:spPr>
          <a:xfrm>
            <a:off x="581891" y="1182202"/>
            <a:ext cx="11307753" cy="2743200"/>
          </a:xfrm>
          <a:prstGeom prst="rect">
            <a:avLst/>
          </a:prstGeom>
        </p:spPr>
      </p:pic>
      <p:pic>
        <p:nvPicPr>
          <p:cNvPr id="3" name="Рисунок 2"/>
          <p:cNvPicPr>
            <a:picLocks noChangeAspect="1"/>
          </p:cNvPicPr>
          <p:nvPr/>
        </p:nvPicPr>
        <p:blipFill rotWithShape="1">
          <a:blip r:embed="rId4"/>
          <a:srcRect t="17649" b="40465"/>
          <a:stretch/>
        </p:blipFill>
        <p:spPr>
          <a:xfrm>
            <a:off x="1877078" y="4994815"/>
            <a:ext cx="9269119" cy="5985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433546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1" y="0"/>
            <a:ext cx="12192000" cy="4524315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В </a:t>
            </a:r>
            <a:r>
              <a:rPr lang="en-US" sz="2400" dirty="0" smtClean="0">
                <a:latin typeface="Bookman Old Style" panose="02050604050505020204" pitchFamily="18" charset="0"/>
              </a:rPr>
              <a:t>Visual Studio </a:t>
            </a:r>
            <a:r>
              <a:rPr lang="ru-RU" sz="2400" dirty="0" smtClean="0">
                <a:latin typeface="Bookman Old Style" panose="02050604050505020204" pitchFamily="18" charset="0"/>
              </a:rPr>
              <a:t>есть интерфейс для работы с </a:t>
            </a:r>
            <a:r>
              <a:rPr lang="en-US" sz="2400" dirty="0" err="1" smtClean="0">
                <a:latin typeface="Bookman Old Style" panose="02050604050505020204" pitchFamily="18" charset="0"/>
              </a:rPr>
              <a:t>git</a:t>
            </a:r>
            <a:r>
              <a:rPr lang="en-US" sz="2400" dirty="0" smtClean="0">
                <a:latin typeface="Bookman Old Style" panose="02050604050505020204" pitchFamily="18" charset="0"/>
              </a:rPr>
              <a:t>.</a:t>
            </a: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В правой нижней части экрана отображается: номер фиксации, количество изменений, текущая ветка, имя </a:t>
            </a:r>
            <a:r>
              <a:rPr lang="ru-RU" sz="2400" dirty="0" err="1" smtClean="0">
                <a:latin typeface="Bookman Old Style" panose="02050604050505020204" pitchFamily="18" charset="0"/>
              </a:rPr>
              <a:t>репозитория</a:t>
            </a:r>
            <a:r>
              <a:rPr lang="ru-RU" sz="2400" dirty="0" smtClean="0">
                <a:latin typeface="Bookman Old Style" panose="02050604050505020204" pitchFamily="18" charset="0"/>
              </a:rPr>
              <a:t>:</a:t>
            </a:r>
          </a:p>
          <a:p>
            <a:pPr algn="just">
              <a:lnSpc>
                <a:spcPct val="150000"/>
              </a:lnSpc>
            </a:pPr>
            <a:endParaRPr lang="ru-RU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ru-RU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ru-RU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Также есть вкладка Изменения </a:t>
            </a:r>
            <a:r>
              <a:rPr lang="en-US" sz="2400" dirty="0" err="1" smtClean="0">
                <a:latin typeface="Bookman Old Style" panose="02050604050505020204" pitchFamily="18" charset="0"/>
              </a:rPr>
              <a:t>Git</a:t>
            </a:r>
            <a:r>
              <a:rPr lang="en-US" sz="2400" dirty="0" smtClean="0">
                <a:latin typeface="Bookman Old Style" panose="02050604050505020204" pitchFamily="18" charset="0"/>
              </a:rPr>
              <a:t> (</a:t>
            </a:r>
            <a:r>
              <a:rPr lang="ru-RU" sz="2400" dirty="0" smtClean="0">
                <a:latin typeface="Bookman Old Style" panose="02050604050505020204" pitchFamily="18" charset="0"/>
              </a:rPr>
              <a:t>находится в панели «Вид»</a:t>
            </a:r>
            <a:r>
              <a:rPr lang="en-US" sz="2400" dirty="0" smtClean="0">
                <a:latin typeface="Bookman Old Style" panose="02050604050505020204" pitchFamily="18" charset="0"/>
              </a:rPr>
              <a:t>)</a:t>
            </a:r>
            <a:endParaRPr lang="ru-RU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en-US" sz="2400" dirty="0" smtClean="0">
              <a:latin typeface="Bookman Old Style" panose="02050604050505020204" pitchFamily="18" charset="0"/>
            </a:endParaRPr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223" y="1854079"/>
            <a:ext cx="11205555" cy="12186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699669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1" y="0"/>
            <a:ext cx="12192000" cy="6186309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Откроем вкладку Изменения </a:t>
            </a:r>
            <a:r>
              <a:rPr lang="en-US" sz="2400" dirty="0" err="1" smtClean="0">
                <a:latin typeface="Bookman Old Style" panose="02050604050505020204" pitchFamily="18" charset="0"/>
              </a:rPr>
              <a:t>Git</a:t>
            </a:r>
            <a:endParaRPr lang="ru-RU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ru-RU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ru-RU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ru-RU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ru-RU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ru-RU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ru-RU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ru-RU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Здесь с помощью графического интерфейса можно сменить ветку и зафиксировать изменения.</a:t>
            </a:r>
            <a:endParaRPr lang="en-US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Далее рассмотрим другие способы работы с </a:t>
            </a:r>
            <a:r>
              <a:rPr lang="en-US" sz="2400" dirty="0" err="1" smtClean="0">
                <a:latin typeface="Bookman Old Style" panose="02050604050505020204" pitchFamily="18" charset="0"/>
              </a:rPr>
              <a:t>git</a:t>
            </a:r>
            <a:r>
              <a:rPr lang="en-US" sz="2400" dirty="0" smtClean="0">
                <a:latin typeface="Bookman Old Style" panose="02050604050505020204" pitchFamily="18" charset="0"/>
              </a:rPr>
              <a:t>.</a:t>
            </a: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9972" y="633562"/>
            <a:ext cx="11272057" cy="35873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172467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1" y="0"/>
            <a:ext cx="12192000" cy="6740307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endParaRPr lang="en-US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Для </a:t>
            </a:r>
            <a:r>
              <a:rPr lang="en-US" sz="2400" b="1" dirty="0" err="1" smtClean="0">
                <a:latin typeface="Bookman Old Style" panose="02050604050505020204" pitchFamily="18" charset="0"/>
              </a:rPr>
              <a:t>git</a:t>
            </a:r>
            <a:r>
              <a:rPr lang="en-US" sz="2400" dirty="0" smtClean="0">
                <a:latin typeface="Bookman Old Style" panose="02050604050505020204" pitchFamily="18" charset="0"/>
              </a:rPr>
              <a:t> </a:t>
            </a:r>
            <a:r>
              <a:rPr lang="ru-RU" sz="2400" dirty="0" smtClean="0">
                <a:latin typeface="Bookman Old Style" panose="02050604050505020204" pitchFamily="18" charset="0"/>
              </a:rPr>
              <a:t>существует графический интерфейс, который можно вызвать выбрав пункт</a:t>
            </a:r>
            <a:r>
              <a:rPr lang="en-US" sz="2400" dirty="0" smtClean="0">
                <a:latin typeface="Bookman Old Style" panose="02050604050505020204" pitchFamily="18" charset="0"/>
              </a:rPr>
              <a:t> (</a:t>
            </a:r>
            <a:r>
              <a:rPr lang="ru-RU" sz="2400" dirty="0" smtClean="0">
                <a:latin typeface="Bookman Old Style" panose="02050604050505020204" pitchFamily="18" charset="0"/>
              </a:rPr>
              <a:t>при нажатии ПКМ, см. пункты ранее</a:t>
            </a:r>
            <a:r>
              <a:rPr lang="en-US" sz="2400" dirty="0" smtClean="0">
                <a:latin typeface="Bookman Old Style" panose="02050604050505020204" pitchFamily="18" charset="0"/>
              </a:rPr>
              <a:t>)</a:t>
            </a:r>
            <a:r>
              <a:rPr lang="ru-RU" sz="2400" dirty="0" smtClean="0">
                <a:latin typeface="Bookman Old Style" panose="02050604050505020204" pitchFamily="18" charset="0"/>
              </a:rPr>
              <a:t>:</a:t>
            </a:r>
          </a:p>
          <a:p>
            <a:pPr algn="just">
              <a:lnSpc>
                <a:spcPct val="150000"/>
              </a:lnSpc>
            </a:pPr>
            <a:endParaRPr lang="ru-RU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en-US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ru-RU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Также существует отдельное приложение </a:t>
            </a:r>
            <a:r>
              <a:rPr lang="en-US" sz="2400" b="1" dirty="0" err="1" smtClean="0">
                <a:latin typeface="Bookman Old Style" panose="02050604050505020204" pitchFamily="18" charset="0"/>
              </a:rPr>
              <a:t>GitHub</a:t>
            </a:r>
            <a:r>
              <a:rPr lang="ru-RU" sz="2400" dirty="0" smtClean="0">
                <a:latin typeface="Bookman Old Style" panose="02050604050505020204" pitchFamily="18" charset="0"/>
              </a:rPr>
              <a:t>, которое позволяет сохранять проекты в удаленном </a:t>
            </a:r>
            <a:r>
              <a:rPr lang="ru-RU" sz="2400" dirty="0" err="1" smtClean="0">
                <a:latin typeface="Bookman Old Style" panose="02050604050505020204" pitchFamily="18" charset="0"/>
              </a:rPr>
              <a:t>репозитории</a:t>
            </a:r>
            <a:r>
              <a:rPr lang="ru-RU" sz="2400" dirty="0" smtClean="0">
                <a:latin typeface="Bookman Old Style" panose="02050604050505020204" pitchFamily="18" charset="0"/>
              </a:rPr>
              <a:t> (облачно), отображать статистику вашей работы, делиться проектами с другими людьми, оно позволяет работать в команде удаленно (каждый загружает свои изменения в удаленный </a:t>
            </a:r>
            <a:r>
              <a:rPr lang="ru-RU" sz="2400" dirty="0" err="1" smtClean="0">
                <a:latin typeface="Bookman Old Style" panose="02050604050505020204" pitchFamily="18" charset="0"/>
              </a:rPr>
              <a:t>репозиторий</a:t>
            </a:r>
            <a:r>
              <a:rPr lang="ru-RU" sz="2400" dirty="0" smtClean="0">
                <a:latin typeface="Bookman Old Style" panose="02050604050505020204" pitchFamily="18" charset="0"/>
              </a:rPr>
              <a:t> и загружает в свой локальный </a:t>
            </a:r>
            <a:r>
              <a:rPr lang="ru-RU" sz="2400" dirty="0" err="1" smtClean="0">
                <a:latin typeface="Bookman Old Style" panose="02050604050505020204" pitchFamily="18" charset="0"/>
              </a:rPr>
              <a:t>репозиторий</a:t>
            </a:r>
            <a:r>
              <a:rPr lang="ru-RU" sz="2400" dirty="0" smtClean="0">
                <a:latin typeface="Bookman Old Style" panose="02050604050505020204" pitchFamily="18" charset="0"/>
              </a:rPr>
              <a:t> чужие изменения).</a:t>
            </a:r>
            <a:endParaRPr lang="ru-RU" sz="2400" dirty="0">
              <a:latin typeface="Bookman Old Style" panose="02050604050505020204" pitchFamily="18" charset="0"/>
            </a:endParaRPr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 rotWithShape="1">
          <a:blip r:embed="rId3"/>
          <a:srcRect t="13246"/>
          <a:stretch/>
        </p:blipFill>
        <p:spPr>
          <a:xfrm>
            <a:off x="5254051" y="1859038"/>
            <a:ext cx="5907434" cy="1305415"/>
          </a:xfrm>
          <a:prstGeom prst="rect">
            <a:avLst/>
          </a:prstGeom>
        </p:spPr>
      </p:pic>
      <p:sp>
        <p:nvSpPr>
          <p:cNvPr id="4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-1"/>
            <a:ext cx="12192000" cy="654357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5875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US" sz="2800" b="1" dirty="0" err="1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git</a:t>
            </a:r>
            <a:r>
              <a:rPr lang="en-US" sz="2800" b="1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 GUI</a:t>
            </a:r>
            <a:endParaRPr lang="ru-RU" sz="2800" b="1" dirty="0">
              <a:solidFill>
                <a:schemeClr val="tx2">
                  <a:lumMod val="50000"/>
                </a:schemeClr>
              </a:solidFill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2992400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654356"/>
            <a:ext cx="12192000" cy="6186309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b="1" dirty="0" err="1">
                <a:latin typeface="Bookman Old Style" panose="02050604050505020204" pitchFamily="18" charset="0"/>
              </a:rPr>
              <a:t>GitHub</a:t>
            </a:r>
            <a:r>
              <a:rPr lang="ru-RU" sz="2400" dirty="0">
                <a:latin typeface="Bookman Old Style" panose="02050604050505020204" pitchFamily="18" charset="0"/>
              </a:rPr>
              <a:t> — крупнейший веб-сервис для хостинга IT-проектов и их совместной разработки. Веб-сервис основан на системе контроля версий </a:t>
            </a:r>
            <a:r>
              <a:rPr lang="ru-RU" sz="2400" dirty="0" err="1">
                <a:latin typeface="Bookman Old Style" panose="02050604050505020204" pitchFamily="18" charset="0"/>
              </a:rPr>
              <a:t>Git</a:t>
            </a:r>
            <a:r>
              <a:rPr lang="ru-RU" sz="2400" dirty="0">
                <a:latin typeface="Bookman Old Style" panose="02050604050505020204" pitchFamily="18" charset="0"/>
              </a:rPr>
              <a:t> и разработан на </a:t>
            </a:r>
            <a:r>
              <a:rPr lang="ru-RU" sz="2400" dirty="0" err="1">
                <a:latin typeface="Bookman Old Style" panose="02050604050505020204" pitchFamily="18" charset="0"/>
              </a:rPr>
              <a:t>Ruby</a:t>
            </a:r>
            <a:r>
              <a:rPr lang="ru-RU" sz="2400" dirty="0">
                <a:latin typeface="Bookman Old Style" panose="02050604050505020204" pitchFamily="18" charset="0"/>
              </a:rPr>
              <a:t> </a:t>
            </a:r>
            <a:r>
              <a:rPr lang="ru-RU" sz="2400" dirty="0" err="1">
                <a:latin typeface="Bookman Old Style" panose="02050604050505020204" pitchFamily="18" charset="0"/>
              </a:rPr>
              <a:t>on</a:t>
            </a:r>
            <a:r>
              <a:rPr lang="ru-RU" sz="2400" dirty="0">
                <a:latin typeface="Bookman Old Style" panose="02050604050505020204" pitchFamily="18" charset="0"/>
              </a:rPr>
              <a:t> </a:t>
            </a:r>
            <a:r>
              <a:rPr lang="ru-RU" sz="2400" dirty="0" err="1">
                <a:latin typeface="Bookman Old Style" panose="02050604050505020204" pitchFamily="18" charset="0"/>
              </a:rPr>
              <a:t>Rails</a:t>
            </a:r>
            <a:r>
              <a:rPr lang="ru-RU" sz="2400" dirty="0">
                <a:latin typeface="Bookman Old Style" panose="02050604050505020204" pitchFamily="18" charset="0"/>
              </a:rPr>
              <a:t> и </a:t>
            </a:r>
            <a:r>
              <a:rPr lang="ru-RU" sz="2400" dirty="0" err="1">
                <a:latin typeface="Bookman Old Style" panose="02050604050505020204" pitchFamily="18" charset="0"/>
              </a:rPr>
              <a:t>Erlang</a:t>
            </a:r>
            <a:r>
              <a:rPr lang="ru-RU" sz="2400" dirty="0">
                <a:latin typeface="Bookman Old Style" panose="02050604050505020204" pitchFamily="18" charset="0"/>
              </a:rPr>
              <a:t> компанией </a:t>
            </a:r>
            <a:r>
              <a:rPr lang="ru-RU" sz="2400" dirty="0" err="1" smtClean="0">
                <a:latin typeface="Bookman Old Style" panose="02050604050505020204" pitchFamily="18" charset="0"/>
              </a:rPr>
              <a:t>GitHub</a:t>
            </a:r>
            <a:r>
              <a:rPr lang="ru-RU" sz="2400" dirty="0" smtClean="0">
                <a:latin typeface="Bookman Old Style" panose="02050604050505020204" pitchFamily="18" charset="0"/>
              </a:rPr>
              <a:t>  </a:t>
            </a:r>
            <a:r>
              <a:rPr lang="ru-RU" sz="2400" dirty="0" err="1">
                <a:latin typeface="Bookman Old Style" panose="02050604050505020204" pitchFamily="18" charset="0"/>
              </a:rPr>
              <a:t>Inc</a:t>
            </a:r>
            <a:r>
              <a:rPr lang="ru-RU" sz="2400" dirty="0" smtClean="0">
                <a:latin typeface="Bookman Old Style" panose="02050604050505020204" pitchFamily="18" charset="0"/>
              </a:rPr>
              <a:t>.</a:t>
            </a:r>
            <a:endParaRPr lang="ru-RU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Для начала работы необходимо зарегистрироваться на сайте </a:t>
            </a:r>
            <a:r>
              <a:rPr lang="en-US" sz="2400" dirty="0">
                <a:latin typeface="Bookman Old Style" panose="02050604050505020204" pitchFamily="18" charset="0"/>
                <a:hlinkClick r:id="rId3"/>
              </a:rPr>
              <a:t>https://github.com</a:t>
            </a:r>
            <a:r>
              <a:rPr lang="en-US" sz="2400" dirty="0" smtClean="0">
                <a:latin typeface="Bookman Old Style" panose="02050604050505020204" pitchFamily="18" charset="0"/>
                <a:hlinkClick r:id="rId3"/>
              </a:rPr>
              <a:t>/</a:t>
            </a:r>
            <a:endParaRPr lang="ru-RU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и скачать </a:t>
            </a:r>
            <a:r>
              <a:rPr lang="en-US" sz="2400" b="1" dirty="0" smtClean="0">
                <a:latin typeface="Bookman Old Style" panose="02050604050505020204" pitchFamily="18" charset="0"/>
              </a:rPr>
              <a:t>GitHub Desktop</a:t>
            </a:r>
            <a:r>
              <a:rPr lang="ru-RU" sz="2400" dirty="0">
                <a:latin typeface="Bookman Old Style" panose="02050604050505020204" pitchFamily="18" charset="0"/>
              </a:rPr>
              <a:t> </a:t>
            </a:r>
            <a:r>
              <a:rPr lang="ru-RU" sz="2400" dirty="0" smtClean="0">
                <a:latin typeface="Bookman Old Style" panose="02050604050505020204" pitchFamily="18" charset="0"/>
              </a:rPr>
              <a:t>– приложение, </a:t>
            </a:r>
            <a:r>
              <a:rPr lang="ru-RU" sz="2400" dirty="0">
                <a:latin typeface="Bookman Old Style" panose="02050604050505020204" pitchFamily="18" charset="0"/>
              </a:rPr>
              <a:t>которое позволяет взаимодействовать с </a:t>
            </a:r>
            <a:r>
              <a:rPr lang="ru-RU" sz="2400" dirty="0" err="1">
                <a:latin typeface="Bookman Old Style" panose="02050604050505020204" pitchFamily="18" charset="0"/>
              </a:rPr>
              <a:t>GitHub</a:t>
            </a:r>
            <a:r>
              <a:rPr lang="ru-RU" sz="2400" dirty="0">
                <a:latin typeface="Bookman Old Style" panose="02050604050505020204" pitchFamily="18" charset="0"/>
              </a:rPr>
              <a:t> с помощью графического пользовательского </a:t>
            </a:r>
            <a:r>
              <a:rPr lang="ru-RU" sz="2400" dirty="0" smtClean="0">
                <a:latin typeface="Bookman Old Style" panose="02050604050505020204" pitchFamily="18" charset="0"/>
              </a:rPr>
              <a:t>интерфейса. </a:t>
            </a:r>
            <a:r>
              <a:rPr lang="en-US" sz="2400" dirty="0">
                <a:latin typeface="Bookman Old Style" panose="02050604050505020204" pitchFamily="18" charset="0"/>
                <a:hlinkClick r:id="rId4"/>
              </a:rPr>
              <a:t>https://desktop.github.com</a:t>
            </a:r>
            <a:r>
              <a:rPr lang="en-US" sz="2400" dirty="0" smtClean="0">
                <a:latin typeface="Bookman Old Style" panose="02050604050505020204" pitchFamily="18" charset="0"/>
                <a:hlinkClick r:id="rId4"/>
              </a:rPr>
              <a:t>/</a:t>
            </a:r>
            <a:r>
              <a:rPr lang="ru-RU" sz="2400" dirty="0">
                <a:latin typeface="Bookman Old Style" panose="02050604050505020204" pitchFamily="18" charset="0"/>
              </a:rPr>
              <a:t> </a:t>
            </a:r>
            <a:endParaRPr lang="en-US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Создадим </a:t>
            </a:r>
            <a:r>
              <a:rPr lang="ru-RU" sz="2400" dirty="0" err="1" smtClean="0">
                <a:latin typeface="Bookman Old Style" panose="02050604050505020204" pitchFamily="18" charset="0"/>
              </a:rPr>
              <a:t>репозиторий</a:t>
            </a:r>
            <a:r>
              <a:rPr lang="ru-RU" sz="2400" dirty="0" smtClean="0">
                <a:latin typeface="Bookman Old Style" panose="02050604050505020204" pitchFamily="18" charset="0"/>
              </a:rPr>
              <a:t> с помощью </a:t>
            </a:r>
            <a:r>
              <a:rPr lang="en-US" sz="2400" b="1" dirty="0">
                <a:latin typeface="Bookman Old Style" panose="02050604050505020204" pitchFamily="18" charset="0"/>
              </a:rPr>
              <a:t>GitHub Desktop</a:t>
            </a:r>
            <a:r>
              <a:rPr lang="ru-RU" sz="2400" dirty="0">
                <a:latin typeface="Bookman Old Style" panose="02050604050505020204" pitchFamily="18" charset="0"/>
              </a:rPr>
              <a:t> </a:t>
            </a:r>
            <a:r>
              <a:rPr lang="ru-RU" sz="2400" dirty="0" smtClean="0">
                <a:latin typeface="Bookman Old Style" panose="02050604050505020204" pitchFamily="18" charset="0"/>
              </a:rPr>
              <a:t>.</a:t>
            </a: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Запускаем </a:t>
            </a:r>
            <a:r>
              <a:rPr lang="en-US" sz="2400" b="1" dirty="0">
                <a:latin typeface="Bookman Old Style" panose="02050604050505020204" pitchFamily="18" charset="0"/>
              </a:rPr>
              <a:t>GitHub </a:t>
            </a:r>
            <a:r>
              <a:rPr lang="en-US" sz="2400" b="1" dirty="0" smtClean="0">
                <a:latin typeface="Bookman Old Style" panose="02050604050505020204" pitchFamily="18" charset="0"/>
              </a:rPr>
              <a:t>Desktop</a:t>
            </a:r>
            <a:r>
              <a:rPr lang="ru-RU" sz="2400" dirty="0" smtClean="0">
                <a:latin typeface="Bookman Old Style" panose="02050604050505020204" pitchFamily="18" charset="0"/>
              </a:rPr>
              <a:t>, нажимаем </a:t>
            </a:r>
            <a:r>
              <a:rPr lang="en-US" sz="2400" dirty="0" smtClean="0">
                <a:latin typeface="Bookman Old Style" panose="02050604050505020204" pitchFamily="18" charset="0"/>
              </a:rPr>
              <a:t>File -&gt; New repository, </a:t>
            </a:r>
            <a:r>
              <a:rPr lang="ru-RU" sz="2400" dirty="0" smtClean="0">
                <a:latin typeface="Bookman Old Style" panose="02050604050505020204" pitchFamily="18" charset="0"/>
              </a:rPr>
              <a:t>выбираем имя </a:t>
            </a:r>
            <a:r>
              <a:rPr lang="ru-RU" sz="2400" dirty="0" err="1" smtClean="0">
                <a:latin typeface="Bookman Old Style" panose="02050604050505020204" pitchFamily="18" charset="0"/>
              </a:rPr>
              <a:t>репозитория</a:t>
            </a:r>
            <a:r>
              <a:rPr lang="ru-RU" sz="2400" dirty="0" smtClean="0">
                <a:latin typeface="Bookman Old Style" panose="02050604050505020204" pitchFamily="18" charset="0"/>
              </a:rPr>
              <a:t> и местоположение.</a:t>
            </a:r>
          </a:p>
        </p:txBody>
      </p:sp>
      <p:sp>
        <p:nvSpPr>
          <p:cNvPr id="5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-1"/>
            <a:ext cx="12192000" cy="654357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5875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US" sz="2800" b="1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GitHub</a:t>
            </a:r>
            <a:endParaRPr lang="ru-RU" sz="2800" b="1" dirty="0">
              <a:solidFill>
                <a:schemeClr val="tx2">
                  <a:lumMod val="50000"/>
                </a:schemeClr>
              </a:solidFill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2034813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 rotWithShape="1">
          <a:blip r:embed="rId3"/>
          <a:srcRect t="40396" b="4674"/>
          <a:stretch/>
        </p:blipFill>
        <p:spPr>
          <a:xfrm>
            <a:off x="2719579" y="1970184"/>
            <a:ext cx="7376954" cy="4590501"/>
          </a:xfrm>
          <a:prstGeom prst="rect">
            <a:avLst/>
          </a:prstGeom>
        </p:spPr>
      </p:pic>
      <p:pic>
        <p:nvPicPr>
          <p:cNvPr id="5" name="Рисунок 4"/>
          <p:cNvPicPr>
            <a:picLocks noChangeAspect="1"/>
          </p:cNvPicPr>
          <p:nvPr/>
        </p:nvPicPr>
        <p:blipFill rotWithShape="1">
          <a:blip r:embed="rId3"/>
          <a:srcRect t="4568" b="73283"/>
          <a:stretch/>
        </p:blipFill>
        <p:spPr>
          <a:xfrm>
            <a:off x="2719579" y="116379"/>
            <a:ext cx="7388398" cy="18538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903891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Прямоугольник 5"/>
          <p:cNvSpPr/>
          <p:nvPr/>
        </p:nvSpPr>
        <p:spPr>
          <a:xfrm>
            <a:off x="0" y="0"/>
            <a:ext cx="12192000" cy="5632311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Если это проект на языке </a:t>
            </a:r>
            <a:r>
              <a:rPr lang="en-US" sz="2400" dirty="0" smtClean="0">
                <a:latin typeface="Bookman Old Style" panose="02050604050505020204" pitchFamily="18" charset="0"/>
              </a:rPr>
              <a:t>C#, </a:t>
            </a:r>
            <a:r>
              <a:rPr lang="ru-RU" sz="2400" dirty="0" smtClean="0">
                <a:latin typeface="Bookman Old Style" panose="02050604050505020204" pitchFamily="18" charset="0"/>
              </a:rPr>
              <a:t>то не забываем скачать </a:t>
            </a:r>
            <a:r>
              <a:rPr lang="en-US" sz="2400" dirty="0" err="1" smtClean="0">
                <a:latin typeface="Bookman Old Style" panose="02050604050505020204" pitchFamily="18" charset="0"/>
              </a:rPr>
              <a:t>gitignore</a:t>
            </a:r>
            <a:r>
              <a:rPr lang="en-US" sz="2400" dirty="0" smtClean="0">
                <a:latin typeface="Bookman Old Style" panose="02050604050505020204" pitchFamily="18" charset="0"/>
              </a:rPr>
              <a:t> </a:t>
            </a:r>
            <a:r>
              <a:rPr lang="ru-RU" sz="2400" dirty="0" smtClean="0">
                <a:latin typeface="Bookman Old Style" panose="02050604050505020204" pitchFamily="18" charset="0"/>
              </a:rPr>
              <a:t>для </a:t>
            </a:r>
            <a:r>
              <a:rPr lang="en-US" sz="2400" dirty="0" smtClean="0">
                <a:latin typeface="Bookman Old Style" panose="02050604050505020204" pitchFamily="18" charset="0"/>
              </a:rPr>
              <a:t>C# </a:t>
            </a:r>
            <a:r>
              <a:rPr lang="ru-RU" sz="2400" dirty="0" smtClean="0">
                <a:latin typeface="Bookman Old Style" panose="02050604050505020204" pitchFamily="18" charset="0"/>
              </a:rPr>
              <a:t>и положить в </a:t>
            </a:r>
            <a:r>
              <a:rPr lang="ru-RU" sz="2400" dirty="0" err="1" smtClean="0">
                <a:latin typeface="Bookman Old Style" panose="02050604050505020204" pitchFamily="18" charset="0"/>
              </a:rPr>
              <a:t>репозиторий</a:t>
            </a:r>
            <a:r>
              <a:rPr lang="ru-RU" sz="2400" dirty="0" smtClean="0">
                <a:latin typeface="Bookman Old Style" panose="02050604050505020204" pitchFamily="18" charset="0"/>
              </a:rPr>
              <a:t>.</a:t>
            </a: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Для примера добавим текстовый файл в наш </a:t>
            </a:r>
            <a:r>
              <a:rPr lang="ru-RU" sz="2400" dirty="0" err="1" smtClean="0">
                <a:latin typeface="Bookman Old Style" panose="02050604050505020204" pitchFamily="18" charset="0"/>
              </a:rPr>
              <a:t>репозиторий</a:t>
            </a:r>
            <a:r>
              <a:rPr lang="ru-RU" sz="2400" dirty="0" smtClean="0">
                <a:latin typeface="Bookman Old Style" panose="02050604050505020204" pitchFamily="18" charset="0"/>
              </a:rPr>
              <a:t>.</a:t>
            </a:r>
          </a:p>
          <a:p>
            <a:pPr algn="just">
              <a:lnSpc>
                <a:spcPct val="150000"/>
              </a:lnSpc>
            </a:pPr>
            <a:endParaRPr lang="ru-RU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ru-RU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ru-RU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ru-RU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ru-RU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ru-RU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Зайдем в </a:t>
            </a:r>
            <a:r>
              <a:rPr lang="en-US" sz="2400" b="1" dirty="0">
                <a:latin typeface="Bookman Old Style" panose="02050604050505020204" pitchFamily="18" charset="0"/>
              </a:rPr>
              <a:t>GitHub Desktop</a:t>
            </a:r>
            <a:endParaRPr lang="ru-RU" sz="2400" dirty="0" smtClean="0">
              <a:latin typeface="Bookman Old Style" panose="02050604050505020204" pitchFamily="18" charset="0"/>
            </a:endParaRPr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59087" y="1798011"/>
            <a:ext cx="7532914" cy="50599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507763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Прямоугольник 5"/>
          <p:cNvSpPr/>
          <p:nvPr/>
        </p:nvSpPr>
        <p:spPr>
          <a:xfrm>
            <a:off x="0" y="0"/>
            <a:ext cx="12192000" cy="1200329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В программе зеленым плюсом отмечено, что было добавлено, видим, что добавился «файл.</a:t>
            </a:r>
            <a:r>
              <a:rPr lang="en-US" sz="2400" dirty="0" smtClean="0">
                <a:latin typeface="Bookman Old Style" panose="02050604050505020204" pitchFamily="18" charset="0"/>
              </a:rPr>
              <a:t>txt</a:t>
            </a:r>
            <a:r>
              <a:rPr lang="ru-RU" sz="2400" dirty="0" smtClean="0">
                <a:latin typeface="Bookman Old Style" panose="02050604050505020204" pitchFamily="18" charset="0"/>
              </a:rPr>
              <a:t>»</a:t>
            </a:r>
            <a:r>
              <a:rPr lang="en-US" sz="2400" dirty="0">
                <a:latin typeface="Bookman Old Style" panose="02050604050505020204" pitchFamily="18" charset="0"/>
              </a:rPr>
              <a:t>.</a:t>
            </a:r>
            <a:endParaRPr lang="ru-RU" sz="2400" dirty="0" smtClean="0">
              <a:latin typeface="Bookman Old Style" panose="02050604050505020204" pitchFamily="18" charset="0"/>
            </a:endParaRPr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 rotWithShape="1">
          <a:blip r:embed="rId3"/>
          <a:srcRect r="25718" b="74910"/>
          <a:stretch/>
        </p:blipFill>
        <p:spPr>
          <a:xfrm>
            <a:off x="376843" y="1200329"/>
            <a:ext cx="11438313" cy="2656113"/>
          </a:xfrm>
          <a:prstGeom prst="rect">
            <a:avLst/>
          </a:prstGeom>
        </p:spPr>
      </p:pic>
      <p:cxnSp>
        <p:nvCxnSpPr>
          <p:cNvPr id="7" name="Прямая со стрелкой 6"/>
          <p:cNvCxnSpPr/>
          <p:nvPr/>
        </p:nvCxnSpPr>
        <p:spPr>
          <a:xfrm flipH="1">
            <a:off x="4310743" y="3672113"/>
            <a:ext cx="1219200" cy="0"/>
          </a:xfrm>
          <a:prstGeom prst="straightConnector1">
            <a:avLst/>
          </a:prstGeom>
          <a:ln w="1270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339645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 rotWithShape="1">
          <a:blip r:embed="rId3"/>
          <a:srcRect t="63641" r="73330"/>
          <a:stretch/>
        </p:blipFill>
        <p:spPr>
          <a:xfrm>
            <a:off x="3077786" y="1200330"/>
            <a:ext cx="5674329" cy="5318292"/>
          </a:xfrm>
          <a:prstGeom prst="rect">
            <a:avLst/>
          </a:prstGeom>
        </p:spPr>
      </p:pic>
      <p:sp>
        <p:nvSpPr>
          <p:cNvPr id="2" name="Прямоугольник 1"/>
          <p:cNvSpPr/>
          <p:nvPr/>
        </p:nvSpPr>
        <p:spPr>
          <a:xfrm>
            <a:off x="0" y="0"/>
            <a:ext cx="12192000" cy="1200329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Зафиксируем изменения с помощью </a:t>
            </a:r>
            <a:r>
              <a:rPr lang="ru-RU" sz="2400" dirty="0" err="1">
                <a:latin typeface="Bookman Old Style" panose="02050604050505020204" pitchFamily="18" charset="0"/>
              </a:rPr>
              <a:t>комита</a:t>
            </a:r>
            <a:r>
              <a:rPr lang="ru-RU" sz="2400" dirty="0">
                <a:latin typeface="Bookman Old Style" panose="02050604050505020204" pitchFamily="18" charset="0"/>
              </a:rPr>
              <a:t>, введем название </a:t>
            </a:r>
            <a:r>
              <a:rPr lang="ru-RU" sz="2400" dirty="0" err="1">
                <a:latin typeface="Bookman Old Style" panose="02050604050505020204" pitchFamily="18" charset="0"/>
              </a:rPr>
              <a:t>комита</a:t>
            </a:r>
            <a:r>
              <a:rPr lang="ru-RU" sz="2400" dirty="0">
                <a:latin typeface="Bookman Old Style" panose="02050604050505020204" pitchFamily="18" charset="0"/>
              </a:rPr>
              <a:t> и нажмем </a:t>
            </a:r>
            <a:r>
              <a:rPr lang="en-US" sz="2400" b="1" dirty="0">
                <a:latin typeface="Bookman Old Style" panose="02050604050505020204" pitchFamily="18" charset="0"/>
              </a:rPr>
              <a:t>Commit to main</a:t>
            </a:r>
            <a:r>
              <a:rPr lang="en-US" sz="2400" dirty="0">
                <a:latin typeface="Bookman Old Style" panose="02050604050505020204" pitchFamily="18" charset="0"/>
              </a:rPr>
              <a:t>.</a:t>
            </a:r>
          </a:p>
        </p:txBody>
      </p:sp>
      <p:cxnSp>
        <p:nvCxnSpPr>
          <p:cNvPr id="8" name="Прямая со стрелкой 7"/>
          <p:cNvCxnSpPr/>
          <p:nvPr/>
        </p:nvCxnSpPr>
        <p:spPr>
          <a:xfrm flipH="1">
            <a:off x="8502733" y="5083693"/>
            <a:ext cx="1219200" cy="0"/>
          </a:xfrm>
          <a:prstGeom prst="straightConnector1">
            <a:avLst/>
          </a:prstGeom>
          <a:ln w="1270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1558411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Прямоугольник 5"/>
          <p:cNvSpPr/>
          <p:nvPr/>
        </p:nvSpPr>
        <p:spPr>
          <a:xfrm>
            <a:off x="0" y="0"/>
            <a:ext cx="12192000" cy="1754326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Пока что наш </a:t>
            </a:r>
            <a:r>
              <a:rPr lang="ru-RU" sz="2400" dirty="0" err="1" smtClean="0">
                <a:latin typeface="Bookman Old Style" panose="02050604050505020204" pitchFamily="18" charset="0"/>
              </a:rPr>
              <a:t>репозиторий</a:t>
            </a:r>
            <a:r>
              <a:rPr lang="ru-RU" sz="2400" dirty="0" smtClean="0">
                <a:latin typeface="Bookman Old Style" panose="02050604050505020204" pitchFamily="18" charset="0"/>
              </a:rPr>
              <a:t> локальный, чтобы к нашему </a:t>
            </a:r>
            <a:r>
              <a:rPr lang="ru-RU" sz="2400" dirty="0" err="1" smtClean="0">
                <a:latin typeface="Bookman Old Style" panose="02050604050505020204" pitchFamily="18" charset="0"/>
              </a:rPr>
              <a:t>репозиторию</a:t>
            </a:r>
            <a:r>
              <a:rPr lang="ru-RU" sz="2400" dirty="0" smtClean="0">
                <a:latin typeface="Bookman Old Style" panose="02050604050505020204" pitchFamily="18" charset="0"/>
              </a:rPr>
              <a:t> был доступ из интернета необходимо опубликовать его. Нажмем </a:t>
            </a:r>
            <a:r>
              <a:rPr lang="en-US" sz="2400" dirty="0" smtClean="0">
                <a:latin typeface="Bookman Old Style" panose="02050604050505020204" pitchFamily="18" charset="0"/>
              </a:rPr>
              <a:t>publish repository</a:t>
            </a:r>
            <a:endParaRPr lang="ru-RU" sz="2400" dirty="0" smtClean="0">
              <a:latin typeface="Bookman Old Style" panose="02050604050505020204" pitchFamily="18" charset="0"/>
            </a:endParaRP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 rotWithShape="1">
          <a:blip r:embed="rId3"/>
          <a:srcRect l="26035" t="4202" b="47422"/>
          <a:stretch/>
        </p:blipFill>
        <p:spPr>
          <a:xfrm>
            <a:off x="377371" y="1715263"/>
            <a:ext cx="11437257" cy="5142737"/>
          </a:xfrm>
          <a:prstGeom prst="rect">
            <a:avLst/>
          </a:prstGeom>
        </p:spPr>
      </p:pic>
      <p:cxnSp>
        <p:nvCxnSpPr>
          <p:cNvPr id="5" name="Прямая со стрелкой 4"/>
          <p:cNvCxnSpPr/>
          <p:nvPr/>
        </p:nvCxnSpPr>
        <p:spPr>
          <a:xfrm flipH="1">
            <a:off x="7445828" y="2148113"/>
            <a:ext cx="1219200" cy="0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Прямая со стрелкой 6"/>
          <p:cNvCxnSpPr/>
          <p:nvPr/>
        </p:nvCxnSpPr>
        <p:spPr>
          <a:xfrm flipH="1">
            <a:off x="10595428" y="5805714"/>
            <a:ext cx="1219200" cy="0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611565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95352" y="735097"/>
            <a:ext cx="8808721" cy="5617807"/>
          </a:xfrm>
          <a:prstGeom prst="rect">
            <a:avLst/>
          </a:prstGeom>
        </p:spPr>
      </p:pic>
      <p:sp>
        <p:nvSpPr>
          <p:cNvPr id="6" name="Прямоугольник 5"/>
          <p:cNvSpPr/>
          <p:nvPr/>
        </p:nvSpPr>
        <p:spPr>
          <a:xfrm>
            <a:off x="0" y="0"/>
            <a:ext cx="12192000" cy="1200329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После опубликования наш </a:t>
            </a:r>
            <a:r>
              <a:rPr lang="ru-RU" sz="2400" dirty="0" err="1" smtClean="0">
                <a:latin typeface="Bookman Old Style" panose="02050604050505020204" pitchFamily="18" charset="0"/>
              </a:rPr>
              <a:t>репозиторий</a:t>
            </a:r>
            <a:r>
              <a:rPr lang="ru-RU" sz="2400" dirty="0" smtClean="0">
                <a:latin typeface="Bookman Old Style" panose="02050604050505020204" pitchFamily="18" charset="0"/>
              </a:rPr>
              <a:t> появится у нашего аккаунта </a:t>
            </a:r>
            <a:r>
              <a:rPr lang="en-US" sz="2400" dirty="0" smtClean="0">
                <a:latin typeface="Bookman Old Style" panose="02050604050505020204" pitchFamily="18" charset="0"/>
              </a:rPr>
              <a:t>GitHub </a:t>
            </a:r>
            <a:r>
              <a:rPr lang="ru-RU" sz="2400" dirty="0" smtClean="0">
                <a:latin typeface="Bookman Old Style" panose="02050604050505020204" pitchFamily="18" charset="0"/>
              </a:rPr>
              <a:t>на сайте.</a:t>
            </a:r>
          </a:p>
        </p:txBody>
      </p:sp>
    </p:spTree>
    <p:extLst>
      <p:ext uri="{BB962C8B-B14F-4D97-AF65-F5344CB8AC3E}">
        <p14:creationId xmlns:p14="http://schemas.microsoft.com/office/powerpoint/2010/main" val="419877857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8764" y="594043"/>
            <a:ext cx="11305309" cy="4734098"/>
          </a:xfrm>
          <a:prstGeom prst="rect">
            <a:avLst/>
          </a:prstGeom>
        </p:spPr>
      </p:pic>
      <p:sp>
        <p:nvSpPr>
          <p:cNvPr id="3" name="Прямоугольник 2"/>
          <p:cNvSpPr/>
          <p:nvPr/>
        </p:nvSpPr>
        <p:spPr>
          <a:xfrm>
            <a:off x="498764" y="3573815"/>
            <a:ext cx="8206740" cy="17543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Если зайти в </a:t>
            </a:r>
            <a:r>
              <a:rPr lang="ru-RU" sz="2400" dirty="0" err="1" smtClean="0">
                <a:latin typeface="Bookman Old Style" panose="02050604050505020204" pitchFamily="18" charset="0"/>
              </a:rPr>
              <a:t>репозиторий</a:t>
            </a:r>
            <a:r>
              <a:rPr lang="ru-RU" sz="2400" dirty="0" smtClean="0">
                <a:latin typeface="Bookman Old Style" panose="02050604050505020204" pitchFamily="18" charset="0"/>
              </a:rPr>
              <a:t>, то увидим данное окно.</a:t>
            </a: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Также можно добавить справку о программе в виде файла </a:t>
            </a:r>
            <a:r>
              <a:rPr lang="en-US" sz="2400" dirty="0" smtClean="0">
                <a:latin typeface="Bookman Old Style" panose="02050604050505020204" pitchFamily="18" charset="0"/>
              </a:rPr>
              <a:t>README.</a:t>
            </a:r>
            <a:endParaRPr lang="en-US" sz="2400" dirty="0"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9350157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/>
        </p:nvSpPr>
        <p:spPr>
          <a:xfrm>
            <a:off x="0" y="0"/>
            <a:ext cx="12192000" cy="1754326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Далее алгоритм работы может быть следующий:</a:t>
            </a: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Для создания новой ветки необходимо зайти </a:t>
            </a:r>
            <a:r>
              <a:rPr lang="en-US" sz="2400" b="1" dirty="0" smtClean="0">
                <a:latin typeface="Bookman Old Style" panose="02050604050505020204" pitchFamily="18" charset="0"/>
              </a:rPr>
              <a:t>Branch</a:t>
            </a:r>
            <a:r>
              <a:rPr lang="en-US" sz="2400" dirty="0" smtClean="0">
                <a:latin typeface="Bookman Old Style" panose="02050604050505020204" pitchFamily="18" charset="0"/>
              </a:rPr>
              <a:t> -&gt; </a:t>
            </a:r>
            <a:r>
              <a:rPr lang="en-US" sz="2400" b="1" dirty="0" smtClean="0">
                <a:latin typeface="Bookman Old Style" panose="02050604050505020204" pitchFamily="18" charset="0"/>
              </a:rPr>
              <a:t>New branch</a:t>
            </a:r>
            <a:r>
              <a:rPr lang="en-US" sz="2400" dirty="0" smtClean="0">
                <a:latin typeface="Bookman Old Style" panose="02050604050505020204" pitchFamily="18" charset="0"/>
              </a:rPr>
              <a:t>, </a:t>
            </a:r>
            <a:r>
              <a:rPr lang="ru-RU" sz="2400" dirty="0" smtClean="0">
                <a:latin typeface="Bookman Old Style" panose="02050604050505020204" pitchFamily="18" charset="0"/>
              </a:rPr>
              <a:t>после чего у вас добавится новая ветка</a:t>
            </a:r>
            <a:endParaRPr lang="ru-RU" sz="2400" u="sng" dirty="0" smtClean="0">
              <a:latin typeface="Bookman Old Style" panose="02050604050505020204" pitchFamily="18" charset="0"/>
            </a:endParaRPr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 rotWithShape="1">
          <a:blip r:embed="rId3"/>
          <a:srcRect r="49948" b="87962"/>
          <a:stretch/>
        </p:blipFill>
        <p:spPr>
          <a:xfrm>
            <a:off x="415636" y="1990601"/>
            <a:ext cx="11288684" cy="1866568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1442" y="4093444"/>
            <a:ext cx="10428374" cy="20091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050136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/>
          <p:cNvPicPr>
            <a:picLocks noChangeAspect="1"/>
          </p:cNvPicPr>
          <p:nvPr/>
        </p:nvPicPr>
        <p:blipFill rotWithShape="1">
          <a:blip r:embed="rId3"/>
          <a:srcRect l="4159" t="3809" b="5821"/>
          <a:stretch/>
        </p:blipFill>
        <p:spPr>
          <a:xfrm>
            <a:off x="2793076" y="206138"/>
            <a:ext cx="6882209" cy="63775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364714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5512" y="326677"/>
            <a:ext cx="11438313" cy="4705517"/>
          </a:xfrm>
          <a:prstGeom prst="rect">
            <a:avLst/>
          </a:prstGeom>
        </p:spPr>
      </p:pic>
      <p:cxnSp>
        <p:nvCxnSpPr>
          <p:cNvPr id="6" name="Прямая со стрелкой 5"/>
          <p:cNvCxnSpPr/>
          <p:nvPr/>
        </p:nvCxnSpPr>
        <p:spPr>
          <a:xfrm>
            <a:off x="4122585" y="3580990"/>
            <a:ext cx="1117600" cy="19080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Прямая со стрелкой 6"/>
          <p:cNvCxnSpPr/>
          <p:nvPr/>
        </p:nvCxnSpPr>
        <p:spPr>
          <a:xfrm>
            <a:off x="4122585" y="4607942"/>
            <a:ext cx="1117600" cy="19080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2341631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/>
        </p:nvSpPr>
        <p:spPr>
          <a:xfrm>
            <a:off x="0" y="0"/>
            <a:ext cx="12192000" cy="6740307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b="1" dirty="0" smtClean="0">
                <a:latin typeface="Bookman Old Style" panose="02050604050505020204" pitchFamily="18" charset="0"/>
              </a:rPr>
              <a:t>Обратите внимание</a:t>
            </a:r>
            <a:r>
              <a:rPr lang="ru-RU" sz="2400" dirty="0" smtClean="0">
                <a:latin typeface="Bookman Old Style" panose="02050604050505020204" pitchFamily="18" charset="0"/>
              </a:rPr>
              <a:t>, что когда вы меняете ветку, то файлы в вашей папке с проектом также автоматически обновляются!</a:t>
            </a: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Чтобы ветка появилась в удаленном </a:t>
            </a:r>
            <a:r>
              <a:rPr lang="ru-RU" sz="2400" dirty="0" err="1" smtClean="0">
                <a:latin typeface="Bookman Old Style" panose="02050604050505020204" pitchFamily="18" charset="0"/>
              </a:rPr>
              <a:t>репозитории</a:t>
            </a:r>
            <a:r>
              <a:rPr lang="ru-RU" sz="2400" dirty="0" smtClean="0">
                <a:latin typeface="Bookman Old Style" panose="02050604050505020204" pitchFamily="18" charset="0"/>
              </a:rPr>
              <a:t> её также нужно опубликовать.</a:t>
            </a: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Чтобы забрать изменения с удаленного </a:t>
            </a:r>
            <a:r>
              <a:rPr lang="ru-RU" sz="2400" dirty="0" err="1" smtClean="0">
                <a:latin typeface="Bookman Old Style" panose="02050604050505020204" pitchFamily="18" charset="0"/>
              </a:rPr>
              <a:t>репозитория</a:t>
            </a:r>
            <a:r>
              <a:rPr lang="ru-RU" sz="2400" dirty="0" smtClean="0">
                <a:latin typeface="Bookman Old Style" panose="02050604050505020204" pitchFamily="18" charset="0"/>
              </a:rPr>
              <a:t> необходимо нажать </a:t>
            </a:r>
            <a:r>
              <a:rPr lang="en-US" sz="2400" dirty="0" smtClean="0">
                <a:latin typeface="Bookman Old Style" panose="02050604050505020204" pitchFamily="18" charset="0"/>
              </a:rPr>
              <a:t>Fetch (</a:t>
            </a:r>
            <a:r>
              <a:rPr lang="ru-RU" sz="2400" dirty="0" smtClean="0">
                <a:latin typeface="Bookman Old Style" panose="02050604050505020204" pitchFamily="18" charset="0"/>
              </a:rPr>
              <a:t>например, когда кто-то изменил файлы и вы хотите обновить свой проект в соответствии с изменениями удаленного </a:t>
            </a:r>
            <a:r>
              <a:rPr lang="ru-RU" sz="2400" dirty="0" err="1" smtClean="0">
                <a:latin typeface="Bookman Old Style" panose="02050604050505020204" pitchFamily="18" charset="0"/>
              </a:rPr>
              <a:t>репозитория</a:t>
            </a:r>
            <a:r>
              <a:rPr lang="en-US" sz="2400" dirty="0" smtClean="0">
                <a:latin typeface="Bookman Old Style" panose="02050604050505020204" pitchFamily="18" charset="0"/>
              </a:rPr>
              <a:t>)</a:t>
            </a:r>
            <a:endParaRPr lang="ru-RU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ru-RU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ru-RU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ru-RU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Д</a:t>
            </a:r>
            <a:r>
              <a:rPr lang="ru-RU" sz="2400" dirty="0" smtClean="0">
                <a:latin typeface="Bookman Old Style" panose="02050604050505020204" pitchFamily="18" charset="0"/>
              </a:rPr>
              <a:t>анную команду </a:t>
            </a:r>
            <a:r>
              <a:rPr lang="ru-RU" sz="2400" dirty="0">
                <a:latin typeface="Bookman Old Style" panose="02050604050505020204" pitchFamily="18" charset="0"/>
              </a:rPr>
              <a:t>желательно  </a:t>
            </a:r>
            <a:r>
              <a:rPr lang="ru-RU" sz="2400" dirty="0" smtClean="0">
                <a:latin typeface="Bookman Old Style" panose="02050604050505020204" pitchFamily="18" charset="0"/>
              </a:rPr>
              <a:t>выполнять перед началом работы с </a:t>
            </a:r>
            <a:r>
              <a:rPr lang="ru-RU" sz="2400" dirty="0" err="1" smtClean="0">
                <a:latin typeface="Bookman Old Style" panose="02050604050505020204" pitchFamily="18" charset="0"/>
              </a:rPr>
              <a:t>репозиторием</a:t>
            </a:r>
            <a:r>
              <a:rPr lang="ru-RU" sz="2400" dirty="0" smtClean="0">
                <a:latin typeface="Bookman Old Style" panose="02050604050505020204" pitchFamily="18" charset="0"/>
              </a:rPr>
              <a:t>. </a:t>
            </a: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 rotWithShape="1">
          <a:blip r:embed="rId3"/>
          <a:srcRect r="25726" b="86752"/>
          <a:stretch/>
        </p:blipFill>
        <p:spPr>
          <a:xfrm>
            <a:off x="243840" y="4086580"/>
            <a:ext cx="11704320" cy="1300405"/>
          </a:xfrm>
          <a:prstGeom prst="rect">
            <a:avLst/>
          </a:prstGeom>
        </p:spPr>
      </p:pic>
      <p:cxnSp>
        <p:nvCxnSpPr>
          <p:cNvPr id="7" name="Прямая со стрелкой 6"/>
          <p:cNvCxnSpPr/>
          <p:nvPr/>
        </p:nvCxnSpPr>
        <p:spPr>
          <a:xfrm>
            <a:off x="6715101" y="4969539"/>
            <a:ext cx="1465942" cy="1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0998640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/>
        </p:nvSpPr>
        <p:spPr>
          <a:xfrm>
            <a:off x="0" y="0"/>
            <a:ext cx="12192000" cy="1754326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Рассмотрим последний пример. Предположим у нас есть 2 ветки: </a:t>
            </a:r>
            <a:r>
              <a:rPr lang="en-US" sz="2400" dirty="0" smtClean="0">
                <a:latin typeface="Bookman Old Style" panose="02050604050505020204" pitchFamily="18" charset="0"/>
              </a:rPr>
              <a:t>main </a:t>
            </a:r>
            <a:r>
              <a:rPr lang="ru-RU" sz="2400" dirty="0" smtClean="0">
                <a:latin typeface="Bookman Old Style" panose="02050604050505020204" pitchFamily="18" charset="0"/>
              </a:rPr>
              <a:t>и </a:t>
            </a:r>
            <a:r>
              <a:rPr lang="en-US" sz="2400" dirty="0" smtClean="0">
                <a:latin typeface="Bookman Old Style" panose="02050604050505020204" pitchFamily="18" charset="0"/>
              </a:rPr>
              <a:t>Ivan, </a:t>
            </a:r>
            <a:r>
              <a:rPr lang="ru-RU" sz="2400" dirty="0" smtClean="0">
                <a:latin typeface="Bookman Old Style" panose="02050604050505020204" pitchFamily="18" charset="0"/>
              </a:rPr>
              <a:t>в обоих </a:t>
            </a:r>
            <a:r>
              <a:rPr lang="ru-RU" sz="2400" dirty="0" err="1" smtClean="0">
                <a:latin typeface="Bookman Old Style" panose="02050604050505020204" pitchFamily="18" charset="0"/>
              </a:rPr>
              <a:t>репозиториях</a:t>
            </a:r>
            <a:r>
              <a:rPr lang="ru-RU" sz="2400" dirty="0" smtClean="0">
                <a:latin typeface="Bookman Old Style" panose="02050604050505020204" pitchFamily="18" charset="0"/>
              </a:rPr>
              <a:t> есть файл с данным. Пусть в каждой ветке произошли изменения содержимого данного файла.</a:t>
            </a:r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0094" y="1754326"/>
            <a:ext cx="11371811" cy="42181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236049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/>
        </p:nvSpPr>
        <p:spPr>
          <a:xfrm>
            <a:off x="0" y="3895042"/>
            <a:ext cx="12192000" cy="2862322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У нас есть 2 версии файла и чтобы объединить ветки, мы должны решить как будет выглядеть итоговый файл (получили конфликт слияния или </a:t>
            </a:r>
            <a:r>
              <a:rPr lang="en-US" sz="2400" dirty="0" smtClean="0">
                <a:latin typeface="Bookman Old Style" panose="02050604050505020204" pitchFamily="18" charset="0"/>
              </a:rPr>
              <a:t>merge </a:t>
            </a:r>
            <a:r>
              <a:rPr lang="ru-RU" sz="2400" dirty="0" smtClean="0">
                <a:latin typeface="Bookman Old Style" panose="02050604050505020204" pitchFamily="18" charset="0"/>
              </a:rPr>
              <a:t>конфликт).</a:t>
            </a: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Делаем слияние. Переходим на ветку </a:t>
            </a:r>
            <a:r>
              <a:rPr lang="en-US" sz="2400" dirty="0" smtClean="0">
                <a:latin typeface="Bookman Old Style" panose="02050604050505020204" pitchFamily="18" charset="0"/>
              </a:rPr>
              <a:t>main, </a:t>
            </a:r>
            <a:r>
              <a:rPr lang="ru-RU" sz="2400" dirty="0">
                <a:latin typeface="Bookman Old Style" panose="02050604050505020204" pitchFamily="18" charset="0"/>
              </a:rPr>
              <a:t>н</a:t>
            </a:r>
            <a:r>
              <a:rPr lang="ru-RU" sz="2400" dirty="0" smtClean="0">
                <a:latin typeface="Bookman Old Style" panose="02050604050505020204" pitchFamily="18" charset="0"/>
              </a:rPr>
              <a:t>ажимаем </a:t>
            </a:r>
            <a:r>
              <a:rPr lang="en-US" sz="2400" b="1" dirty="0" smtClean="0">
                <a:latin typeface="Bookman Old Style" panose="02050604050505020204" pitchFamily="18" charset="0"/>
              </a:rPr>
              <a:t>Branch</a:t>
            </a:r>
            <a:r>
              <a:rPr lang="en-US" sz="2400" dirty="0" smtClean="0">
                <a:latin typeface="Bookman Old Style" panose="02050604050505020204" pitchFamily="18" charset="0"/>
              </a:rPr>
              <a:t> -&gt; </a:t>
            </a:r>
            <a:r>
              <a:rPr lang="en-US" sz="2400" b="1" dirty="0" smtClean="0">
                <a:latin typeface="Bookman Old Style" panose="02050604050505020204" pitchFamily="18" charset="0"/>
              </a:rPr>
              <a:t>Merge into current branch</a:t>
            </a:r>
            <a:endParaRPr lang="ru-RU" sz="2400" b="1" dirty="0" smtClean="0">
              <a:latin typeface="Bookman Old Style" panose="02050604050505020204" pitchFamily="18" charset="0"/>
            </a:endParaRPr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8162" y="273375"/>
            <a:ext cx="6939721" cy="36216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592255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 rotWithShape="1">
          <a:blip r:embed="rId3"/>
          <a:srcRect l="27464" t="16779" r="27622" b="53412"/>
          <a:stretch/>
        </p:blipFill>
        <p:spPr>
          <a:xfrm>
            <a:off x="1500198" y="614688"/>
            <a:ext cx="9191604" cy="4193902"/>
          </a:xfrm>
          <a:prstGeom prst="rect">
            <a:avLst/>
          </a:prstGeom>
        </p:spPr>
      </p:pic>
      <p:sp>
        <p:nvSpPr>
          <p:cNvPr id="6" name="Прямоугольник 5"/>
          <p:cNvSpPr/>
          <p:nvPr/>
        </p:nvSpPr>
        <p:spPr>
          <a:xfrm>
            <a:off x="0" y="0"/>
            <a:ext cx="12192000" cy="646331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Выбираем </a:t>
            </a:r>
            <a:r>
              <a:rPr lang="en-US" sz="2400" dirty="0" smtClean="0">
                <a:latin typeface="Bookman Old Style" panose="02050604050505020204" pitchFamily="18" charset="0"/>
              </a:rPr>
              <a:t>Ivan </a:t>
            </a:r>
            <a:r>
              <a:rPr lang="ru-RU" sz="2400" dirty="0" smtClean="0">
                <a:latin typeface="Bookman Old Style" panose="02050604050505020204" pitchFamily="18" charset="0"/>
              </a:rPr>
              <a:t>и нажимаем </a:t>
            </a:r>
            <a:r>
              <a:rPr lang="en-US" sz="2400" b="1" dirty="0" smtClean="0">
                <a:latin typeface="Bookman Old Style" panose="02050604050505020204" pitchFamily="18" charset="0"/>
              </a:rPr>
              <a:t>Create merge commit</a:t>
            </a:r>
            <a:endParaRPr lang="ru-RU" sz="2400" b="1" dirty="0" smtClean="0">
              <a:latin typeface="Bookman Old Style" panose="02050604050505020204" pitchFamily="18" charset="0"/>
            </a:endParaRPr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 rotWithShape="1">
          <a:blip r:embed="rId3"/>
          <a:srcRect l="27464" t="68633" r="27622" b="16967"/>
          <a:stretch/>
        </p:blipFill>
        <p:spPr>
          <a:xfrm>
            <a:off x="1500198" y="4776948"/>
            <a:ext cx="9191604" cy="20260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545873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Прямоугольник 5"/>
          <p:cNvSpPr/>
          <p:nvPr/>
        </p:nvSpPr>
        <p:spPr>
          <a:xfrm>
            <a:off x="0" y="0"/>
            <a:ext cx="12192000" cy="1200329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Необходимо отредактировать наш файл чтобы решить конфликт, открываем файл любой программой</a:t>
            </a:r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 rotWithShape="1">
          <a:blip r:embed="rId3"/>
          <a:srcRect l="24924" t="31307" r="24924" b="31757"/>
          <a:stretch/>
        </p:blipFill>
        <p:spPr>
          <a:xfrm>
            <a:off x="992513" y="1200329"/>
            <a:ext cx="10206973" cy="51680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0687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Прямоугольник 5"/>
          <p:cNvSpPr/>
          <p:nvPr/>
        </p:nvSpPr>
        <p:spPr>
          <a:xfrm>
            <a:off x="0" y="0"/>
            <a:ext cx="12192000" cy="6740307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Необходимо отредактировать наш файл чтобы решить конфликт, открываем файл любой программой. Конфликт считается решенным, если нет специальных символов </a:t>
            </a:r>
            <a:r>
              <a:rPr lang="en-US" sz="2400" dirty="0" smtClean="0">
                <a:latin typeface="Bookman Old Style" panose="02050604050505020204" pitchFamily="18" charset="0"/>
              </a:rPr>
              <a:t>&lt;&lt;&lt;&lt;HEAD, ===, &gt;&gt;&gt;. </a:t>
            </a:r>
            <a:endParaRPr lang="ru-RU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ru-RU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ru-RU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ru-RU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ru-RU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ru-RU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ru-RU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endParaRPr lang="ru-RU" sz="24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После чего нажимаем </a:t>
            </a:r>
            <a:r>
              <a:rPr lang="en-US" sz="2400" dirty="0" smtClean="0">
                <a:latin typeface="Bookman Old Style" panose="02050604050505020204" pitchFamily="18" charset="0"/>
              </a:rPr>
              <a:t>continue merge. </a:t>
            </a:r>
            <a:r>
              <a:rPr lang="ru-RU" sz="2400" dirty="0" smtClean="0">
                <a:latin typeface="Bookman Old Style" panose="02050604050505020204" pitchFamily="18" charset="0"/>
              </a:rPr>
              <a:t>Конфликт слияния решен, теперь ветка </a:t>
            </a:r>
            <a:r>
              <a:rPr lang="en-US" sz="2400" dirty="0" smtClean="0">
                <a:latin typeface="Bookman Old Style" panose="02050604050505020204" pitchFamily="18" charset="0"/>
              </a:rPr>
              <a:t>main </a:t>
            </a:r>
            <a:r>
              <a:rPr lang="ru-RU" sz="2400" dirty="0" smtClean="0">
                <a:latin typeface="Bookman Old Style" panose="02050604050505020204" pitchFamily="18" charset="0"/>
              </a:rPr>
              <a:t>содержит изменения Ивана.</a:t>
            </a: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402" y="1736872"/>
            <a:ext cx="5760347" cy="3816229"/>
          </a:xfrm>
          <a:prstGeom prst="rect">
            <a:avLst/>
          </a:prstGeom>
        </p:spPr>
      </p:pic>
      <p:pic>
        <p:nvPicPr>
          <p:cNvPr id="4" name="Рисунок 3"/>
          <p:cNvPicPr>
            <a:picLocks noChangeAspect="1"/>
          </p:cNvPicPr>
          <p:nvPr/>
        </p:nvPicPr>
        <p:blipFill rotWithShape="1">
          <a:blip r:embed="rId4"/>
          <a:srcRect r="28531"/>
          <a:stretch/>
        </p:blipFill>
        <p:spPr>
          <a:xfrm>
            <a:off x="6638196" y="1736872"/>
            <a:ext cx="5292548" cy="3822099"/>
          </a:xfrm>
          <a:prstGeom prst="rect">
            <a:avLst/>
          </a:prstGeom>
        </p:spPr>
      </p:pic>
      <p:cxnSp>
        <p:nvCxnSpPr>
          <p:cNvPr id="5" name="Прямая со стрелкой 4"/>
          <p:cNvCxnSpPr/>
          <p:nvPr/>
        </p:nvCxnSpPr>
        <p:spPr>
          <a:xfrm>
            <a:off x="5130800" y="3970383"/>
            <a:ext cx="1618343" cy="3266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806180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671691"/>
            <a:ext cx="12192000" cy="5872313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300" dirty="0" smtClean="0">
                <a:latin typeface="Bookman Old Style" panose="02050604050505020204" pitchFamily="18" charset="0"/>
              </a:rPr>
              <a:t>Рассмотрим возможные при работе </a:t>
            </a:r>
            <a:r>
              <a:rPr lang="ru-RU" sz="2300" b="1" dirty="0" smtClean="0">
                <a:latin typeface="Bookman Old Style" panose="02050604050505020204" pitchFamily="18" charset="0"/>
              </a:rPr>
              <a:t>состояния </a:t>
            </a:r>
            <a:r>
              <a:rPr lang="ru-RU" sz="2300" b="1" dirty="0" err="1" smtClean="0">
                <a:latin typeface="Bookman Old Style" panose="02050604050505020204" pitchFamily="18" charset="0"/>
              </a:rPr>
              <a:t>репозитория</a:t>
            </a:r>
            <a:r>
              <a:rPr lang="ru-RU" sz="2300" dirty="0" smtClean="0">
                <a:latin typeface="Bookman Old Style" panose="02050604050505020204" pitchFamily="18" charset="0"/>
              </a:rPr>
              <a:t>:</a:t>
            </a:r>
          </a:p>
          <a:p>
            <a:pPr marL="457200" indent="-457200" algn="just">
              <a:lnSpc>
                <a:spcPct val="150000"/>
              </a:lnSpc>
              <a:buAutoNum type="arabicPeriod"/>
            </a:pPr>
            <a:r>
              <a:rPr lang="ru-RU" sz="2300" dirty="0" smtClean="0">
                <a:latin typeface="Bookman Old Style" panose="02050604050505020204" pitchFamily="18" charset="0"/>
              </a:rPr>
              <a:t>Изменений нет.</a:t>
            </a:r>
          </a:p>
          <a:p>
            <a:pPr marL="457200" indent="-457200" algn="just">
              <a:lnSpc>
                <a:spcPct val="150000"/>
              </a:lnSpc>
              <a:buAutoNum type="arabicPeriod"/>
            </a:pPr>
            <a:r>
              <a:rPr lang="ru-RU" sz="2300" dirty="0" smtClean="0">
                <a:latin typeface="Bookman Old Style" panose="02050604050505020204" pitchFamily="18" charset="0"/>
              </a:rPr>
              <a:t>Проводим изменения в </a:t>
            </a:r>
            <a:r>
              <a:rPr lang="ru-RU" sz="2300" dirty="0" err="1" smtClean="0">
                <a:latin typeface="Bookman Old Style" panose="02050604050505020204" pitchFamily="18" charset="0"/>
              </a:rPr>
              <a:t>репозитории</a:t>
            </a:r>
            <a:r>
              <a:rPr lang="ru-RU" sz="2300" dirty="0" smtClean="0">
                <a:latin typeface="Bookman Old Style" panose="02050604050505020204" pitchFamily="18" charset="0"/>
              </a:rPr>
              <a:t> (добавление/изменение/удаление).</a:t>
            </a:r>
          </a:p>
          <a:p>
            <a:pPr marL="457200" indent="-457200" algn="just">
              <a:lnSpc>
                <a:spcPct val="150000"/>
              </a:lnSpc>
              <a:buAutoNum type="arabicPeriod"/>
            </a:pPr>
            <a:r>
              <a:rPr lang="ru-RU" sz="2300" dirty="0" smtClean="0">
                <a:latin typeface="Bookman Old Style" panose="02050604050505020204" pitchFamily="18" charset="0"/>
              </a:rPr>
              <a:t>Добавляем изменения в список для дальнейшей фиксации (сохранения) командой </a:t>
            </a:r>
            <a:r>
              <a:rPr lang="en-US" sz="2300" b="1" dirty="0" err="1" smtClean="0">
                <a:latin typeface="Bookman Old Style" panose="02050604050505020204" pitchFamily="18" charset="0"/>
              </a:rPr>
              <a:t>git</a:t>
            </a:r>
            <a:r>
              <a:rPr lang="en-US" sz="2300" b="1" dirty="0" smtClean="0">
                <a:latin typeface="Bookman Old Style" panose="02050604050505020204" pitchFamily="18" charset="0"/>
              </a:rPr>
              <a:t> add</a:t>
            </a:r>
            <a:r>
              <a:rPr lang="ru-RU" sz="2300" dirty="0" smtClean="0">
                <a:latin typeface="Bookman Old Style" panose="02050604050505020204" pitchFamily="18" charset="0"/>
              </a:rPr>
              <a:t>.</a:t>
            </a:r>
            <a:endParaRPr lang="en-US" sz="2300" dirty="0" smtClean="0">
              <a:latin typeface="Bookman Old Style" panose="02050604050505020204" pitchFamily="18" charset="0"/>
            </a:endParaRPr>
          </a:p>
          <a:p>
            <a:pPr marL="457200" indent="-457200" algn="just">
              <a:lnSpc>
                <a:spcPct val="150000"/>
              </a:lnSpc>
              <a:buAutoNum type="arabicPeriod"/>
            </a:pPr>
            <a:r>
              <a:rPr lang="ru-RU" sz="2300" dirty="0" smtClean="0">
                <a:latin typeface="Bookman Old Style" panose="02050604050505020204" pitchFamily="18" charset="0"/>
              </a:rPr>
              <a:t>Фиксируем изменения с помощью команды</a:t>
            </a:r>
            <a:r>
              <a:rPr lang="en-US" sz="2300" dirty="0" smtClean="0">
                <a:latin typeface="Bookman Old Style" panose="02050604050505020204" pitchFamily="18" charset="0"/>
              </a:rPr>
              <a:t> </a:t>
            </a:r>
            <a:r>
              <a:rPr lang="en-US" sz="2300" b="1" dirty="0" err="1" smtClean="0">
                <a:latin typeface="Bookman Old Style" panose="02050604050505020204" pitchFamily="18" charset="0"/>
              </a:rPr>
              <a:t>git</a:t>
            </a:r>
            <a:r>
              <a:rPr lang="ru-RU" sz="2300" b="1" dirty="0" smtClean="0">
                <a:latin typeface="Bookman Old Style" panose="02050604050505020204" pitchFamily="18" charset="0"/>
              </a:rPr>
              <a:t> </a:t>
            </a:r>
            <a:r>
              <a:rPr lang="en-US" sz="2300" b="1" dirty="0" smtClean="0">
                <a:latin typeface="Bookman Old Style" panose="02050604050505020204" pitchFamily="18" charset="0"/>
              </a:rPr>
              <a:t>commit </a:t>
            </a:r>
            <a:r>
              <a:rPr lang="en-US" sz="2300" dirty="0" smtClean="0">
                <a:latin typeface="Bookman Old Style" panose="02050604050505020204" pitchFamily="18" charset="0"/>
              </a:rPr>
              <a:t>(</a:t>
            </a:r>
            <a:r>
              <a:rPr lang="ru-RU" sz="2300" dirty="0" smtClean="0">
                <a:latin typeface="Bookman Old Style" panose="02050604050505020204" pitchFamily="18" charset="0"/>
              </a:rPr>
              <a:t>данные сохраняются в локальном </a:t>
            </a:r>
            <a:r>
              <a:rPr lang="ru-RU" sz="2300" dirty="0" err="1" smtClean="0">
                <a:latin typeface="Bookman Old Style" panose="02050604050505020204" pitchFamily="18" charset="0"/>
              </a:rPr>
              <a:t>репозитории</a:t>
            </a:r>
            <a:r>
              <a:rPr lang="ru-RU" sz="2300" dirty="0" smtClean="0">
                <a:latin typeface="Bookman Old Style" panose="02050604050505020204" pitchFamily="18" charset="0"/>
              </a:rPr>
              <a:t> на ВАШЕМ компьютере</a:t>
            </a:r>
            <a:r>
              <a:rPr lang="en-US" sz="2300" dirty="0" smtClean="0">
                <a:latin typeface="Bookman Old Style" panose="02050604050505020204" pitchFamily="18" charset="0"/>
              </a:rPr>
              <a:t>).</a:t>
            </a:r>
            <a:endParaRPr lang="ru-RU" sz="2300" dirty="0" smtClean="0">
              <a:latin typeface="Bookman Old Style" panose="02050604050505020204" pitchFamily="18" charset="0"/>
            </a:endParaRPr>
          </a:p>
          <a:p>
            <a:pPr marL="457200" indent="-457200" algn="just">
              <a:lnSpc>
                <a:spcPct val="150000"/>
              </a:lnSpc>
              <a:buFontTx/>
              <a:buAutoNum type="arabicPeriod"/>
            </a:pPr>
            <a:r>
              <a:rPr lang="ru-RU" sz="2300" dirty="0" smtClean="0">
                <a:latin typeface="Bookman Old Style" panose="02050604050505020204" pitchFamily="18" charset="0"/>
              </a:rPr>
              <a:t>Отправка изменений на удаленный сервер командой </a:t>
            </a:r>
            <a:r>
              <a:rPr lang="en-US" sz="2300" b="1" dirty="0" err="1" smtClean="0">
                <a:latin typeface="Bookman Old Style" panose="02050604050505020204" pitchFamily="18" charset="0"/>
              </a:rPr>
              <a:t>git</a:t>
            </a:r>
            <a:r>
              <a:rPr lang="en-US" sz="2300" b="1" dirty="0" smtClean="0">
                <a:latin typeface="Bookman Old Style" panose="02050604050505020204" pitchFamily="18" charset="0"/>
              </a:rPr>
              <a:t> push</a:t>
            </a:r>
            <a:r>
              <a:rPr lang="ru-RU" sz="2300" b="1" dirty="0" smtClean="0">
                <a:latin typeface="Bookman Old Style" panose="02050604050505020204" pitchFamily="18" charset="0"/>
              </a:rPr>
              <a:t> </a:t>
            </a:r>
            <a:r>
              <a:rPr lang="en-US" sz="2300" dirty="0">
                <a:latin typeface="Bookman Old Style" panose="02050604050505020204" pitchFamily="18" charset="0"/>
              </a:rPr>
              <a:t>(</a:t>
            </a:r>
            <a:r>
              <a:rPr lang="ru-RU" sz="2300" dirty="0">
                <a:latin typeface="Bookman Old Style" panose="02050604050505020204" pitchFamily="18" charset="0"/>
              </a:rPr>
              <a:t>данные сохраняются в </a:t>
            </a:r>
            <a:r>
              <a:rPr lang="ru-RU" sz="2300" dirty="0" smtClean="0">
                <a:latin typeface="Bookman Old Style" panose="02050604050505020204" pitchFamily="18" charset="0"/>
              </a:rPr>
              <a:t>удаленном </a:t>
            </a:r>
            <a:r>
              <a:rPr lang="ru-RU" sz="2300" dirty="0" err="1">
                <a:latin typeface="Bookman Old Style" panose="02050604050505020204" pitchFamily="18" charset="0"/>
              </a:rPr>
              <a:t>репозитории</a:t>
            </a:r>
            <a:r>
              <a:rPr lang="ru-RU" sz="2300" dirty="0">
                <a:latin typeface="Bookman Old Style" panose="02050604050505020204" pitchFamily="18" charset="0"/>
              </a:rPr>
              <a:t> на </a:t>
            </a:r>
            <a:r>
              <a:rPr lang="ru-RU" sz="2300" dirty="0" smtClean="0">
                <a:latin typeface="Bookman Old Style" panose="02050604050505020204" pitchFamily="18" charset="0"/>
              </a:rPr>
              <a:t>ДРУГОМ </a:t>
            </a:r>
            <a:r>
              <a:rPr lang="ru-RU" sz="2300" dirty="0">
                <a:latin typeface="Bookman Old Style" panose="02050604050505020204" pitchFamily="18" charset="0"/>
              </a:rPr>
              <a:t>компьютере</a:t>
            </a:r>
            <a:r>
              <a:rPr lang="en-US" sz="2300" dirty="0" smtClean="0">
                <a:latin typeface="Bookman Old Style" panose="02050604050505020204" pitchFamily="18" charset="0"/>
              </a:rPr>
              <a:t>).</a:t>
            </a:r>
          </a:p>
          <a:p>
            <a:pPr algn="just">
              <a:lnSpc>
                <a:spcPct val="150000"/>
              </a:lnSpc>
            </a:pPr>
            <a:r>
              <a:rPr lang="ru-RU" sz="2300" dirty="0" smtClean="0">
                <a:latin typeface="Bookman Old Style" panose="02050604050505020204" pitchFamily="18" charset="0"/>
              </a:rPr>
              <a:t>Важно помнить, что </a:t>
            </a:r>
            <a:r>
              <a:rPr lang="en-US" sz="2300" dirty="0" err="1" smtClean="0">
                <a:latin typeface="Bookman Old Style" panose="02050604050505020204" pitchFamily="18" charset="0"/>
              </a:rPr>
              <a:t>git</a:t>
            </a:r>
            <a:r>
              <a:rPr lang="en-US" sz="2300" dirty="0" smtClean="0">
                <a:latin typeface="Bookman Old Style" panose="02050604050505020204" pitchFamily="18" charset="0"/>
              </a:rPr>
              <a:t> </a:t>
            </a:r>
            <a:r>
              <a:rPr lang="ru-RU" sz="2300" dirty="0" smtClean="0">
                <a:latin typeface="Bookman Old Style" panose="02050604050505020204" pitchFamily="18" charset="0"/>
              </a:rPr>
              <a:t>хранит только изменения, он не хранит разные версии проектов по отдельности.</a:t>
            </a:r>
            <a:endParaRPr lang="ru-RU" sz="2300" dirty="0">
              <a:latin typeface="Bookman Old Style" panose="02050604050505020204" pitchFamily="18" charset="0"/>
            </a:endParaRPr>
          </a:p>
        </p:txBody>
      </p:sp>
      <p:sp>
        <p:nvSpPr>
          <p:cNvPr id="3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-1"/>
            <a:ext cx="12192000" cy="654357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5875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ru-RU" sz="2800" b="1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Итог</a:t>
            </a:r>
            <a:endParaRPr lang="ru-RU" sz="2800" b="1" dirty="0">
              <a:solidFill>
                <a:schemeClr val="tx2">
                  <a:lumMod val="50000"/>
                </a:schemeClr>
              </a:solidFill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5084677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671691"/>
            <a:ext cx="6096000" cy="4478149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Скачивание кода архивом — это «путь новичка». Разработчики так не делают, потому что архив не содержит истории (папки .</a:t>
            </a:r>
            <a:r>
              <a:rPr lang="ru-RU" sz="2400" dirty="0" err="1">
                <a:latin typeface="Bookman Old Style" panose="02050604050505020204" pitchFamily="18" charset="0"/>
              </a:rPr>
              <a:t>git</a:t>
            </a:r>
            <a:r>
              <a:rPr lang="ru-RU" sz="2400" dirty="0">
                <a:latin typeface="Bookman Old Style" panose="02050604050505020204" pitchFamily="18" charset="0"/>
              </a:rPr>
              <a:t>) и не связан с сервером</a:t>
            </a:r>
            <a:r>
              <a:rPr lang="ru-RU" sz="2400" dirty="0" smtClean="0">
                <a:latin typeface="Bookman Old Style" panose="02050604050505020204" pitchFamily="18" charset="0"/>
              </a:rPr>
              <a:t>.</a:t>
            </a:r>
          </a:p>
          <a:p>
            <a:pPr algn="just">
              <a:lnSpc>
                <a:spcPct val="150000"/>
              </a:lnSpc>
            </a:pPr>
            <a:endParaRPr lang="ru-RU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en-US" sz="2300" dirty="0" err="1">
                <a:latin typeface="Bookman Old Style" panose="02050604050505020204" pitchFamily="18" charset="0"/>
              </a:rPr>
              <a:t>git</a:t>
            </a:r>
            <a:r>
              <a:rPr lang="en-US" sz="2300" dirty="0">
                <a:latin typeface="Bookman Old Style" panose="02050604050505020204" pitchFamily="18" charset="0"/>
              </a:rPr>
              <a:t> </a:t>
            </a:r>
            <a:r>
              <a:rPr lang="en-US" sz="2300" dirty="0" smtClean="0">
                <a:latin typeface="Bookman Old Style" panose="02050604050505020204" pitchFamily="18" charset="0"/>
              </a:rPr>
              <a:t>clone</a:t>
            </a:r>
            <a:endParaRPr lang="ru-RU" sz="2300" dirty="0" smtClean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en-US" sz="2300" dirty="0" smtClean="0">
                <a:latin typeface="Bookman Old Style" panose="02050604050505020204" pitchFamily="18" charset="0"/>
              </a:rPr>
              <a:t> </a:t>
            </a:r>
            <a:r>
              <a:rPr lang="en-US" sz="2300" dirty="0">
                <a:latin typeface="Bookman Old Style" panose="02050604050505020204" pitchFamily="18" charset="0"/>
              </a:rPr>
              <a:t>https://github.com/user/project.git</a:t>
            </a:r>
            <a:endParaRPr lang="ru-RU" sz="2300" dirty="0">
              <a:latin typeface="Bookman Old Style" panose="02050604050505020204" pitchFamily="18" charset="0"/>
            </a:endParaRPr>
          </a:p>
        </p:txBody>
      </p:sp>
      <p:sp>
        <p:nvSpPr>
          <p:cNvPr id="3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-1"/>
            <a:ext cx="12192000" cy="654357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5875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ru-RU" sz="2800" b="1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Как скачать</a:t>
            </a:r>
            <a:r>
              <a:rPr lang="en-US" sz="2800" b="1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 </a:t>
            </a:r>
            <a:r>
              <a:rPr lang="ru-RU" sz="2800" b="1" dirty="0" err="1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репозиторий</a:t>
            </a:r>
            <a:endParaRPr lang="ru-RU" sz="2800" b="1" dirty="0">
              <a:solidFill>
                <a:schemeClr val="tx2">
                  <a:lumMod val="50000"/>
                </a:schemeClr>
              </a:solidFill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915675"/>
            <a:ext cx="5833039" cy="53843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20403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671691"/>
            <a:ext cx="12192000" cy="2155911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300" b="1" dirty="0" err="1">
                <a:latin typeface="Bookman Old Style" panose="02050604050505020204" pitchFamily="18" charset="0"/>
              </a:rPr>
              <a:t>GitHub</a:t>
            </a:r>
            <a:r>
              <a:rPr lang="ru-RU" sz="2300" b="1" dirty="0">
                <a:latin typeface="Bookman Old Style" panose="02050604050505020204" pitchFamily="18" charset="0"/>
              </a:rPr>
              <a:t> </a:t>
            </a:r>
            <a:r>
              <a:rPr lang="ru-RU" sz="2300" b="1" dirty="0" err="1">
                <a:latin typeface="Bookman Old Style" panose="02050604050505020204" pitchFamily="18" charset="0"/>
              </a:rPr>
              <a:t>Projects</a:t>
            </a:r>
            <a:r>
              <a:rPr lang="ru-RU" sz="2300" b="1" dirty="0">
                <a:latin typeface="Bookman Old Style" panose="02050604050505020204" pitchFamily="18" charset="0"/>
              </a:rPr>
              <a:t> </a:t>
            </a:r>
            <a:r>
              <a:rPr lang="ru-RU" sz="2300" dirty="0">
                <a:latin typeface="Bookman Old Style" panose="02050604050505020204" pitchFamily="18" charset="0"/>
              </a:rPr>
              <a:t>— это гибкая доска задач (</a:t>
            </a:r>
            <a:r>
              <a:rPr lang="ru-RU" sz="2300" dirty="0" err="1">
                <a:latin typeface="Bookman Old Style" panose="02050604050505020204" pitchFamily="18" charset="0"/>
              </a:rPr>
              <a:t>канбан</a:t>
            </a:r>
            <a:r>
              <a:rPr lang="ru-RU" sz="2300" dirty="0">
                <a:latin typeface="Bookman Old Style" panose="02050604050505020204" pitchFamily="18" charset="0"/>
              </a:rPr>
              <a:t>), интегрированная с вашим </a:t>
            </a:r>
            <a:r>
              <a:rPr lang="ru-RU" sz="2300" dirty="0" err="1">
                <a:latin typeface="Bookman Old Style" panose="02050604050505020204" pitchFamily="18" charset="0"/>
              </a:rPr>
              <a:t>репозиторием</a:t>
            </a:r>
            <a:r>
              <a:rPr lang="ru-RU" sz="2300" dirty="0">
                <a:latin typeface="Bookman Old Style" panose="02050604050505020204" pitchFamily="18" charset="0"/>
              </a:rPr>
              <a:t>. Она помогает организовать работу, отслеживать прогресс и управлять сроками. Представьте себе цифровую доску со </a:t>
            </a:r>
            <a:r>
              <a:rPr lang="ru-RU" sz="2300" dirty="0" err="1">
                <a:latin typeface="Bookman Old Style" panose="02050604050505020204" pitchFamily="18" charset="0"/>
              </a:rPr>
              <a:t>стикерами</a:t>
            </a:r>
            <a:r>
              <a:rPr lang="ru-RU" sz="2300" dirty="0">
                <a:latin typeface="Bookman Old Style" panose="02050604050505020204" pitchFamily="18" charset="0"/>
              </a:rPr>
              <a:t>-задачами, которые можно перемещать между колонками.</a:t>
            </a:r>
          </a:p>
        </p:txBody>
      </p:sp>
      <p:sp>
        <p:nvSpPr>
          <p:cNvPr id="3" name="Rectangle 28" descr="Светлый диагональный 2"/>
          <p:cNvSpPr>
            <a:spLocks noChangeArrowheads="1"/>
          </p:cNvSpPr>
          <p:nvPr/>
        </p:nvSpPr>
        <p:spPr bwMode="auto">
          <a:xfrm>
            <a:off x="0" y="-1"/>
            <a:ext cx="12192000" cy="654357"/>
          </a:xfrm>
          <a:prstGeom prst="rect">
            <a:avLst/>
          </a:prstGeom>
          <a:pattFill prst="ltUpDiag">
            <a:fgClr>
              <a:schemeClr val="accent1">
                <a:lumMod val="40000"/>
                <a:lumOff val="60000"/>
              </a:schemeClr>
            </a:fgClr>
            <a:bgClr>
              <a:srgbClr val="FFFFFF"/>
            </a:bgClr>
          </a:pattFill>
          <a:ln w="15875" algn="ctr">
            <a:solidFill>
              <a:schemeClr val="accent5">
                <a:lumMod val="50000"/>
              </a:schemeClr>
            </a:solidFill>
            <a:miter lim="800000"/>
            <a:headEnd/>
            <a:tailEnd/>
          </a:ln>
          <a:effectLst/>
        </p:spPr>
        <p:txBody>
          <a:bodyPr vert="horz" wrap="square" lIns="18000" tIns="18000" rIns="18000" bIns="1800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ru-RU" sz="2800" b="1" dirty="0" smtClean="0">
                <a:solidFill>
                  <a:schemeClr val="tx2">
                    <a:lumMod val="50000"/>
                  </a:schemeClr>
                </a:solidFill>
                <a:latin typeface="Bookman Old Style" panose="02050604050505020204" pitchFamily="18" charset="0"/>
                <a:cs typeface="Times New Roman" panose="02020603050405020304" pitchFamily="18" charset="0"/>
              </a:rPr>
              <a:t>Ведение проекта</a:t>
            </a:r>
            <a:endParaRPr lang="ru-RU" sz="2800" b="1" dirty="0">
              <a:solidFill>
                <a:schemeClr val="tx2">
                  <a:lumMod val="50000"/>
                </a:schemeClr>
              </a:solidFill>
              <a:latin typeface="Bookman Old Style" panose="020506040505050202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4749" y="2747597"/>
            <a:ext cx="10672601" cy="1605027"/>
          </a:xfrm>
          <a:prstGeom prst="rect">
            <a:avLst/>
          </a:prstGeom>
        </p:spPr>
      </p:pic>
      <p:pic>
        <p:nvPicPr>
          <p:cNvPr id="6" name="Рисунок 5"/>
          <p:cNvPicPr>
            <a:picLocks noChangeAspect="1"/>
          </p:cNvPicPr>
          <p:nvPr/>
        </p:nvPicPr>
        <p:blipFill rotWithShape="1">
          <a:blip r:embed="rId4"/>
          <a:srcRect t="62491"/>
          <a:stretch/>
        </p:blipFill>
        <p:spPr>
          <a:xfrm>
            <a:off x="779423" y="4355103"/>
            <a:ext cx="10877927" cy="2502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535267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 rotWithShape="1">
          <a:blip r:embed="rId3"/>
          <a:srcRect b="52946"/>
          <a:stretch/>
        </p:blipFill>
        <p:spPr>
          <a:xfrm>
            <a:off x="0" y="305930"/>
            <a:ext cx="12063007" cy="43990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963952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0"/>
            <a:ext cx="12192000" cy="5078313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b="1" dirty="0" smtClean="0">
                <a:latin typeface="Bookman Old Style" panose="02050604050505020204" pitchFamily="18" charset="0"/>
              </a:rPr>
              <a:t>Создание </a:t>
            </a:r>
            <a:r>
              <a:rPr lang="ru-RU" sz="2400" b="1" dirty="0">
                <a:latin typeface="Bookman Old Style" panose="02050604050505020204" pitchFamily="18" charset="0"/>
              </a:rPr>
              <a:t>проекта</a:t>
            </a:r>
          </a:p>
          <a:p>
            <a:pPr algn="just"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Перейдите на вкладку </a:t>
            </a:r>
            <a:r>
              <a:rPr lang="en-US" sz="2400" b="1" dirty="0">
                <a:latin typeface="Bookman Old Style" panose="02050604050505020204" pitchFamily="18" charset="0"/>
              </a:rPr>
              <a:t>Projects</a:t>
            </a:r>
            <a:r>
              <a:rPr lang="en-US" sz="2400" dirty="0">
                <a:latin typeface="Bookman Old Style" panose="02050604050505020204" pitchFamily="18" charset="0"/>
              </a:rPr>
              <a:t> </a:t>
            </a:r>
            <a:r>
              <a:rPr lang="ru-RU" sz="2400" dirty="0">
                <a:latin typeface="Bookman Old Style" panose="02050604050505020204" pitchFamily="18" charset="0"/>
              </a:rPr>
              <a:t>в вашем </a:t>
            </a:r>
            <a:r>
              <a:rPr lang="ru-RU" sz="2400" dirty="0" err="1">
                <a:latin typeface="Bookman Old Style" panose="02050604050505020204" pitchFamily="18" charset="0"/>
              </a:rPr>
              <a:t>репозитории</a:t>
            </a:r>
            <a:endParaRPr lang="ru-RU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Нажмите </a:t>
            </a:r>
            <a:r>
              <a:rPr lang="en-US" sz="2400" b="1" dirty="0">
                <a:latin typeface="Bookman Old Style" panose="02050604050505020204" pitchFamily="18" charset="0"/>
              </a:rPr>
              <a:t>New Project</a:t>
            </a:r>
            <a:endParaRPr lang="en-US" sz="2400" dirty="0">
              <a:latin typeface="Bookman Old Style" panose="020506040505050202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Выберите шаблон:</a:t>
            </a:r>
          </a:p>
          <a:p>
            <a:pPr lvl="1" algn="just">
              <a:lnSpc>
                <a:spcPct val="150000"/>
              </a:lnSpc>
            </a:pPr>
            <a:r>
              <a:rPr lang="en-US" sz="2400" b="1" dirty="0">
                <a:latin typeface="Bookman Old Style" panose="02050604050505020204" pitchFamily="18" charset="0"/>
              </a:rPr>
              <a:t>Basic </a:t>
            </a:r>
            <a:r>
              <a:rPr lang="en-US" sz="2400" b="1" dirty="0" err="1">
                <a:latin typeface="Bookman Old Style" panose="02050604050505020204" pitchFamily="18" charset="0"/>
              </a:rPr>
              <a:t>kanban</a:t>
            </a:r>
            <a:r>
              <a:rPr lang="en-US" sz="2400" dirty="0">
                <a:latin typeface="Bookman Old Style" panose="02050604050505020204" pitchFamily="18" charset="0"/>
              </a:rPr>
              <a:t> — </a:t>
            </a:r>
            <a:r>
              <a:rPr lang="ru-RU" sz="2400" dirty="0">
                <a:latin typeface="Bookman Old Style" panose="02050604050505020204" pitchFamily="18" charset="0"/>
              </a:rPr>
              <a:t>для простого </a:t>
            </a:r>
            <a:r>
              <a:rPr lang="en-US" sz="2400" dirty="0">
                <a:latin typeface="Bookman Old Style" panose="02050604050505020204" pitchFamily="18" charset="0"/>
              </a:rPr>
              <a:t>workflow (To do / In progress / Done)</a:t>
            </a:r>
          </a:p>
          <a:p>
            <a:pPr lvl="1" algn="just">
              <a:lnSpc>
                <a:spcPct val="150000"/>
              </a:lnSpc>
            </a:pPr>
            <a:r>
              <a:rPr lang="en-US" sz="2400" b="1" dirty="0">
                <a:latin typeface="Bookman Old Style" panose="02050604050505020204" pitchFamily="18" charset="0"/>
              </a:rPr>
              <a:t>Automated </a:t>
            </a:r>
            <a:r>
              <a:rPr lang="en-US" sz="2400" b="1" dirty="0" err="1">
                <a:latin typeface="Bookman Old Style" panose="02050604050505020204" pitchFamily="18" charset="0"/>
              </a:rPr>
              <a:t>kanban</a:t>
            </a:r>
            <a:r>
              <a:rPr lang="en-US" sz="2400" dirty="0">
                <a:latin typeface="Bookman Old Style" panose="02050604050505020204" pitchFamily="18" charset="0"/>
              </a:rPr>
              <a:t> — </a:t>
            </a:r>
            <a:r>
              <a:rPr lang="ru-RU" sz="2400" dirty="0">
                <a:latin typeface="Bookman Old Style" panose="02050604050505020204" pitchFamily="18" charset="0"/>
              </a:rPr>
              <a:t>автоматическое перемещение задач по статусам</a:t>
            </a:r>
          </a:p>
          <a:p>
            <a:pPr lvl="1" algn="just">
              <a:lnSpc>
                <a:spcPct val="150000"/>
              </a:lnSpc>
            </a:pPr>
            <a:r>
              <a:rPr lang="en-US" sz="2400" b="1" dirty="0">
                <a:latin typeface="Bookman Old Style" panose="02050604050505020204" pitchFamily="18" charset="0"/>
              </a:rPr>
              <a:t>Bug triage</a:t>
            </a:r>
            <a:r>
              <a:rPr lang="en-US" sz="2400" dirty="0">
                <a:latin typeface="Bookman Old Style" panose="02050604050505020204" pitchFamily="18" charset="0"/>
              </a:rPr>
              <a:t> — </a:t>
            </a:r>
            <a:r>
              <a:rPr lang="ru-RU" sz="2400" dirty="0">
                <a:latin typeface="Bookman Old Style" panose="02050604050505020204" pitchFamily="18" charset="0"/>
              </a:rPr>
              <a:t>для отслеживания ошибок</a:t>
            </a:r>
          </a:p>
          <a:p>
            <a:pPr lvl="1" algn="just">
              <a:lnSpc>
                <a:spcPct val="150000"/>
              </a:lnSpc>
            </a:pPr>
            <a:r>
              <a:rPr lang="en-US" sz="2400" b="1" dirty="0">
                <a:latin typeface="Bookman Old Style" panose="02050604050505020204" pitchFamily="18" charset="0"/>
              </a:rPr>
              <a:t>Team planning</a:t>
            </a:r>
            <a:r>
              <a:rPr lang="en-US" sz="2400" dirty="0">
                <a:latin typeface="Bookman Old Style" panose="02050604050505020204" pitchFamily="18" charset="0"/>
              </a:rPr>
              <a:t> — </a:t>
            </a:r>
            <a:r>
              <a:rPr lang="ru-RU" sz="2400" dirty="0">
                <a:latin typeface="Bookman Old Style" panose="02050604050505020204" pitchFamily="18" charset="0"/>
              </a:rPr>
              <a:t>для планирования </a:t>
            </a:r>
            <a:r>
              <a:rPr lang="ru-RU" sz="2400" dirty="0" smtClean="0">
                <a:latin typeface="Bookman Old Style" panose="02050604050505020204" pitchFamily="18" charset="0"/>
              </a:rPr>
              <a:t>спринтов</a:t>
            </a:r>
            <a:endParaRPr lang="ru-RU" sz="2400" dirty="0">
              <a:latin typeface="Bookman Old Style" panose="02050604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0473168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0" y="0"/>
            <a:ext cx="12192000" cy="6740307"/>
          </a:xfrm>
          <a:prstGeom prst="rect">
            <a:avLst/>
          </a:prstGeom>
        </p:spPr>
        <p:txBody>
          <a:bodyPr wrap="square" lIns="360000" rIns="36000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b="1" dirty="0" smtClean="0">
                <a:latin typeface="Bookman Old Style" panose="02050604050505020204" pitchFamily="18" charset="0"/>
              </a:rPr>
              <a:t>Создание </a:t>
            </a:r>
            <a:r>
              <a:rPr lang="ru-RU" sz="2400" b="1" dirty="0">
                <a:latin typeface="Bookman Old Style" panose="02050604050505020204" pitchFamily="18" charset="0"/>
              </a:rPr>
              <a:t>задачи:</a:t>
            </a:r>
          </a:p>
          <a:p>
            <a:pPr marL="531813" algn="just"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Нажмите </a:t>
            </a:r>
            <a:r>
              <a:rPr lang="ru-RU" sz="2400" b="1" dirty="0">
                <a:latin typeface="Bookman Old Style" panose="02050604050505020204" pitchFamily="18" charset="0"/>
              </a:rPr>
              <a:t>+ </a:t>
            </a:r>
            <a:r>
              <a:rPr lang="ru-RU" sz="2400" b="1" dirty="0" err="1">
                <a:latin typeface="Bookman Old Style" panose="02050604050505020204" pitchFamily="18" charset="0"/>
              </a:rPr>
              <a:t>Add</a:t>
            </a:r>
            <a:r>
              <a:rPr lang="ru-RU" sz="2400" b="1" dirty="0">
                <a:latin typeface="Bookman Old Style" panose="02050604050505020204" pitchFamily="18" charset="0"/>
              </a:rPr>
              <a:t> </a:t>
            </a:r>
            <a:r>
              <a:rPr lang="ru-RU" sz="2400" b="1" dirty="0" err="1">
                <a:latin typeface="Bookman Old Style" panose="02050604050505020204" pitchFamily="18" charset="0"/>
              </a:rPr>
              <a:t>item</a:t>
            </a:r>
            <a:r>
              <a:rPr lang="ru-RU" sz="2400" dirty="0">
                <a:latin typeface="Bookman Old Style" panose="02050604050505020204" pitchFamily="18" charset="0"/>
              </a:rPr>
              <a:t> в нужной колонке</a:t>
            </a:r>
          </a:p>
          <a:p>
            <a:pPr marL="531813" algn="just"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Введите название задачи</a:t>
            </a:r>
          </a:p>
          <a:p>
            <a:pPr marL="531813" algn="just"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Нажмите </a:t>
            </a:r>
            <a:r>
              <a:rPr lang="ru-RU" sz="2400" dirty="0" err="1">
                <a:latin typeface="Bookman Old Style" panose="02050604050505020204" pitchFamily="18" charset="0"/>
              </a:rPr>
              <a:t>Enter</a:t>
            </a:r>
            <a:endParaRPr lang="ru-RU" sz="2400" dirty="0">
              <a:latin typeface="Bookman Old Style" panose="02050604050505020204" pitchFamily="18" charset="0"/>
            </a:endParaRPr>
          </a:p>
          <a:p>
            <a:pPr marL="531813" algn="just"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Кликните на карточку для </a:t>
            </a:r>
            <a:r>
              <a:rPr lang="ru-RU" sz="2400" dirty="0" smtClean="0">
                <a:latin typeface="Bookman Old Style" panose="02050604050505020204" pitchFamily="18" charset="0"/>
              </a:rPr>
              <a:t>деталей</a:t>
            </a:r>
          </a:p>
          <a:p>
            <a:pPr algn="just">
              <a:lnSpc>
                <a:spcPct val="150000"/>
              </a:lnSpc>
            </a:pPr>
            <a:r>
              <a:rPr lang="ru-RU" sz="2400" dirty="0" smtClean="0">
                <a:latin typeface="Bookman Old Style" panose="02050604050505020204" pitchFamily="18" charset="0"/>
              </a:rPr>
              <a:t>Автоматизация (</a:t>
            </a:r>
            <a:r>
              <a:rPr lang="ru-RU" sz="2400" smtClean="0">
                <a:latin typeface="Bookman Old Style" panose="02050604050505020204" pitchFamily="18" charset="0"/>
              </a:rPr>
              <a:t>не обязательно):</a:t>
            </a:r>
            <a:endParaRPr lang="ru-RU" sz="2400" dirty="0">
              <a:latin typeface="Bookman Old Style" panose="02050604050505020204" pitchFamily="18" charset="0"/>
            </a:endParaRPr>
          </a:p>
          <a:p>
            <a:pPr lvl="1" algn="just"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Создайте </a:t>
            </a:r>
            <a:r>
              <a:rPr lang="ru-RU" sz="2400" dirty="0" err="1">
                <a:latin typeface="Bookman Old Style" panose="02050604050505020204" pitchFamily="18" charset="0"/>
              </a:rPr>
              <a:t>Issue</a:t>
            </a:r>
            <a:r>
              <a:rPr lang="ru-RU" sz="2400" dirty="0">
                <a:latin typeface="Bookman Old Style" panose="02050604050505020204" pitchFamily="18" charset="0"/>
              </a:rPr>
              <a:t> в </a:t>
            </a:r>
            <a:r>
              <a:rPr lang="ru-RU" sz="2400" dirty="0" err="1">
                <a:latin typeface="Bookman Old Style" panose="02050604050505020204" pitchFamily="18" charset="0"/>
              </a:rPr>
              <a:t>репозитории</a:t>
            </a:r>
            <a:r>
              <a:rPr lang="ru-RU" sz="2400" dirty="0">
                <a:latin typeface="Bookman Old Style" panose="02050604050505020204" pitchFamily="18" charset="0"/>
              </a:rPr>
              <a:t> с описанием задачи</a:t>
            </a:r>
          </a:p>
          <a:p>
            <a:pPr lvl="1" algn="just"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В проекте нажмите + </a:t>
            </a:r>
            <a:r>
              <a:rPr lang="ru-RU" sz="2400" dirty="0" err="1">
                <a:latin typeface="Bookman Old Style" panose="02050604050505020204" pitchFamily="18" charset="0"/>
              </a:rPr>
              <a:t>Add</a:t>
            </a:r>
            <a:r>
              <a:rPr lang="ru-RU" sz="2400" dirty="0">
                <a:latin typeface="Bookman Old Style" panose="02050604050505020204" pitchFamily="18" charset="0"/>
              </a:rPr>
              <a:t> </a:t>
            </a:r>
            <a:r>
              <a:rPr lang="ru-RU" sz="2400" dirty="0" err="1">
                <a:latin typeface="Bookman Old Style" panose="02050604050505020204" pitchFamily="18" charset="0"/>
              </a:rPr>
              <a:t>item</a:t>
            </a:r>
            <a:r>
              <a:rPr lang="ru-RU" sz="2400" dirty="0">
                <a:latin typeface="Bookman Old Style" panose="02050604050505020204" pitchFamily="18" charset="0"/>
              </a:rPr>
              <a:t> и введите # + номер </a:t>
            </a:r>
            <a:r>
              <a:rPr lang="ru-RU" sz="2400" dirty="0" err="1">
                <a:latin typeface="Bookman Old Style" panose="02050604050505020204" pitchFamily="18" charset="0"/>
              </a:rPr>
              <a:t>Issue</a:t>
            </a:r>
            <a:endParaRPr lang="ru-RU" sz="2400" dirty="0">
              <a:latin typeface="Bookman Old Style" panose="02050604050505020204" pitchFamily="18" charset="0"/>
            </a:endParaRPr>
          </a:p>
          <a:p>
            <a:pPr lvl="1" algn="just"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Карточка автоматически свяжется с </a:t>
            </a:r>
            <a:r>
              <a:rPr lang="ru-RU" sz="2400" dirty="0" err="1">
                <a:latin typeface="Bookman Old Style" panose="02050604050505020204" pitchFamily="18" charset="0"/>
              </a:rPr>
              <a:t>Issue</a:t>
            </a:r>
            <a:endParaRPr lang="ru-RU" sz="2400" dirty="0">
              <a:latin typeface="Bookman Old Style" panose="02050604050505020204" pitchFamily="18" charset="0"/>
            </a:endParaRPr>
          </a:p>
          <a:p>
            <a:pPr lvl="1" algn="just">
              <a:lnSpc>
                <a:spcPct val="150000"/>
              </a:lnSpc>
            </a:pPr>
            <a:r>
              <a:rPr lang="ru-RU" sz="2400" dirty="0">
                <a:latin typeface="Bookman Old Style" panose="02050604050505020204" pitchFamily="18" charset="0"/>
              </a:rPr>
              <a:t>При создании </a:t>
            </a:r>
            <a:r>
              <a:rPr lang="ru-RU" sz="2400" dirty="0" err="1">
                <a:latin typeface="Bookman Old Style" panose="02050604050505020204" pitchFamily="18" charset="0"/>
              </a:rPr>
              <a:t>Pull</a:t>
            </a:r>
            <a:r>
              <a:rPr lang="ru-RU" sz="2400" dirty="0">
                <a:latin typeface="Bookman Old Style" panose="02050604050505020204" pitchFamily="18" charset="0"/>
              </a:rPr>
              <a:t> </a:t>
            </a:r>
            <a:r>
              <a:rPr lang="ru-RU" sz="2400" dirty="0" err="1">
                <a:latin typeface="Bookman Old Style" panose="02050604050505020204" pitchFamily="18" charset="0"/>
              </a:rPr>
              <a:t>Request</a:t>
            </a:r>
            <a:r>
              <a:rPr lang="ru-RU" sz="2400" dirty="0">
                <a:latin typeface="Bookman Old Style" panose="02050604050505020204" pitchFamily="18" charset="0"/>
              </a:rPr>
              <a:t> с ключевыми словами:</a:t>
            </a:r>
          </a:p>
          <a:p>
            <a:pPr lvl="1" algn="just">
              <a:lnSpc>
                <a:spcPct val="150000"/>
              </a:lnSpc>
            </a:pPr>
            <a:r>
              <a:rPr lang="ru-RU" sz="2400" dirty="0" err="1">
                <a:latin typeface="Bookman Old Style" panose="02050604050505020204" pitchFamily="18" charset="0"/>
              </a:rPr>
              <a:t>fixes</a:t>
            </a:r>
            <a:r>
              <a:rPr lang="ru-RU" sz="2400" dirty="0">
                <a:latin typeface="Bookman Old Style" panose="02050604050505020204" pitchFamily="18" charset="0"/>
              </a:rPr>
              <a:t> #1 — автоматически переместит карточку в "</a:t>
            </a:r>
            <a:r>
              <a:rPr lang="ru-RU" sz="2400" dirty="0" err="1">
                <a:latin typeface="Bookman Old Style" panose="02050604050505020204" pitchFamily="18" charset="0"/>
              </a:rPr>
              <a:t>Done</a:t>
            </a:r>
            <a:r>
              <a:rPr lang="ru-RU" sz="2400" dirty="0">
                <a:latin typeface="Bookman Old Style" panose="02050604050505020204" pitchFamily="18" charset="0"/>
              </a:rPr>
              <a:t>"</a:t>
            </a:r>
          </a:p>
          <a:p>
            <a:pPr lvl="1" algn="just">
              <a:lnSpc>
                <a:spcPct val="150000"/>
              </a:lnSpc>
            </a:pPr>
            <a:r>
              <a:rPr lang="ru-RU" sz="2400" dirty="0" err="1">
                <a:latin typeface="Bookman Old Style" panose="02050604050505020204" pitchFamily="18" charset="0"/>
              </a:rPr>
              <a:t>connects</a:t>
            </a:r>
            <a:r>
              <a:rPr lang="ru-RU" sz="2400" dirty="0">
                <a:latin typeface="Bookman Old Style" panose="02050604050505020204" pitchFamily="18" charset="0"/>
              </a:rPr>
              <a:t> </a:t>
            </a:r>
            <a:r>
              <a:rPr lang="ru-RU" sz="2400" dirty="0" err="1">
                <a:latin typeface="Bookman Old Style" panose="02050604050505020204" pitchFamily="18" charset="0"/>
              </a:rPr>
              <a:t>to</a:t>
            </a:r>
            <a:r>
              <a:rPr lang="ru-RU" sz="2400" dirty="0">
                <a:latin typeface="Bookman Old Style" panose="02050604050505020204" pitchFamily="18" charset="0"/>
              </a:rPr>
              <a:t> #1 — свяжет PR с задачей</a:t>
            </a:r>
          </a:p>
        </p:txBody>
      </p:sp>
    </p:spTree>
    <p:extLst>
      <p:ext uri="{BB962C8B-B14F-4D97-AF65-F5344CB8AC3E}">
        <p14:creationId xmlns:p14="http://schemas.microsoft.com/office/powerpoint/2010/main" val="108735911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Тема Office">
  <a:themeElements>
    <a:clrScheme name="Тема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Тема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Тема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15097</TotalTime>
  <Words>2282</Words>
  <Application>Microsoft Office PowerPoint</Application>
  <PresentationFormat>Широкоэкранный</PresentationFormat>
  <Paragraphs>476</Paragraphs>
  <Slides>70</Slides>
  <Notes>70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70</vt:i4>
      </vt:variant>
    </vt:vector>
  </HeadingPairs>
  <TitlesOfParts>
    <vt:vector size="76" baseType="lpstr">
      <vt:lpstr>Arial</vt:lpstr>
      <vt:lpstr>Bookman Old Style</vt:lpstr>
      <vt:lpstr>Calibri</vt:lpstr>
      <vt:lpstr>Calibri Light</vt:lpstr>
      <vt:lpstr>Times New Roman</vt:lpstr>
      <vt:lpstr>Тема Office</vt:lpstr>
      <vt:lpstr>4 семестр Лекция 2.  Содержание лекции: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810</cp:revision>
  <dcterms:modified xsi:type="dcterms:W3CDTF">2026-03-19T10:04:57Z</dcterms:modified>
  <dc:subject/>
  <cp:keywords/>
  <dc:description/>
  <cp:category/>
  <cp:contentStatus/>
</cp:coreProperties>
</file>