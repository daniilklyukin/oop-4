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6"/>
  </p:notesMasterIdLst>
  <p:sldIdLst>
    <p:sldId id="273" r:id="rId2"/>
    <p:sldId id="969" r:id="rId3"/>
    <p:sldId id="1099" r:id="rId4"/>
    <p:sldId id="1068" r:id="rId5"/>
    <p:sldId id="1069" r:id="rId6"/>
    <p:sldId id="1052" r:id="rId7"/>
    <p:sldId id="995" r:id="rId8"/>
    <p:sldId id="1053" r:id="rId9"/>
    <p:sldId id="1054" r:id="rId10"/>
    <p:sldId id="997" r:id="rId11"/>
    <p:sldId id="1071" r:id="rId12"/>
    <p:sldId id="1079" r:id="rId13"/>
    <p:sldId id="1072" r:id="rId14"/>
    <p:sldId id="1073" r:id="rId15"/>
    <p:sldId id="1082" r:id="rId16"/>
    <p:sldId id="1075" r:id="rId17"/>
    <p:sldId id="1084" r:id="rId18"/>
    <p:sldId id="1085" r:id="rId19"/>
    <p:sldId id="1087" r:id="rId20"/>
    <p:sldId id="1088" r:id="rId21"/>
    <p:sldId id="1089" r:id="rId22"/>
    <p:sldId id="1090" r:id="rId23"/>
    <p:sldId id="1091" r:id="rId24"/>
    <p:sldId id="1092" r:id="rId25"/>
    <p:sldId id="1093" r:id="rId26"/>
    <p:sldId id="1094" r:id="rId27"/>
    <p:sldId id="1095" r:id="rId28"/>
    <p:sldId id="999" r:id="rId29"/>
    <p:sldId id="1096" r:id="rId30"/>
    <p:sldId id="1097" r:id="rId31"/>
    <p:sldId id="1062" r:id="rId32"/>
    <p:sldId id="1004" r:id="rId33"/>
    <p:sldId id="1007" r:id="rId34"/>
    <p:sldId id="1063" r:id="rId35"/>
    <p:sldId id="1008" r:id="rId36"/>
    <p:sldId id="1064" r:id="rId37"/>
    <p:sldId id="1009" r:id="rId38"/>
    <p:sldId id="1010" r:id="rId39"/>
    <p:sldId id="1011" r:id="rId40"/>
    <p:sldId id="1012" r:id="rId41"/>
    <p:sldId id="1065" r:id="rId42"/>
    <p:sldId id="1066" r:id="rId43"/>
    <p:sldId id="1013" r:id="rId44"/>
    <p:sldId id="1014" r:id="rId45"/>
    <p:sldId id="1067" r:id="rId46"/>
    <p:sldId id="1015" r:id="rId47"/>
    <p:sldId id="1016" r:id="rId48"/>
    <p:sldId id="1017" r:id="rId49"/>
    <p:sldId id="1098" r:id="rId50"/>
    <p:sldId id="1100" r:id="rId51"/>
    <p:sldId id="1101" r:id="rId52"/>
    <p:sldId id="1102" r:id="rId53"/>
    <p:sldId id="1103" r:id="rId54"/>
    <p:sldId id="1104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5343" autoAdjust="0"/>
  </p:normalViewPr>
  <p:slideViewPr>
    <p:cSldViewPr snapToGrid="0">
      <p:cViewPr varScale="1">
        <p:scale>
          <a:sx n="83" d="100"/>
          <a:sy n="83" d="100"/>
        </p:scale>
        <p:origin x="108" y="7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15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67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39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65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75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02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05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71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76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05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73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69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14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1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66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86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16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75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81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53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22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9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65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24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753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84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1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16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165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87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824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067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72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648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44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951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342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29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161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354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43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417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81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830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06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64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276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5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253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76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12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ilKlyukin/OOP-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aniilKlyukin/OOP-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7" Type="http://schemas.openxmlformats.org/officeDocument/2006/relationships/hyperlink" Target="https://www.youtube.com/watch?v=zZBiln_2Fh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gitbranching.js.org/?locale=ru_RU" TargetMode="External"/><Relationship Id="rId5" Type="http://schemas.openxmlformats.org/officeDocument/2006/relationships/hyperlink" Target="https://githowto.com/ru/setup" TargetMode="External"/><Relationship Id="rId4" Type="http://schemas.openxmlformats.org/officeDocument/2006/relationships/hyperlink" Target="https://ru.hexlet.io/courses/intro_to_g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gitignore/blob/main/VisualStudio.gitignore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sktop.github.com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2" y="3105858"/>
            <a:ext cx="9638568" cy="1384995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3.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490853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Работа в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Конфликт слияния веток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endParaRPr lang="ru-RU" sz="28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Все материалы по ИТиП1-3, ООП1, ООП2 размещены на </a:t>
            </a:r>
            <a:r>
              <a:rPr lang="en-US" sz="2400" b="1" dirty="0" smtClean="0">
                <a:latin typeface="Bookman Old Style" panose="02050604050505020204" pitchFamily="18" charset="0"/>
              </a:rPr>
              <a:t>GitHub:</a:t>
            </a:r>
            <a:endParaRPr lang="en-US" sz="2400" b="1" dirty="0" smtClean="0">
              <a:latin typeface="Bookman Old Style" panose="02050604050505020204" pitchFamily="18" charset="0"/>
              <a:hlinkClick r:id="rId3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github.com/DaniilKlyukin/ITiP-1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github.com/DaniilKlyukin/ITiP-2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https://github.com/DaniilKlyukin/ITiP-3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github.com/DaniilKlyukin/OOP-4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4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4"/>
              </a:rPr>
              <a:t>github.com/DaniilKlyukin/OOP-6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>
                <a:latin typeface="Bookman Old Style" panose="02050604050505020204" pitchFamily="18" charset="0"/>
              </a:rPr>
              <a:t>это бесплатная распределенная система контроля версий с открытым исходным кодом, предназначенная для быстрой и эффективной работы со всеми проектами, от небольших до очень крупных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Применение: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Командная разработка отдельных модулей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Возможность отката к любой из предыдущих версий программы</a:t>
            </a:r>
            <a:r>
              <a:rPr lang="en-US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 smtClean="0">
                <a:latin typeface="Bookman Old Style" panose="02050604050505020204" pitchFamily="18" charset="0"/>
              </a:rPr>
              <a:t>При этом важно знать, что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хранит только изменения файлов, а не сами версии файлов, что существенно экономит ресурсы ПК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1028" name="Picture 4" descr="upload.wikimedia.org/wikipedia/commons/thumb/e/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7" y="35077"/>
            <a:ext cx="1397712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9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872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Ядро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 </a:t>
            </a:r>
            <a:r>
              <a:rPr lang="en-US" sz="2300" dirty="0" smtClean="0">
                <a:latin typeface="Bookman Old Style" panose="02050604050505020204" pitchFamily="18" charset="0"/>
              </a:rPr>
              <a:t>-</a:t>
            </a:r>
            <a:r>
              <a:rPr lang="ru-RU" sz="2300" dirty="0">
                <a:latin typeface="Bookman Old Style" panose="02050604050505020204" pitchFamily="18" charset="0"/>
              </a:rPr>
              <a:t> это достаточно большой проект с открытым исходным кодом. Большую часть времени разработки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(1991–2002 гг.) изменения передавались между разработчиками в виде </a:t>
            </a:r>
            <a:r>
              <a:rPr lang="ru-RU" sz="2300" dirty="0" err="1">
                <a:latin typeface="Bookman Old Style" panose="02050604050505020204" pitchFamily="18" charset="0"/>
              </a:rPr>
              <a:t>патчей</a:t>
            </a:r>
            <a:r>
              <a:rPr lang="ru-RU" sz="2300" dirty="0">
                <a:latin typeface="Bookman Old Style" panose="02050604050505020204" pitchFamily="18" charset="0"/>
              </a:rPr>
              <a:t> и архивов. В 2002 году проект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начал использовать </a:t>
            </a:r>
            <a:r>
              <a:rPr lang="ru-RU" sz="2300" dirty="0" err="1">
                <a:latin typeface="Bookman Old Style" panose="02050604050505020204" pitchFamily="18" charset="0"/>
              </a:rPr>
              <a:t>проприетарную</a:t>
            </a:r>
            <a:r>
              <a:rPr lang="ru-RU" sz="2300" dirty="0">
                <a:latin typeface="Bookman Old Style" panose="02050604050505020204" pitchFamily="18" charset="0"/>
              </a:rPr>
              <a:t> децентрализованную систему контроля версий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ru-RU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300" dirty="0">
                <a:latin typeface="Bookman Old Style" panose="02050604050505020204" pitchFamily="18" charset="0"/>
              </a:rPr>
              <a:t>В 2005 году отношения между сообществом разработчиков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и коммерческой компанией, которая разрабатывала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>
                <a:latin typeface="Bookman Old Style" panose="02050604050505020204" pitchFamily="18" charset="0"/>
              </a:rPr>
              <a:t>, прекратились, и бесплатное использование утилиты стало невозможным. Это </a:t>
            </a:r>
            <a:r>
              <a:rPr lang="ru-RU" sz="2300" dirty="0" err="1">
                <a:latin typeface="Bookman Old Style" panose="02050604050505020204" pitchFamily="18" charset="0"/>
              </a:rPr>
              <a:t>сподвигло</a:t>
            </a:r>
            <a:r>
              <a:rPr lang="ru-RU" sz="2300" dirty="0">
                <a:latin typeface="Bookman Old Style" panose="02050604050505020204" pitchFamily="18" charset="0"/>
              </a:rPr>
              <a:t> сообщество разработчиков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(а в частности </a:t>
            </a:r>
            <a:r>
              <a:rPr lang="ru-RU" sz="2300" dirty="0" err="1">
                <a:latin typeface="Bookman Old Style" panose="02050604050505020204" pitchFamily="18" charset="0"/>
              </a:rPr>
              <a:t>Линуса</a:t>
            </a:r>
            <a:r>
              <a:rPr lang="ru-RU" sz="2300" dirty="0">
                <a:latin typeface="Bookman Old Style" panose="02050604050505020204" pitchFamily="18" charset="0"/>
              </a:rPr>
              <a:t> </a:t>
            </a:r>
            <a:r>
              <a:rPr lang="ru-RU" sz="2300" dirty="0" err="1">
                <a:latin typeface="Bookman Old Style" panose="02050604050505020204" pitchFamily="18" charset="0"/>
              </a:rPr>
              <a:t>Торвальдса</a:t>
            </a:r>
            <a:r>
              <a:rPr lang="ru-RU" sz="2300" dirty="0">
                <a:latin typeface="Bookman Old Style" panose="02050604050505020204" pitchFamily="18" charset="0"/>
              </a:rPr>
              <a:t> — создателя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) разработать свою собственную утилиту, учитывая уроки, полученные при работе с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>
                <a:latin typeface="Bookman Old Style" panose="02050604050505020204" pitchFamily="18" charset="0"/>
              </a:rPr>
              <a:t>. </a:t>
            </a:r>
            <a:endParaRPr lang="en-US" sz="2300" dirty="0" smtClean="0">
              <a:latin typeface="Bookman Old Style" panose="02050604050505020204" pitchFamily="18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5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Некоторыми </a:t>
            </a:r>
            <a:r>
              <a:rPr lang="ru-RU" sz="2400" dirty="0">
                <a:latin typeface="Bookman Old Style" panose="02050604050505020204" pitchFamily="18" charset="0"/>
              </a:rPr>
              <a:t>целями, которые преследовала новая система, были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Скорость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Простая </a:t>
            </a:r>
            <a:r>
              <a:rPr lang="ru-RU" sz="2400" dirty="0" smtClean="0">
                <a:latin typeface="Bookman Old Style" panose="02050604050505020204" pitchFamily="18" charset="0"/>
              </a:rPr>
              <a:t>архитектура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Хорошая поддержка нелинейной разработки (тысячи параллельных веток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Полная </a:t>
            </a:r>
            <a:r>
              <a:rPr lang="ru-RU" sz="2400" dirty="0" smtClean="0">
                <a:latin typeface="Bookman Old Style" panose="02050604050505020204" pitchFamily="18" charset="0"/>
              </a:rPr>
              <a:t>децентрализация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Возможность эффективного управления большими проектами, такими как ядро </a:t>
            </a:r>
            <a:r>
              <a:rPr lang="ru-RU" sz="2400" dirty="0" err="1">
                <a:latin typeface="Bookman Old Style" panose="02050604050505020204" pitchFamily="18" charset="0"/>
              </a:rPr>
              <a:t>Linux</a:t>
            </a:r>
            <a:r>
              <a:rPr lang="ru-RU" sz="2400" dirty="0">
                <a:latin typeface="Bookman Old Style" panose="02050604050505020204" pitchFamily="18" charset="0"/>
              </a:rPr>
              <a:t> (скорость работы и разумное использование дискового пространства)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73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07333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Официальный сайт </a:t>
            </a:r>
            <a:r>
              <a:rPr lang="ru-RU" sz="2400" dirty="0" smtClean="0">
                <a:latin typeface="Bookman Old Style" panose="02050604050505020204" pitchFamily="18" charset="0"/>
              </a:rPr>
              <a:t>программы: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https://git-scm.com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Литература</a:t>
            </a:r>
            <a:r>
              <a:rPr lang="ru-RU" sz="2400" dirty="0" smtClean="0">
                <a:latin typeface="Bookman Old Style" panose="02050604050505020204" pitchFamily="18" charset="0"/>
              </a:rPr>
              <a:t> (полезные ссылки):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4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4"/>
              </a:rPr>
              <a:t>ru.hexlet.io/courses/intro_to_git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5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5"/>
              </a:rPr>
              <a:t>githowto.com/ru/setup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6"/>
              </a:rPr>
              <a:t>https://learngitbranching.js.org/?</a:t>
            </a:r>
            <a:r>
              <a:rPr lang="en-US" sz="2400" dirty="0" smtClean="0">
                <a:latin typeface="Bookman Old Style" panose="02050604050505020204" pitchFamily="18" charset="0"/>
                <a:hlinkClick r:id="rId6"/>
              </a:rPr>
              <a:t>locale=ru_RU</a:t>
            </a:r>
            <a:r>
              <a:rPr lang="ru-RU" sz="2400" dirty="0" smtClean="0">
                <a:latin typeface="Bookman Old Style" panose="02050604050505020204" pitchFamily="18" charset="0"/>
              </a:rPr>
              <a:t> (тренажер по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7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7"/>
              </a:rPr>
              <a:t>www.youtube.com/watch?v=zZBiln_2FhM</a:t>
            </a:r>
            <a:r>
              <a:rPr lang="ru-RU" sz="2400" dirty="0" smtClean="0">
                <a:latin typeface="Bookman Old Style" panose="02050604050505020204" pitchFamily="18" charset="0"/>
              </a:rPr>
              <a:t> (видео-урок)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Термины:</a:t>
            </a:r>
          </a:p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– любая папка, в которой, например, находится наш проект.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Ветка (</a:t>
            </a:r>
            <a:r>
              <a:rPr lang="en-US" sz="2400" dirty="0" smtClean="0">
                <a:latin typeface="Bookman Old Style" panose="02050604050505020204" pitchFamily="18" charset="0"/>
              </a:rPr>
              <a:t>Branch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представляет собой какую-то версию нашего проекта (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Шаги по работе с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Устанавливаем </a:t>
            </a:r>
            <a:r>
              <a:rPr lang="en-US" sz="2400" dirty="0" err="1">
                <a:latin typeface="Bookman Old Style" panose="02050604050505020204" pitchFamily="18" charset="0"/>
              </a:rPr>
              <a:t>Git</a:t>
            </a:r>
            <a:r>
              <a:rPr lang="en-US" sz="2400" dirty="0">
                <a:latin typeface="Bookman Old Style" panose="02050604050505020204" pitchFamily="18" charset="0"/>
              </a:rPr>
              <a:t> (</a:t>
            </a:r>
            <a:r>
              <a:rPr lang="ru-RU" sz="2400" dirty="0">
                <a:latin typeface="Bookman Old Style" panose="02050604050505020204" pitchFamily="18" charset="0"/>
              </a:rPr>
              <a:t>все опции оставляем по умолчанию</a:t>
            </a:r>
            <a:r>
              <a:rPr lang="en-US" sz="2400" dirty="0" smtClean="0">
                <a:latin typeface="Bookman Old Style" panose="02050604050505020204" pitchFamily="18" charset="0"/>
              </a:rPr>
              <a:t>).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(папку).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14250" t="5543" r="12151" b="13872"/>
          <a:stretch/>
        </p:blipFill>
        <p:spPr>
          <a:xfrm>
            <a:off x="5902036" y="3917487"/>
            <a:ext cx="2909455" cy="27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7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39240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Заходим в папку, нажимаем ПКМ и выбираем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Bash Here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18211" t="66698" r="16830"/>
          <a:stretch/>
        </p:blipFill>
        <p:spPr>
          <a:xfrm>
            <a:off x="3106417" y="1277256"/>
            <a:ext cx="8197431" cy="3973286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>
            <a:off x="1669143" y="4934858"/>
            <a:ext cx="1666817" cy="145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24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476337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Для инициализации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 пишем команду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init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-1" r="39359" b="74168"/>
          <a:stretch/>
        </p:blipFill>
        <p:spPr>
          <a:xfrm>
            <a:off x="498764" y="0"/>
            <a:ext cx="11074399" cy="12205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60503" t="6988" b="74168"/>
          <a:stretch/>
        </p:blipFill>
        <p:spPr>
          <a:xfrm>
            <a:off x="498764" y="1202248"/>
            <a:ext cx="7212975" cy="8903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-1" t="25924" r="30805" b="254"/>
          <a:stretch/>
        </p:blipFill>
        <p:spPr>
          <a:xfrm>
            <a:off x="498764" y="3348385"/>
            <a:ext cx="11205556" cy="309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1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можно поместить абсолютно любой файл или папку.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текстовый файл (</a:t>
            </a:r>
            <a:r>
              <a:rPr lang="en-US" sz="2400" dirty="0" smtClean="0">
                <a:latin typeface="Bookman Old Style" panose="02050604050505020204" pitchFamily="18" charset="0"/>
              </a:rPr>
              <a:t>file</a:t>
            </a:r>
            <a:r>
              <a:rPr lang="ru-RU" sz="2400" dirty="0" smtClean="0">
                <a:latin typeface="Bookman Old Style" panose="02050604050505020204" pitchFamily="18" charset="0"/>
              </a:rPr>
              <a:t> 1.</a:t>
            </a:r>
            <a:r>
              <a:rPr lang="en-US" sz="2400" dirty="0" smtClean="0">
                <a:latin typeface="Bookman Old Style" panose="02050604050505020204" pitchFamily="18" charset="0"/>
              </a:rPr>
              <a:t>txt</a:t>
            </a:r>
            <a:r>
              <a:rPr lang="ru-RU" sz="2400" dirty="0" smtClean="0">
                <a:latin typeface="Bookman Old Style" panose="02050604050505020204" pitchFamily="18" charset="0"/>
              </a:rPr>
              <a:t>):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Закроем файл и с помощью команды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status </a:t>
            </a:r>
            <a:r>
              <a:rPr lang="ru-RU" sz="2400" dirty="0" smtClean="0">
                <a:latin typeface="Bookman Old Style" panose="02050604050505020204" pitchFamily="18" charset="0"/>
              </a:rPr>
              <a:t>посмотрим на состояние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67" y="1294500"/>
            <a:ext cx="646837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6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Введем команду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status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1" y="583686"/>
            <a:ext cx="10655079" cy="56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1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On branch master </a:t>
            </a:r>
            <a:r>
              <a:rPr lang="ru-RU" sz="2400" dirty="0" smtClean="0">
                <a:latin typeface="Bookman Old Style" panose="02050604050505020204" pitchFamily="18" charset="0"/>
              </a:rPr>
              <a:t>говорит о том на какой ветке мы находимся (</a:t>
            </a:r>
            <a:r>
              <a:rPr lang="en-US" sz="2400" dirty="0" smtClean="0">
                <a:latin typeface="Bookman Old Style" panose="02050604050505020204" pitchFamily="18" charset="0"/>
              </a:rPr>
              <a:t>master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No commits yet </a:t>
            </a:r>
            <a:r>
              <a:rPr lang="ru-RU" sz="2400" dirty="0" smtClean="0">
                <a:latin typeface="Bookman Old Style" panose="02050604050505020204" pitchFamily="18" charset="0"/>
              </a:rPr>
              <a:t>означает, что мы ещё не фиксировали изменения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Untracked files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список файлов, которые были изменены или добавлены, но эти действия ещё не добавлены в список для фиксации.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случае это файл </a:t>
            </a:r>
            <a:r>
              <a:rPr lang="en-US" sz="2400" b="1" dirty="0" smtClean="0">
                <a:latin typeface="Bookman Old Style" panose="02050604050505020204" pitchFamily="18" charset="0"/>
              </a:rPr>
              <a:t>file 1.txt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Nothing added to commit </a:t>
            </a:r>
            <a:r>
              <a:rPr lang="ru-RU" sz="2400" dirty="0" smtClean="0">
                <a:latin typeface="Bookman Old Style" panose="02050604050505020204" pitchFamily="18" charset="0"/>
              </a:rPr>
              <a:t>говорит о том, что мы ничего не добавили для фиксации изменений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03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Добавим </a:t>
            </a:r>
            <a:r>
              <a:rPr lang="ru-RU" sz="2400" dirty="0">
                <a:latin typeface="Bookman Old Style" panose="02050604050505020204" pitchFamily="18" charset="0"/>
              </a:rPr>
              <a:t>изменения командой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add</a:t>
            </a:r>
            <a:r>
              <a:rPr lang="ru-RU" sz="2400" b="1" dirty="0">
                <a:latin typeface="Bookman Old Style" panose="02050604050505020204" pitchFamily="18" charset="0"/>
              </a:rPr>
              <a:t> «название файла или папки»</a:t>
            </a:r>
            <a:r>
              <a:rPr lang="ru-RU" sz="2400" dirty="0">
                <a:latin typeface="Bookman Old Style" panose="02050604050505020204" pitchFamily="18" charset="0"/>
              </a:rPr>
              <a:t>, чтобы добавить все изменения необходимо ввести </a:t>
            </a:r>
            <a:r>
              <a:rPr lang="ru-RU" sz="2400" b="1" dirty="0">
                <a:latin typeface="Bookman Old Style" panose="02050604050505020204" pitchFamily="18" charset="0"/>
              </a:rPr>
              <a:t>«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add .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</a:t>
            </a:r>
            <a:r>
              <a:rPr lang="ru-RU" sz="2400" dirty="0">
                <a:latin typeface="Bookman Old Style" panose="02050604050505020204" pitchFamily="18" charset="0"/>
              </a:rPr>
              <a:t>ввести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status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то можно увидеть какие файлы ожидают фиксации (сейчас они ещё не сохранены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1837" b="26192"/>
          <a:stretch/>
        </p:blipFill>
        <p:spPr>
          <a:xfrm>
            <a:off x="475465" y="1288963"/>
            <a:ext cx="11441257" cy="133785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16567" b="33441"/>
          <a:stretch/>
        </p:blipFill>
        <p:spPr>
          <a:xfrm>
            <a:off x="475465" y="3867150"/>
            <a:ext cx="11241069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Зафиксируем изменения (сохраним) с помощью команды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commit –m </a:t>
            </a:r>
            <a:r>
              <a:rPr lang="ru-RU" sz="2400" b="1" dirty="0" smtClean="0">
                <a:latin typeface="Bookman Old Style" panose="02050604050505020204" pitchFamily="18" charset="0"/>
              </a:rPr>
              <a:t>«Любой текст, описание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комита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Фиксация изменений выполнена успешно, 1 файл изменен.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Можно делать множество изменений, удалять, добавлять, изменять файлы.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34387" b="26128"/>
          <a:stretch/>
        </p:blipFill>
        <p:spPr>
          <a:xfrm>
            <a:off x="360219" y="1200329"/>
            <a:ext cx="11471564" cy="241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8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не отслеживать изменения некоторых файлов, необходимо создать специальный файл с расширением 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файле перечисляются шаблоны (или конкретные названия) файлов, которые не будут отслеживаться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такой файл со следующим содержимым: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не попадет файл с именем </a:t>
            </a:r>
            <a:r>
              <a:rPr lang="en-US" sz="2400" dirty="0" smtClean="0">
                <a:latin typeface="Bookman Old Style" panose="02050604050505020204" pitchFamily="18" charset="0"/>
              </a:rPr>
              <a:t>file 2.txt</a:t>
            </a:r>
            <a:r>
              <a:rPr lang="ru-RU" sz="2400" dirty="0" smtClean="0">
                <a:latin typeface="Bookman Old Style" panose="02050604050505020204" pitchFamily="18" charset="0"/>
              </a:rPr>
              <a:t>, а также файлы с расширением </a:t>
            </a:r>
            <a:r>
              <a:rPr lang="en-US" sz="2400" dirty="0" smtClean="0">
                <a:latin typeface="Bookman Old Style" panose="02050604050505020204" pitchFamily="18" charset="0"/>
              </a:rPr>
              <a:t>.csv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ОБЯЗАТЕЛЬНО</a:t>
            </a:r>
            <a:r>
              <a:rPr lang="ru-RU" sz="2400" dirty="0" smtClean="0">
                <a:latin typeface="Bookman Old Style" panose="02050604050505020204" pitchFamily="18" charset="0"/>
              </a:rPr>
              <a:t> нужно зафиксировать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отдельным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комитом</a:t>
            </a:r>
            <a:r>
              <a:rPr lang="ru-RU" sz="2400" dirty="0" smtClean="0">
                <a:latin typeface="Bookman Old Style" panose="02050604050505020204" pitchFamily="18" charset="0"/>
              </a:rPr>
              <a:t> ДО добавления файлов,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которые нужно игнорировать.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Игнорирование файлов, файл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gitignore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782" y="4086051"/>
            <a:ext cx="3009243" cy="2200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9065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Зафиксируем изменения с помощью команд </a:t>
            </a:r>
            <a:r>
              <a:rPr lang="en-US" sz="2400" dirty="0" smtClean="0">
                <a:latin typeface="Bookman Old Style" panose="02050604050505020204" pitchFamily="18" charset="0"/>
              </a:rPr>
              <a:t>add</a:t>
            </a:r>
            <a:r>
              <a:rPr lang="ru-RU" sz="2400" dirty="0" smtClean="0">
                <a:latin typeface="Bookman Old Style" panose="02050604050505020204" pitchFamily="18" charset="0"/>
              </a:rPr>
              <a:t> и</a:t>
            </a:r>
            <a:r>
              <a:rPr lang="en-US" sz="2400" dirty="0" smtClean="0">
                <a:latin typeface="Bookman Old Style" panose="02050604050505020204" pitchFamily="18" charset="0"/>
              </a:rPr>
              <a:t> commit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эти команды можно совмещать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 помощью одной команды: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commit </a:t>
            </a:r>
            <a:r>
              <a:rPr lang="en-US" sz="2400" b="1" dirty="0" smtClean="0">
                <a:latin typeface="Bookman Old Style" panose="02050604050505020204" pitchFamily="18" charset="0"/>
              </a:rPr>
              <a:t>-am </a:t>
            </a:r>
            <a:r>
              <a:rPr lang="ru-RU" sz="2400" b="1" dirty="0" smtClean="0">
                <a:latin typeface="Bookman Old Style" panose="02050604050505020204" pitchFamily="18" charset="0"/>
              </a:rPr>
              <a:t>«</a:t>
            </a:r>
            <a:r>
              <a:rPr lang="en-US" sz="2400" b="1" dirty="0" smtClean="0">
                <a:latin typeface="Bookman Old Style" panose="02050604050505020204" pitchFamily="18" charset="0"/>
              </a:rPr>
              <a:t>add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gitignore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33867" b="26967"/>
          <a:stretch/>
        </p:blipFill>
        <p:spPr>
          <a:xfrm>
            <a:off x="352426" y="647329"/>
            <a:ext cx="11490440" cy="239513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l="10859" t="11064" b="9151"/>
          <a:stretch/>
        </p:blipFill>
        <p:spPr>
          <a:xfrm>
            <a:off x="7777249" y="2330225"/>
            <a:ext cx="3467100" cy="24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Теперь попробуем добавить файлы, которые должны </a:t>
            </a:r>
            <a:r>
              <a:rPr lang="ru-RU" sz="2400" dirty="0" smtClean="0">
                <a:latin typeface="Bookman Old Style" panose="02050604050505020204" pitchFamily="18" charset="0"/>
              </a:rPr>
              <a:t>игнорироваться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изменения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не найдены. </a:t>
            </a:r>
            <a:r>
              <a:rPr lang="en-US" sz="2400" dirty="0" smtClean="0">
                <a:latin typeface="Bookman Old Style" panose="02050604050505020204" pitchFamily="18" charset="0"/>
              </a:rPr>
              <a:t>file 2.txt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file 3.csv </a:t>
            </a:r>
            <a:r>
              <a:rPr lang="ru-RU" sz="2400" dirty="0" smtClean="0">
                <a:latin typeface="Bookman Old Style" panose="02050604050505020204" pitchFamily="18" charset="0"/>
              </a:rPr>
              <a:t>не обнаруживаются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ru-RU" sz="2400" dirty="0" smtClean="0">
                <a:latin typeface="Bookman Old Style" panose="02050604050505020204" pitchFamily="18" charset="0"/>
              </a:rPr>
              <a:t>-ом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83686"/>
            <a:ext cx="3443354" cy="424332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t="39492" r="30928" b="27391"/>
          <a:stretch/>
        </p:blipFill>
        <p:spPr>
          <a:xfrm>
            <a:off x="3443356" y="2607840"/>
            <a:ext cx="7928455" cy="20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Ветка</a:t>
            </a:r>
            <a:r>
              <a:rPr lang="ru-RU" sz="2400" dirty="0">
                <a:latin typeface="Bookman Old Style" panose="02050604050505020204" pitchFamily="18" charset="0"/>
              </a:rPr>
              <a:t> представляет собой независимое направление </a:t>
            </a:r>
            <a:r>
              <a:rPr lang="ru-RU" sz="2400" dirty="0" smtClean="0">
                <a:latin typeface="Bookman Old Style" panose="02050604050505020204" pitchFamily="18" charset="0"/>
              </a:rPr>
              <a:t>разработки.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Допустим </a:t>
            </a:r>
            <a:r>
              <a:rPr lang="ru-RU" sz="2400" dirty="0">
                <a:latin typeface="Bookman Old Style" panose="02050604050505020204" pitchFamily="18" charset="0"/>
              </a:rPr>
              <a:t>мы хотим добавить новый функционал в </a:t>
            </a:r>
            <a:r>
              <a:rPr lang="ru-RU" sz="2400" dirty="0" smtClean="0">
                <a:latin typeface="Bookman Old Style" panose="02050604050505020204" pitchFamily="18" charset="0"/>
              </a:rPr>
              <a:t>наш проект (программу), </a:t>
            </a:r>
            <a:r>
              <a:rPr lang="ru-RU" sz="2400" dirty="0">
                <a:latin typeface="Bookman Old Style" panose="02050604050505020204" pitchFamily="18" charset="0"/>
              </a:rPr>
              <a:t>но не уверены, понравится ли он заказчику, поэтому в случае чего хотим отменить изменения</a:t>
            </a:r>
            <a:r>
              <a:rPr lang="ru-RU" sz="2400" dirty="0" smtClean="0">
                <a:latin typeface="Bookman Old Style" panose="02050604050505020204" pitchFamily="18" charset="0"/>
              </a:rPr>
              <a:t>. Для этого существуют ветки, обычно основная версия программа хранится 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или </a:t>
            </a:r>
            <a:r>
              <a:rPr lang="en-US" sz="2400" dirty="0" smtClean="0">
                <a:latin typeface="Bookman Old Style" panose="02050604050505020204" pitchFamily="18" charset="0"/>
              </a:rPr>
              <a:t>master, </a:t>
            </a:r>
            <a:r>
              <a:rPr lang="ru-RU" sz="2400" dirty="0" smtClean="0">
                <a:latin typeface="Bookman Old Style" panose="02050604050505020204" pitchFamily="18" charset="0"/>
              </a:rPr>
              <a:t>а разработчики создают отдельные ветки, в которых работают над программой, добавляют функционал, изменяют программу, что-то тестируют.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Ветки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2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создать ветку напишем команду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branch test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и перейдем на данную ветку командой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checkout test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Заметим, что теперь в скобках отображается </a:t>
            </a:r>
            <a:r>
              <a:rPr lang="en-US" sz="2400" b="1" dirty="0" smtClean="0">
                <a:latin typeface="Bookman Old Style" panose="02050604050505020204" pitchFamily="18" charset="0"/>
              </a:rPr>
              <a:t>test </a:t>
            </a:r>
            <a:r>
              <a:rPr lang="en-US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текущая ветка.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45231"/>
          <a:stretch/>
        </p:blipFill>
        <p:spPr>
          <a:xfrm>
            <a:off x="442123" y="1186919"/>
            <a:ext cx="1130775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9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Изменим наш файл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Фиксируем изменения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commit -am </a:t>
            </a:r>
            <a:r>
              <a:rPr lang="ru-RU" sz="2400" b="1" dirty="0" smtClean="0">
                <a:latin typeface="Bookman Old Style" panose="02050604050505020204" pitchFamily="18" charset="0"/>
              </a:rPr>
              <a:t>«</a:t>
            </a:r>
            <a:r>
              <a:rPr lang="en-US" sz="2400" b="1" dirty="0" smtClean="0">
                <a:latin typeface="Bookman Old Style" panose="02050604050505020204" pitchFamily="18" charset="0"/>
              </a:rPr>
              <a:t>edit file2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endParaRPr lang="en-US" sz="2400" b="1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703975"/>
            <a:ext cx="7067550" cy="200837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t="40333" b="4140"/>
          <a:stretch/>
        </p:blipFill>
        <p:spPr>
          <a:xfrm>
            <a:off x="442123" y="3416320"/>
            <a:ext cx="11307753" cy="33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наши изменения перешли в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необходимо перейти в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 выполнить слияние с веткой </a:t>
            </a:r>
            <a:r>
              <a:rPr lang="en-US" sz="2400" dirty="0" smtClean="0">
                <a:latin typeface="Bookman Old Style" panose="02050604050505020204" pitchFamily="18" charset="0"/>
              </a:rPr>
              <a:t>test: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</a:rPr>
              <a:t>checkout master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merge test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Теперь ветка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test. </a:t>
            </a:r>
            <a:r>
              <a:rPr lang="ru-RU" sz="2400" dirty="0" smtClean="0">
                <a:latin typeface="Bookman Old Style" panose="02050604050505020204" pitchFamily="18" charset="0"/>
              </a:rPr>
              <a:t>Если бы мы решили, что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нам не нужны (неудачная версия проекта), то мы бы не делали слияние.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28028" b="26755"/>
          <a:stretch/>
        </p:blipFill>
        <p:spPr>
          <a:xfrm>
            <a:off x="442123" y="2275073"/>
            <a:ext cx="11307753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5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Конфликт слияния веток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7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Конфликт слияния веток возникает только тогда, когда был изменен </a:t>
            </a:r>
            <a:r>
              <a:rPr lang="ru-RU" sz="2400" dirty="0">
                <a:latin typeface="Bookman Old Style" panose="02050604050505020204" pitchFamily="18" charset="0"/>
              </a:rPr>
              <a:t>разным способом</a:t>
            </a:r>
            <a:r>
              <a:rPr lang="ru-RU" sz="2400" dirty="0" smtClean="0">
                <a:latin typeface="Bookman Old Style" panose="02050604050505020204" pitchFamily="18" charset="0"/>
              </a:rPr>
              <a:t> один и тот же файл в одной и той же ветке, либо когда производится слияние веток с разными изменениями одного и того же файла.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Смоделируем конфликт слияния: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изменим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 </a:t>
            </a:r>
            <a:r>
              <a:rPr lang="ru-RU" sz="2400" dirty="0" smtClean="0">
                <a:latin typeface="Bookman Old Style" panose="02050604050505020204" pitchFamily="18" charset="0"/>
              </a:rPr>
              <a:t>и зафиксируем изменения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70678"/>
            <a:ext cx="6131197" cy="231942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52111" r="50647" b="13499"/>
          <a:stretch/>
        </p:blipFill>
        <p:spPr>
          <a:xfrm>
            <a:off x="6496958" y="4070677"/>
            <a:ext cx="5240614" cy="193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3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изменим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 </a:t>
            </a:r>
            <a:r>
              <a:rPr lang="ru-RU" sz="2400" dirty="0" smtClean="0">
                <a:latin typeface="Bookman Old Style" panose="02050604050505020204" pitchFamily="18" charset="0"/>
              </a:rPr>
              <a:t>другим образом и зафиксируем изменения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32" y="646331"/>
            <a:ext cx="6706536" cy="259116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-2" t="38326" r="-743" b="25692"/>
          <a:stretch/>
        </p:blipFill>
        <p:spPr>
          <a:xfrm>
            <a:off x="400050" y="3237493"/>
            <a:ext cx="113919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3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Теперь перенесем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master. </a:t>
            </a:r>
            <a:r>
              <a:rPr lang="ru-RU" sz="2400" dirty="0" smtClean="0">
                <a:latin typeface="Bookman Old Style" panose="02050604050505020204" pitchFamily="18" charset="0"/>
              </a:rPr>
              <a:t>Для этого переходим в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 делаем слияние: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checkout master       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merge test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Сейчас мы находимся в процессе слияния, нужно вручную выполнить слияние веток. Из текста видно, что конфликтует файл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27710" b="9560"/>
          <a:stretch/>
        </p:blipFill>
        <p:spPr>
          <a:xfrm>
            <a:off x="442123" y="1216729"/>
            <a:ext cx="11307753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Заходим в конфликтующий файл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в файле отображаются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изменения из обеих веток,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нам исправить файл так как мы считаем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нужным. Конфликт считается решенным,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в файле нет спец. строк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&lt;&lt;&lt;&lt;&lt;&lt;&lt; HEAD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=======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&gt;&gt;&gt;&gt;&gt;&gt;&gt; </a:t>
            </a:r>
            <a:r>
              <a:rPr lang="ru-RU" sz="2400" dirty="0" err="1" smtClean="0">
                <a:latin typeface="Bookman Old Style" panose="02050604050505020204" pitchFamily="18" charset="0"/>
              </a:rPr>
              <a:t>test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Допустим, что мы хотим оставить и те и другие изменения, просто сотрем эти спец. строки.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2024"/>
          <a:stretch/>
        </p:blipFill>
        <p:spPr>
          <a:xfrm>
            <a:off x="6989697" y="332511"/>
            <a:ext cx="4840137" cy="385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6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редактирования файла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получили следующее: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сохраняем файл и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завершаем слияние командой </a:t>
            </a:r>
            <a:r>
              <a:rPr lang="en-US" sz="2400" dirty="0" err="1" smtClean="0">
                <a:latin typeface="Bookman Old Style" panose="02050604050505020204" pitchFamily="18" charset="0"/>
              </a:rPr>
              <a:t>add+commit</a:t>
            </a:r>
            <a:r>
              <a:rPr lang="en-US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commit -am "merged"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16" y="339773"/>
            <a:ext cx="6329048" cy="29849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t="21979" b="51592"/>
          <a:stretch/>
        </p:blipFill>
        <p:spPr>
          <a:xfrm>
            <a:off x="457200" y="4524315"/>
            <a:ext cx="11277600" cy="15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Программирование и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этапы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при написании программ.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Ещё раз отметим, что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это обычная папка, в которой может храниться все что угодно.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Однако при написании программ, например, на </a:t>
            </a:r>
            <a:r>
              <a:rPr lang="en-US" sz="2400" dirty="0" smtClean="0">
                <a:latin typeface="Bookman Old Style" panose="02050604050505020204" pitchFamily="18" charset="0"/>
              </a:rPr>
              <a:t>C#</a:t>
            </a:r>
            <a:r>
              <a:rPr lang="ru-RU" sz="2400" dirty="0" smtClean="0">
                <a:latin typeface="Bookman Old Style" panose="02050604050505020204" pitchFamily="18" charset="0"/>
              </a:rPr>
              <a:t> в папке с проектом создается огромное количество вспомогательных файлов, которые пересоздаются при компиляции и которые не нужно сохранять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Поэтому</a:t>
            </a:r>
            <a:r>
              <a:rPr lang="ru-RU" sz="2400" b="1" dirty="0" smtClean="0">
                <a:latin typeface="Bookman Old Style" panose="02050604050505020204" pitchFamily="18" charset="0"/>
              </a:rPr>
              <a:t> важнейшим этапом </a:t>
            </a:r>
            <a:r>
              <a:rPr lang="ru-RU" sz="2400" dirty="0" smtClean="0">
                <a:latin typeface="Bookman Old Style" panose="02050604050505020204" pitchFamily="18" charset="0"/>
              </a:rPr>
              <a:t>здесь является добавление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файла с правильным содержимым. Добавить его нужно </a:t>
            </a:r>
            <a:r>
              <a:rPr lang="ru-RU" sz="2400" b="1" dirty="0" smtClean="0">
                <a:latin typeface="Bookman Old Style" panose="02050604050505020204" pitchFamily="18" charset="0"/>
              </a:rPr>
              <a:t>ДО</a:t>
            </a:r>
            <a:r>
              <a:rPr lang="ru-RU" sz="2400" dirty="0" smtClean="0">
                <a:latin typeface="Bookman Old Style" panose="02050604050505020204" pitchFamily="18" charset="0"/>
              </a:rPr>
              <a:t> создания программы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>
                <a:latin typeface="Bookman Old Style" panose="02050604050505020204" pitchFamily="18" charset="0"/>
              </a:rPr>
              <a:t>Данный файл для </a:t>
            </a:r>
            <a:r>
              <a:rPr lang="en-US" sz="2400" dirty="0">
                <a:latin typeface="Bookman Old Style" panose="02050604050505020204" pitchFamily="18" charset="0"/>
              </a:rPr>
              <a:t>C# </a:t>
            </a:r>
            <a:r>
              <a:rPr lang="ru-RU" sz="2400" dirty="0">
                <a:latin typeface="Bookman Old Style" panose="02050604050505020204" pitchFamily="18" charset="0"/>
              </a:rPr>
              <a:t>можно скачать по ссылке </a:t>
            </a:r>
            <a:r>
              <a:rPr lang="en-US" sz="2200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200" dirty="0">
                <a:latin typeface="Bookman Old Style" panose="02050604050505020204" pitchFamily="18" charset="0"/>
                <a:hlinkClick r:id="rId3"/>
              </a:rPr>
              <a:t>://</a:t>
            </a:r>
            <a:r>
              <a:rPr lang="en-US" sz="2200" dirty="0" smtClean="0">
                <a:latin typeface="Bookman Old Style" panose="02050604050505020204" pitchFamily="18" charset="0"/>
                <a:hlinkClick r:id="rId3"/>
              </a:rPr>
              <a:t>github.com/github/gitignore/blob/main/VisualStudio.gitignore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99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Очистим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>
                <a:latin typeface="Bookman Old Style" panose="02050604050505020204" pitchFamily="18" charset="0"/>
              </a:rPr>
              <a:t>,</a:t>
            </a:r>
            <a:r>
              <a:rPr lang="ru-RU" sz="2400" dirty="0" smtClean="0">
                <a:latin typeface="Bookman Old Style" panose="02050604050505020204" pitchFamily="18" charset="0"/>
              </a:rPr>
              <a:t> добавим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 и зафиксируем изменения.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создадим проект, в качестве местоположения проекта выберем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Зеленая полоска слева означает, что этой строки не было и она добавлена.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27818" b="26329"/>
          <a:stretch/>
        </p:blipFill>
        <p:spPr>
          <a:xfrm>
            <a:off x="581891" y="1182202"/>
            <a:ext cx="11307753" cy="27432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17649" b="40465"/>
          <a:stretch/>
        </p:blipFill>
        <p:spPr>
          <a:xfrm>
            <a:off x="1877078" y="4994815"/>
            <a:ext cx="9269119" cy="59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3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Visual Studio </a:t>
            </a:r>
            <a:r>
              <a:rPr lang="ru-RU" sz="2400" dirty="0" smtClean="0">
                <a:latin typeface="Bookman Old Style" panose="02050604050505020204" pitchFamily="18" charset="0"/>
              </a:rPr>
              <a:t>есть интерфейс для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правой нижней части экрана отображается: номер фиксации, количество изменений, текущая ветка, имя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есть вкладка Изменения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находится в панели «Вид»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23" y="1854079"/>
            <a:ext cx="11205555" cy="12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Откроем вкладку Изменения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Здесь с помощью графического интерфейса можно сменить ветку и зафиксировать изменения.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рассмотрим другие способы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2" y="633562"/>
            <a:ext cx="11272057" cy="358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2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существует графический интерфейс, который можно вызвать выбрав пункт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при нажатии ПКМ, см. пункты ранее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существует отдельное приложение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GitHub</a:t>
            </a:r>
            <a:r>
              <a:rPr lang="ru-RU" sz="2400" dirty="0" smtClean="0">
                <a:latin typeface="Bookman Old Style" panose="02050604050505020204" pitchFamily="18" charset="0"/>
              </a:rPr>
              <a:t>, которое позволяет сохранять проекты в удаленном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(облачно), отображать статистику вашей работы, делиться проектами с другими людьми, оно позволяет работать в команде удаленно (каждый загружает свои изменения в удаленный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и загружает в свой локальный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чужие изменения).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13246"/>
          <a:stretch/>
        </p:blipFill>
        <p:spPr>
          <a:xfrm>
            <a:off x="5254051" y="1859038"/>
            <a:ext cx="5907434" cy="1305415"/>
          </a:xfrm>
          <a:prstGeom prst="rect">
            <a:avLst/>
          </a:prstGeom>
        </p:spPr>
      </p:pic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GUI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92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— крупнейший веб-сервис для хостинга IT-проектов и их совместной разработки. Веб-сервис основан на системе контроля версий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и разработан на </a:t>
            </a:r>
            <a:r>
              <a:rPr lang="ru-RU" sz="2400" dirty="0" err="1">
                <a:latin typeface="Bookman Old Style" panose="02050604050505020204" pitchFamily="18" charset="0"/>
              </a:rPr>
              <a:t>Ruby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on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Rails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Erlang</a:t>
            </a:r>
            <a:r>
              <a:rPr lang="ru-RU" sz="2400" dirty="0">
                <a:latin typeface="Bookman Old Style" panose="02050604050505020204" pitchFamily="18" charset="0"/>
              </a:rPr>
              <a:t> компанией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GitHub</a:t>
            </a:r>
            <a:r>
              <a:rPr lang="ru-RU" sz="2400" dirty="0" smtClean="0">
                <a:latin typeface="Bookman Old Style" panose="02050604050505020204" pitchFamily="18" charset="0"/>
              </a:rPr>
              <a:t>  </a:t>
            </a:r>
            <a:r>
              <a:rPr lang="ru-RU" sz="2400" dirty="0" err="1">
                <a:latin typeface="Bookman Old Style" panose="02050604050505020204" pitchFamily="18" charset="0"/>
              </a:rPr>
              <a:t>Inc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начала работы необходимо зарегистрироваться на сайте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https://github.com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 скачать </a:t>
            </a:r>
            <a:r>
              <a:rPr lang="en-US" sz="2400" b="1" dirty="0" smtClean="0">
                <a:latin typeface="Bookman Old Style" panose="02050604050505020204" pitchFamily="18" charset="0"/>
              </a:rPr>
              <a:t>GitHub Desktop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приложение, </a:t>
            </a:r>
            <a:r>
              <a:rPr lang="ru-RU" sz="2400" dirty="0">
                <a:latin typeface="Bookman Old Style" panose="02050604050505020204" pitchFamily="18" charset="0"/>
              </a:rPr>
              <a:t>которое позволяет взаимодействовать с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с помощью графического пользовательского </a:t>
            </a:r>
            <a:r>
              <a:rPr lang="ru-RU" sz="2400" dirty="0" smtClean="0">
                <a:latin typeface="Bookman Old Style" panose="02050604050505020204" pitchFamily="18" charset="0"/>
              </a:rPr>
              <a:t>интерфейса. </a:t>
            </a:r>
            <a:r>
              <a:rPr lang="en-US" sz="2400" dirty="0">
                <a:latin typeface="Bookman Old Style" panose="02050604050505020204" pitchFamily="18" charset="0"/>
                <a:hlinkClick r:id="rId4"/>
              </a:rPr>
              <a:t>https://desktop.github.com</a:t>
            </a:r>
            <a:r>
              <a:rPr lang="en-US" sz="2400" dirty="0" smtClean="0">
                <a:latin typeface="Bookman Old Style" panose="02050604050505020204" pitchFamily="18" charset="0"/>
                <a:hlinkClick r:id="rId4"/>
              </a:rPr>
              <a:t>/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с помощью </a:t>
            </a:r>
            <a:r>
              <a:rPr lang="en-US" sz="2400" b="1" dirty="0">
                <a:latin typeface="Bookman Old Style" panose="02050604050505020204" pitchFamily="18" charset="0"/>
              </a:rPr>
              <a:t>GitHub Desktop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Запускаем </a:t>
            </a:r>
            <a:r>
              <a:rPr lang="en-US" sz="2400" b="1" dirty="0">
                <a:latin typeface="Bookman Old Style" panose="02050604050505020204" pitchFamily="18" charset="0"/>
              </a:rPr>
              <a:t>GitHub </a:t>
            </a:r>
            <a:r>
              <a:rPr lang="en-US" sz="2400" b="1" dirty="0" smtClean="0">
                <a:latin typeface="Bookman Old Style" panose="02050604050505020204" pitchFamily="18" charset="0"/>
              </a:rPr>
              <a:t>Desktop</a:t>
            </a:r>
            <a:r>
              <a:rPr lang="ru-RU" sz="2400" dirty="0" smtClean="0">
                <a:latin typeface="Bookman Old Style" panose="02050604050505020204" pitchFamily="18" charset="0"/>
              </a:rPr>
              <a:t>, нажимаем </a:t>
            </a:r>
            <a:r>
              <a:rPr lang="en-US" sz="2400" dirty="0" smtClean="0">
                <a:latin typeface="Bookman Old Style" panose="02050604050505020204" pitchFamily="18" charset="0"/>
              </a:rPr>
              <a:t>File -&gt; New repository, </a:t>
            </a:r>
            <a:r>
              <a:rPr lang="ru-RU" sz="2400" dirty="0" smtClean="0">
                <a:latin typeface="Bookman Old Style" panose="02050604050505020204" pitchFamily="18" charset="0"/>
              </a:rPr>
              <a:t>выбираем имя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и местоположение.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34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40396" b="4674"/>
          <a:stretch/>
        </p:blipFill>
        <p:spPr>
          <a:xfrm>
            <a:off x="2719579" y="1970184"/>
            <a:ext cx="7376954" cy="45905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4568" b="73283"/>
          <a:stretch/>
        </p:blipFill>
        <p:spPr>
          <a:xfrm>
            <a:off x="2719579" y="116379"/>
            <a:ext cx="7388398" cy="185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это проект на языке </a:t>
            </a:r>
            <a:r>
              <a:rPr lang="en-US" sz="2400" dirty="0" smtClean="0">
                <a:latin typeface="Bookman Old Style" panose="02050604050505020204" pitchFamily="18" charset="0"/>
              </a:rPr>
              <a:t>C#, </a:t>
            </a:r>
            <a:r>
              <a:rPr lang="ru-RU" sz="2400" dirty="0" smtClean="0">
                <a:latin typeface="Bookman Old Style" panose="02050604050505020204" pitchFamily="18" charset="0"/>
              </a:rPr>
              <a:t>то не забываем скачать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en-US" sz="2400" dirty="0" smtClean="0">
                <a:latin typeface="Bookman Old Style" panose="02050604050505020204" pitchFamily="18" charset="0"/>
              </a:rPr>
              <a:t>C# </a:t>
            </a:r>
            <a:r>
              <a:rPr lang="ru-RU" sz="2400" dirty="0" smtClean="0">
                <a:latin typeface="Bookman Old Style" panose="02050604050505020204" pitchFamily="18" charset="0"/>
              </a:rPr>
              <a:t>и положить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примера добавим текстовый файл в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Зайдем в </a:t>
            </a:r>
            <a:r>
              <a:rPr lang="en-US" sz="2400" b="1" dirty="0">
                <a:latin typeface="Bookman Old Style" panose="02050604050505020204" pitchFamily="18" charset="0"/>
              </a:rPr>
              <a:t>GitHub Desktop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7" y="1798011"/>
            <a:ext cx="7532914" cy="505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7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программе зеленым плюсом отмечено, что было добавлено, видим, что добавился «файл.</a:t>
            </a:r>
            <a:r>
              <a:rPr lang="en-US" sz="2400" dirty="0" smtClean="0">
                <a:latin typeface="Bookman Old Style" panose="02050604050505020204" pitchFamily="18" charset="0"/>
              </a:rPr>
              <a:t>txt</a:t>
            </a:r>
            <a:r>
              <a:rPr lang="ru-RU" sz="2400" dirty="0" smtClean="0">
                <a:latin typeface="Bookman Old Style" panose="02050604050505020204" pitchFamily="18" charset="0"/>
              </a:rPr>
              <a:t>»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25718" b="74910"/>
          <a:stretch/>
        </p:blipFill>
        <p:spPr>
          <a:xfrm>
            <a:off x="376843" y="1200329"/>
            <a:ext cx="11438313" cy="2656113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4310743" y="3672113"/>
            <a:ext cx="121920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63641" r="73330"/>
          <a:stretch/>
        </p:blipFill>
        <p:spPr>
          <a:xfrm>
            <a:off x="3077786" y="1200330"/>
            <a:ext cx="5674329" cy="5318292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Зафиксируем изменения с помощью </a:t>
            </a:r>
            <a:r>
              <a:rPr lang="ru-RU" sz="2400" dirty="0" err="1">
                <a:latin typeface="Bookman Old Style" panose="02050604050505020204" pitchFamily="18" charset="0"/>
              </a:rPr>
              <a:t>комита</a:t>
            </a:r>
            <a:r>
              <a:rPr lang="ru-RU" sz="2400" dirty="0">
                <a:latin typeface="Bookman Old Style" panose="02050604050505020204" pitchFamily="18" charset="0"/>
              </a:rPr>
              <a:t>, введем название </a:t>
            </a:r>
            <a:r>
              <a:rPr lang="ru-RU" sz="2400" dirty="0" err="1">
                <a:latin typeface="Bookman Old Style" panose="02050604050505020204" pitchFamily="18" charset="0"/>
              </a:rPr>
              <a:t>комита</a:t>
            </a:r>
            <a:r>
              <a:rPr lang="ru-RU" sz="2400" dirty="0">
                <a:latin typeface="Bookman Old Style" panose="02050604050505020204" pitchFamily="18" charset="0"/>
              </a:rPr>
              <a:t> и нажмем </a:t>
            </a:r>
            <a:r>
              <a:rPr lang="en-US" sz="2400" b="1" dirty="0">
                <a:latin typeface="Bookman Old Style" panose="02050604050505020204" pitchFamily="18" charset="0"/>
              </a:rPr>
              <a:t>Commit to main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8502733" y="5083693"/>
            <a:ext cx="121920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58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Пока что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локальный, чтобы к нашему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репозиторию</a:t>
            </a:r>
            <a:r>
              <a:rPr lang="ru-RU" sz="2400" dirty="0" smtClean="0">
                <a:latin typeface="Bookman Old Style" panose="02050604050505020204" pitchFamily="18" charset="0"/>
              </a:rPr>
              <a:t> был доступ из интернета необходимо опубликовать его. Нажмем </a:t>
            </a:r>
            <a:r>
              <a:rPr lang="en-US" sz="2400" dirty="0" smtClean="0">
                <a:latin typeface="Bookman Old Style" panose="02050604050505020204" pitchFamily="18" charset="0"/>
              </a:rPr>
              <a:t>publish repository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6035" t="4202" b="47422"/>
          <a:stretch/>
        </p:blipFill>
        <p:spPr>
          <a:xfrm>
            <a:off x="377371" y="1715263"/>
            <a:ext cx="11437257" cy="5142737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7445828" y="2148113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10595428" y="5805714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52" y="735097"/>
            <a:ext cx="8808721" cy="56178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опубликования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появится у нашего аккаунта </a:t>
            </a:r>
            <a:r>
              <a:rPr lang="en-US" sz="2400" dirty="0" smtClean="0">
                <a:latin typeface="Bookman Old Style" panose="02050604050505020204" pitchFamily="18" charset="0"/>
              </a:rPr>
              <a:t>GitHub </a:t>
            </a:r>
            <a:r>
              <a:rPr lang="ru-RU" sz="2400" dirty="0" smtClean="0">
                <a:latin typeface="Bookman Old Style" panose="02050604050505020204" pitchFamily="18" charset="0"/>
              </a:rPr>
              <a:t>на сайте.</a:t>
            </a:r>
          </a:p>
        </p:txBody>
      </p:sp>
    </p:spTree>
    <p:extLst>
      <p:ext uri="{BB962C8B-B14F-4D97-AF65-F5344CB8AC3E}">
        <p14:creationId xmlns:p14="http://schemas.microsoft.com/office/powerpoint/2010/main" val="419877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594043"/>
            <a:ext cx="11305309" cy="473409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98764" y="3573815"/>
            <a:ext cx="82067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зайти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, то увидим данное окно.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можно добавить справку о программе в виде файла </a:t>
            </a:r>
            <a:r>
              <a:rPr lang="en-US" sz="2400" dirty="0" smtClean="0">
                <a:latin typeface="Bookman Old Style" panose="02050604050505020204" pitchFamily="18" charset="0"/>
              </a:rPr>
              <a:t>README.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алгоритм работы может быть следующий: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создания новой ветки необходимо зайти </a:t>
            </a:r>
            <a:r>
              <a:rPr lang="en-US" sz="2400" b="1" dirty="0" smtClean="0">
                <a:latin typeface="Bookman Old Style" panose="02050604050505020204" pitchFamily="18" charset="0"/>
              </a:rPr>
              <a:t>Branch</a:t>
            </a:r>
            <a:r>
              <a:rPr lang="en-US" sz="2400" dirty="0" smtClean="0">
                <a:latin typeface="Bookman Old Style" panose="02050604050505020204" pitchFamily="18" charset="0"/>
              </a:rPr>
              <a:t> -&gt; </a:t>
            </a:r>
            <a:r>
              <a:rPr lang="en-US" sz="2400" b="1" dirty="0" smtClean="0">
                <a:latin typeface="Bookman Old Style" panose="02050604050505020204" pitchFamily="18" charset="0"/>
              </a:rPr>
              <a:t>New branch</a:t>
            </a:r>
            <a:r>
              <a:rPr lang="en-US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smtClean="0">
                <a:latin typeface="Bookman Old Style" panose="02050604050505020204" pitchFamily="18" charset="0"/>
              </a:rPr>
              <a:t>после чего у вас добавится новая ветка</a:t>
            </a:r>
            <a:endParaRPr lang="ru-RU" sz="2400" u="sng" dirty="0" smtClean="0">
              <a:latin typeface="Bookman Old Style" panose="020506040505050202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r="49948" b="87962"/>
          <a:stretch/>
        </p:blipFill>
        <p:spPr>
          <a:xfrm>
            <a:off x="415636" y="1990601"/>
            <a:ext cx="11288684" cy="186656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2" y="4093444"/>
            <a:ext cx="10428374" cy="20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0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4159" t="3809" b="5821"/>
          <a:stretch/>
        </p:blipFill>
        <p:spPr>
          <a:xfrm>
            <a:off x="2793076" y="206138"/>
            <a:ext cx="6882209" cy="63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2" y="326677"/>
            <a:ext cx="11438313" cy="4705517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>
            <a:off x="4122585" y="3580990"/>
            <a:ext cx="1117600" cy="19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4122585" y="4607942"/>
            <a:ext cx="1117600" cy="19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41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Обратите внимание</a:t>
            </a:r>
            <a:r>
              <a:rPr lang="ru-RU" sz="2400" dirty="0" smtClean="0">
                <a:latin typeface="Bookman Old Style" panose="02050604050505020204" pitchFamily="18" charset="0"/>
              </a:rPr>
              <a:t>, что когда вы меняете ветку, то файлы в вашей папке с проектом также автоматически обновляются!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ветка появилась в удаленном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её также нужно опубликовать.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забрать изменения с удаленного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необходимо нажать </a:t>
            </a:r>
            <a:r>
              <a:rPr lang="en-US" sz="2400" dirty="0" smtClean="0">
                <a:latin typeface="Bookman Old Style" panose="02050604050505020204" pitchFamily="18" charset="0"/>
              </a:rPr>
              <a:t>Fetch (</a:t>
            </a:r>
            <a:r>
              <a:rPr lang="ru-RU" sz="2400" dirty="0" smtClean="0">
                <a:latin typeface="Bookman Old Style" panose="02050604050505020204" pitchFamily="18" charset="0"/>
              </a:rPr>
              <a:t>например, когда кто-то изменил файлы и вы хотите обновить свой проект в соответствии с изменениями удаленного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</a:t>
            </a:r>
            <a:r>
              <a:rPr lang="ru-RU" sz="2400" dirty="0" smtClean="0">
                <a:latin typeface="Bookman Old Style" panose="02050604050505020204" pitchFamily="18" charset="0"/>
              </a:rPr>
              <a:t>анную команду </a:t>
            </a:r>
            <a:r>
              <a:rPr lang="ru-RU" sz="2400" dirty="0">
                <a:latin typeface="Bookman Old Style" panose="02050604050505020204" pitchFamily="18" charset="0"/>
              </a:rPr>
              <a:t>желательно  </a:t>
            </a:r>
            <a:r>
              <a:rPr lang="ru-RU" sz="2400" dirty="0" smtClean="0">
                <a:latin typeface="Bookman Old Style" panose="02050604050505020204" pitchFamily="18" charset="0"/>
              </a:rPr>
              <a:t>выполнять перед началом работы с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репозиторием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25726" b="86752"/>
          <a:stretch/>
        </p:blipFill>
        <p:spPr>
          <a:xfrm>
            <a:off x="243840" y="4086580"/>
            <a:ext cx="11704320" cy="1300405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6715101" y="4969539"/>
            <a:ext cx="1465942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9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последний пример. Предположим у нас есть 2 ветки: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Ivan, </a:t>
            </a:r>
            <a:r>
              <a:rPr lang="ru-RU" sz="2400" dirty="0" smtClean="0">
                <a:latin typeface="Bookman Old Style" panose="02050604050505020204" pitchFamily="18" charset="0"/>
              </a:rPr>
              <a:t>в обоих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репозиториях</a:t>
            </a:r>
            <a:r>
              <a:rPr lang="ru-RU" sz="2400" dirty="0" smtClean="0">
                <a:latin typeface="Bookman Old Style" panose="02050604050505020204" pitchFamily="18" charset="0"/>
              </a:rPr>
              <a:t> есть файл с данным. Пусть в каждой ветке произошли изменения содержимого данного файла.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94" y="1754326"/>
            <a:ext cx="11371811" cy="421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6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895042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У нас есть 2 версии файла и чтобы объединить ветки, мы должны решить как будет выглядеть итоговый файл (получили конфликт слияния или </a:t>
            </a:r>
            <a:r>
              <a:rPr lang="en-US" sz="2400" dirty="0" smtClean="0">
                <a:latin typeface="Bookman Old Style" panose="02050604050505020204" pitchFamily="18" charset="0"/>
              </a:rPr>
              <a:t>merge </a:t>
            </a:r>
            <a:r>
              <a:rPr lang="ru-RU" sz="2400" dirty="0" smtClean="0">
                <a:latin typeface="Bookman Old Style" panose="02050604050505020204" pitchFamily="18" charset="0"/>
              </a:rPr>
              <a:t>конфликт).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Делаем слияние. Переходим на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main, </a:t>
            </a:r>
            <a:r>
              <a:rPr lang="ru-RU" sz="2400" dirty="0">
                <a:latin typeface="Bookman Old Style" panose="02050604050505020204" pitchFamily="18" charset="0"/>
              </a:rPr>
              <a:t>н</a:t>
            </a:r>
            <a:r>
              <a:rPr lang="ru-RU" sz="2400" dirty="0" smtClean="0">
                <a:latin typeface="Bookman Old Style" panose="02050604050505020204" pitchFamily="18" charset="0"/>
              </a:rPr>
              <a:t>ажимаем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Branch</a:t>
            </a:r>
            <a:r>
              <a:rPr lang="en-US" sz="2400" dirty="0" smtClean="0">
                <a:latin typeface="Bookman Old Style" panose="02050604050505020204" pitchFamily="18" charset="0"/>
              </a:rPr>
              <a:t> -&gt; </a:t>
            </a:r>
            <a:r>
              <a:rPr lang="en-US" sz="2400" b="1" dirty="0" smtClean="0">
                <a:latin typeface="Bookman Old Style" panose="02050604050505020204" pitchFamily="18" charset="0"/>
              </a:rPr>
              <a:t>Merge into current branch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62" y="273375"/>
            <a:ext cx="6939721" cy="36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2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7464" t="16779" r="27622" b="53412"/>
          <a:stretch/>
        </p:blipFill>
        <p:spPr>
          <a:xfrm>
            <a:off x="1500198" y="614688"/>
            <a:ext cx="9191604" cy="419390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Выбираем </a:t>
            </a:r>
            <a:r>
              <a:rPr lang="en-US" sz="2400" dirty="0" smtClean="0">
                <a:latin typeface="Bookman Old Style" panose="02050604050505020204" pitchFamily="18" charset="0"/>
              </a:rPr>
              <a:t>Ivan </a:t>
            </a:r>
            <a:r>
              <a:rPr lang="ru-RU" sz="2400" dirty="0" smtClean="0">
                <a:latin typeface="Bookman Old Style" panose="02050604050505020204" pitchFamily="18" charset="0"/>
              </a:rPr>
              <a:t>и нажимаем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Create merge commit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7464" t="68633" r="27622" b="16967"/>
          <a:stretch/>
        </p:blipFill>
        <p:spPr>
          <a:xfrm>
            <a:off x="1500198" y="4776948"/>
            <a:ext cx="9191604" cy="20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5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Необходимо отредактировать наш файл чтобы решить конфликт, открываем файл любой программой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24924" t="31307" r="24924" b="31757"/>
          <a:stretch/>
        </p:blipFill>
        <p:spPr>
          <a:xfrm>
            <a:off x="992513" y="1200329"/>
            <a:ext cx="10206973" cy="516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Необходимо отредактировать наш файл чтобы решить конфликт, открываем файл любой программой. Конфликт считается решенным, если нет специальных символов </a:t>
            </a:r>
            <a:r>
              <a:rPr lang="en-US" sz="2400" dirty="0" smtClean="0">
                <a:latin typeface="Bookman Old Style" panose="02050604050505020204" pitchFamily="18" charset="0"/>
              </a:rPr>
              <a:t>&lt;&lt;&lt;&lt;HEAD, ===, &gt;&gt;&gt;.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чего нажимаем </a:t>
            </a:r>
            <a:r>
              <a:rPr lang="en-US" sz="2400" dirty="0" smtClean="0">
                <a:latin typeface="Bookman Old Style" panose="02050604050505020204" pitchFamily="18" charset="0"/>
              </a:rPr>
              <a:t>continue merge. </a:t>
            </a:r>
            <a:r>
              <a:rPr lang="ru-RU" sz="2400" dirty="0" smtClean="0">
                <a:latin typeface="Bookman Old Style" panose="02050604050505020204" pitchFamily="18" charset="0"/>
              </a:rPr>
              <a:t>Конфликт слияния решен, теперь ветка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изменения Ивана.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2" y="1736872"/>
            <a:ext cx="5760347" cy="38162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r="28531"/>
          <a:stretch/>
        </p:blipFill>
        <p:spPr>
          <a:xfrm>
            <a:off x="6638196" y="1736872"/>
            <a:ext cx="5292548" cy="3822099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>
            <a:off x="5130800" y="3970383"/>
            <a:ext cx="1618343" cy="32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6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872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Рассмотрим возможные при работе </a:t>
            </a:r>
            <a:r>
              <a:rPr lang="ru-RU" sz="2300" b="1" dirty="0" smtClean="0">
                <a:latin typeface="Bookman Old Style" panose="02050604050505020204" pitchFamily="18" charset="0"/>
              </a:rPr>
              <a:t>состояния </a:t>
            </a:r>
            <a:r>
              <a:rPr lang="ru-RU" sz="2300" b="1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300" dirty="0" smtClean="0">
                <a:latin typeface="Bookman Old Style" panose="020506040505050202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Изменений нет.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Проводим изменения в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300" dirty="0" smtClean="0">
                <a:latin typeface="Bookman Old Style" panose="02050604050505020204" pitchFamily="18" charset="0"/>
              </a:rPr>
              <a:t> (добавление/изменение/удаление).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Добавляем изменения в список для дальнейшей фиксации (сохранения) командой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b="1" dirty="0" smtClean="0">
                <a:latin typeface="Bookman Old Style" panose="02050604050505020204" pitchFamily="18" charset="0"/>
              </a:rPr>
              <a:t> add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en-US" sz="23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Фиксируем изменения с помощью команды</a:t>
            </a: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ru-RU" sz="2300" b="1" dirty="0" smtClean="0">
                <a:latin typeface="Bookman Old Style" panose="02050604050505020204" pitchFamily="18" charset="0"/>
              </a:rPr>
              <a:t> </a:t>
            </a:r>
            <a:r>
              <a:rPr lang="en-US" sz="2300" b="1" dirty="0" smtClean="0">
                <a:latin typeface="Bookman Old Style" panose="02050604050505020204" pitchFamily="18" charset="0"/>
              </a:rPr>
              <a:t>commit </a:t>
            </a:r>
            <a:r>
              <a:rPr lang="en-US" sz="2300" dirty="0" smtClean="0">
                <a:latin typeface="Bookman Old Style" panose="02050604050505020204" pitchFamily="18" charset="0"/>
              </a:rPr>
              <a:t>(</a:t>
            </a:r>
            <a:r>
              <a:rPr lang="ru-RU" sz="2300" dirty="0" smtClean="0">
                <a:latin typeface="Bookman Old Style" panose="02050604050505020204" pitchFamily="18" charset="0"/>
              </a:rPr>
              <a:t>данные сохраняются в локальном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300" dirty="0" smtClean="0">
                <a:latin typeface="Bookman Old Style" panose="02050604050505020204" pitchFamily="18" charset="0"/>
              </a:rPr>
              <a:t> на ВАШЕМ компьютере</a:t>
            </a:r>
            <a:r>
              <a:rPr lang="en-US" sz="2300" dirty="0" smtClean="0">
                <a:latin typeface="Bookman Old Style" panose="02050604050505020204" pitchFamily="18" charset="0"/>
              </a:rPr>
              <a:t>).</a:t>
            </a:r>
            <a:endParaRPr lang="ru-RU" sz="23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Отправка изменений на удаленный сервер командой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b="1" dirty="0" smtClean="0">
                <a:latin typeface="Bookman Old Style" panose="02050604050505020204" pitchFamily="18" charset="0"/>
              </a:rPr>
              <a:t> push</a:t>
            </a:r>
            <a:r>
              <a:rPr lang="ru-RU" sz="2300" b="1" dirty="0" smtClean="0">
                <a:latin typeface="Bookman Old Style" panose="02050604050505020204" pitchFamily="18" charset="0"/>
              </a:rPr>
              <a:t> </a:t>
            </a:r>
            <a:r>
              <a:rPr lang="en-US" sz="2300" dirty="0">
                <a:latin typeface="Bookman Old Style" panose="02050604050505020204" pitchFamily="18" charset="0"/>
              </a:rPr>
              <a:t>(</a:t>
            </a:r>
            <a:r>
              <a:rPr lang="ru-RU" sz="2300" dirty="0">
                <a:latin typeface="Bookman Old Style" panose="02050604050505020204" pitchFamily="18" charset="0"/>
              </a:rPr>
              <a:t>данные сохраняются в </a:t>
            </a:r>
            <a:r>
              <a:rPr lang="ru-RU" sz="2300" dirty="0" smtClean="0">
                <a:latin typeface="Bookman Old Style" panose="02050604050505020204" pitchFamily="18" charset="0"/>
              </a:rPr>
              <a:t>удаленном </a:t>
            </a:r>
            <a:r>
              <a:rPr lang="ru-RU" sz="23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300" dirty="0">
                <a:latin typeface="Bookman Old Style" panose="02050604050505020204" pitchFamily="18" charset="0"/>
              </a:rPr>
              <a:t> на </a:t>
            </a:r>
            <a:r>
              <a:rPr lang="ru-RU" sz="2300" dirty="0" smtClean="0">
                <a:latin typeface="Bookman Old Style" panose="02050604050505020204" pitchFamily="18" charset="0"/>
              </a:rPr>
              <a:t>ДРУГОМ </a:t>
            </a:r>
            <a:r>
              <a:rPr lang="ru-RU" sz="2300" dirty="0">
                <a:latin typeface="Bookman Old Style" panose="02050604050505020204" pitchFamily="18" charset="0"/>
              </a:rPr>
              <a:t>компьютере</a:t>
            </a:r>
            <a:r>
              <a:rPr lang="en-US" sz="23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Важно помнить, что </a:t>
            </a:r>
            <a:r>
              <a:rPr lang="en-US" sz="2300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ru-RU" sz="2300" dirty="0" smtClean="0">
                <a:latin typeface="Bookman Old Style" panose="02050604050505020204" pitchFamily="18" charset="0"/>
              </a:rPr>
              <a:t>хранит только изменения, он не хранит разные версии проектов по отдельности.</a:t>
            </a: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Итог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4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4014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Чтобы скачать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300" dirty="0" smtClean="0">
                <a:latin typeface="Bookman Old Style" panose="02050604050505020204" pitchFamily="18" charset="0"/>
              </a:rPr>
              <a:t>,</a:t>
            </a: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необходимо: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ru-RU" sz="2300" dirty="0" smtClean="0">
                <a:latin typeface="Bookman Old Style" panose="02050604050505020204" pitchFamily="18" charset="0"/>
              </a:rPr>
              <a:t>Нажать </a:t>
            </a:r>
            <a:r>
              <a:rPr lang="en-US" sz="2300" dirty="0" smtClean="0">
                <a:latin typeface="Bookman Old Style" panose="02050604050505020204" pitchFamily="18" charset="0"/>
              </a:rPr>
              <a:t>Code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en-US" sz="2300" dirty="0" smtClean="0">
                <a:latin typeface="Bookman Old Style" panose="02050604050505020204" pitchFamily="18" charset="0"/>
              </a:rPr>
              <a:t>Download ZIP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Либо клонировать: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ru-RU" sz="2300" dirty="0">
                <a:latin typeface="Bookman Old Style" panose="02050604050505020204" pitchFamily="18" charset="0"/>
              </a:rPr>
              <a:t>Нажать </a:t>
            </a:r>
            <a:r>
              <a:rPr lang="en-US" sz="2300" dirty="0">
                <a:latin typeface="Bookman Old Style" panose="02050604050505020204" pitchFamily="18" charset="0"/>
              </a:rPr>
              <a:t>Code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en-US" sz="2300" dirty="0" smtClean="0">
                <a:latin typeface="Bookman Old Style" panose="02050604050505020204" pitchFamily="18" charset="0"/>
              </a:rPr>
              <a:t>Open with GitHub Desktop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en-US" sz="2300" dirty="0" smtClean="0">
                <a:latin typeface="Bookman Old Style" panose="02050604050505020204" pitchFamily="18" charset="0"/>
              </a:rPr>
              <a:t>Clone</a:t>
            </a:r>
            <a:endParaRPr lang="en-US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скачать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репозиторий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5675"/>
            <a:ext cx="5833039" cy="538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4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21559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b="1" dirty="0" err="1">
                <a:latin typeface="Bookman Old Style" panose="02050604050505020204" pitchFamily="18" charset="0"/>
              </a:rPr>
              <a:t>GitHub</a:t>
            </a:r>
            <a:r>
              <a:rPr lang="ru-RU" sz="2300" b="1" dirty="0">
                <a:latin typeface="Bookman Old Style" panose="02050604050505020204" pitchFamily="18" charset="0"/>
              </a:rPr>
              <a:t> </a:t>
            </a:r>
            <a:r>
              <a:rPr lang="ru-RU" sz="2300" b="1" dirty="0" err="1">
                <a:latin typeface="Bookman Old Style" panose="02050604050505020204" pitchFamily="18" charset="0"/>
              </a:rPr>
              <a:t>Projects</a:t>
            </a:r>
            <a:r>
              <a:rPr lang="ru-RU" sz="2300" b="1" dirty="0">
                <a:latin typeface="Bookman Old Style" panose="02050604050505020204" pitchFamily="18" charset="0"/>
              </a:rPr>
              <a:t> </a:t>
            </a:r>
            <a:r>
              <a:rPr lang="ru-RU" sz="2300" dirty="0">
                <a:latin typeface="Bookman Old Style" panose="02050604050505020204" pitchFamily="18" charset="0"/>
              </a:rPr>
              <a:t>— это гибкая доска задач (</a:t>
            </a:r>
            <a:r>
              <a:rPr lang="ru-RU" sz="2300" dirty="0" err="1">
                <a:latin typeface="Bookman Old Style" panose="02050604050505020204" pitchFamily="18" charset="0"/>
              </a:rPr>
              <a:t>канбан</a:t>
            </a:r>
            <a:r>
              <a:rPr lang="ru-RU" sz="2300" dirty="0">
                <a:latin typeface="Bookman Old Style" panose="02050604050505020204" pitchFamily="18" charset="0"/>
              </a:rPr>
              <a:t>), интегрированная с вашим </a:t>
            </a:r>
            <a:r>
              <a:rPr lang="ru-RU" sz="2300" dirty="0" err="1">
                <a:latin typeface="Bookman Old Style" panose="02050604050505020204" pitchFamily="18" charset="0"/>
              </a:rPr>
              <a:t>репозиторием</a:t>
            </a:r>
            <a:r>
              <a:rPr lang="ru-RU" sz="2300" dirty="0">
                <a:latin typeface="Bookman Old Style" panose="02050604050505020204" pitchFamily="18" charset="0"/>
              </a:rPr>
              <a:t>. Она помогает организовать работу, отслеживать прогресс и управлять сроками. Представьте себе цифровую доску со </a:t>
            </a:r>
            <a:r>
              <a:rPr lang="ru-RU" sz="2300" dirty="0" err="1">
                <a:latin typeface="Bookman Old Style" panose="02050604050505020204" pitchFamily="18" charset="0"/>
              </a:rPr>
              <a:t>стикерами</a:t>
            </a:r>
            <a:r>
              <a:rPr lang="ru-RU" sz="2300" dirty="0">
                <a:latin typeface="Bookman Old Style" panose="02050604050505020204" pitchFamily="18" charset="0"/>
              </a:rPr>
              <a:t>-задачами, которые можно перемещать между колонками.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Ведение проекта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9" y="2747597"/>
            <a:ext cx="10672601" cy="160502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62491"/>
          <a:stretch/>
        </p:blipFill>
        <p:spPr>
          <a:xfrm>
            <a:off x="779423" y="4355103"/>
            <a:ext cx="10877927" cy="2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5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b="52946"/>
          <a:stretch/>
        </p:blipFill>
        <p:spPr>
          <a:xfrm>
            <a:off x="0" y="305930"/>
            <a:ext cx="12063007" cy="439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3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>
                <a:latin typeface="Bookman Old Style" panose="02050604050505020204" pitchFamily="18" charset="0"/>
              </a:rPr>
              <a:t>проекта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Перейдите на вкладку </a:t>
            </a:r>
            <a:r>
              <a:rPr lang="en-US" sz="2400" b="1" dirty="0">
                <a:latin typeface="Bookman Old Style" panose="02050604050505020204" pitchFamily="18" charset="0"/>
              </a:rPr>
              <a:t>Projects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ru-RU" sz="2400" dirty="0">
                <a:latin typeface="Bookman Old Style" panose="02050604050505020204" pitchFamily="18" charset="0"/>
              </a:rPr>
              <a:t>в вашем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 </a:t>
            </a:r>
            <a:r>
              <a:rPr lang="en-US" sz="2400" b="1" dirty="0">
                <a:latin typeface="Bookman Old Style" panose="02050604050505020204" pitchFamily="18" charset="0"/>
              </a:rPr>
              <a:t>New Project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Выберите шаблон: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Basic </a:t>
            </a:r>
            <a:r>
              <a:rPr lang="en-US" sz="2400" b="1" dirty="0" err="1">
                <a:latin typeface="Bookman Old Style" panose="02050604050505020204" pitchFamily="18" charset="0"/>
              </a:rPr>
              <a:t>kanban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простого </a:t>
            </a:r>
            <a:r>
              <a:rPr lang="en-US" sz="2400" dirty="0">
                <a:latin typeface="Bookman Old Style" panose="02050604050505020204" pitchFamily="18" charset="0"/>
              </a:rPr>
              <a:t>workflow (To do / In progress / Done)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Automated </a:t>
            </a:r>
            <a:r>
              <a:rPr lang="en-US" sz="2400" b="1" dirty="0" err="1">
                <a:latin typeface="Bookman Old Style" panose="02050604050505020204" pitchFamily="18" charset="0"/>
              </a:rPr>
              <a:t>kanban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автоматическое перемещение задач по статусам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Bug triage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отслеживания ошибок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Team planning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планирования </a:t>
            </a:r>
            <a:r>
              <a:rPr lang="ru-RU" sz="2400" dirty="0" smtClean="0">
                <a:latin typeface="Bookman Old Style" panose="02050604050505020204" pitchFamily="18" charset="0"/>
              </a:rPr>
              <a:t>спринтов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73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>
                <a:latin typeface="Bookman Old Style" panose="02050604050505020204" pitchFamily="18" charset="0"/>
              </a:rPr>
              <a:t>задачи: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 </a:t>
            </a:r>
            <a:r>
              <a:rPr lang="ru-RU" sz="2400" b="1" dirty="0">
                <a:latin typeface="Bookman Old Style" panose="02050604050505020204" pitchFamily="18" charset="0"/>
              </a:rPr>
              <a:t>+ </a:t>
            </a:r>
            <a:r>
              <a:rPr lang="ru-RU" sz="2400" b="1" dirty="0" err="1">
                <a:latin typeface="Bookman Old Style" panose="02050604050505020204" pitchFamily="18" charset="0"/>
              </a:rPr>
              <a:t>Add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item</a:t>
            </a:r>
            <a:r>
              <a:rPr lang="ru-RU" sz="2400" dirty="0">
                <a:latin typeface="Bookman Old Style" panose="02050604050505020204" pitchFamily="18" charset="0"/>
              </a:rPr>
              <a:t> в нужной колонке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Введите название задачи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 </a:t>
            </a:r>
            <a:r>
              <a:rPr lang="ru-RU" sz="2400" dirty="0" err="1">
                <a:latin typeface="Bookman Old Style" panose="02050604050505020204" pitchFamily="18" charset="0"/>
              </a:rPr>
              <a:t>Enter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Кликните на карточку для </a:t>
            </a:r>
            <a:r>
              <a:rPr lang="ru-RU" sz="2400" dirty="0" smtClean="0">
                <a:latin typeface="Bookman Old Style" panose="02050604050505020204" pitchFamily="18" charset="0"/>
              </a:rPr>
              <a:t>деталей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Автоматизация (</a:t>
            </a:r>
            <a:r>
              <a:rPr lang="ru-RU" sz="2400" smtClean="0">
                <a:latin typeface="Bookman Old Style" panose="02050604050505020204" pitchFamily="18" charset="0"/>
              </a:rPr>
              <a:t>не обязательно):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Создайте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r>
              <a:rPr lang="ru-RU" sz="2400" dirty="0">
                <a:latin typeface="Bookman Old Style" panose="02050604050505020204" pitchFamily="18" charset="0"/>
              </a:rPr>
              <a:t> в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400" dirty="0">
                <a:latin typeface="Bookman Old Style" panose="02050604050505020204" pitchFamily="18" charset="0"/>
              </a:rPr>
              <a:t> с описанием задачи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проекте нажмите + </a:t>
            </a:r>
            <a:r>
              <a:rPr lang="ru-RU" sz="2400" dirty="0" err="1">
                <a:latin typeface="Bookman Old Style" panose="02050604050505020204" pitchFamily="18" charset="0"/>
              </a:rPr>
              <a:t>Add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item</a:t>
            </a:r>
            <a:r>
              <a:rPr lang="ru-RU" sz="2400" dirty="0">
                <a:latin typeface="Bookman Old Style" panose="02050604050505020204" pitchFamily="18" charset="0"/>
              </a:rPr>
              <a:t> и введите # + номер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Карточка автоматически свяжется с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При создании </a:t>
            </a:r>
            <a:r>
              <a:rPr lang="ru-RU" sz="2400" dirty="0" err="1">
                <a:latin typeface="Bookman Old Style" panose="02050604050505020204" pitchFamily="18" charset="0"/>
              </a:rPr>
              <a:t>Pull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Request</a:t>
            </a:r>
            <a:r>
              <a:rPr lang="ru-RU" sz="2400" dirty="0">
                <a:latin typeface="Bookman Old Style" panose="02050604050505020204" pitchFamily="18" charset="0"/>
              </a:rPr>
              <a:t> с ключевыми словами: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fixes</a:t>
            </a:r>
            <a:r>
              <a:rPr lang="ru-RU" sz="2400" dirty="0">
                <a:latin typeface="Bookman Old Style" panose="02050604050505020204" pitchFamily="18" charset="0"/>
              </a:rPr>
              <a:t> #1 — автоматически переместит карточку в "</a:t>
            </a:r>
            <a:r>
              <a:rPr lang="ru-RU" sz="2400" dirty="0" err="1">
                <a:latin typeface="Bookman Old Style" panose="02050604050505020204" pitchFamily="18" charset="0"/>
              </a:rPr>
              <a:t>Done</a:t>
            </a:r>
            <a:r>
              <a:rPr lang="ru-RU" sz="2400" dirty="0">
                <a:latin typeface="Bookman Old Style" panose="02050604050505020204" pitchFamily="18" charset="0"/>
              </a:rPr>
              <a:t>"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connects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to</a:t>
            </a:r>
            <a:r>
              <a:rPr lang="ru-RU" sz="2400" dirty="0">
                <a:latin typeface="Bookman Old Style" panose="02050604050505020204" pitchFamily="18" charset="0"/>
              </a:rPr>
              <a:t> #1 — свяжет PR с задачей</a:t>
            </a:r>
          </a:p>
        </p:txBody>
      </p:sp>
    </p:spTree>
    <p:extLst>
      <p:ext uri="{BB962C8B-B14F-4D97-AF65-F5344CB8AC3E}">
        <p14:creationId xmlns:p14="http://schemas.microsoft.com/office/powerpoint/2010/main" val="108735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15057</TotalTime>
  <Words>1891</Words>
  <Application>Microsoft Office PowerPoint</Application>
  <PresentationFormat>Широкоэкранный</PresentationFormat>
  <Paragraphs>328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Arial</vt:lpstr>
      <vt:lpstr>Bookman Old Style</vt:lpstr>
      <vt:lpstr>Calibri</vt:lpstr>
      <vt:lpstr>Calibri Light</vt:lpstr>
      <vt:lpstr>Times New Roman</vt:lpstr>
      <vt:lpstr>Тема Office</vt:lpstr>
      <vt:lpstr>4 семестр Лекция 3.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804</cp:revision>
  <dcterms:modified xsi:type="dcterms:W3CDTF">2026-02-03T13:21:04Z</dcterms:modified>
</cp:coreProperties>
</file>